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96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880000" cy="6858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08000" y="0"/>
            <a:ext cx="90000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" y="720000"/>
            <a:ext cx="1800000" cy="288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827999"/>
            <a:ext cx="21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3EF0AF"/>
                </a:solidFill>
                <a:latin typeface="DejaVu Sans"/>
              </a:rPr>
              <a:t>DML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980000"/>
            <a:ext cx="2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DejaVu Sans"/>
              </a:rPr>
              <a:t>LOG-FILES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2448000"/>
            <a:ext cx="2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DejaVu Sans"/>
              </a:rPr>
              <a:t>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0000" y="1080000"/>
            <a:ext cx="82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DejaVu Sans"/>
              </a:rPr>
              <a:t>АНАЛИЗ DML ЛОГ-ФАЙЛОВ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0000" y="1980000"/>
            <a:ext cx="82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3EF0AF"/>
                </a:solidFill>
                <a:latin typeface="DejaVu Sans"/>
              </a:rPr>
              <a:t>ПАРК NTE200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0" y="2951999"/>
            <a:ext cx="8280000" cy="28800"/>
          </a:xfrm>
          <a:prstGeom prst="rect">
            <a:avLst/>
          </a:prstGeom>
          <a:solidFill>
            <a:srgbClr val="667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0000" y="3060000"/>
            <a:ext cx="82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67788"/>
                </a:solidFill>
                <a:latin typeface="DejaVu Sans"/>
              </a:rPr>
              <a:t>9 агрегатов  |  май 2026  |  Cummins QSK50 MCRS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0" y="3600000"/>
            <a:ext cx="1872000" cy="1080000"/>
          </a:xfrm>
          <a:prstGeom prst="rect">
            <a:avLst/>
          </a:prstGeom>
          <a:solidFill>
            <a:srgbClr val="20272B"/>
          </a:solidFill>
          <a:ln w="635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48000" y="3708000"/>
            <a:ext cx="16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EF0AF"/>
                </a:solidFill>
                <a:latin typeface="DejaVu Sans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4212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7788"/>
                </a:solidFill>
                <a:latin typeface="DejaVu Sans"/>
              </a:rPr>
              <a:t>агрегатов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0" y="3600000"/>
            <a:ext cx="1872000" cy="1080000"/>
          </a:xfrm>
          <a:prstGeom prst="rect">
            <a:avLst/>
          </a:prstGeom>
          <a:solidFill>
            <a:srgbClr val="20272B"/>
          </a:solidFill>
          <a:ln w="635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36000" y="3708000"/>
            <a:ext cx="16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EF0AF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36000" y="4212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7788"/>
                </a:solidFill>
                <a:latin typeface="DejaVu Sans"/>
              </a:rPr>
              <a:t>критических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16000" y="3600000"/>
            <a:ext cx="1872000" cy="1080000"/>
          </a:xfrm>
          <a:prstGeom prst="rect">
            <a:avLst/>
          </a:prstGeom>
          <a:solidFill>
            <a:srgbClr val="20272B"/>
          </a:solidFill>
          <a:ln w="635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24000" y="3708000"/>
            <a:ext cx="16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EF0AF"/>
                </a:solidFill>
                <a:latin typeface="DejaVu Sans"/>
              </a:rPr>
              <a:t>QSK50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0" y="4212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7788"/>
                </a:solidFill>
                <a:latin typeface="DejaVu Sans"/>
              </a:rPr>
              <a:t>MCRS двигатель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04000" y="3600000"/>
            <a:ext cx="1872000" cy="1080000"/>
          </a:xfrm>
          <a:prstGeom prst="rect">
            <a:avLst/>
          </a:prstGeom>
          <a:solidFill>
            <a:srgbClr val="20272B"/>
          </a:solidFill>
          <a:ln w="635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2000" y="3708000"/>
            <a:ext cx="16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EF0AF"/>
                </a:solidFill>
                <a:latin typeface="DejaVu Sans"/>
              </a:rPr>
              <a:t>DML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2000" y="4212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7788"/>
                </a:solidFill>
                <a:latin typeface="DejaVu Sans"/>
              </a:rPr>
              <a:t>реал-тайм лог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0000" y="5040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7788"/>
                </a:solidFill>
                <a:latin typeface="DejaVu Sans"/>
              </a:rPr>
              <a:t>02 июня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0000" y="5400000"/>
            <a:ext cx="82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7788"/>
                </a:solidFill>
                <a:latin typeface="DejaVu Sans"/>
              </a:rPr>
              <a:t>Горная Евразия — Техническая служба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ОБЗОР ПАРКА — ВСЕ АГРЕГАТЫ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Сводная таблица параметров DML | 9 агрегатов | сортировка по уровню риска ЕГТ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44000" y="864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4000" y="864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999" y="900000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16000" y="900000"/>
            <a:ext cx="936000" cy="251999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000" y="907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КРИТИЧНО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999" y="1205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4000" y="1205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21.8 мин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999" y="14111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4000" y="14111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1865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999" y="16163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84000" y="16163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999" y="18215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84000" y="18215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4444"/>
                </a:solidFill>
                <a:latin typeface="DejaVu Sans"/>
              </a:rPr>
              <a:t>507°C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999" y="20267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84000" y="20267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528°C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999" y="2231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84000" y="2231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4444"/>
                </a:solidFill>
                <a:latin typeface="DejaVu Sans"/>
              </a:rPr>
              <a:t>110°C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04000" y="864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04000" y="864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2000" y="900000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#85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75999" y="900000"/>
            <a:ext cx="936000" cy="251999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5999" y="907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КРИТИЧНО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12000" y="1205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999" y="1205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31.8 мин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12000" y="14111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3999" y="14111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1731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12000" y="16163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3999" y="16163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72%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12000" y="18215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3999" y="18215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474°C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2000" y="20267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3999" y="20267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4444"/>
                </a:solidFill>
                <a:latin typeface="DejaVu Sans"/>
              </a:rPr>
              <a:t>566°C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2000" y="2231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3999" y="2231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4444"/>
                </a:solidFill>
                <a:latin typeface="DejaVu Sans"/>
              </a:rPr>
              <a:t>107°C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63999" y="864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63999" y="864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72000" y="900000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#43 (клапан)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836000" y="900000"/>
            <a:ext cx="936000" cy="251999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36000" y="907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ВНИМАНИЕ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2000" y="1205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4000" y="1205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19.8 мин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72000" y="14111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04000" y="14111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1813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72000" y="16163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4000" y="16163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85%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72000" y="18215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4000" y="18215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495°C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72000" y="20267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04000" y="20267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520°C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2000" y="2231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4000" y="2231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80°C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4000" y="2556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4000" y="2556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1999" y="2591999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#56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16000" y="2591999"/>
            <a:ext cx="936000" cy="251999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916000" y="2599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ВНИМАНИЕ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1999" y="2897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84000" y="2897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20.3 мин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1999" y="31031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484000" y="31031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1769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1999" y="33084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84000" y="33084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74%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1999" y="35135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84000" y="35135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474°C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1999" y="37187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484000" y="37187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526°C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1999" y="3923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84000" y="3923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4444"/>
                </a:solidFill>
                <a:latin typeface="DejaVu Sans"/>
              </a:rPr>
              <a:t>106°C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04000" y="2556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104000" y="2556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12000" y="2591999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#84 (16.05)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75999" y="2591999"/>
            <a:ext cx="936000" cy="251999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75999" y="2599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ВНИМАНИЕ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12000" y="2897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43999" y="2897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17.8 мин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12000" y="31031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43999" y="31031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1839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12000" y="33084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43999" y="33084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88%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12000" y="35135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443999" y="35135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473°C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12000" y="37187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43999" y="37187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498°C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12000" y="3923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43999" y="3923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4444"/>
                </a:solidFill>
                <a:latin typeface="DejaVu Sans"/>
              </a:rPr>
              <a:t>106°C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063999" y="2556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63999" y="2556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172000" y="2591999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#84 (21.05)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836000" y="2591999"/>
            <a:ext cx="936000" cy="251999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836000" y="2599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ВНИМАНИЕ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172000" y="2897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04000" y="2897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9.5 мин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172000" y="31031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404000" y="31031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1809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172000" y="33084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404000" y="33084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83%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172000" y="35135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404000" y="35135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458°C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172000" y="37187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404000" y="37187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506°C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172000" y="3923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404000" y="3923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104°C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44000" y="4248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44000" y="4248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51999" y="4284000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#52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916000" y="4284000"/>
            <a:ext cx="936000" cy="251999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916000" y="4291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НОРМА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51999" y="45900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484000" y="45900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2.0 мин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51999" y="47952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84000" y="47952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1847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51999" y="50004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484000" y="50004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95%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51999" y="52056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484000" y="52056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474°C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51999" y="54108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484000" y="54108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490°C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51999" y="56160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484000" y="56160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84°C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104000" y="4248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104000" y="4248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212000" y="4284000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#45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875999" y="4284000"/>
            <a:ext cx="936000" cy="251999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875999" y="4291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НОРМА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212000" y="45900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43999" y="45900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2.5 мин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12000" y="47952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443999" y="47952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1825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212000" y="50004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43999" y="50004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90%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12000" y="52056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43999" y="52056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454°C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212000" y="54108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443999" y="54108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477°C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212000" y="56160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443999" y="56160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97°C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063999" y="4248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063999" y="4248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172000" y="4284000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#87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0836000" y="4284000"/>
            <a:ext cx="936000" cy="251999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836000" y="4291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НОРМА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172000" y="45900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404000" y="45900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9.5 мин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172000" y="47952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404000" y="47952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1790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172000" y="50004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404000" y="50004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82%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172000" y="52056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404000" y="52056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450°C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172000" y="54108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404000" y="54108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514°C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72000" y="56160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404000" y="56160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102°C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СРАВНЕНИЕ ЕГТ — ВСЕ АГРЕГАТЫ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Средняя и максимальная температура выхлопных газов | лимиты 450°C / 500°C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uw25231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КЛЮЧЕВЫЕ ПАРАМЕТРЫ — СРАВНЕНИЕ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6-панельный обзор: нагрузка, обороты, ЕГТ, температура масла, наддув, давление масла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c7v1u_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АГРЕГАТ №50 — КРИТИЧЕСКИЙ АНАЛИЗ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ЕГТ ср. 507°C | Т масла 110°C (лимит) | Нагрузка 92% | 21.8 мин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ep3_o8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АГРЕГАТ №50 — ПРОФИЛЬ ЕГТ ПО ЦИЛИНДРАМ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Средняя и максимальная ЕГТ каждого цилиндра | Выявление горячих цилиндров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8a7p6j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АГРЕГАТ №85 — КРИТИЧЕСКИЙ АНАЛИЗ (ПИКОВЫЙ ЕГТ 566°C)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Наивысший пиковый ЕГТ в парке | 31.8 мин | Сравнение левый/правый ряд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jthqtx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АГРЕГАТ №43 — КЛАПАННАЯ НЕИСПРАВНОСТЬ (ЗАМЕНА 21.01.2026)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Анализ временных рядов | Профиль ЕГТ по цилиндрам | Сравнение с #50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gz10bv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АГРЕГАТ №84 — ДВЕ СЕССИИ (16.05 и 21.05)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Сравнение параметров: 16.05.2026 (18 мин) vs 21.05.2026 (9.5 мин)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31amle3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ТЕПЛОВАЯ КАРТА ЕГТ — ВСЕ АГРЕГАТЫ × 16 ЦИЛИНДРОВ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Средняя ЕГТ по цилиндрам | Ряд A (нечётные) vs Ряд B (чётные) | N/A = неисправность датчика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x63_sx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СВОДКА АНОМАЛИЙ — ДЕТЕКЦИЯ ОТКЛОНЕНИЙ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ЕГТ &gt;500°C | Т масла &gt;105°C | Пики RPM | Неисправности датчиков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fbm52w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ВЫВОДЫ И РЕКОМЕНДАЦИИ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Анализ DML лог-файлов | Парк NTE200 | Cummins QSK50 MCRS | 02.06.2026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44000" y="900000"/>
            <a:ext cx="5688000" cy="216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6000" y="917999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ВЫЯВЛЕННЫЕ РИСКИ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000" y="1188000"/>
            <a:ext cx="503999" cy="396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4000" y="1260000"/>
            <a:ext cx="503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КРИТИЧНО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6000" y="1188000"/>
            <a:ext cx="5148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1242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DejaVu Sans"/>
              </a:rPr>
              <a:t>#50 — ЕГТ 507°C ср., 528°C макс. | Т масла 110°C (лимит QSK50)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000" y="1699200"/>
            <a:ext cx="503999" cy="396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000" y="1771200"/>
            <a:ext cx="503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КРИТИЧНО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6000" y="1699200"/>
            <a:ext cx="5148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00" y="17532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DejaVu Sans"/>
              </a:rPr>
              <a:t>#85 — Пиковый ЕГТ 566°C (рекорд парка) | Вероятна неисправность форсунки/клапана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4000" y="2210400"/>
            <a:ext cx="503999" cy="396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000" y="2282400"/>
            <a:ext cx="503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ВНИМАНИЕ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6000" y="2210400"/>
            <a:ext cx="5148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000" y="22644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DejaVu Sans"/>
              </a:rPr>
              <a:t>#43 — История замены клапана 21.01.2026 | ЕГТ ср. 495°C (граница нормы)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4000" y="2721600"/>
            <a:ext cx="503999" cy="396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000" y="2793600"/>
            <a:ext cx="503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ВНИМАНИЕ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6000" y="2721600"/>
            <a:ext cx="5148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0000" y="27756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DejaVu Sans"/>
              </a:rPr>
              <a:t>#56 — ЕГТ макс. 526°C | Т масла 106°C | Разброс ЕГТ по цилиндрам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4000" y="3232800"/>
            <a:ext cx="503999" cy="396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000" y="3304800"/>
            <a:ext cx="503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ВНИМАНИЕ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6000" y="3232800"/>
            <a:ext cx="5148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0000" y="32868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DejaVu Sans"/>
              </a:rPr>
              <a:t>#84 (16.05) — ЕГТ ср. 473°C, Т масла 106°C | Динамика требует контроля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4000" y="3743999"/>
            <a:ext cx="503999" cy="396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4000" y="3815999"/>
            <a:ext cx="503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АНАЛИЗ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6000" y="3743999"/>
            <a:ext cx="5148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0000" y="3797999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DejaVu Sans"/>
              </a:rPr>
              <a:t>#45, #52 — Кратковременные тесты (2-2.5 мин): недостаточно для диагностики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4000" y="4255200"/>
            <a:ext cx="503999" cy="396000"/>
          </a:xfrm>
          <a:prstGeom prst="rect">
            <a:avLst/>
          </a:prstGeom>
          <a:solidFill>
            <a:srgbClr val="4E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4000" y="4327200"/>
            <a:ext cx="503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СПРАВКА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6000" y="4255200"/>
            <a:ext cx="5148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4EC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0000" y="43092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DejaVu Sans"/>
              </a:rPr>
              <a:t>Агрегат #82 (тест 02.06.2026): макс. ЕГТ 567°C — сопоставим с #85 (566°C)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6000" y="900000"/>
            <a:ext cx="5868000" cy="216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28000" y="917999"/>
            <a:ext cx="55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DejaVu Sans"/>
              </a:rPr>
              <a:t>РЕКОМЕНДАЦИИ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56000" y="1188000"/>
            <a:ext cx="540000" cy="396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6000" y="1260000"/>
            <a:ext cx="5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СРОЧНО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13999" y="1188000"/>
            <a:ext cx="5292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8000" y="1205999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DejaVu Sans"/>
              </a:rPr>
              <a:t>#50: Немедленная диагностика | Проверить форсунки цилиндров с макс. ЕГТ | Контроль уровня и качества масла | Ограничить нагрузку до устранения причины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56000" y="1699200"/>
            <a:ext cx="540000" cy="396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56000" y="1771200"/>
            <a:ext cx="5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СРОЧНО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13999" y="1699200"/>
            <a:ext cx="5292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68000" y="1717199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DejaVu Sans"/>
              </a:rPr>
              <a:t>#85: Диагностика причины пика 566°C | Анализ цилиндра с аномальным ЕГТ | Проверить турбину VGT, охладитель наддувочного воздуха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56000" y="2210400"/>
            <a:ext cx="540000" cy="396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56000" y="2282400"/>
            <a:ext cx="5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ПЛАНОВОЕ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13999" y="2210400"/>
            <a:ext cx="5292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68000" y="2228400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DejaVu Sans"/>
              </a:rPr>
              <a:t>#43: Расширенная диагностика через 500 м.ч. после ремонта клапана | Сравнить ЕГТ цилиндров 11, 13 с базовой линией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56000" y="2721600"/>
            <a:ext cx="540000" cy="396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56000" y="2793600"/>
            <a:ext cx="5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ПЛАНОВОЕ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13999" y="2721600"/>
            <a:ext cx="5292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68000" y="2739600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DejaVu Sans"/>
              </a:rPr>
              <a:t>#56: Мониторинг ЕГТ &gt; 500°C | Проверить состояние клапанного механизма | Анализ разброса ЕГТ левый/правый ряд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56000" y="3232800"/>
            <a:ext cx="540000" cy="396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56000" y="3304800"/>
            <a:ext cx="5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ПЛАНОВОЕ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13999" y="3232800"/>
            <a:ext cx="5292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68000" y="3250800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DejaVu Sans"/>
              </a:rPr>
              <a:t>#84: Повторный тест на нагруженном режиме (&gt;15 мин) | Сравнительный анализ с сессией 16.05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56000" y="3743999"/>
            <a:ext cx="540000" cy="396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56000" y="3815999"/>
            <a:ext cx="5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МОНИТОР.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13999" y="3743999"/>
            <a:ext cx="5292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68000" y="3761999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DejaVu Sans"/>
              </a:rPr>
              <a:t>#45, #52: Повторные тесты длительностью &gt;15 мин | Тест при нагрузке для объективной оценки состояния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56000" y="4255200"/>
            <a:ext cx="540000" cy="396000"/>
          </a:xfrm>
          <a:prstGeom prst="rect">
            <a:avLst/>
          </a:prstGeom>
          <a:solidFill>
            <a:srgbClr val="4E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56000" y="4327200"/>
            <a:ext cx="5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СИСТЕМНО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13999" y="4255200"/>
            <a:ext cx="5292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4EC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68000" y="4273200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DejaVu Sans"/>
              </a:rPr>
              <a:t>Все агрегаты: ежеквартальный DML-мониторинг | Ведение базы данных ЕГТ | Корреляция с данными ECM и историей технического обслуживания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4842000"/>
            <a:ext cx="12189600" cy="1835999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0" y="4842000"/>
            <a:ext cx="12189600" cy="288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80000" y="4914000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  <a:latin typeface="DejaVu Sans"/>
              </a:rPr>
              <a:t>КЛЮЧЕВОЕ СООБЩЕНИЕ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000" y="5202000"/>
            <a:ext cx="11592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DejaVu Sans"/>
              </a:rPr>
              <a:t>Агрегаты №50 и №85 требуют немедленного технического вмешательства. ЕГТ №50 (507°C ср.) и температура масла (110°C = лимит QSK50) указывают на критическое тепловое состояние двигателя. Пиковый ЕГТ 566°C у №85 — наивысший в парке (сравним с #82: 567°C от 02.06.2026). Агрегат №43, несмотря на замену клапанов 21.01.2026, демонстрирует ЕГТ на границе нормы (495°C ср.) — требует расширенного контроля. Рекомендуется переход на ежеквартальный DML-мониторинг всего парка NTE200 с созданием базы данных исторических ЕГТ для раннего выявления деградации.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40000"/>
            <a:ext cx="12189600" cy="216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40000"/>
            <a:ext cx="12189600" cy="10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20000" y="2628000"/>
            <a:ext cx="9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ТЕМПЕРАТУРА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0000" y="3456000"/>
            <a:ext cx="90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3EF0AF"/>
                </a:solidFill>
              </a:rPr>
              <a:t>ПО ЦИЛИНДРАМ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20000" y="4320000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7788"/>
                </a:solidFill>
              </a:rPr>
              <a:t>А-банк (ECM144) vs В-банк (ECM1)  |  Все 9 агрегатов  |  16–21 мая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700000"/>
            <a:ext cx="1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3EF0AF"/>
                </a:solidFill>
              </a:rPr>
              <a:t>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ТЕМПЕРАТУРА ЦИЛИНДРОВ — АГРЕГАТ #43 (клапан)  |  16.05.2026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А-банк (нечётные, ECM144) — В-банк (чётные, ECM1)  |  Индивидуальные ЕГТ по цилиндрам</a:t>
            </a:r>
          </a:p>
        </p:txBody>
      </p:sp>
      <p:pic>
        <p:nvPicPr>
          <p:cNvPr id="6" name="Picture 5" descr="tmp23s4fo2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" y="756000"/>
            <a:ext cx="11952000" cy="558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72000"/>
            <a:ext cx="12189600" cy="4860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390000"/>
            <a:ext cx="117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42"/>
                </a:solidFill>
              </a:rPr>
              <a:t>ВЫВОД: В-банк горячее А-банка на 19°C в среднем. Цил.6 достигает 594°C — КРИТИЧНО. Агрегат с известным дефектом клапана — сравнение с нормой.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ТЕМПЕРАТУРА ЦИЛИНДРОВ — АГРЕГАТ #45  |  18.05.2026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А-банк (нечётные, ECM144) — В-банк (чётные, ECM1)  |  Индивидуальные ЕГТ по цилиндрам</a:t>
            </a:r>
          </a:p>
        </p:txBody>
      </p:sp>
      <p:pic>
        <p:nvPicPr>
          <p:cNvPr id="6" name="Picture 5" descr="tmp2ka67x5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" y="756000"/>
            <a:ext cx="11952000" cy="558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72000"/>
            <a:ext cx="12189600" cy="4860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390000"/>
            <a:ext cx="117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42"/>
                </a:solidFill>
              </a:rPr>
              <a:t>ВЫВОД: В-банк горячее А-банка на 25°C в среднем. Цил.2 достигает 521°C — ВНИМАНИЕ.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ТЕМПЕРАТУРА ЦИЛИНДРОВ — АГРЕГАТ #50  |  19.05.2026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А-банк (нечётные, ECM144) — В-банк (чётные, ECM1)  |  Индивидуальные ЕГТ по цилиндрам</a:t>
            </a:r>
          </a:p>
        </p:txBody>
      </p:sp>
      <p:pic>
        <p:nvPicPr>
          <p:cNvPr id="6" name="Picture 5" descr="tmpwh9etp7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" y="756000"/>
            <a:ext cx="11952000" cy="558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72000"/>
            <a:ext cx="12189600" cy="4860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390000"/>
            <a:ext cx="117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42"/>
                </a:solidFill>
              </a:rPr>
              <a:t>ВЫВОД: В-банк горячее А-банка на 13°C в среднем. Цил.10 достигает 556°C — КРИТИЧНО.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ТЕМПЕРАТУРА ЦИЛИНДРОВ — АГРЕГАТ #52  |  18.05.2026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А-банк (нечётные, ECM144) — В-банк (чётные, ECM1)  |  Индивидуальные ЕГТ по цилиндрам</a:t>
            </a:r>
          </a:p>
        </p:txBody>
      </p:sp>
      <p:pic>
        <p:nvPicPr>
          <p:cNvPr id="6" name="Picture 5" descr="tmpmojc_8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" y="756000"/>
            <a:ext cx="11952000" cy="558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72000"/>
            <a:ext cx="12189600" cy="4860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390000"/>
            <a:ext cx="117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42"/>
                </a:solidFill>
              </a:rPr>
              <a:t>ВЫВОД: А-банк горячее В-банка на 16°C в среднем. Цил.12 достигает 526°C — ВНИМАНИЕ.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ТЕМПЕРАТУРА ЦИЛИНДРОВ — АГРЕГАТ #56  |  19.05.2026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А-банк (нечётные, ECM144) — В-банк (чётные, ECM1)  |  Индивидуальные ЕГТ по цилиндрам</a:t>
            </a:r>
          </a:p>
        </p:txBody>
      </p:sp>
      <p:pic>
        <p:nvPicPr>
          <p:cNvPr id="6" name="Picture 5" descr="tmpx1oigkc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" y="756000"/>
            <a:ext cx="11952000" cy="558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72000"/>
            <a:ext cx="12189600" cy="4860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390000"/>
            <a:ext cx="117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42"/>
                </a:solidFill>
              </a:rPr>
              <a:t>ВЫВОД: А-банк горячее В-банка на 17°C в среднем. Цил.11 достигает 546°C — ВНИМАНИЕ.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ТЕМПЕРАТУРА ЦИЛИНДРОВ — АГРЕГАТ #84 (16.05)  |  16.05.2026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А-банк (нечётные, ECM144) — В-банк (чётные, ECM1)  |  Индивидуальные ЕГТ по цилиндрам</a:t>
            </a:r>
          </a:p>
        </p:txBody>
      </p:sp>
      <p:pic>
        <p:nvPicPr>
          <p:cNvPr id="6" name="Picture 5" descr="tmpk5qx17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" y="756000"/>
            <a:ext cx="11952000" cy="558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72000"/>
            <a:ext cx="12189600" cy="4860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390000"/>
            <a:ext cx="117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42"/>
                </a:solidFill>
              </a:rPr>
              <a:t>ВЫВОД: Банки температурно симметричны. Цил.6 достигает 528°C — ВНИМАНИЕ.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ТЕМПЕРАТУРА ЦИЛИНДРОВ — АГРЕГАТ #84 (21.05)  |  21.05.2026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А-банк (нечётные, ECM144) — В-банк (чётные, ECM1)  |  Индивидуальные ЕГТ по цилиндрам</a:t>
            </a:r>
          </a:p>
        </p:txBody>
      </p:sp>
      <p:pic>
        <p:nvPicPr>
          <p:cNvPr id="6" name="Picture 5" descr="tmplfva8p4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" y="756000"/>
            <a:ext cx="11952000" cy="558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72000"/>
            <a:ext cx="12189600" cy="4860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390000"/>
            <a:ext cx="117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42"/>
                </a:solidFill>
              </a:rPr>
              <a:t>ВЫВОД: Банки температурно симметричны. Цил.6 достигает 538°C — ВНИМАНИЕ.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ТЕМПЕРАТУРА ЦИЛИНДРОВ — АГРЕГАТ #85  |  19.05.2026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А-банк (нечётные, ECM144) — В-банк (чётные, ECM1)  |  Индивидуальные ЕГТ по цилиндрам</a:t>
            </a:r>
          </a:p>
        </p:txBody>
      </p:sp>
      <p:pic>
        <p:nvPicPr>
          <p:cNvPr id="6" name="Picture 5" descr="tmpokyh4m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" y="756000"/>
            <a:ext cx="11952000" cy="558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72000"/>
            <a:ext cx="12189600" cy="4860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390000"/>
            <a:ext cx="117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42"/>
                </a:solidFill>
              </a:rPr>
              <a:t>ВЫВОД: Банки температурно симметричны. Цил.6 достигает 606°C — КРИТИЧНО.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ТЕМПЕРАТУРА ЦИЛИНДРОВ — АГРЕГАТ #87  |  21.05.2026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А-банк (нечётные, ECM144) — В-банк (чётные, ECM1)  |  Индивидуальные ЕГТ по цилиндрам</a:t>
            </a:r>
          </a:p>
        </p:txBody>
      </p:sp>
      <p:pic>
        <p:nvPicPr>
          <p:cNvPr id="6" name="Picture 5" descr="tmpzs_bprn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" y="756000"/>
            <a:ext cx="11952000" cy="558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72000"/>
            <a:ext cx="12189600" cy="4860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390000"/>
            <a:ext cx="117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42"/>
                </a:solidFill>
              </a:rPr>
              <a:t>ВЫВОД: А-банк горячее В-банка на 17°C в среднем. Цил.1 достигает 550°C — КРИТИЧНО.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