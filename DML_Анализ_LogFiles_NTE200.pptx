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96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80000" cy="6858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08000" y="0"/>
            <a:ext cx="90000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720000"/>
            <a:ext cx="1800000" cy="288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827999"/>
            <a:ext cx="2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3EF0AF"/>
                </a:solidFill>
                <a:latin typeface="DejaVu Sans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980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DejaVu Sans"/>
              </a:rPr>
              <a:t>LOG-FILES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448000"/>
            <a:ext cx="2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DejaVu Sans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0" y="1080000"/>
            <a:ext cx="82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DejaVu Sans"/>
              </a:rPr>
              <a:t>АНАЛИЗ DML ЛОГ-ФАЙЛОВ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0000" y="1980000"/>
            <a:ext cx="82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3EF0AF"/>
                </a:solidFill>
                <a:latin typeface="DejaVu Sans"/>
              </a:rPr>
              <a:t>ПАРК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0" y="2951999"/>
            <a:ext cx="8280000" cy="28800"/>
          </a:xfrm>
          <a:prstGeom prst="rect">
            <a:avLst/>
          </a:prstGeom>
          <a:solidFill>
            <a:srgbClr val="66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0" y="306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7788"/>
                </a:solidFill>
                <a:latin typeface="DejaVu Sans"/>
              </a:rPr>
              <a:t>9 агрегатов  |  май 2026  |  Cummins QSK50 MCRS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8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агрегатов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6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6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критических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16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4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QSK50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MCRS 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04000" y="3600000"/>
            <a:ext cx="1872000" cy="1080000"/>
          </a:xfrm>
          <a:prstGeom prst="rect">
            <a:avLst/>
          </a:prstGeom>
          <a:solidFill>
            <a:srgbClr val="20272B"/>
          </a:solidFill>
          <a:ln w="635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2000" y="3708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EF0AF"/>
                </a:solidFill>
                <a:latin typeface="DejaVu Sans"/>
              </a:rPr>
              <a:t>DML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2000" y="4212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788"/>
                </a:solidFill>
                <a:latin typeface="DejaVu Sans"/>
              </a:rPr>
              <a:t>реал-тайм лог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0000" y="504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7788"/>
                </a:solidFill>
                <a:latin typeface="DejaVu Sans"/>
              </a:rPr>
              <a:t>02 июня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0000" y="5400000"/>
            <a:ext cx="82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7788"/>
                </a:solidFill>
                <a:latin typeface="DejaVu Sans"/>
              </a:rPr>
              <a:t>Горная Евразия — Техническая служба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ОБЗОР ПАРКА — ВСЕ АГРЕГАТЫ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Сводная таблица параметров DML | 9 агрегатов | сортировка по уровню риска ЕГТ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000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4000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999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6000" y="900000"/>
            <a:ext cx="936000" cy="251999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6000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99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000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21.8 мин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99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4000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999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4000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999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4000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507°C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999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4000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528°C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999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4000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110°C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04000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04000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2000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5999" y="900000"/>
            <a:ext cx="936000" cy="251999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5999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2000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999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31.8 мин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2000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3999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12000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999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72%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12000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999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2000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3999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566°C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2000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3999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107°C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3999" y="864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63999" y="864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2000" y="900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#43 (клапан)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836000" y="900000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6000" y="907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2000" y="1205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4000" y="1205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19.8 мин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72000" y="1411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04000" y="1411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2000" y="16163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4000" y="16163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2000" y="1821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4000" y="1821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495°C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2000" y="2026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04000" y="2026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520°C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2000" y="2231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4000" y="2231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80°C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4000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000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1999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16000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16000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999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84000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20.3 мин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1999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4000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1769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999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84000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74%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1999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84000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1999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84000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526°C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1999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84000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106°C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04000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104000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12000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#84 (16.05)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75999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75999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12000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43999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17.8 мин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12000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43999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2000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43999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88%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12000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43999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473°C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12000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43999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498°C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2000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43999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4444"/>
                </a:solidFill>
                <a:latin typeface="DejaVu Sans"/>
              </a:rPr>
              <a:t>106°C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063999" y="2556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63999" y="2556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172000" y="2591999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#84 (21.05)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36000" y="2591999"/>
            <a:ext cx="936000" cy="251999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836000" y="2599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72000" y="2897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04000" y="2897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9.5 мин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172000" y="31031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04000" y="31031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1809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72000" y="3308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404000" y="3308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83%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72000" y="35135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404000" y="35135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458°C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72000" y="37187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04000" y="37187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506°C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172000" y="3923999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04000" y="3923999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104°C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44000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44000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1999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#52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916000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16000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51999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484000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2.0 мин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1999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84000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1999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84000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1999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84000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474°C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51999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484000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490°C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1999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84000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84°C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104000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104000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212000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#45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75999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75999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12000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43999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2.5 мин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12000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443999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1825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212000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3999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12000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3999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454°C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12000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43999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477°C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212000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43999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97°C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063999" y="4248000"/>
            <a:ext cx="3780000" cy="1620000"/>
          </a:xfrm>
          <a:prstGeom prst="rect">
            <a:avLst/>
          </a:prstGeom>
          <a:solidFill>
            <a:srgbClr val="20272B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063999" y="4248000"/>
            <a:ext cx="3780000" cy="324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172000" y="4284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АГРЕГАТ #87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836000" y="4284000"/>
            <a:ext cx="936000" cy="251999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836000" y="4291200"/>
            <a:ext cx="93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  <a:latin typeface="DejaVu Sans"/>
              </a:rPr>
              <a:t>НОРМА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72000" y="4590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Время теста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404000" y="4590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9.5 мин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72000" y="4795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Ср. об/мин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404000" y="47952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1790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172000" y="5000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Нагрузка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404000" y="50004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82%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172000" y="5205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средн.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404000" y="52056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DejaVu Sans"/>
              </a:rPr>
              <a:t>450°C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172000" y="5410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ЕГТ макс.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404000" y="54108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514°C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72000" y="5616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67788"/>
                </a:solidFill>
                <a:latin typeface="DejaVu Sans"/>
              </a:rPr>
              <a:t>Т масло макс.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404000" y="5616000"/>
            <a:ext cx="13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8C42"/>
                </a:solidFill>
                <a:latin typeface="DejaVu Sans"/>
              </a:rPr>
              <a:t>102°C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СРАВНЕНИЕ ЕГТ — ВСЕ АГРЕГАТЫ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и максимальная температура выхлопных газов | лимиты 450°C / 500°C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uw25231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КЛЮЧЕВЫЕ ПАРАМЕТРЫ — СРАВНЕНИЕ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6-панельный обзор: нагрузка, обороты, ЕГТ, температура масла, наддув, давление масла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c7v1u_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№50 — КРИТИЧЕСКИЙ АНАЛИЗ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ЕГТ ср. 507°C | Т масла 110°C (лимит) | Нагрузка 92% | 21.8 мин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ep3_o8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№50 — ПРОФИЛЬ ЕГТ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и максимальная ЕГТ каждого цилиндра | Выявление горячих цилиндров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8a7p6j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№85 — КРИТИЧЕСКИЙ АНАЛИЗ (ПИКОВЫЙ ЕГТ 566°C)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Наивысший пиковый ЕГТ в парке | 31.8 мин | Сравнение левый/правый ряд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jthqtx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№43 — КЛАПАННАЯ НЕИСПРАВНОСТЬ (ЗАМЕНА 21.01.2026)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Анализ временных рядов | Профиль ЕГТ по цилиндрам | Сравнение с #50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gz10bv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АГРЕГАТ №84 — ДВЕ СЕССИИ (16.05 и 21.05)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Сравнение параметров: 16.05.2026 (18 мин) vs 21.05.2026 (9.5 мин)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31amle3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ТЕПЛОВАЯ КАРТА ЕГТ — ВСЕ АГРЕГАТЫ × 16 ЦИЛИНДРОВ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Средняя ЕГТ по цилиндрам | Ряд A (нечётные) vs Ряд B (чётные) | N/A = неисправность датчика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x63_sx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СВОДКА АНОМАЛИЙ — ДЕТЕКЦИЯ ОТКЛОНЕНИЙ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ЕГТ &gt;500°C | Т масла &gt;105°C | Пики RPM | Неисправности датчиков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pic>
        <p:nvPicPr>
          <p:cNvPr id="8" name="Picture 7" descr="tmpfbm52w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64000"/>
            <a:ext cx="11807999" cy="568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89600" cy="432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54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DejaVu Sans"/>
              </a:rPr>
              <a:t>ВЫВОДЫ И 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43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7788"/>
                </a:solidFill>
                <a:latin typeface="DejaVu Sans"/>
              </a:rPr>
              <a:t>Анализ DML лог-файлов | Парк NTE200 | Cummins QSK50 MCRS | 02.06.2026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8000"/>
            <a:ext cx="12189600" cy="180000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0000" y="6696000"/>
            <a:ext cx="1188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667788"/>
                </a:solidFill>
                <a:latin typeface="DejaVu Sans"/>
              </a:rPr>
              <a:t>Анализ DML | NTE200 | QSK50 MCRS | 02.06.2026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000" y="900000"/>
            <a:ext cx="5688000" cy="21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000" y="917999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ВЫЯВЛЕННЫЕ РИСКИ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" y="1188000"/>
            <a:ext cx="503999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000" y="12600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6000" y="11880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1242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#50 — ЕГТ 507°C ср., 528°C макс. | Т масла 110°C (лимит QSK50)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000" y="1699200"/>
            <a:ext cx="503999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000" y="17712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КРИТИЧНО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6000" y="16992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00" y="17532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#85 — Пиковый ЕГТ 566°C (рекорд парка) | Вероятна неисправность форсунки/клапана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4000" y="22104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000" y="22824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000" y="22104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22644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#43 — История замены клапана 21.01.2026 | ЕГТ ср. 495°C (граница нормы)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4000" y="27216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000" y="27936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000" y="27216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27756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#56 — ЕГТ макс. 526°C | Т масла 106°C | Разброс ЕГТ по цилиндрам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4000" y="3232800"/>
            <a:ext cx="503999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000" y="33048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ВНИМАНИЕ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6000" y="32328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000" y="32868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#84 (16.05) — ЕГТ ср. 473°C, Т масла 106°C | Динамика требует контроля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4000" y="3743999"/>
            <a:ext cx="503999" cy="396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000" y="3815999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АНАЛИЗ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6000" y="3743999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000" y="3797999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#45, #52 — Кратковременные тесты (2-2.5 мин): недостаточно для диагностики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4000" y="4255200"/>
            <a:ext cx="503999" cy="396000"/>
          </a:xfrm>
          <a:prstGeom prst="rect">
            <a:avLst/>
          </a:prstGeom>
          <a:solidFill>
            <a:srgbClr val="4E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000" y="4327200"/>
            <a:ext cx="503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СПРАВКА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6000" y="4255200"/>
            <a:ext cx="5148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4EC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000" y="43092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DejaVu Sans"/>
              </a:rPr>
              <a:t>Агрегат #82 (тест 02.06.2026): макс. ЕГТ 567°C — сопоставим с #85 (566°C)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6000" y="900000"/>
            <a:ext cx="5868000" cy="216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8000" y="917999"/>
            <a:ext cx="55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DejaVu Sans"/>
              </a:rPr>
              <a:t>РЕКОМЕНДАЦИИ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6000" y="1188000"/>
            <a:ext cx="540000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6000" y="12600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СРОЧНО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3999" y="11880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8000" y="12059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#50: Немедленная диагностика | Проверить форсунки цилиндров с макс. ЕГТ | Контроль уровня и качества масла | Ограничить нагрузку до устранения причины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56000" y="1699200"/>
            <a:ext cx="540000" cy="396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56000" y="17712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СРОЧНО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13999" y="16992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8000" y="17171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#85: Диагностика причины пика 566°C | Анализ цилиндра с аномальным ЕГТ | Проверить турбину VGT, охладитель наддувочного воздуха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56000" y="22104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56000" y="22824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13999" y="22104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8000" y="22284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#43: Расширенная диагностика через 500 м.ч. после ремонта клапана | Сравнить ЕГТ цилиндров 11, 13 с базовой линией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6000" y="27216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6000" y="27936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13999" y="27216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8000" y="27396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#56: Мониторинг ЕГТ &gt; 500°C | Проверить состояние клапанного механизма | Анализ разброса ЕГТ левый/правый ряд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56000" y="3232800"/>
            <a:ext cx="540000" cy="396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56000" y="33048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ПЛАНОВОЕ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13999" y="32328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68000" y="32508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#84: Повторный тест на нагруженном режиме (&gt;15 мин) | Сравнительный анализ с сессией 16.05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56000" y="3743999"/>
            <a:ext cx="540000" cy="396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56000" y="3815999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МОНИТОР.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3999" y="3743999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68000" y="3761999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#45, #52: Повторные тесты длительностью &gt;15 мин | Тест при нагрузке для объективной оценки состояния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56000" y="4255200"/>
            <a:ext cx="540000" cy="396000"/>
          </a:xfrm>
          <a:prstGeom prst="rect">
            <a:avLst/>
          </a:prstGeom>
          <a:solidFill>
            <a:srgbClr val="4E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56000" y="4327200"/>
            <a:ext cx="5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293136"/>
                </a:solidFill>
                <a:latin typeface="DejaVu Sans"/>
              </a:rPr>
              <a:t>СИСТЕМНО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13999" y="4255200"/>
            <a:ext cx="5292000" cy="396000"/>
          </a:xfrm>
          <a:prstGeom prst="rect">
            <a:avLst/>
          </a:prstGeom>
          <a:solidFill>
            <a:srgbClr val="1E2529"/>
          </a:solidFill>
          <a:ln w="6350">
            <a:solidFill>
              <a:srgbClr val="4EC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8000" y="42732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DejaVu Sans"/>
              </a:rPr>
              <a:t>Все агрегаты: ежеквартальный DML-мониторинг | Ведение базы данных ЕГТ | Корреляция с данными ECM и историей технического обслуживания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4842000"/>
            <a:ext cx="12189600" cy="1835999"/>
          </a:xfrm>
          <a:prstGeom prst="rect">
            <a:avLst/>
          </a:prstGeom>
          <a:solidFill>
            <a:srgbClr val="202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4842000"/>
            <a:ext cx="12189600" cy="288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0000" y="4914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EF0AF"/>
                </a:solidFill>
                <a:latin typeface="DejaVu Sans"/>
              </a:rPr>
              <a:t>КЛЮЧЕВОЕ СООБЩЕНИЕ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" y="5202000"/>
            <a:ext cx="1159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DejaVu Sans"/>
              </a:rPr>
              <a:t>Агрегаты №50 и №85 требуют немедленного технического вмешательства. ЕГТ №50 (507°C ср.) и температура масла (110°C = лимит QSK50) указывают на критическое тепловое состояние двигателя. Пиковый ЕГТ 566°C у №85 — наивысший в парке (сравним с #82: 567°C от 02.06.2026). Агрегат №43, несмотря на замену клапанов 21.01.2026, демонстрирует ЕГТ на границе нормы (495°C ср.) — требует расширенного контроля. Рекомендуется переход на ежеквартальный DML-мониторинг всего парка NTE200 с созданием базы данных исторических ЕГТ для раннего выявления деградации.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