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54864" cy="68580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36576" cy="68580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228600"/>
            <a:ext cx="3840480" cy="5029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56032"/>
            <a:ext cx="3657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  <a:latin typeface="Calibri"/>
              </a:rPr>
              <a:t>АО РАЗВИТИЕ  •  АНАЛИЗ НЕИСПРАВНОСТЕЙ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8229600" cy="54864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1430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 Light"/>
              </a:rPr>
              <a:t>АНАЛИЗ ПРИЧИН ИЗНОСА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10312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3EF0AF"/>
                </a:solidFill>
                <a:latin typeface="Calibri Light"/>
              </a:rPr>
              <a:t>ВЫПУСКНЫХ КЛАПАНОВ QSK50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090672"/>
            <a:ext cx="8229600" cy="457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3200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Самосвалы NHL NTE200  •  АО «Полюс Магадан»  •  Омчак, Магаданская область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794760"/>
            <a:ext cx="1920240" cy="11887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3794760"/>
            <a:ext cx="19202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3858768"/>
            <a:ext cx="1773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F4444"/>
                </a:solidFill>
                <a:latin typeface="Calibri"/>
              </a:rPr>
              <a:t>15+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" y="4425696"/>
            <a:ext cx="1810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единиц с клапанными отказами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76856" y="3794760"/>
            <a:ext cx="1920240" cy="11887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76856" y="3794760"/>
            <a:ext cx="19202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0008" y="3858768"/>
            <a:ext cx="1773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27+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425696"/>
            <a:ext cx="1810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ремонтных событий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5112" y="3794760"/>
            <a:ext cx="1920240" cy="11887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5112" y="3794760"/>
            <a:ext cx="1920240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3858768"/>
            <a:ext cx="1773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EF0AF"/>
                </a:solidFill>
                <a:latin typeface="Calibri"/>
              </a:rPr>
              <a:t>2 776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4425696"/>
            <a:ext cx="1810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м/ч — ранний отказ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3368" y="3794760"/>
            <a:ext cx="1920240" cy="11887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73368" y="3794760"/>
            <a:ext cx="19202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858768"/>
            <a:ext cx="17739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  <a:latin typeface="Calibri"/>
              </a:rPr>
              <a:t>18 505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4425696"/>
            <a:ext cx="1810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м/ч — поздний отказ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" y="649224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Конфиденциально  •  Только для внутреннего использования  •  Май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 Light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108960"/>
            <a:ext cx="4572000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МАСШТАБ ПРОБЛЕМЫ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206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EF0AF"/>
                </a:solidFill>
                <a:latin typeface="Calibri"/>
              </a:rPr>
              <a:t>Статистика отказов выпускных клапанов | Парк NTE200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МАСШТАБ ПРОБЛЕМЫ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Статистика отказов выпускных клапанов QSK50 | Весь парк NTE200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283464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0700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F4444"/>
                </a:solidFill>
                <a:latin typeface="Calibri"/>
              </a:rPr>
              <a:t>15+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92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агрегатов с отказами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82112" y="1097280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2112" y="1097280"/>
            <a:ext cx="28346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20700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alibri"/>
              </a:rPr>
              <a:t>27+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1792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ремонтных событий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097280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097280"/>
            <a:ext cx="2834640" cy="36576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20700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EF0AF"/>
                </a:solidFill>
                <a:latin typeface="Calibri"/>
              </a:rPr>
              <a:t>2 776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792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м/ч мин. наработка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20482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до отказа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0576" y="1097280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0576" y="1097280"/>
            <a:ext cx="28346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5" y="1207008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  <a:latin typeface="Calibri"/>
              </a:rPr>
              <a:t>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5" y="1792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парка — EGT 1484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5" y="20482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ошибки ECM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82880" y="2514600"/>
          <a:ext cx="118872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674620"/>
                <a:gridCol w="1485900"/>
                <a:gridCol w="6537960"/>
              </a:tblGrid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EF0AF"/>
                          </a:solidFill>
                          <a:latin typeface="Calibri"/>
                        </a:rPr>
                        <a:t>Ед.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EF0AF"/>
                          </a:solidFill>
                          <a:latin typeface="Calibri"/>
                        </a:rPr>
                        <a:t>Наработка до отказа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EF0AF"/>
                          </a:solidFill>
                          <a:latin typeface="Calibri"/>
                        </a:rPr>
                        <a:t>Событий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EF0AF"/>
                          </a:solidFill>
                          <a:latin typeface="Calibri"/>
                        </a:rPr>
                        <a:t>Поражение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16 033 м/ч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5 позиций (3L, 4L, 1R, 2R, 3R)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№44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14 751 м/ч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ВСЕ 14 позиций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~17 600 м/ч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Сизый дым — замена 2 выпускных клапанов (ОТЧЁТ 23.03.2026)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№47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12 890 м/ч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 позиций + замена ГБЦ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14 997 м/ч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17 клапанов + турбина + гидроудар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№53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17 550 м/ч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ВСЕ 16 позиций (2 выпуск + 2 впуск)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17 316 м/ч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ВСЕ 16 позиций + 4 форсунки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№57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14 808 м/ч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6 позиций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16 219 м/ч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3R — замена выпускных клапанов (ОТЧЁТ 06.04.2026)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№69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10 130 м/ч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Засорение воздушных фильтров + поршни 3R/4R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10 000 м/ч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8 позиций (2 эпизода)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№78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 9 323 м/ч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3R / 4R / 6R / 6L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 4 696 м/ч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ВСЕ позиции + замена ГБЦ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№83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 2 776 м/ч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КАТАСТРОФИЧЕСКИЙ — шатун / поршень / ГБЦ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ХРОНОЛОГИЯ ОТКАЗОВ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Авг 2025 — Май 2026 | 14 ключевых событий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11887200" cy="320040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69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ДАТА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069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ЕД.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069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СОБЫТИЕ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19" y="106984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НАРАБОТКА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71600"/>
            <a:ext cx="11887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371600"/>
            <a:ext cx="36576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4081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Авг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4081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№47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140817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Замена ГБЦ — ранний эпизод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4081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Calibri"/>
              </a:rPr>
              <a:t>12 890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719072"/>
            <a:ext cx="1188720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1719072"/>
            <a:ext cx="36576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17556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Авг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17556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№51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175564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Замена ГБЦ, трещина головки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7556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Calibri"/>
              </a:rPr>
              <a:t>10 783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66543"/>
            <a:ext cx="11887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2066543"/>
            <a:ext cx="36576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21031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Авг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21031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№58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210312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Замена толкателя клапана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103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Calibri"/>
              </a:rPr>
              <a:t>10 702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414016"/>
            <a:ext cx="1188720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2414016"/>
            <a:ext cx="36576" cy="3291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" y="24505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Янв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24505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№43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04288" y="245059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Замена клапанов + 9 форсунок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4505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B82F6"/>
                </a:solidFill>
                <a:latin typeface="Calibri"/>
              </a:rPr>
              <a:t>16 033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2761488"/>
            <a:ext cx="11887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" y="2761488"/>
            <a:ext cx="36576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27980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Фев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27980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№48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288" y="279806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17 клапанов + турбина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27980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Calibri"/>
              </a:rPr>
              <a:t>14 997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108960"/>
            <a:ext cx="1188720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" y="3108960"/>
            <a:ext cx="36576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2608" y="314553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Мар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8448" y="3145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№47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04288" y="314553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Повт. отказ — 10 клапанов + форсунки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31455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Calibri"/>
              </a:rPr>
              <a:t>12 890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3456432"/>
            <a:ext cx="11887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2880" y="3456432"/>
            <a:ext cx="36576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" y="34930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Мар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8448" y="34930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№58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04288" y="34930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Повт. отказ — клапан + ГБЦ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4930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Calibri"/>
              </a:rPr>
              <a:t>15 572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3803904"/>
            <a:ext cx="1188720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82880" y="3803904"/>
            <a:ext cx="36576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2608" y="38404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Мар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98448" y="38404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№83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04288" y="384048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КАТАСТРОФА — шатун / поршень / ГБЦ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38404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Calibri"/>
              </a:rPr>
              <a:t> 2 776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" y="4151376"/>
            <a:ext cx="11887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2880" y="4151376"/>
            <a:ext cx="36576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2608" y="41879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Апр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98448" y="4187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№48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04288" y="418795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Гидроудар, водомасляная эмульсия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41879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F4444"/>
                </a:solidFill>
                <a:latin typeface="Calibri"/>
              </a:rPr>
              <a:t>после рем.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" y="4498848"/>
            <a:ext cx="1188720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82880" y="4498848"/>
            <a:ext cx="36576" cy="3291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92608" y="45354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Май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98448" y="45354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№55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04288" y="453542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ВСЕ 16 позиций + 4 форсунки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35440" y="453542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B82F6"/>
                </a:solidFill>
                <a:latin typeface="Calibri"/>
              </a:rPr>
              <a:t>17 316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" y="4846320"/>
            <a:ext cx="11887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82880" y="4846320"/>
            <a:ext cx="36576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2608" y="4882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Май 2026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98448" y="48828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№69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04288" y="488289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Клапаны + засорение фильтров + поршни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5440" y="48828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Calibri"/>
              </a:rPr>
              <a:t>10 721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5193792"/>
            <a:ext cx="1188720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82880" y="5193792"/>
            <a:ext cx="36576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2608" y="523036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Май 2026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98448" y="52303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№78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04288" y="523036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3R / 4R / 6R / 6L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35440" y="52303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Calibri"/>
              </a:rPr>
              <a:t> 9 323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2880" y="5541264"/>
            <a:ext cx="11887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82880" y="5541264"/>
            <a:ext cx="36576" cy="32918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2608" y="55778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Май 2026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98448" y="55778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№72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04288" y="557784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Отказ форсунки цил. 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35440" y="55778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CA3AF"/>
                </a:solidFill>
                <a:latin typeface="Calibri"/>
              </a:rPr>
              <a:t>10 283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" y="5888736"/>
            <a:ext cx="1188720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82880" y="5888736"/>
            <a:ext cx="36576" cy="32918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2608" y="59253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Май 2026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98448" y="59253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№73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304288" y="592531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Форсунки — аномалии теста L2/R1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35440" y="59253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CA3AF"/>
                </a:solidFill>
                <a:latin typeface="Calibri"/>
              </a:rPr>
              <a:t>~9 998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КАРТА ОТКАЗОВ ПАРКА NTE200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Гаражные номера #43–#92 | Статус по клапанному ремонту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78992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28016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#43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078992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28016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078992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28016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078992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28016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078992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28016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078992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128016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#48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078992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28016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#49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078992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28016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1078992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28016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#51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69880" y="1078992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9880" y="128016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#52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011680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22128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#53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2011680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22128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#54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2011680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22128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1880" y="2011680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22128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011680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22128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#57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2011680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97880" y="22128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#58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2011680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22128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#59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2011680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79" y="22128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#60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2011680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22128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#61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69880" y="2011680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69880" y="22128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#62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2944368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2880" y="31455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#63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5880" y="2944368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31455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#64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2944368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68880" y="31455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#65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11880" y="2944368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11880" y="31455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#66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54880" y="2944368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31455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#67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97880" y="2944368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97880" y="31455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#68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40880" y="2944368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40880" y="31455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#69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83879" y="2944368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83879" y="31455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#70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26880" y="2944368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31455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#71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69880" y="2944368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69880" y="31455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#72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7056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82880" y="407822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#73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25880" y="3877056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325880" y="407822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#74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68880" y="3877056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68880" y="407822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#75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11880" y="3877056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11880" y="407822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#76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54880" y="3877056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54880" y="407822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#77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97880" y="3877056"/>
            <a:ext cx="1078992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97880" y="407822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#78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40880" y="3877056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040880" y="407822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#79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83879" y="3877056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83879" y="407822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#80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26880" y="3877056"/>
            <a:ext cx="1078992" cy="86868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26880" y="407822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#81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469880" y="3877056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469880" y="407822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#82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2880" y="4809744"/>
            <a:ext cx="1078992" cy="86868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2880" y="501091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#83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25880" y="4809744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25880" y="501091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#84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468880" y="4809744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468880" y="501091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#85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11880" y="4809744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11880" y="501091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#86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754880" y="4809744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54880" y="501091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#87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97880" y="4809744"/>
            <a:ext cx="107899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897880" y="501091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#88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40880" y="4809744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40880" y="501091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#89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183879" y="4809744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183879" y="501091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#90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326880" y="4809744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326880" y="501091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#91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469880" y="4809744"/>
            <a:ext cx="1078992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469880" y="501091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#92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82880" y="5870448"/>
            <a:ext cx="274320" cy="201168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0352" y="58795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КАТАСТРОФИЧЕСКИЙ (#81, #83)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127248" y="5870448"/>
            <a:ext cx="27432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74720" y="58795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ПОДТВЕРЖДЁННЫЙ ОТКАЗ КЛАПАНОВ (15 ед.)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071616" y="5870448"/>
            <a:ext cx="27432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19088" y="58795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EGT-ошибки / форсунки / фильтры (12 ед.)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015984" y="5870448"/>
            <a:ext cx="274320" cy="201168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363456" y="58795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НЕТ ЗАФИКСИРОВАННЫХ ОТКАЗОВ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 Light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108960"/>
            <a:ext cx="4572000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РЕЗУЛЬТАТЫ РАЗБОРКИ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206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EF0AF"/>
                </a:solidFill>
                <a:latin typeface="Calibri"/>
              </a:rPr>
              <a:t>Физические признаки и лабораторный анализ NHL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ФИЗИЧЕСКИЕ ПРИЗНАКИ ПОВРЕЖДЕНИЙ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Данные разборки и дефектовки | Сводка по всем агрегатам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11887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97280"/>
            <a:ext cx="45720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3385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ПРОСАДКА ФАСКИ (РЕЦЕССИЯ КЛАПАНА)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44752"/>
            <a:ext cx="11612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Главный признак. Посадочная поверхность выпускного клапана «утопает» в седле. Твёрдость фаски 40-44 HRC — соответствует чертёжной спецификации (≤46 HRC). Обнаружена на всех исследованных двигателях.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947672"/>
            <a:ext cx="11887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947672"/>
            <a:ext cx="45720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984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ПЛАСТИЧЕСКАЯ ДЕФОРМАЦИЯ — «ЗАУСЕНЕЦ» НА ФАСКЕ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295144"/>
            <a:ext cx="11612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Бурт пластической деформации = признак превышения допустимой T° тарелки. Зафиксировано в отчёте лаборатории NHL (MS&amp;T2026033, стр. 14-15). Пластическая деформация Inconel 751 начинается при T° &gt;700°C.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798064"/>
            <a:ext cx="11887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2798064"/>
            <a:ext cx="4572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834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ЗОЛЬНЫЕ ОТЛОЖЕНИЯ  Ca / Zn / P + Si / 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3145536"/>
            <a:ext cx="11612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EDS-анализ NHL: Ca, Zn, P — зола ZDDP-присадок. Si, Al — силикатная пыль. ОТЯГЧАЮЩИЙ фактор (абразив). Не первопричина — следствие перегрева.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648456"/>
            <a:ext cx="11887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3648456"/>
            <a:ext cx="4572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368503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ПОВРЕЖДЕНИЕ СМЕЖНЫХ ЭЛЕМЕНТОВ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3995928"/>
            <a:ext cx="11612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№47/48/53/55/81: замена ГБЦ целиком. №83 (2 776 м/ч): разрушение шатуна и поршня. №48: гидроудар (водомасляная эмульсия) после первого ремонта.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498848"/>
            <a:ext cx="11887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4498848"/>
            <a:ext cx="45720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4535424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ФОРСУНКИ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846320"/>
            <a:ext cx="11612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Заменены совместно с клапанами: №43 (9 шт.), №47, №55 (4 шт.), №73. Протечка форсунки → дополнительный нагрев → перегрев клапана.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5349240"/>
            <a:ext cx="11887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5349240"/>
            <a:ext cx="45720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5385816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ТОПОГРАФИЯ ОТКАЗОВ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5696712"/>
            <a:ext cx="11612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Наиболее часто поражены: 3R, 4R, 6R, 6L, 7L, 7R. Потенциально — неравномерность охлаждения ГБЦ.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АНАЛИЗ ЛАБОРАТОРИИ NHL  •  MS&amp;T2026033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Инженер Тао Лан | СЭМ + EDS спектроскопия + профилометрия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24128"/>
            <a:ext cx="5303520" cy="30175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024128"/>
            <a:ext cx="5303520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2880" y="4160520"/>
            <a:ext cx="11795760" cy="2514600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4160520"/>
            <a:ext cx="11795760" cy="36576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4224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  <a:latin typeface="Calibri"/>
              </a:rPr>
              <a:t>МЕТОДЫ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452628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СЭМ (электронная микроскопия)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500176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EDS-спектроскопия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547725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Измерение твёрдости HRC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595274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Профилометрия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4224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EDS 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452628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Ca + Zn + P = зола ZDDP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500176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Si + Al = силикатная пыль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547725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Слои 5-50 мкм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688" y="595274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Абразивная среда в зоне контакта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4224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МОРФОЛОГИЯ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452628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Пластич. деформация фаски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00176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«Заусенец» = T° &gt; лимита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547725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Адгезионный + абразивный износ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595274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Термическое повреждение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4224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ВЫВОД NHL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452628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Комплексная причина: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500176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1. Термическое повреждение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547725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2. Абразивный износ (зола+пыль)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5952744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3. Аномально высокая T° — REC.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 Light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108960"/>
            <a:ext cx="4572000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ГИПОТЕЗЫ О ПРИЧИНАХ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206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EF0AF"/>
                </a:solidFill>
                <a:latin typeface="Calibri"/>
              </a:rPr>
              <a:t>7 версий — от конфигурации ECM до условий эксплуатации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ОБЗОР ГИПОТЕЗ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7 версий — оценка доказательной базы и приоритет верификации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960120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18872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109728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113385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Настройки ECM двигателя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426464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Отключённый дератинг, задержки 51/43 с, обороты 2100 vs 1990, TIB 200% vs 100%, все EGT-триггеры отключены на NTE200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800" y="1097280"/>
            <a:ext cx="2194560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12984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КРИТИЧЕСКИЙ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01368"/>
            <a:ext cx="96012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1892807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180136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1837943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Перегрев клапана — материал на пределе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13055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NHL (MS&amp;T2026033, стр. 14): наплавки нет по чертежу; твёрдость 40-44 HRC = в допуске ≤46 HRC. Inconel 751 пластически деформируется при T°&gt;700°C — в норм. режиме клапан достаточен.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1801368"/>
            <a:ext cx="219456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0025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СВЯЗАН с H1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2505456"/>
            <a:ext cx="96012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250545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254203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Ошибка регулировки зазоров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283464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Малый зазор → клапан не закрывается → потеря охлаждения → перегрев фаски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29800" y="2505456"/>
            <a:ext cx="219456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70662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СРЕДНИЙ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209544"/>
            <a:ext cx="96012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3300984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34440" y="320954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53312" y="324612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Неисправность форсунок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2" y="3538728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Протечка/нарушение распыла → дожигание → перегрев. №43/47/55/73 — замена форсунок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3209544"/>
            <a:ext cx="219456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9800" y="3410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СРЕДНИЙ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913632"/>
            <a:ext cx="96012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4005072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34440" y="391363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53312" y="395020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Засорение воздушного фильтра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2" y="4242816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Богатая смесь → T° ОГ ↑. Задокументировано только для №69.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3913632"/>
            <a:ext cx="219456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4114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НИЗКИЙ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617720"/>
            <a:ext cx="96012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4709160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34440" y="461772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53312" y="465429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Зола масла и абразивная пыль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53312" y="4946904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EDS NHL: Ca/Zn/P + Si/Al. ОТЯГЧАЮЩИЙ фактор — не первопричина.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9800" y="4617720"/>
            <a:ext cx="219456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29800" y="4818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ОТЯГЧ.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5321808"/>
            <a:ext cx="960120" cy="65836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" y="5413248"/>
            <a:ext cx="960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34440" y="532180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53312" y="535838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CA3AF"/>
                </a:solidFill>
                <a:latin typeface="Calibri"/>
              </a:rPr>
              <a:t>Рабочий цикл / конструктив ГБЦ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3312" y="565099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Горный рудник, высота, температурные перепады. Топография 3R/4R/6R/6L — неравномерный теплоотвод.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29800" y="5321808"/>
            <a:ext cx="2194560" cy="65836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29800" y="55229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НЕОПР.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 Light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108960"/>
            <a:ext cx="4572000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H1: НАСТРОЙКИ ECM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206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EF0AF"/>
                </a:solidFill>
                <a:latin typeface="Calibri"/>
              </a:rPr>
              <a:t>Сравнение NTE200 vs Komatsu 730E AC | Один объект — один двигатель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H1: ПАРАМЕТРЫ ECM — NTE200 vs KOMATSU 730E 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Один двигатель QSK50 — один объект — кардинально разные параметры защиты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11795760" cy="40233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24128"/>
            <a:ext cx="45720" cy="4023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42415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КЛЮЧЕВОЙ ФАКТ: Komatsu 730E AC с аналогичными QSK50 работает НА ТОМ ЖЕ объекте. Случаев замены клапанов на 730E AC НЕ ЗАФИКСИРОВАНО.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99616"/>
          <a:ext cx="11887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2773680"/>
                <a:gridCol w="2773680"/>
                <a:gridCol w="2179320"/>
              </a:tblGrid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EF0AF"/>
                          </a:solidFill>
                          <a:latin typeface="Calibri"/>
                        </a:rPr>
                        <a:t>Параметр ECM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EF0AF"/>
                          </a:solidFill>
                          <a:latin typeface="Calibri"/>
                        </a:rPr>
                        <a:t>Komatsu 730E AC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EF0AF"/>
                          </a:solidFill>
                          <a:latin typeface="Calibri"/>
                        </a:rPr>
                        <a:t>NHL NTE200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3EF0AF"/>
                          </a:solidFill>
                          <a:latin typeface="Calibri"/>
                        </a:rPr>
                        <a:t>Риск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C_EPD_OT_RPM_Drt_En (флаг дератинга)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ВКЛЮЧЁН 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ОТКЛЮЧЁН (0)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КРИТИЧЕСКИЙ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Задержка по давлению масла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Немедленно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51 секунда (!)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КРИТИЧЕСКИЙ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Задержка по температуре ОЖ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Немедленно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43 секунды (!)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ВЫСОКИЙ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Максимальные обороты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1 990 об/мин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2 100 об/мин (+5.5%)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ВЫСОКИЙ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Топливная коррекция TIB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200% (!)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ВЫСОКИЙ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Триггеры по температуре ОГ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Активны (все)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ВСЕ ОТКЛЮЧЕНЫ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КРИТИЧЕСКИЙ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Дератинг при перегреве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Активен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Не работает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КРИТИЧЕСКИЙ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Обороты холостого хода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700 об/мин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700 об/мин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Норма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82880" y="6601968"/>
            <a:ext cx="117957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11112"/>
            <a:ext cx="1161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«КРИТИЧЕСКИЙ» — ведёт к перегреву без снижения мощности и без сигнала оператору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H1: МЕХАНИЗМ ОТКАЗА — ПАРАМЕТРЫ ЗАЩИТЫ ECM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035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F0AF"/>
                </a:solidFill>
                <a:latin typeface="Calibri"/>
              </a:rPr>
              <a:t>Как каждый параметр NTE200 ведёт к повреждению клапана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11795760" cy="166420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24128"/>
            <a:ext cx="54864" cy="16642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2004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115568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C_EPD_OT_RPM_Drt_En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1115568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ДЕРАТИНГ ПОЛНОСТЬЮ ОТКЛЮЧЁН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5179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ФУНКЦИЯ: Этот флаг управляет автоматическим снижением мощности/оборотов при перегреве. На NTE200 значение = 0 (ВЫКЛ).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8836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ЭФФЕКТ: Двигатель НИКОГДА не снижает обороты при достижении критических температур. Перегрев нарастает без какого-либо самоограничения.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28600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→ КЛАПАН: Клапан продолжает получать горячие газы полной мощности — температура фаски растёт до деформации.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761488"/>
            <a:ext cx="11795760" cy="166420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2761488"/>
            <a:ext cx="54864" cy="16642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32004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852928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Задержка масло = 51 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852928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51 СЕКУНДА БЕЗ ЗАЩИТЫ ПО МАСЛУ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2552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ФУНКЦИЯ: Параметр задержки аварийной остановки по низкому давлению масла. На 730E AC — немедленная реакция; на NTE200 — 51 секунда ожидания.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62102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ЭФФЕКТ: При падении давления масла двигатель работает 51 с без защиты. За 51 с при 2100 об/мин происходит ~1800 рабочих циклов клапана без смазки.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02336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→ КЛАПАН: Перегрев клапана + недостаточная смазка направляющей → ускоренный износ фаски.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498848"/>
            <a:ext cx="11795760" cy="166420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4498848"/>
            <a:ext cx="54864" cy="16642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572000"/>
            <a:ext cx="32004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4590288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Задержка ОЖ = 43 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4590288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43 СЕКУНДЫ ПЕРЕГРЕВА ОЖ БЕЗ РЕАКЦИИ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99262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ФУНКЦИЯ: Задержка защиты по высокой температуре охлаждающей жидкости. На 730E AC — немедленно; на NTE200 — 43 секунды допустимого перегрева.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5358383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ЭФФЕКТ: Температура ОЖ выше нормы = ухудшение охлаждения ГБЦ. За 43 с перегрева ГБЦ температура тарелки клапана растёт на 80-120°C.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576072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→ КЛАПАН: T° седла и направляющей клапана превышает норму → термическое разупрочнение металла фаски.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H1: МЕХАНИЗМ ОТКАЗА — ТЕМПЕРАТУРА И ТОПЛИВО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035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F0AF"/>
                </a:solidFill>
                <a:latin typeface="Calibri"/>
              </a:rPr>
              <a:t>Параметры, напрямую повышающие T° выхлопных газов у клапана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11795760" cy="166420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24128"/>
            <a:ext cx="54864" cy="16642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4747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115568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Max RPM = 2100 vs 1990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1115568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ОБОРОТЫ НА 5.5% ВЫШЕ — ТЕПЛОГЕНЕРАЦИЯ РАСТЁТ ПРОПОРЦИОНАЛЬНО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51790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ФУНКЦИЯ: Максимальные рабочие обороты NTE200 — 2100 об/мин. На 730E AC — 1990 об/мин. Разница +110 об/мин (+5.5%).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8836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ЭФФЕКТ: Каждые +100 об/мин ≈ +6-8°C T° ОГ (линейная зависимость для QSK50). При 2100 об/мин T° ОГ выше на 7-10°C постоянно.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28600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→ КЛАПАН: 7-10°C сами по себе некритичны, но в сочетании с отключённым дератингом и TIB 200% дают суммарный перегрев, достаточный для пластической деформации фаски (T° &gt; 700°C).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761488"/>
            <a:ext cx="11795760" cy="166420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2761488"/>
            <a:ext cx="54864" cy="16642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34747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852928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TIB коррекция = 200% vs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2852928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ДВОЙНОЙ БЮДЖЕТ ТОПЛИВНОЙ КОРРЕКЦИИ — БОГАТАЯ СМЕСЬ В ЦИЛИНДРЕ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2552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ФУНКЦИЯ: TIB (Torque-Input-Based) fuel correction — максимально допустимая топливная коррекция. NTE200: 200%. 730E AC: 100%. Параметр позволяет системе управления добавлять до 2× нормативного количества топлива.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62102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ЭФФЕКТ: При 200% TIB ECM может сделать смесь богатой в 2× нормы — дожигание в выпускном коллекторе. Прямое повышение T° ОГ на 50-100°C. Зафиксировано по профилю сгорания в INSITE CSV (аг. №43).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02336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→ КЛАПАН: T° тарелки клапана превышает 700°C → пластическая деформация Inconel 751 → рецессия фаски (подтверждено NHL lab, стр. 15: «аномально высокая T°»).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498848"/>
            <a:ext cx="11795760" cy="166420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4498848"/>
            <a:ext cx="54864" cy="16642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572000"/>
            <a:ext cx="34747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4590288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EGT триггеры = ВСЕ ОТКЛЮЧЕНЫ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4590288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НУЛЕВАЯ ЗАЩИТА ПО ТЕМПЕРАТУРЕ ВЫХЛОПНЫХ ГАЗОВ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99262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ФУНКЦИЯ: На 730E AC активны все EGT-триггеры (температура ОГ) — при превышении порога происходит дератинг. На NTE200 — ВСЕ EGT-триггеры отключены. Двигатель не знает о перегреве газов.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5358383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ЭФФЕКТ: Даже при T° ОГ 700-900°C ECM NTE200 не реагирует. Нет снижения топлива, нет снижения оборотов, нет сигнала оператору. Перегрев накапливается циклически — от поездки к поездке.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5760720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→ КЛАПАН: Температурная усталость Inconel 751 при повторяющихся циклах 700°C+ → необратимое разупрочнение → прогрессирующая рецессия фаски у ВСЕХ клапанов.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H1: ЦЕПОЧКА ПОВРЕЖДЕНИЙ ЧЕРЕЗ ECM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Суммарный эффект всех отклонений от штатной конфигурации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28346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51560"/>
            <a:ext cx="28346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Calibri"/>
              </a:rPr>
              <a:t>ECM: Дератинг ОТКЛ
+ задержки 43-51 с
+ RPM 2100
+ TIB 200%
+ EGT выкл.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10512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51560"/>
            <a:ext cx="28346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51560"/>
            <a:ext cx="2834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170432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Двигатель работает
на полной мощности
при перегреве —
без сигнала
оператору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10512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28346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51560"/>
            <a:ext cx="2834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170432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Calibri"/>
              </a:rPr>
              <a:t>T° ОГ &gt; 700°C
у тарелки
клапана — цикл
за циклом
без защиты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810512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051560"/>
            <a:ext cx="283464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39" y="1051560"/>
            <a:ext cx="28346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79" y="1170432"/>
            <a:ext cx="2651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F4444"/>
                </a:solidFill>
                <a:latin typeface="Calibri"/>
              </a:rPr>
              <a:t>Пластич. деформация
Inconel 751 →
рецессия фаски →
зола в зазоре →
абразив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127248"/>
            <a:ext cx="1179576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82112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РЕЗУЛЬТАТ: Рецессия фаски → потеря компрессии → прорыв горячих газов → ускоренный абразивный износ → последовательный выход из строя клапанов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886200"/>
            <a:ext cx="11795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931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EF0AF"/>
                </a:solidFill>
                <a:latin typeface="Calibri"/>
              </a:rPr>
              <a:t>КОСВЕННЫЕ ДОКАЗАТЕЛЬСТВА: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251960"/>
            <a:ext cx="11521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▸  NTE200: операторов инструктируют «не глушить, давать остывать на ХХ» — признание систематических перегревов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709160"/>
            <a:ext cx="11521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▸  INSITE CSV (аг. №43, 18 523 м/ч): зафиксированы температурные отклонения в рабочем цикле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166360"/>
            <a:ext cx="11521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▸  730E AC на том же объекте, с теми же QSK50 — клапанных отказов НЕТ (ECM настроен штатно)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623560"/>
            <a:ext cx="11521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▸  Самые ранние отказы (№83: 2 776 м/ч | №81: 4 696 м/ч) не объяснимы обычным усталостным износом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080760"/>
            <a:ext cx="11521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▸  Диапазон наработок (2 776 — 18 505 м/ч) указывает на вариабельный триггер, не дефект партии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H2: МАТЕРИАЛ КЛАПАНА НА ПРЕДЕЛЕ ТЕПЛОВОГО РЕЖИМА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Лабораторный вывод NHL MS&amp;T2026033 | Inconel 751 (CES51005)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5669280" cy="5376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24128"/>
            <a:ext cx="5669280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09728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F0AF"/>
                </a:solidFill>
                <a:latin typeface="Calibri"/>
              </a:rPr>
              <a:t>ДАННЫЕ ЛАБОРАТОРИИ NHL (MS&amp;T2026033)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" y="148132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Материал клапана: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1481328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Inconel 751 (CES51005)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188366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Наплавка по чертежу: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1883664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ОТСУТСТВУЕТ — не предусмотрена чертежом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228600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Требование по HRC: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2286000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≤ 46 HRC (по чертежу NTE200)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" y="26883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Фактическая HRC: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2" y="2688336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40.0 – 44.1 HRC  → В ДОПУСКЕ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" y="309067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Пластич. деформация: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3090672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ЕСТЬ — «заусенец» на фаске (стр. 14)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" y="349300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Зольные отложения: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2" y="3493008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Ca/Zn/P + Si/Al — на всех образцах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" y="389534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Вывод NHL (стр. 19):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" y="3895344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Аномально высокая T° — первопричина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" y="429768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Рекомендация NHL: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4297680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Проверить параметры T° двигателя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024128"/>
            <a:ext cx="5971032" cy="5376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1024128"/>
            <a:ext cx="597103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109728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ИНТЕРПРЕТАЦИЯ И СВЯЗЬ С H1 (ECM)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481328"/>
            <a:ext cx="36576" cy="8778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1499616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КЛАПАН СООТВЕТСТВУЕТ СПЕЦИФИКАЦИИ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1755648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HRC 40-44 — в пределах чертёжного допуска ≤46 HRC. Конструктивный дефект отсутствует.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432304"/>
            <a:ext cx="36576" cy="8778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245059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ОТСУТСТВИЕ НАПЛАВКИ — ПО ПРОЕКТУ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2706624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Inconel 751 без Stellite — штатная конструкция NTE200. 730E AC также не имеет Stellite в стандартной комплектации.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383280"/>
            <a:ext cx="36576" cy="8778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3401568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INCONEL 751: ПРЕДЕЛ ПРОЧНОСТИ ПРИ T°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65760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Материал сохраняет твёрдость до ~700°C. При 700-800°C начинается ползучесть и пластическая деформация фаски.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334256"/>
            <a:ext cx="36576" cy="87782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4352544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ECM НАРУШАЕТ ТЕПЛОВОЙ РЕЖИМ КЛАПАНА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4608576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TIB 200% + RPM 2100 + нет EGT-защиты = T° ОГ превышает 700°C. Клапан деформируется не от дефекта — от аномального теплового режима, созданного ECM.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5285232"/>
            <a:ext cx="36576" cy="8778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6208" y="530352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H2 ЯВЛЯЕТСЯ СЛЕДСТВИЕМ H1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5559552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Материал клапана корректен для штатного режима. При правильном ECM (730E AC) — тех же клапанов ДОСТАТОЧНО. Первопричина — ECM (H1).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 Light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108960"/>
            <a:ext cx="4572000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КЛЮЧЕВЫЕ СЛУЧАИ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206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EF0AF"/>
                </a:solidFill>
                <a:latin typeface="Calibri"/>
              </a:rPr>
              <a:t>Агрегаты №83, №48, №55, №69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КАТАСТРОФИЧЕСКИЙ ОТКАЗ  •  АГРЕГАТ №83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8521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2 776 м/ч наработки — самый ранний отказ в парке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3749039" cy="28346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05840"/>
            <a:ext cx="3749039" cy="283464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005840"/>
            <a:ext cx="4023360" cy="28346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82880" y="3977639"/>
            <a:ext cx="11795760" cy="269748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977639"/>
            <a:ext cx="45720" cy="2697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40416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Гаражный №: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4041648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4439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Наработка: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4443984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2 776 м/ч  (!!! нормальный ресурс &gt;12 000 м/ч)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Зафиксировано: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484632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Разрушение шатуна и поршня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52486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Замена: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5248656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ГБЦ + шатун + поршень + уплотнения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56509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Вер. причина: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5650992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Перегрев → потеря плотности клапана → прорыв газов → разрушение ЦПГ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6053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Значение: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6053328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Катастрофический отказ при минимальной наработке — системная проблема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МАТРИЦА ОЦЕНКИ ГИПОТЕЗ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Доказательная база и приоритет верификации (с учётом вывода NHL MS&amp;T2026033)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024128"/>
          <a:ext cx="117957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5324"/>
                <a:gridCol w="1867662"/>
                <a:gridCol w="1965960"/>
                <a:gridCol w="1277874"/>
                <a:gridCol w="1474470"/>
                <a:gridCol w="1474470"/>
              </a:tblGrid>
              <a:tr h="67437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EF0AF"/>
                          </a:solidFill>
                          <a:latin typeface="Calibri"/>
                        </a:rPr>
                        <a:t>Гипотеза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EF0AF"/>
                          </a:solidFill>
                          <a:latin typeface="Calibri"/>
                        </a:rPr>
                        <a:t>Прямые
доказательства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EF0AF"/>
                          </a:solidFill>
                          <a:latin typeface="Calibri"/>
                        </a:rPr>
                        <a:t>Косвенные
доказательства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EF0AF"/>
                          </a:solidFill>
                          <a:latin typeface="Calibri"/>
                        </a:rPr>
                        <a:t>Весь
парк?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EF0AF"/>
                          </a:solidFill>
                          <a:latin typeface="Calibri"/>
                        </a:rPr>
                        <a:t>Ранние
отказы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EF0AF"/>
                          </a:solidFill>
                          <a:latin typeface="Calibri"/>
                        </a:rPr>
                        <a:t>Приоритет</a:t>
                      </a:r>
                    </a:p>
                  </a:txBody>
                  <a:tcPr>
                    <a:solidFill>
                      <a:srgbClr val="293136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H1: ECM (дератинг, RPM, TIB, EGT)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3 (сравн. 730E)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730E = 0 отказов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H2: Клапан на T°-пределе (след. H1)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NHL: T° аномальна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HRC в допуске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СЛЕДСТВИЕ H1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H3: Зазоры клапанов (ТО)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1 (доп. анализ)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Повторные отказы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H4: Форсунки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2 (тест №73)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Сопутств. замены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H5: Возд. фильтр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1 (только №69)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1 агрегат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★★☆☆☆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H6: Зола масла (ОТЯГЧАЮЩИЙ)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3 (EDS NHL)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Все агрегаты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ДА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ОТЯГЧ.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H7: Режим эксплуатации / ГБЦ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Контекст + топогр.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ЧАСТИЧНО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★★☆☆☆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82880" y="6492240"/>
            <a:ext cx="1179576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  <a:latin typeface="Calibri"/>
              </a:rPr>
              <a:t>H1 = СИСТЕМНАЯ ПЕРВОПРИЧИНА  •  H2 = следствие H1 (T°)  •  H3+H4 = СОПУТСТВУЮЩИЕ  •  H6 = ОТЯГЧАЮЩИЙ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 Light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108960"/>
            <a:ext cx="4572000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ПЛАН ВЕРИФИКАЦИИ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206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EF0AF"/>
                </a:solidFill>
                <a:latin typeface="Calibri"/>
              </a:rPr>
              <a:t>Конкретные действия для подтверждения каждой гипотезы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ПЛАН ВЕРИФИКАЦИИ ГИПОТЕЗ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Конкретные действия для подтверждения / опровержения каждой версии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11795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24128"/>
            <a:ext cx="45720" cy="1920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24128"/>
            <a:ext cx="1325880" cy="19202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1078992"/>
            <a:ext cx="1261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F4444"/>
                </a:solidFill>
                <a:latin typeface="Calibri"/>
              </a:rPr>
              <a:t>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07899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ECM — ПРИОРИТЕТ №1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444752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Считать полный ECM с 2-3 NTE200 + 1 Komatsu 730E AC через INSITE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1792224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Включить C_EPD_OT_RPM_Drt_En=1 | Задержки по маслу/ОЖ ≤10 с | RPM 1990 | TIB 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139696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Активировать все EGT-триггеры температуры выхлопных газов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487168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Наблюдение 6 мес: 0 отказов на перепрограмм. агрегатах = гипотеза подтверждена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017520"/>
            <a:ext cx="11795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017520"/>
            <a:ext cx="45720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017520"/>
            <a:ext cx="1325880" cy="15544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" y="3072384"/>
            <a:ext cx="1261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072384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ТЕПЛОВОЙ РЕЖИМ КЛАПАНА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3438144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Установить пирометрический мониторинг T° ОГ на 2-3 агрегатах (NTE200 vs 730E AC)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3785616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Сравнить T° ОГ при одинаковой нагрузке до и после перепрограммирования ECM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133088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При T° ОГ &gt; 700°C в нормальном режиме — рассмотреть термоустойчивые клапаны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645152"/>
            <a:ext cx="11795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4645152"/>
            <a:ext cx="45720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645152"/>
            <a:ext cx="1325880" cy="15544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" y="4700016"/>
            <a:ext cx="1261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H3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470001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ЗАЗОРЫ КЛАПАНОВ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5065776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Ввести протокол: измерение зазоров ДО и ПОСЛЕ каждого ремонта с записью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" y="5413248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При ближайшем ТО проверить зазоры на 5 агрегатах без клапанного ремонта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5760720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Калиброванный щуп 0.05 мм шаг | допуск ±0.05 мм | обучение механиков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6272784"/>
            <a:ext cx="11795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" y="6272784"/>
            <a:ext cx="45720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6272784"/>
            <a:ext cx="1325880" cy="15544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" y="6327648"/>
            <a:ext cx="1261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alibri"/>
              </a:rPr>
              <a:t>H4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6327648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ФОРСУНКИ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64208" y="6693408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Стендовые тесты: №43, №47, №55, №73 — давление, возврат, распыл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4208" y="7040880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INSITE: fuel balance rates → отклонение &gt;±3% = проблемная форсунка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64208" y="7388352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→  При клапанном ремонте — обязательная проверка форсунки цилиндра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Calibri Light"/>
              </a:rPr>
              <a:t>РЕКОМЕНДАЦИИ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Приоритетные действия по устранению причин отказов клапанов QSK50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1179576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024128"/>
            <a:ext cx="45720" cy="20482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24128"/>
            <a:ext cx="1828800" cy="204825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11556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Calibri"/>
              </a:rPr>
              <a:t>СРОЧНО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44475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до следующего ремонта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1115568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Перепрограммировать ECM: включить дератинг, задержки ≤10 с, RPM 1990, TIB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1499616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Активировать все EGT-триггеры температуры выхлопных газов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1883664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Проверить состояние воздушных фильтров всего парка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2267712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Обязательная проверка форсунки при каждом клапанном ремонте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145536"/>
            <a:ext cx="1179576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145536"/>
            <a:ext cx="45720" cy="20482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145536"/>
            <a:ext cx="1828800" cy="204825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323697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КРАТКОСРОЧНО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356616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в течение 1 месяца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3236976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Установить пирометрический мониторинг T° ОГ на 2-3 агрегатах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3621024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Разработать и внедрить форму контроля зазоров клапанов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4005072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Стендовые тесты форсунок приоритетных агрегатов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4389120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Включить логирование INSITE на всех агрегатах парка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5266944"/>
            <a:ext cx="11795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" y="5266944"/>
            <a:ext cx="45720" cy="16642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5266944"/>
            <a:ext cx="1828800" cy="166420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5358384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Calibri"/>
              </a:rPr>
              <a:t>СРЕДНЕСРОЧНО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568756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в течение 3 месяцев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76272" y="5358384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По результатам T°-мониторинга: оценка необходимости термоустойчивых клапанов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5742432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Сравнительный анализ показателей с 730E AC на том же объекте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6272" y="6126480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Анализ рабочего цикла по INSITE на 5+ агрегатах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7004304"/>
            <a:ext cx="11795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7004304"/>
            <a:ext cx="45720" cy="128016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7004304"/>
            <a:ext cx="1828800" cy="12801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7095744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EF0AF"/>
                </a:solidFill>
                <a:latin typeface="Calibri"/>
              </a:rPr>
              <a:t>СИСТЕМНО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" y="742492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постоянные меры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76272" y="7095744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База данных ТО: зазоры + форсунки + T° ОГ — на каждый агрегат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76272" y="7479792"/>
            <a:ext cx="9692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✓  Стандарт для NHL/KTG: обязательный контроль ECM при приёмке нового транспорта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ВЫВОДЫ И СЛЕДУЮЩИЕ ШАГИ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58521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Анализ причин износа выпускных клапанов QSK50 | NTE200 | АО «Полюс Магадан»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987552"/>
            <a:ext cx="11795760" cy="98755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987552"/>
            <a:ext cx="45720" cy="9875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987552"/>
            <a:ext cx="868680" cy="987552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" y="1188720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060704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МАСШТАБ СИСТЕМНЫЙ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4447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20+ единиц, 30+ событий, 2 776 — 18 505 м/ч. Не единичный дефект партии.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011680"/>
            <a:ext cx="11795760" cy="98755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2011680"/>
            <a:ext cx="45720" cy="9875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011680"/>
            <a:ext cx="868680" cy="987552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" y="2212848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2084832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ECM — ГЛАВНАЯ ПЕРВОПРИЧИНА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Дератинг откл. + задержки 43-51 с + RPM 2100 + TIB 200% + нет EGT-защиты. 730E AC (тот же объект, тот же QSK50) — 0 отказов.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035808"/>
            <a:ext cx="11795760" cy="98755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3035808"/>
            <a:ext cx="45720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035808"/>
            <a:ext cx="868680" cy="987552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" y="3236976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310896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КЛАПАН СООТВЕТСТВУЕТ СПЕЦИФИКАЦИИ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493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NHL MS&amp;T2026033: HRC 40-44 в допуске ≤46, наплавки нет по чертежу — это норма. Деформация вызвана аномальной T° от настроек ECM, не дефектом материала.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4059936"/>
            <a:ext cx="11795760" cy="98755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4059936"/>
            <a:ext cx="45720" cy="9875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4059936"/>
            <a:ext cx="868680" cy="987552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" y="4261104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413308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ЗОЛА — ОТЯГЧАЮЩИЙ ФАКТОР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45171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EDS NHL: Ca/Zn/P + Si/Al. Ускоряет износ, но является следствием перегрева.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5084064"/>
            <a:ext cx="11795760" cy="98755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" y="5084064"/>
            <a:ext cx="45720" cy="987552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5084064"/>
            <a:ext cx="868680" cy="987552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" y="5285232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EF0A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5157216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F0AF"/>
                </a:solidFill>
                <a:latin typeface="Calibri"/>
              </a:rPr>
              <a:t>СЛЕДУЮЩИЙ ШАГ — ПЕРЕПРОГРАММИРОВАТЬ ECM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" y="55412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Быстрый и обратимый тест: ECM → штатная конфигурация. Наблюдение 6 мес. Нет отказов = гипотеза H1 подтверждена.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6263640"/>
            <a:ext cx="11795760" cy="50292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291072"/>
            <a:ext cx="1179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АО Развитие — Технический анализ  •  АО «Полюс Магадан»  •  Конфиденциально  •  Май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" y="6565392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EF0AF"/>
                </a:solidFill>
                <a:latin typeface="Calibri"/>
              </a:rPr>
              <a:t>Cummins QSK50  •  NHL NTE200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 Light"/>
              </a:rPr>
              <a:t>ПРОИЗВОДИТЕЛЬНОСТЬ: NTE200 vs KOMATSU 730E 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85216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Январь 2024 — Июнь 2026 | Полюс Магадан | 47 ед. NTE200 vs 22 ед. 730E AC</a:t>
            </a:r>
          </a:p>
        </p:txBody>
      </p:sp>
      <p:pic>
        <p:nvPicPr>
          <p:cNvPr id="6" name="Picture 5" descr="speed_prod_3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24128"/>
            <a:ext cx="11887200" cy="40782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4592" y="5175504"/>
            <a:ext cx="28803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5175504"/>
            <a:ext cx="2880360" cy="36576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524865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EF0AF"/>
                </a:solidFill>
                <a:latin typeface="Calibri"/>
              </a:rPr>
              <a:t>+2.8%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574243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2937"/>
                </a:solidFill>
                <a:latin typeface="Calibri"/>
              </a:rPr>
              <a:t>скорость NTE200
выше в 2025 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614476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CA3AF"/>
                </a:solidFill>
                <a:latin typeface="Calibri"/>
              </a:rPr>
              <a:t>Выше RPM ECM
(2100 vs 1990 об/мин)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5175504"/>
            <a:ext cx="28803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2968" y="5175504"/>
            <a:ext cx="28803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524865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F4444"/>
                </a:solidFill>
                <a:latin typeface="Calibri"/>
              </a:rPr>
              <a:t>−22%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574243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2937"/>
                </a:solidFill>
                <a:latin typeface="Calibri"/>
              </a:rPr>
              <a:t>просадка произв.
NTE200 апр-июн 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614476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CA3AF"/>
                </a:solidFill>
                <a:latin typeface="Calibri"/>
              </a:rPr>
              <a:t>Простои из-за
отказов клапанов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5175504"/>
            <a:ext cx="28803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5175504"/>
            <a:ext cx="28803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3" y="524865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  <a:latin typeface="Calibri"/>
              </a:rPr>
              <a:t>≈0%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3" y="574243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2937"/>
                </a:solidFill>
                <a:latin typeface="Calibri"/>
              </a:rPr>
              <a:t>разрыв до 2026
(окт24–мар25)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3" y="614476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CA3AF"/>
                </a:solidFill>
                <a:latin typeface="Calibri"/>
              </a:rPr>
              <a:t>При равном ECM
произв. одинакова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5175504"/>
            <a:ext cx="28803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5175504"/>
            <a:ext cx="28803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524865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  <a:latin typeface="Calibri"/>
              </a:rPr>
              <a:t>−5.4%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5742432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2937"/>
                </a:solidFill>
                <a:latin typeface="Calibri"/>
              </a:rPr>
              <a:t>грузооборот NTE200
ниже в среднем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614476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CA3AF"/>
                </a:solidFill>
                <a:latin typeface="Calibri"/>
              </a:rPr>
              <a:t>Скорость не
компенсирует простои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АНАЛИЗ ДАННЫХ ECM — КЛЮЧЕВЫЕ ПОКАЗАТЕЛИ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035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F0AF"/>
                </a:solidFill>
                <a:latin typeface="Calibri"/>
              </a:rPr>
              <a:t>38 агрегатов  •  133 файла ECM INSITE  •  Май–Июнь 2026</a:t>
            </a:r>
          </a:p>
        </p:txBody>
      </p:sp>
      <p:pic>
        <p:nvPicPr>
          <p:cNvPr id="6" name="Picture 5" descr="ecm_analysis_4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24128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EGT — ПЕРЕГРЕВ ВЫХЛОПНЫХ ГАЗОВ ПО ЦИЛИНДРАМ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035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F0AF"/>
                </a:solidFill>
                <a:latin typeface="Calibri"/>
              </a:rPr>
              <a:t>ECM1/ECM144: 20 из 38 агрегатов имеют события перегрева EGT  •  ECM0 не реагирует — все EGT-триггеры отключены</a:t>
            </a:r>
          </a:p>
        </p:txBody>
      </p:sp>
      <p:pic>
        <p:nvPicPr>
          <p:cNvPr id="6" name="Picture 5" descr="ecm_eg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24128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 Light"/>
              </a:rPr>
              <a:t>РЕЗУЛЬТАТЫ АНАЛИЗА ECM — КРИТИЧЕСКИЕ НАХОДКИ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035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EF0AF"/>
                </a:solidFill>
                <a:latin typeface="Calibri"/>
              </a:rPr>
              <a:t>Прямые доказательства перегрева и неправильных режимов работы двигателя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051560"/>
            <a:ext cx="2898648" cy="15087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1051560"/>
            <a:ext cx="2898648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115568"/>
            <a:ext cx="2697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F4444"/>
                </a:solidFill>
                <a:latin typeface="Calibri Light"/>
              </a:rPr>
              <a:t>34 / 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77393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агрегатов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956816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FC 611 — горячий останов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249424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Двигатель перегревается
перед каждым выключением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1051560"/>
            <a:ext cx="2898648" cy="15087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1051560"/>
            <a:ext cx="2898648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2968" y="1115568"/>
            <a:ext cx="2697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F4444"/>
                </a:solidFill>
                <a:latin typeface="Calibri Light"/>
              </a:rPr>
              <a:t>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177393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событий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1956816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Горячих остановок всего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2249424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Подтверждён систематический
перегрев при останове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25896" y="1051560"/>
            <a:ext cx="2898648" cy="15087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1051560"/>
            <a:ext cx="2898648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7336" y="1115568"/>
            <a:ext cx="2697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991B1B"/>
                </a:solidFill>
                <a:latin typeface="Calibri Light"/>
              </a:rPr>
              <a:t>20 / 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7336" y="177393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агрегатов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1956816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Имеют перегрев EGT (ECM1)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7336" y="2249424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Датчики работают,
ECM0 — не реагирует!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0264" y="1051560"/>
            <a:ext cx="2898648" cy="15087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0264" y="1051560"/>
            <a:ext cx="2898648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1704" y="1115568"/>
            <a:ext cx="2697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991B1B"/>
                </a:solidFill>
                <a:latin typeface="Calibri Light"/>
              </a:rPr>
              <a:t>259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1704" y="1773936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событий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1956816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Максимум EGT (агр.82)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61704" y="2249424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Цилиндр 11 A6: 171 ош. цепи
+ 88 отклонений темп.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" y="2651760"/>
            <a:ext cx="2898648" cy="15087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7160" y="2651760"/>
            <a:ext cx="289864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27157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 Light"/>
              </a:rPr>
              <a:t>9 / 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3355848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агрегатов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353872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FC 234 — обороты превышены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383133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Агр.90: 41 событие
Агр.75: макс. 2532 об/мин!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81528" y="2651760"/>
            <a:ext cx="2898648" cy="15087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81528" y="2651760"/>
            <a:ext cx="289864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72968" y="27157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 Light"/>
              </a:rPr>
              <a:t>113°C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72968" y="3355848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макс. охлажд.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72968" y="353872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Агрегат 71: 14 мин 55 сек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72968" y="383133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Норма: ~99°C Amber
107°C — Red (аварийный стоп)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25896" y="2651760"/>
            <a:ext cx="2898648" cy="15087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25896" y="2651760"/>
            <a:ext cx="2898648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17336" y="27157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444"/>
                </a:solidFill>
                <a:latin typeface="Calibri Light"/>
              </a:rPr>
              <a:t>150°C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17336" y="3355848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впускной коллектор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17336" y="353872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Агрегат 52: цил.2, 2 мин 50 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17336" y="383133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Норма: ~50–60°C
150°C = турбо/интеркулер отказ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70264" y="2651760"/>
            <a:ext cx="2898648" cy="15087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70264" y="2651760"/>
            <a:ext cx="2898648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61704" y="2715768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444"/>
                </a:solidFill>
                <a:latin typeface="Calibri Light"/>
              </a:rPr>
              <a:t>12 / 38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61704" y="3355848"/>
            <a:ext cx="2697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агрегатов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61704" y="353872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FC 556 — давление картера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61704" y="383133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Прорыв газов — признак
мех. повреждения двигателя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4279392"/>
            <a:ext cx="11887200" cy="36576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4352544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EF0AF"/>
                </a:solidFill>
                <a:latin typeface="Calibri"/>
              </a:rPr>
              <a:t>ЦЕПОЧКА ДОКАЗАТЕЛЬСТВ: ECM MISCONFIGURATION → ПЕРЕГРЕВ → ОТКАЗ КЛАПАНОВ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160" y="4718304"/>
            <a:ext cx="1847088" cy="111556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37160" y="4718304"/>
            <a:ext cx="1847088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80" y="47731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 Light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0311" y="50474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ECM0 отключил все
EGT-триггеры защиты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93391" y="5074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EF0AF"/>
                </a:solidFill>
                <a:latin typeface="Calibr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67128" y="4718304"/>
            <a:ext cx="1847088" cy="111556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67128" y="4718304"/>
            <a:ext cx="1847088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12848" y="47731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 Light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40280" y="50474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ECM1 фиксирует перегрев EGT
20/38 агрегатов, до 259 событий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23360" y="5074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EF0AF"/>
                </a:solidFill>
                <a:latin typeface="Calibri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7096" y="4718304"/>
            <a:ext cx="1847088" cy="111556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97096" y="4718304"/>
            <a:ext cx="1847088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42816" y="47731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 Light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70248" y="50474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Охл. жидкость до 113°C,
впускной коллектор до 150°C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53327" y="5074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EF0AF"/>
                </a:solidFill>
                <a:latin typeface="Calibr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27064" y="4718304"/>
            <a:ext cx="1847088" cy="111556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27064" y="4718304"/>
            <a:ext cx="184708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72784" y="47731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 Light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0216" y="50474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FC 611: 641 горячий останов
систематический перегрев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83296" y="5074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EF0AF"/>
                </a:solidFill>
                <a:latin typeface="Calibri"/>
              </a:rPr>
              <a:t>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57032" y="4718304"/>
            <a:ext cx="1847088" cy="111556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257032" y="4718304"/>
            <a:ext cx="184708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02752" y="47731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 Light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30184" y="50474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Высокий RPM (до 2532)
TIB 200%, задержки 43-51 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13264" y="507492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EF0AF"/>
                </a:solidFill>
                <a:latin typeface="Calibri"/>
              </a:rPr>
              <a:t>→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287000" y="4718304"/>
            <a:ext cx="1847088" cy="111556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287000" y="4718304"/>
            <a:ext cx="1847088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332720" y="47731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91B1B"/>
                </a:solidFill>
                <a:latin typeface="Calibri Light"/>
              </a:rPr>
              <a:t>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60152" y="5047488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Calibri"/>
              </a:rPr>
              <a:t>FC 556: давление картера
12 агрегатов — мех. повреждения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Calibri Light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108960"/>
            <a:ext cx="4572000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 Light"/>
              </a:rPr>
              <a:t>ДЕТАЛЬНЫЙ АНАЛИЗ ECM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206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EF0AF"/>
                </a:solidFill>
                <a:latin typeface="Calibri"/>
              </a:rPr>
              <a:t>Разница конфигураций ECM0/ECM1/ECM144 • Физические механизмы • Температурные данные INSITE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 Light"/>
              </a:rPr>
              <a:t>ДЕТАЛЬНОЕ СРАВНЕНИЕ ПАРАМЕТРОВ ECM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035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F0AF"/>
                </a:solidFill>
                <a:latin typeface="Calibri"/>
              </a:rPr>
              <a:t>6 ключевых параметров • Механизм воздействия на выпускной клапан • NTE200 vs 730E AC</a:t>
            </a:r>
          </a:p>
        </p:txBody>
      </p:sp>
      <p:pic>
        <p:nvPicPr>
          <p:cNvPr id="6" name="Picture 5" descr="ecm_params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1005840"/>
            <a:ext cx="1204264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 Light"/>
              </a:rPr>
              <a:t>ПАРАДОКС ECM: ДАТЧИКИ РАБОТАЮТ — ЗАЩИТА ОТКЛЮЧЕНА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035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F0AF"/>
                </a:solidFill>
                <a:latin typeface="Calibri"/>
              </a:rPr>
              <a:t>ECM1/ECM144 фиксируют перегрев EGT  •  ECM0 игнорирует данные  •  Агрегат 83: цилиндр 12 = 934°C</a:t>
            </a:r>
          </a:p>
        </p:txBody>
      </p:sp>
      <p:pic>
        <p:nvPicPr>
          <p:cNvPr id="6" name="Picture 5" descr="ecm_architecture_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05840"/>
            <a:ext cx="1200607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 Light"/>
              </a:rPr>
              <a:t>ТЕПЛОВАЯ КАРТА EGT — ВСЕ 16 ЦИЛИНДРОВ × 38 АГРЕГАТОВ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035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F0AF"/>
                </a:solidFill>
                <a:latin typeface="Calibri"/>
              </a:rPr>
              <a:t>Данные при снятии ECM snapshot (INSITE)  •  A-банк (ECM144) + B-банк (ECM1)  •  Цил.12 аг.83 = 934°C</a:t>
            </a:r>
          </a:p>
        </p:txBody>
      </p:sp>
      <p:pic>
        <p:nvPicPr>
          <p:cNvPr id="6" name="Picture 5" descr="egt_full_16cy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05840"/>
            <a:ext cx="1200607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 Light"/>
              </a:rPr>
              <a:t>КОРРЕЛЯЦИЯ ECM-ПОКАЗАТЕЛЕЙ С ОТКАЗАМИ КЛАПАНОВ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035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F0AF"/>
                </a:solidFill>
                <a:latin typeface="Calibri"/>
              </a:rPr>
              <a:t>Все 38 агрегатов  •  6 индикаторов  •  сортировка по тяжести отказа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6291072"/>
            <a:ext cx="12006072" cy="475488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cm_unit_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" y="1005840"/>
            <a:ext cx="12070080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 Light"/>
              </a:rPr>
              <a:t>ИТОГОВАЯ ТАБЛИЦА: КЛЮЧЕВЫЕ ECM-ПОКАЗАТЕЛИ ПО АГРЕГАТАМ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035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EF0AF"/>
                </a:solidFill>
                <a:latin typeface="Calibri"/>
              </a:rPr>
              <a:t>38 агрегатов  •  Наработка • FC611 • EGT-события • Макс. T° • Макс. EGT-цилиндр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24128"/>
            <a:ext cx="50292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" y="1033272"/>
            <a:ext cx="457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Аг.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24128"/>
            <a:ext cx="64008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33272"/>
            <a:ext cx="594359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Нар.(ч)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1024128"/>
            <a:ext cx="59436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1033272"/>
            <a:ext cx="5486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FC611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024128"/>
            <a:ext cx="59436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6231" y="1033272"/>
            <a:ext cx="5486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EGT
соб.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1024128"/>
            <a:ext cx="59436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0591" y="1033272"/>
            <a:ext cx="5486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T°ОЖ
°C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24128"/>
            <a:ext cx="77724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1" y="1033272"/>
            <a:ext cx="731519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EGT
макс°C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" y="1260500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" y="1278788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✗43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1260500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1278788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18,859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126050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2728" y="127878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51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126050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47088" y="127878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126050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41448" y="127878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260500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35808" y="1278788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" y="1475384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" y="1493672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✗44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1475384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1493672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17,821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440" y="147538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52728" y="149367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147538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47088" y="149367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147538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41448" y="149367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1475384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35808" y="1493672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446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" y="1690268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" y="1708556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✗45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1690268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" y="1708556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19,049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440" y="169026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52728" y="170855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0" y="169026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47088" y="170855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169026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41448" y="170855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20" y="1690268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35808" y="1708556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" y="1905152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28" y="1923440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△49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1905152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648" y="1923440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17,923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34440" y="190515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52728" y="192344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0" y="190515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47088" y="192344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23160" y="190515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41448" y="192344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112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1905152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35808" y="1923440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" y="2120036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9728" y="2138324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✗51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" y="2120036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648" y="2138324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17,583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34440" y="212003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52728" y="213832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212003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47088" y="213832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23160" y="212003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41448" y="213832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2120036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35808" y="2138324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343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" y="2334920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9728" y="2353208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52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" y="2334920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2648" y="2353208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17,823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234440" y="233492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52728" y="235320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0" y="233492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847088" y="235320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23160" y="233492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441448" y="235320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17520" y="2334920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35808" y="2353208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387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440" y="2549804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9728" y="2568092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△54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4360" y="2549804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2648" y="2568092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17,582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34440" y="254980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52728" y="256809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34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0" y="254980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47088" y="256809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423160" y="254980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441448" y="256809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2549804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35808" y="2568092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320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440" y="2764688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9728" y="2782976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△56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4360" y="2764688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2648" y="2782976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17,410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234440" y="276468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252728" y="278297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828800" y="276468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847088" y="278297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423160" y="276468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41448" y="278297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017520" y="2764688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035808" y="2782976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354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1440" y="2979572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9728" y="2997860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✗57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94360" y="2979572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2648" y="2997860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17,116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34440" y="297957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252728" y="299786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28800" y="297957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847088" y="299786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53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423160" y="297957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441448" y="299786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017520" y="2979572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035808" y="2997860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358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1440" y="3194456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9728" y="3212744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✗58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94360" y="3194456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2648" y="3212744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16,851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234440" y="3194456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252728" y="321274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828800" y="3194456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847088" y="321274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423160" y="3194456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441448" y="321274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017520" y="3194456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035808" y="3212744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293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1440" y="3409340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9728" y="3427628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✗59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94360" y="3409340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12648" y="3427628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17,068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234440" y="340934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52728" y="342762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828800" y="340934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847088" y="342762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138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423160" y="340934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441448" y="342762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017520" y="3409340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035808" y="3427628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343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1440" y="3624224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9728" y="3642512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△60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94360" y="3624224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12648" y="3642512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17,330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234440" y="362422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252728" y="364251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828800" y="362422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847088" y="364251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423160" y="362422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441448" y="364251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017520" y="3624224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5808" y="3642512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162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1440" y="3839108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9728" y="3857396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△62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94360" y="3839108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12648" y="3857396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15,813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234440" y="383910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252728" y="385739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828800" y="383910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847088" y="385739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423160" y="383910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441448" y="385739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102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017520" y="3839108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035808" y="3857396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359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91440" y="4053992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9728" y="4072280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63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94360" y="4053992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12648" y="4072280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12,065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234440" y="405399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252728" y="407228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83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828800" y="405399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847088" y="407228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22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423160" y="405399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2441448" y="407228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017520" y="4053992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035808" y="4072280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283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1440" y="4268876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9728" y="4287164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64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94360" y="4268876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12648" y="4287164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11,543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234440" y="426887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252728" y="428716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828800" y="426887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847088" y="428716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423160" y="426887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441448" y="428716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104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017520" y="4268876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035808" y="4287164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260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91440" y="4483760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09728" y="4502048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65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94360" y="4483760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12648" y="4502048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11,796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234440" y="448376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252728" y="450204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32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828800" y="448376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847088" y="450204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2423160" y="448376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2441448" y="450204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3017520" y="4483760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035808" y="4502048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308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91440" y="4698644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09728" y="4716932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66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594360" y="4698644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612648" y="4716932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11,305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1234440" y="469864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252728" y="471693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828800" y="469864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847088" y="471693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423160" y="469864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2441448" y="471693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017520" y="4698644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3035808" y="4716932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315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91440" y="4913528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9728" y="4931816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△67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94360" y="4913528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12648" y="4931816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11,342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1234440" y="491352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252728" y="493181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31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828800" y="491352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847088" y="493181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128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2423160" y="491352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441448" y="493181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3017520" y="4913528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3035808" y="4931816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306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91440" y="5128412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09728" y="5146700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✗69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94360" y="5128412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12648" y="5146700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10,543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234440" y="512841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252728" y="514670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17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828800" y="512841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847088" y="514670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2423160" y="512841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441448" y="514670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3017520" y="5128412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3035808" y="5146700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6217920" y="1024128"/>
            <a:ext cx="50292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6245352" y="1033272"/>
            <a:ext cx="457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Аг.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720840" y="1024128"/>
            <a:ext cx="64008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6748272" y="1033272"/>
            <a:ext cx="594359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Нар.(ч)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7360919" y="1024128"/>
            <a:ext cx="59436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7388351" y="1033272"/>
            <a:ext cx="5486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FC611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955279" y="1024128"/>
            <a:ext cx="59436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7982711" y="1033272"/>
            <a:ext cx="5486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EGT
соб.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8549640" y="1024128"/>
            <a:ext cx="59436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8577072" y="1033272"/>
            <a:ext cx="5486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T°ОЖ
°C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9144000" y="1024128"/>
            <a:ext cx="777240" cy="236372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9171432" y="1033272"/>
            <a:ext cx="731519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EF0AF"/>
                </a:solidFill>
                <a:latin typeface="Calibri"/>
              </a:rPr>
              <a:t>EGT
макс°C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6217920" y="1260500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6236207" y="1278788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70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720840" y="1260500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739127" y="1278788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11,045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7360919" y="126050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7379207" y="127878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7955279" y="126050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7973567" y="127878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108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8549640" y="126050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8567928" y="127878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9144000" y="1260500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9162288" y="1278788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296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6217920" y="1475384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236207" y="1493672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71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6720840" y="1475384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6739127" y="1493672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10,792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7360919" y="147538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379207" y="149367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79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7955279" y="147538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7973567" y="149367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9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8549640" y="147538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8567928" y="149367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113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9144000" y="1475384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9162288" y="1493672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318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6217920" y="1690268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6236207" y="1708556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✗72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6720840" y="1690268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6739127" y="1708556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10,801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7360919" y="169026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7379207" y="170855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16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7955279" y="169026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7973567" y="170855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79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8549640" y="169026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8567928" y="170855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9144000" y="1690268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9162288" y="1708556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283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6217920" y="1905152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6236207" y="1923440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△73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6720840" y="1905152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6739127" y="1923440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10,307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7360919" y="190515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7379207" y="192344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7955279" y="190515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7973567" y="192344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8549640" y="190515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8567928" y="192344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9144000" y="1905152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9162288" y="1923440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347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6217920" y="2120036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6236207" y="2138324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75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6720840" y="2120036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6739127" y="2138324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10,283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7360919" y="212003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7379207" y="213832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7955279" y="212003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7973567" y="213832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8549640" y="212003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8567928" y="213832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103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9144000" y="2120036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9162288" y="2138324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297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6217920" y="2334920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6236207" y="2353208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76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6720840" y="2334920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6739127" y="2353208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10,041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7360919" y="233492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7379207" y="235320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16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955279" y="233492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7973567" y="235320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8549640" y="233492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8567928" y="235320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101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9144000" y="2334920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9162288" y="2353208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263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6217920" y="2549804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6236207" y="2568092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77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720840" y="2549804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6739127" y="2568092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10,075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360919" y="254980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7379207" y="256809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955279" y="254980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7973567" y="256809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8549640" y="254980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8567928" y="256809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9144000" y="2549804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9162288" y="2568092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287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6217920" y="2764688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6236207" y="2782976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F4444"/>
                </a:solidFill>
                <a:latin typeface="Calibri"/>
              </a:rPr>
              <a:t>✗78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6720840" y="2764688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6739127" y="2782976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9,305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7360919" y="276468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7379207" y="278297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28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7955279" y="276468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7973567" y="278297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549640" y="276468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8567928" y="278297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103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9144000" y="2764688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9162288" y="2782976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316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6217920" y="2979572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6236207" y="2997860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79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6720840" y="2979572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6739127" y="2997860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4,516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7360919" y="297957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7379207" y="299786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54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7955279" y="297957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7973567" y="299786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8549640" y="297957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8567928" y="299786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9144000" y="2979572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9162288" y="2997860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266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6217920" y="3194456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6236207" y="3212744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82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6720840" y="3194456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6739127" y="3212744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4,014</a:t>
            </a:r>
          </a:p>
        </p:txBody>
      </p:sp>
      <p:sp>
        <p:nvSpPr>
          <p:cNvPr id="370" name="Rectangle 369"/>
          <p:cNvSpPr/>
          <p:nvPr/>
        </p:nvSpPr>
        <p:spPr>
          <a:xfrm>
            <a:off x="7360919" y="3194456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7379207" y="321274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18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7955279" y="3194456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7973567" y="321274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259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8549640" y="3194456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8567928" y="321274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9144000" y="3194456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9162288" y="3212744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318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6217920" y="3409340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6236207" y="3427628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91B1B"/>
                </a:solidFill>
                <a:latin typeface="Calibri"/>
              </a:rPr>
              <a:t>!!83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6720840" y="3409340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6739127" y="3427628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3,767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7360919" y="340934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7379207" y="342762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31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7955279" y="340934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7973567" y="342762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F4444"/>
                </a:solidFill>
                <a:latin typeface="Calibri"/>
              </a:rPr>
              <a:t>101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8549640" y="3409340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8567928" y="342762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9144000" y="3409340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9162288" y="3427628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1B1B"/>
                </a:solidFill>
                <a:latin typeface="Calibri"/>
              </a:rPr>
              <a:t>934!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6217920" y="3624224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6236207" y="3642512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84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6720840" y="3624224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6739127" y="3642512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3,774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7360919" y="362422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7379207" y="364251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10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7955279" y="362422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7973567" y="364251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8549640" y="3624224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8567928" y="364251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9144000" y="3624224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9162288" y="3642512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281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6217920" y="3839108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6236207" y="3857396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△85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6720840" y="3839108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6739127" y="3857396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3,774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7360919" y="383910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7379207" y="385739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8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7955279" y="383910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7973567" y="385739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8549640" y="3839108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8567928" y="385739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9144000" y="3839108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9162288" y="3857396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315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6217920" y="4053992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6236207" y="4072280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△86</a:t>
            </a:r>
          </a:p>
        </p:txBody>
      </p:sp>
      <p:sp>
        <p:nvSpPr>
          <p:cNvPr id="416" name="Rectangle 415"/>
          <p:cNvSpPr/>
          <p:nvPr/>
        </p:nvSpPr>
        <p:spPr>
          <a:xfrm>
            <a:off x="6720840" y="4053992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6739127" y="4072280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3,531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7360919" y="405399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7379207" y="407228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7955279" y="405399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7973567" y="407228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23</a:t>
            </a:r>
          </a:p>
        </p:txBody>
      </p:sp>
      <p:sp>
        <p:nvSpPr>
          <p:cNvPr id="422" name="Rectangle 421"/>
          <p:cNvSpPr/>
          <p:nvPr/>
        </p:nvSpPr>
        <p:spPr>
          <a:xfrm>
            <a:off x="8549640" y="4053992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8567928" y="407228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9144000" y="4053992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9162288" y="4072280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312</a:t>
            </a:r>
          </a:p>
        </p:txBody>
      </p:sp>
      <p:sp>
        <p:nvSpPr>
          <p:cNvPr id="426" name="Rectangle 425"/>
          <p:cNvSpPr/>
          <p:nvPr/>
        </p:nvSpPr>
        <p:spPr>
          <a:xfrm>
            <a:off x="6217920" y="4268876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6236207" y="4287164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87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6720840" y="4268876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6739127" y="4287164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3,778</a:t>
            </a:r>
          </a:p>
        </p:txBody>
      </p:sp>
      <p:sp>
        <p:nvSpPr>
          <p:cNvPr id="430" name="Rectangle 429"/>
          <p:cNvSpPr/>
          <p:nvPr/>
        </p:nvSpPr>
        <p:spPr>
          <a:xfrm>
            <a:off x="7360919" y="426887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7379207" y="428716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12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7955279" y="426887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7973567" y="428716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  <p:sp>
        <p:nvSpPr>
          <p:cNvPr id="434" name="Rectangle 433"/>
          <p:cNvSpPr/>
          <p:nvPr/>
        </p:nvSpPr>
        <p:spPr>
          <a:xfrm>
            <a:off x="8549640" y="4268876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8567928" y="4287164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-</a:t>
            </a:r>
          </a:p>
        </p:txBody>
      </p:sp>
      <p:sp>
        <p:nvSpPr>
          <p:cNvPr id="436" name="Rectangle 435"/>
          <p:cNvSpPr/>
          <p:nvPr/>
        </p:nvSpPr>
        <p:spPr>
          <a:xfrm>
            <a:off x="9144000" y="4268876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9162288" y="4287164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319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6217920" y="4483760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6236207" y="4502048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Calibri"/>
              </a:rPr>
              <a:t>△88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6720840" y="4483760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6739127" y="4502048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3,266</a:t>
            </a:r>
          </a:p>
        </p:txBody>
      </p:sp>
      <p:sp>
        <p:nvSpPr>
          <p:cNvPr id="442" name="Rectangle 441"/>
          <p:cNvSpPr/>
          <p:nvPr/>
        </p:nvSpPr>
        <p:spPr>
          <a:xfrm>
            <a:off x="7360919" y="448376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>
            <a:off x="7379207" y="450204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10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7955279" y="448376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TextBox 444"/>
          <p:cNvSpPr txBox="1"/>
          <p:nvPr/>
        </p:nvSpPr>
        <p:spPr>
          <a:xfrm>
            <a:off x="7973567" y="450204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9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8549640" y="4483760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8567928" y="4502048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101</a:t>
            </a:r>
          </a:p>
        </p:txBody>
      </p:sp>
      <p:sp>
        <p:nvSpPr>
          <p:cNvPr id="448" name="Rectangle 447"/>
          <p:cNvSpPr/>
          <p:nvPr/>
        </p:nvSpPr>
        <p:spPr>
          <a:xfrm>
            <a:off x="9144000" y="4483760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9162288" y="4502048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326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6217920" y="4698644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6236207" y="4716932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89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6720840" y="4698644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6739127" y="4716932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3,508</a:t>
            </a:r>
          </a:p>
        </p:txBody>
      </p:sp>
      <p:sp>
        <p:nvSpPr>
          <p:cNvPr id="454" name="Rectangle 453"/>
          <p:cNvSpPr/>
          <p:nvPr/>
        </p:nvSpPr>
        <p:spPr>
          <a:xfrm>
            <a:off x="7360919" y="469864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7379207" y="471693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11</a:t>
            </a:r>
          </a:p>
        </p:txBody>
      </p:sp>
      <p:sp>
        <p:nvSpPr>
          <p:cNvPr id="456" name="Rectangle 455"/>
          <p:cNvSpPr/>
          <p:nvPr/>
        </p:nvSpPr>
        <p:spPr>
          <a:xfrm>
            <a:off x="7955279" y="469864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7973567" y="471693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9E0B"/>
                </a:solidFill>
                <a:latin typeface="Calibri"/>
              </a:rPr>
              <a:t>15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8549640" y="4698644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8567928" y="4716932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460" name="Rectangle 459"/>
          <p:cNvSpPr/>
          <p:nvPr/>
        </p:nvSpPr>
        <p:spPr>
          <a:xfrm>
            <a:off x="9144000" y="4698644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9162288" y="4716932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Calibri"/>
              </a:rPr>
              <a:t>319</a:t>
            </a:r>
          </a:p>
        </p:txBody>
      </p:sp>
      <p:sp>
        <p:nvSpPr>
          <p:cNvPr id="462" name="Rectangle 461"/>
          <p:cNvSpPr/>
          <p:nvPr/>
        </p:nvSpPr>
        <p:spPr>
          <a:xfrm>
            <a:off x="6217920" y="4913528"/>
            <a:ext cx="50292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6236207" y="4931816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90</a:t>
            </a:r>
          </a:p>
        </p:txBody>
      </p:sp>
      <p:sp>
        <p:nvSpPr>
          <p:cNvPr id="464" name="Rectangle 463"/>
          <p:cNvSpPr/>
          <p:nvPr/>
        </p:nvSpPr>
        <p:spPr>
          <a:xfrm>
            <a:off x="6720840" y="4913528"/>
            <a:ext cx="64008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6739127" y="4931816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-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7360919" y="491352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7379207" y="493181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-</a:t>
            </a:r>
          </a:p>
        </p:txBody>
      </p:sp>
      <p:sp>
        <p:nvSpPr>
          <p:cNvPr id="468" name="Rectangle 467"/>
          <p:cNvSpPr/>
          <p:nvPr/>
        </p:nvSpPr>
        <p:spPr>
          <a:xfrm>
            <a:off x="7955279" y="491352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7973567" y="493181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-</a:t>
            </a:r>
          </a:p>
        </p:txBody>
      </p:sp>
      <p:sp>
        <p:nvSpPr>
          <p:cNvPr id="470" name="Rectangle 469"/>
          <p:cNvSpPr/>
          <p:nvPr/>
        </p:nvSpPr>
        <p:spPr>
          <a:xfrm>
            <a:off x="8549640" y="4913528"/>
            <a:ext cx="59436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8567928" y="4931816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-</a:t>
            </a:r>
          </a:p>
        </p:txBody>
      </p:sp>
      <p:sp>
        <p:nvSpPr>
          <p:cNvPr id="472" name="Rectangle 471"/>
          <p:cNvSpPr/>
          <p:nvPr/>
        </p:nvSpPr>
        <p:spPr>
          <a:xfrm>
            <a:off x="9144000" y="4913528"/>
            <a:ext cx="777240" cy="214884"/>
          </a:xfrm>
          <a:prstGeom prst="rect">
            <a:avLst/>
          </a:prstGeom>
          <a:solidFill>
            <a:srgbClr val="29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TextBox 472"/>
          <p:cNvSpPr txBox="1"/>
          <p:nvPr/>
        </p:nvSpPr>
        <p:spPr>
          <a:xfrm>
            <a:off x="9162288" y="4931816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-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6217920" y="5128412"/>
            <a:ext cx="50292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TextBox 474"/>
          <p:cNvSpPr txBox="1"/>
          <p:nvPr/>
        </p:nvSpPr>
        <p:spPr>
          <a:xfrm>
            <a:off x="6236207" y="5146700"/>
            <a:ext cx="46634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9CA3AF"/>
                </a:solidFill>
                <a:latin typeface="Calibri"/>
              </a:rPr>
              <a:t> 91</a:t>
            </a:r>
          </a:p>
        </p:txBody>
      </p:sp>
      <p:sp>
        <p:nvSpPr>
          <p:cNvPr id="476" name="Rectangle 475"/>
          <p:cNvSpPr/>
          <p:nvPr/>
        </p:nvSpPr>
        <p:spPr>
          <a:xfrm>
            <a:off x="6720840" y="5128412"/>
            <a:ext cx="64008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TextBox 476"/>
          <p:cNvSpPr txBox="1"/>
          <p:nvPr/>
        </p:nvSpPr>
        <p:spPr>
          <a:xfrm>
            <a:off x="6739127" y="5146700"/>
            <a:ext cx="603503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-</a:t>
            </a:r>
          </a:p>
        </p:txBody>
      </p:sp>
      <p:sp>
        <p:nvSpPr>
          <p:cNvPr id="478" name="Rectangle 477"/>
          <p:cNvSpPr/>
          <p:nvPr/>
        </p:nvSpPr>
        <p:spPr>
          <a:xfrm>
            <a:off x="7360919" y="512841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7379207" y="514670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-</a:t>
            </a:r>
          </a:p>
        </p:txBody>
      </p:sp>
      <p:sp>
        <p:nvSpPr>
          <p:cNvPr id="480" name="Rectangle 479"/>
          <p:cNvSpPr/>
          <p:nvPr/>
        </p:nvSpPr>
        <p:spPr>
          <a:xfrm>
            <a:off x="7955279" y="512841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TextBox 480"/>
          <p:cNvSpPr txBox="1"/>
          <p:nvPr/>
        </p:nvSpPr>
        <p:spPr>
          <a:xfrm>
            <a:off x="7973567" y="514670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-</a:t>
            </a:r>
          </a:p>
        </p:txBody>
      </p:sp>
      <p:sp>
        <p:nvSpPr>
          <p:cNvPr id="482" name="Rectangle 481"/>
          <p:cNvSpPr/>
          <p:nvPr/>
        </p:nvSpPr>
        <p:spPr>
          <a:xfrm>
            <a:off x="8549640" y="5128412"/>
            <a:ext cx="59436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TextBox 482"/>
          <p:cNvSpPr txBox="1"/>
          <p:nvPr/>
        </p:nvSpPr>
        <p:spPr>
          <a:xfrm>
            <a:off x="8567928" y="5146700"/>
            <a:ext cx="55778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-</a:t>
            </a:r>
          </a:p>
        </p:txBody>
      </p:sp>
      <p:sp>
        <p:nvSpPr>
          <p:cNvPr id="484" name="Rectangle 483"/>
          <p:cNvSpPr/>
          <p:nvPr/>
        </p:nvSpPr>
        <p:spPr>
          <a:xfrm>
            <a:off x="9144000" y="5128412"/>
            <a:ext cx="777240" cy="214884"/>
          </a:xfrm>
          <a:prstGeom prst="rect">
            <a:avLst/>
          </a:prstGeom>
          <a:solidFill>
            <a:srgbClr val="1F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TextBox 484"/>
          <p:cNvSpPr txBox="1"/>
          <p:nvPr/>
        </p:nvSpPr>
        <p:spPr>
          <a:xfrm>
            <a:off x="9162288" y="5146700"/>
            <a:ext cx="740664" cy="178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5F5F5"/>
                </a:solidFill>
                <a:latin typeface="Calibri"/>
              </a:rPr>
              <a:t>-</a:t>
            </a:r>
          </a:p>
        </p:txBody>
      </p:sp>
      <p:sp>
        <p:nvSpPr>
          <p:cNvPr id="486" name="Rectangle 485"/>
          <p:cNvSpPr/>
          <p:nvPr/>
        </p:nvSpPr>
        <p:spPr>
          <a:xfrm>
            <a:off x="6144768" y="1005840"/>
            <a:ext cx="54864" cy="576072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40000"/>
            <a:ext cx="12189600" cy="2160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89600" cy="10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592000"/>
            <a:ext cx="1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3EF0AF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2808000"/>
            <a:ext cx="90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АНАЛИЗ DML ЛОГОВ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3671999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EF0AF"/>
                </a:solidFill>
              </a:rPr>
              <a:t>Динамический анализ параметров двигателя в реальном времени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5220000"/>
            <a:ext cx="2700000" cy="900000"/>
          </a:xfrm>
          <a:prstGeom prst="rect">
            <a:avLst/>
          </a:prstGeom>
          <a:solidFill>
            <a:srgbClr val="1E2529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5256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F0AF"/>
                </a:solidFill>
              </a:rPr>
              <a:t>02.06.2026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565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77"/>
                </a:solidFill>
              </a:rPr>
              <a:t>Дата теста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0000" y="5220000"/>
            <a:ext cx="2700000" cy="900000"/>
          </a:xfrm>
          <a:prstGeom prst="rect">
            <a:avLst/>
          </a:prstGeom>
          <a:solidFill>
            <a:srgbClr val="1E2529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8000" y="5256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F0AF"/>
                </a:solidFill>
              </a:rPr>
              <a:t>Агрегат 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8000" y="565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77"/>
                </a:solidFill>
              </a:rPr>
              <a:t>Объект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5220000"/>
            <a:ext cx="2700000" cy="900000"/>
          </a:xfrm>
          <a:prstGeom prst="rect">
            <a:avLst/>
          </a:prstGeom>
          <a:solidFill>
            <a:srgbClr val="1E2529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8000" y="5256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F0AF"/>
                </a:solidFill>
              </a:rPr>
              <a:t>2 теста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8000" y="565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77"/>
                </a:solidFill>
              </a:rPr>
              <a:t>Кол-во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0000" y="5220000"/>
            <a:ext cx="2700000" cy="900000"/>
          </a:xfrm>
          <a:prstGeom prst="rect">
            <a:avLst/>
          </a:prstGeom>
          <a:solidFill>
            <a:srgbClr val="1E2529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8000" y="5256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EF0AF"/>
                </a:solidFill>
              </a:rPr>
              <a:t>13.5 + 23.8 мин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8000" y="5652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77"/>
                </a:solidFill>
              </a:rPr>
              <a:t>Длительность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7777"/>
                </a:solidFill>
              </a:rPr>
              <a:t>Методология: тест без нагрузки (порожний рейс) + тест под нагрузкой (с породой)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92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КЛЮЧЕВЫЕ ВЫВОДЫ DML — АГРЕГАТ 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58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EF0AF"/>
                </a:solidFill>
              </a:rPr>
              <a:t>02 июня 2026  |  Тест 1 (без породы) + Тест 2 (с породой)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900000"/>
            <a:ext cx="3780000" cy="2700000"/>
          </a:xfrm>
          <a:prstGeom prst="rect">
            <a:avLst/>
          </a:prstGeom>
          <a:solidFill>
            <a:srgbClr val="1E2529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6000" y="1008000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00" y="99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296000"/>
            <a:ext cx="34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4444"/>
                </a:solidFill>
              </a:rPr>
              <a:t>567°C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052000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Макс. ЕГТ цил.6 и цил.2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412000"/>
            <a:ext cx="35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77"/>
                </a:solidFill>
              </a:rPr>
              <a:t>Цилиндры 6 и 2 достигают 567°C под нагрузкой.
Предел клапана Cummins QSK50: 650°C.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8000" y="900000"/>
            <a:ext cx="3780000" cy="2700000"/>
          </a:xfrm>
          <a:prstGeom prst="rect">
            <a:avLst/>
          </a:prstGeom>
          <a:solidFill>
            <a:srgbClr val="1E2529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6000" y="1008000"/>
            <a:ext cx="1260000" cy="234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6000" y="99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ВЫСОКАЯ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2000" y="1296000"/>
            <a:ext cx="34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8C42"/>
                </a:solidFill>
              </a:rPr>
              <a:t>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2000" y="2052000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Нагрузка с породой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2000" y="2412000"/>
            <a:ext cx="35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77"/>
                </a:solidFill>
              </a:rPr>
              <a:t>Средняя нагрузка 88% при ведении с породой.
Это в 4.1x выше порожнего режима (21%).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8000" y="900000"/>
            <a:ext cx="3780000" cy="2700000"/>
          </a:xfrm>
          <a:prstGeom prst="rect">
            <a:avLst/>
          </a:prstGeom>
          <a:solidFill>
            <a:srgbClr val="1E2529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6000" y="1008000"/>
            <a:ext cx="1260000" cy="234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6000" y="99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КОНТРОЛЬ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2000" y="1296000"/>
            <a:ext cx="34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D166"/>
                </a:solidFill>
              </a:rPr>
              <a:t>1929 об/м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2052000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Макс. обороты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2000" y="2412000"/>
            <a:ext cx="35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77"/>
                </a:solidFill>
              </a:rPr>
              <a:t>Максимальные обороты 1929 rpm под нагрузкой.
Ниже лимита 2100, но TIB=200% удваивает нагрузку.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3780000"/>
            <a:ext cx="3780000" cy="2700000"/>
          </a:xfrm>
          <a:prstGeom prst="rect">
            <a:avLst/>
          </a:prstGeom>
          <a:solidFill>
            <a:srgbClr val="1E2529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000" y="3888000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000" y="387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ДЕФЕКТ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4176000"/>
            <a:ext cx="34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4444"/>
                </a:solidFill>
              </a:rPr>
              <a:t>Цил.11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4932000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Отказ датчика ЕГТ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5292000"/>
            <a:ext cx="35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77"/>
                </a:solidFill>
              </a:rPr>
              <a:t>63% времени теста датчик ЕГТ цил.11 выдаёт
0°C — признак обгоревшего клапана.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8000" y="3780000"/>
            <a:ext cx="3780000" cy="2700000"/>
          </a:xfrm>
          <a:prstGeom prst="rect">
            <a:avLst/>
          </a:prstGeom>
          <a:solidFill>
            <a:srgbClr val="1E2529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56000" y="3888000"/>
            <a:ext cx="1260000" cy="234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6000" y="387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КРИТИЧНО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2000" y="4176000"/>
            <a:ext cx="34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4444"/>
                </a:solidFill>
              </a:rPr>
              <a:t>525°C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92000" y="4932000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Ср. ЕГТ правого банка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2000" y="5292000"/>
            <a:ext cx="35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77"/>
                </a:solidFill>
              </a:rPr>
              <a:t>Правый банк (B-банк, чётные цилиндры) горячее
левого на 60°C в среднем под нагрузкой.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08000" y="3780000"/>
            <a:ext cx="3780000" cy="2700000"/>
          </a:xfrm>
          <a:prstGeom prst="rect">
            <a:avLst/>
          </a:prstGeom>
          <a:solidFill>
            <a:srgbClr val="1E2529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16000" y="3888000"/>
            <a:ext cx="1260000" cy="234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16000" y="387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93136"/>
                </a:solidFill>
              </a:rPr>
              <a:t>НАГРЕВ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2000" y="4176000"/>
            <a:ext cx="34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8C42"/>
                </a:solidFill>
              </a:rPr>
              <a:t>+186°C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2000" y="4932000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Прирост ЕГТ под нагрузкой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2000" y="5292000"/>
            <a:ext cx="352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77"/>
                </a:solidFill>
              </a:rPr>
              <a:t>Нагрузка поднимает ЕГТ с 287°C до 474°C.
Дельта +186°C при нагрузке с породой.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503999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6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DML: ДИНАМИКА ПАРАМЕТРОВ — АГРЕГАТ 82</a:t>
            </a:r>
          </a:p>
        </p:txBody>
      </p:sp>
      <p:pic>
        <p:nvPicPr>
          <p:cNvPr id="4" name="Picture 3" descr="dml_ts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40000"/>
            <a:ext cx="11700000" cy="804728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503999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6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DML: ТЕМПЕРАТУРА ЕГТ ПО ЦИЛИНДРАМ — АГРЕГАТ 82</a:t>
            </a:r>
          </a:p>
        </p:txBody>
      </p:sp>
      <p:pic>
        <p:nvPicPr>
          <p:cNvPr id="4" name="Picture 3" descr="dml_egt_cyl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40000"/>
            <a:ext cx="11700000" cy="50766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503999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6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DML: АНОМАЛИЯ ЕГТ ЦИЛ.11 + РЕЙТИНГ ГОРЯЧИХ ЦИЛИНДРОВ</a:t>
            </a:r>
          </a:p>
        </p:txBody>
      </p:sp>
      <p:pic>
        <p:nvPicPr>
          <p:cNvPr id="4" name="Picture 3" descr="dml_cyl11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40000"/>
            <a:ext cx="11700000" cy="58018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503999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6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DML: ТЕМПЕРАТУРНАЯ АСИММЕТРИЯ БАНКОВ  |  Тест 2 (с породой)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000" y="6192000"/>
            <a:ext cx="11700000" cy="576000"/>
          </a:xfrm>
          <a:prstGeom prst="rect">
            <a:avLst/>
          </a:prstGeom>
          <a:solidFill>
            <a:srgbClr val="1E2529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6228000"/>
            <a:ext cx="115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42"/>
                </a:solidFill>
              </a:rPr>
              <a:t>ВЫВОД: B-банк (правый, чётные) в среднем на 60°C горячее A-банка. Цил.6 и Цил.2 — лидеры перегрева (567°C max).</a:t>
            </a:r>
          </a:p>
        </p:txBody>
      </p:sp>
      <p:pic>
        <p:nvPicPr>
          <p:cNvPr id="6" name="Picture 5" descr="dml_banks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540000"/>
            <a:ext cx="11700000" cy="5580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9600" cy="720000"/>
          </a:xfrm>
          <a:prstGeom prst="rect">
            <a:avLst/>
          </a:prstGeom>
          <a:solidFill>
            <a:srgbClr val="1E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DML: ЗАКЛЮЧЕНИЕ И РЕКОМЕНДАЦИИ — АГРЕГАТ 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EF0AF"/>
                </a:solidFill>
              </a:rPr>
              <a:t>На основе анализа 2 DML-логов от 02.06.2026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792000"/>
            <a:ext cx="5580000" cy="2880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792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3136"/>
                </a:solidFill>
              </a:rPr>
              <a:t>ПОДТВЕРЖДЁННЫЕ РИСКИ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1152000"/>
            <a:ext cx="5580000" cy="1260000"/>
          </a:xfrm>
          <a:prstGeom prst="rect">
            <a:avLst/>
          </a:prstGeom>
          <a:solidFill>
            <a:srgbClr val="1E2529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1224000"/>
            <a:ext cx="53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444"/>
                </a:solidFill>
              </a:rPr>
              <a:t>1. Цил.11 — отказ датчика ЕГТ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548000"/>
            <a:ext cx="532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77"/>
                </a:solidFill>
              </a:rPr>
              <a:t>63% времени теста датчик показывает 0°C при
полной нагрузке. Дефект клапана → обрыв термопары.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2520000"/>
            <a:ext cx="5580000" cy="1260000"/>
          </a:xfrm>
          <a:prstGeom prst="rect">
            <a:avLst/>
          </a:prstGeom>
          <a:solidFill>
            <a:srgbClr val="1E2529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2592000"/>
            <a:ext cx="53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444"/>
                </a:solidFill>
              </a:rPr>
              <a:t>2. Цил.6 и Цил.2 — температурный экстремум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2916000"/>
            <a:ext cx="532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77"/>
                </a:solidFill>
              </a:rPr>
              <a:t>Оба достигают 567°C при нагрузке 88%.
Цил.6 — хронически горячий (avg 530°C).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000" y="3888000"/>
            <a:ext cx="5580000" cy="1260000"/>
          </a:xfrm>
          <a:prstGeom prst="rect">
            <a:avLst/>
          </a:prstGeom>
          <a:solidFill>
            <a:srgbClr val="1E2529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00" y="3960000"/>
            <a:ext cx="53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444"/>
                </a:solidFill>
              </a:rPr>
              <a:t>3. B-банк системно горячее A-банка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284000"/>
            <a:ext cx="532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77"/>
                </a:solidFill>
              </a:rPr>
              <a:t>Delta +60°C между банками под нагрузкой.
Асимметрия может указывать на дисбаланс TIB.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000" y="5255999"/>
            <a:ext cx="5580000" cy="1260000"/>
          </a:xfrm>
          <a:prstGeom prst="rect">
            <a:avLst/>
          </a:prstGeom>
          <a:solidFill>
            <a:srgbClr val="1E2529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00" y="5327999"/>
            <a:ext cx="53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444"/>
                </a:solidFill>
              </a:rPr>
              <a:t>4. Нагрузка +4x при работе с породой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5651999"/>
            <a:ext cx="532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77"/>
                </a:solidFill>
              </a:rPr>
              <a:t>С 21% до 88% — экстремальный нагрев при каждом
рейсе с загрузкой. При 200% TIB нагрев удваивается.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792000"/>
            <a:ext cx="5580000" cy="288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000" y="792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3136"/>
                </a:solidFill>
              </a:rPr>
              <a:t>РЕКОМЕНДАЦИИ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000" y="1152000"/>
            <a:ext cx="5580000" cy="1007999"/>
          </a:xfrm>
          <a:prstGeom prst="rect">
            <a:avLst/>
          </a:prstGeom>
          <a:solidFill>
            <a:srgbClr val="1E2529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8000" y="1224000"/>
            <a:ext cx="53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1. СРОЧНО: Инспекция цилиндра 11 A-банка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1512000"/>
            <a:ext cx="532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77"/>
                </a:solidFill>
              </a:rPr>
              <a:t>Стробоскопическая и механическая проверка клапана 11.
Замена термопары ЕГТ. Компрессия цилиндра.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0000" y="2232000"/>
            <a:ext cx="5580000" cy="1007999"/>
          </a:xfrm>
          <a:prstGeom prst="rect">
            <a:avLst/>
          </a:prstGeom>
          <a:solidFill>
            <a:srgbClr val="1E2529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8000" y="2304000"/>
            <a:ext cx="53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2. Мониторинг цилиндров 6 и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8000" y="2592000"/>
            <a:ext cx="532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77"/>
                </a:solidFill>
              </a:rPr>
              <a:t>Установить пороговую сигнализацию 520°C для Ц6 и Ц2.
Плановый осмотр при следующем ТО.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0000" y="3311999"/>
            <a:ext cx="5580000" cy="1007999"/>
          </a:xfrm>
          <a:prstGeom prst="rect">
            <a:avLst/>
          </a:prstGeom>
          <a:solidFill>
            <a:srgbClr val="1E2529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8000" y="3383999"/>
            <a:ext cx="53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3. Рекалибровка TIB для NTE200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8000" y="3671999"/>
            <a:ext cx="532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77"/>
                </a:solidFill>
              </a:rPr>
              <a:t>Снизить TIB с 200% до 150-160% → снизит нагрев
на 25-35°C при тех же эксплуатационных показателях.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0000" y="4392000"/>
            <a:ext cx="5580000" cy="1007999"/>
          </a:xfrm>
          <a:prstGeom prst="rect">
            <a:avLst/>
          </a:prstGeom>
          <a:solidFill>
            <a:srgbClr val="1E2529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8000" y="4464000"/>
            <a:ext cx="53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4. Включить ограничение ЕГТ в ECM0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8000" y="4752000"/>
            <a:ext cx="532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77"/>
                </a:solidFill>
              </a:rPr>
              <a:t>Активировать C_EPD_OT_RPM_Drt_En → деррейт
оборотов при перегреве ЕГТ &gt;500°C.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0000" y="5472000"/>
            <a:ext cx="5580000" cy="1007999"/>
          </a:xfrm>
          <a:prstGeom prst="rect">
            <a:avLst/>
          </a:prstGeom>
          <a:solidFill>
            <a:srgbClr val="1E2529"/>
          </a:solidFill>
          <a:ln w="12700">
            <a:solidFill>
              <a:srgbClr val="3EF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8000" y="5544000"/>
            <a:ext cx="53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EF0AF"/>
                </a:solidFill>
              </a:rPr>
              <a:t>5. Регулярный DML-мониторинг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8000" y="5832000"/>
            <a:ext cx="532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7777"/>
                </a:solidFill>
              </a:rPr>
              <a:t>Ежемесячный DML тест под нагрузкой для всего
парка. Приоритет: единицы 82, 75, 83, 80.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0000" y="792000"/>
            <a:ext cx="54000" cy="5940000"/>
          </a:xfrm>
          <a:prstGeom prst="rect">
            <a:avLst/>
          </a:prstGeom>
          <a:solidFill>
            <a:srgbClr val="66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552000"/>
            <a:ext cx="12189600" cy="306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000" y="6570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93136"/>
                </a:solidFill>
              </a:rPr>
              <a:t>Агрегат 82 — наивысший риск в парке. DML подтверждает начало отказа Цил.11. Требуется немедленная диагностика.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