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2336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03504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04672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207008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408176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1609344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810512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011680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2212848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2414016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2615184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2816352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3017520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3218688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3419856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21024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822191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4023360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4224528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4425696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626864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4828032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029200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5230368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431536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632704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5833872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035040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236208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638544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839712"/>
            <a:ext cx="12188952" cy="4572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031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062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124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156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6187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7218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8249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9280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312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31343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52374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3405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94436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5468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6499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7530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78561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9592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20624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1655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2686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83717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4748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5780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6811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7842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88873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9904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0936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51967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72998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4029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15060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6092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57123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8154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99185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0216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1248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62279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83310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04341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5372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46404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67435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88466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09497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528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1560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72591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93622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14653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35684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67160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777472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87784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2198096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408408" y="0"/>
            <a:ext cx="3657" cy="6858000"/>
          </a:xfrm>
          <a:prstGeom prst="rect">
            <a:avLst/>
          </a:prstGeom>
          <a:solidFill>
            <a:srgbClr val="1E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37160" y="164592"/>
            <a:ext cx="2926080" cy="475488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1168" y="18288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DejaVu Sans Mono"/>
              </a:rPr>
              <a:t>АО РАЗВИТИЕ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1168" y="457200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68B"/>
                </a:solidFill>
                <a:latin typeface="DejaVu Sans"/>
              </a:rPr>
              <a:t>Технический анализ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37160" y="1005840"/>
            <a:ext cx="117957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01168" y="1097280"/>
            <a:ext cx="11521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8EDF6"/>
                </a:solidFill>
                <a:latin typeface="DejaVu Sans"/>
              </a:rPr>
              <a:t>АНАЛИЗ ПРИЧИН ИЗНОСА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1168" y="2029968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3EF0AF"/>
                </a:solidFill>
                <a:latin typeface="DejaVu Sans"/>
              </a:rPr>
              <a:t>ВЫПУСКНЫХ КЛАПАНОВ QSK50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37160" y="2926080"/>
            <a:ext cx="11795760" cy="36576"/>
          </a:xfrm>
          <a:prstGeom prst="rect">
            <a:avLst/>
          </a:prstGeom>
          <a:solidFill>
            <a:srgbClr val="30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01168" y="301752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3BDDC"/>
                </a:solidFill>
                <a:latin typeface="DejaVu Sans"/>
              </a:rPr>
              <a:t>Самосвалы NHL NTE200  ·  АО «Полюс Магадан»  ·  Омчак, Магаданская область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37160" y="3566160"/>
            <a:ext cx="2834640" cy="822960"/>
          </a:xfrm>
          <a:prstGeom prst="rect">
            <a:avLst/>
          </a:prstGeom>
          <a:solidFill>
            <a:srgbClr val="242F39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28600" y="35935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4855"/>
                </a:solidFill>
                <a:latin typeface="DejaVu Sans Mono"/>
              </a:rPr>
              <a:t>20+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8600" y="403250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68B"/>
                </a:solidFill>
                <a:latin typeface="DejaVu Sans"/>
              </a:rPr>
              <a:t>ЕДИНИЦ ПАРКА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108960" y="3566160"/>
            <a:ext cx="2834640" cy="822960"/>
          </a:xfrm>
          <a:prstGeom prst="rect">
            <a:avLst/>
          </a:prstGeom>
          <a:solidFill>
            <a:srgbClr val="242F39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200400" y="35935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A623"/>
                </a:solidFill>
                <a:latin typeface="DejaVu Sans Mono"/>
              </a:rPr>
              <a:t>30+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00400" y="403250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68B"/>
                </a:solidFill>
                <a:latin typeface="DejaVu Sans"/>
              </a:rPr>
              <a:t>РЕМОНТНЫХ СОБЫТИЙ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080760" y="3566160"/>
            <a:ext cx="2834640" cy="822960"/>
          </a:xfrm>
          <a:prstGeom prst="rect">
            <a:avLst/>
          </a:prstGeom>
          <a:solidFill>
            <a:srgbClr val="242F3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72200" y="35935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DejaVu Sans Mono"/>
              </a:rPr>
              <a:t>2 776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72200" y="403250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68B"/>
                </a:solidFill>
                <a:latin typeface="DejaVu Sans"/>
              </a:rPr>
              <a:t>М/Ч — РАННИЙ ОТКАЗ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052560" y="3566160"/>
            <a:ext cx="2834640" cy="822960"/>
          </a:xfrm>
          <a:prstGeom prst="rect">
            <a:avLst/>
          </a:prstGeom>
          <a:solidFill>
            <a:srgbClr val="242F39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144000" y="35935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  <a:latin typeface="DejaVu Sans Mono"/>
              </a:rPr>
              <a:t>18 505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144000" y="403250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68B"/>
                </a:solidFill>
                <a:latin typeface="DejaVu Sans"/>
              </a:rPr>
              <a:t>М/Ч — ПОЗДНИЙ ОТКАЗ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716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0868B"/>
                </a:solidFill>
                <a:latin typeface="DejaVu Sans"/>
              </a:rPr>
              <a:t>Конфиденциально  ·  Только для внутреннего использования  ·  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МАСШТАБ ПРОБЛЕМЫ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Статистика отказов выпускных клапанов QSK50 | Весь парк NTE200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2834640" cy="1417320"/>
          </a:xfrm>
          <a:prstGeom prst="rect">
            <a:avLst/>
          </a:prstGeom>
          <a:solidFill>
            <a:srgbClr val="242F39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2834640" cy="36576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97280"/>
            <a:ext cx="261518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E84855"/>
                </a:solidFill>
                <a:latin typeface="DejaVu Sans Mono"/>
              </a:rPr>
              <a:t>20+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55648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3BDDC"/>
                </a:solidFill>
                <a:latin typeface="DejaVu Sans"/>
              </a:rPr>
              <a:t>агрегатов
затронуто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82112" y="1005840"/>
            <a:ext cx="2834640" cy="1417320"/>
          </a:xfrm>
          <a:prstGeom prst="rect">
            <a:avLst/>
          </a:prstGeom>
          <a:solidFill>
            <a:srgbClr val="242F39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1005840"/>
            <a:ext cx="283464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097280"/>
            <a:ext cx="261518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A623"/>
                </a:solidFill>
                <a:latin typeface="DejaVu Sans Mono"/>
              </a:rPr>
              <a:t>30+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1755648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3BDDC"/>
                </a:solidFill>
                <a:latin typeface="DejaVu Sans"/>
              </a:rPr>
              <a:t>ремонтных
событий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05840"/>
            <a:ext cx="2834640" cy="1417320"/>
          </a:xfrm>
          <a:prstGeom prst="rect">
            <a:avLst/>
          </a:prstGeom>
          <a:solidFill>
            <a:srgbClr val="242F39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05840"/>
            <a:ext cx="283464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097280"/>
            <a:ext cx="261518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EF0AF"/>
                </a:solidFill>
                <a:latin typeface="DejaVu Sans Mono"/>
              </a:rPr>
              <a:t>2 776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755648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3BDDC"/>
                </a:solidFill>
                <a:latin typeface="DejaVu Sans"/>
              </a:rPr>
              <a:t>м/ч
мин. наработка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0576" y="1005840"/>
            <a:ext cx="2834640" cy="1417320"/>
          </a:xfrm>
          <a:prstGeom prst="rect">
            <a:avLst/>
          </a:prstGeom>
          <a:solidFill>
            <a:srgbClr val="242F39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005840"/>
            <a:ext cx="2834640" cy="36576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3" y="1097280"/>
            <a:ext cx="261518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B668E4"/>
                </a:solidFill>
                <a:latin typeface="DejaVu Sans Mono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5" y="1755648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3BDDC"/>
                </a:solidFill>
                <a:latin typeface="DejaVu Sans"/>
              </a:rPr>
              <a:t>парка №43-83
с отказами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82880" y="2514600"/>
          <a:ext cx="11887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674620"/>
                <a:gridCol w="1485900"/>
                <a:gridCol w="6537960"/>
              </a:tblGrid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DejaVu Sans"/>
                        </a:rPr>
                        <a:t>Ед.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DejaVu Sans"/>
                        </a:rPr>
                        <a:t>Наработка до отказа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DejaVu Sans"/>
                        </a:rPr>
                        <a:t>Событий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DejaVu Sans"/>
                        </a:rPr>
                        <a:t>Поражение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№43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16 033 м/ч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5 позиций (3L,4L,1R,2R,3R)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№44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14 751 м/ч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ВСЕ 14 позиций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№47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12 890 м/ч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7 поз. + замена ГБЦ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№48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14 997 м/ч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17 клапанов + турбина + гидроудар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№51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10 783 м/ч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Замена ГБЦ (трещина, 6R)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№53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17 550 м/ч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ВСЕ 16 поз. (2 выпуск + 2 впуск)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№55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17 316 м/ч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ВСЕ 16 поз. + 4 форсунки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№57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14 808 м/ч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6 позиций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№58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10 702 м/ч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Клапан + толкатель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№69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10 130 м/ч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Засорение воздушных фильтров + поршни 3R/4R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№72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10 000 м/ч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8 позиций (2 эпизода)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№76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 9 754 м/ч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Клапаны (2 эпизода)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№78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 9 323 м/ч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3R/4R/6R/6L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№81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 4 696 м/ч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ВСЕ позиции + замена ГБЦ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№83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 2 776 м/ч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3BDDC"/>
                          </a:solidFill>
                          <a:latin typeface="DejaVu Sans"/>
                        </a:rPr>
                        <a:t>КАТАСТРОФИЧЕСКИЙ — шатун/поршень/ГБЦ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ХРОНОЛОГИЯ ОТКАЗОВ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Авг 2025 — Май 2026 | 14 ключевых событий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887200" cy="310896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2412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68B"/>
                </a:solidFill>
                <a:latin typeface="DejaVu Sans"/>
              </a:rPr>
              <a:t>ДАТА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02412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68B"/>
                </a:solidFill>
                <a:latin typeface="DejaVu Sans"/>
              </a:rPr>
              <a:t>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02412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68B"/>
                </a:solidFill>
                <a:latin typeface="DejaVu Sans"/>
              </a:rPr>
              <a:t>СОБЫТИЕ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19" y="102412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68B"/>
                </a:solidFill>
                <a:latin typeface="DejaVu Sans"/>
              </a:rPr>
              <a:t>НАРАБОТКА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6736"/>
            <a:ext cx="11887200" cy="329184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316736"/>
            <a:ext cx="36576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3533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Авг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35331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№47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135331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Замена ГБЦ — ранний эпизод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3533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12 890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64207"/>
            <a:ext cx="11887200" cy="329184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" y="1664207"/>
            <a:ext cx="36576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170078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Авг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7007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№51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70078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Замена ГБЦ, трещина головки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7007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10 783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11680"/>
            <a:ext cx="11887200" cy="329184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011680"/>
            <a:ext cx="36576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204825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Авг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0482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№58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0482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Замена толкателя клапана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0482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10 702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359152"/>
            <a:ext cx="11887200" cy="329184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" y="2359152"/>
            <a:ext cx="36576" cy="329184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3957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Янв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23957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83FA"/>
                </a:solidFill>
                <a:latin typeface="DejaVu Sans"/>
              </a:rPr>
              <a:t>№43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239572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Замена клапанов + 9 форсунок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3957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16 033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706624"/>
            <a:ext cx="11887200" cy="329184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2706624"/>
            <a:ext cx="36576" cy="329184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2743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Фев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855"/>
                </a:solidFill>
                <a:latin typeface="DejaVu Sans"/>
              </a:rPr>
              <a:t>№48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274320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17 клапанов + турбина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2743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14 997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054096"/>
            <a:ext cx="11887200" cy="329184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880" y="3054096"/>
            <a:ext cx="36576" cy="329184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" y="30906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Мар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30906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855"/>
                </a:solidFill>
                <a:latin typeface="DejaVu Sans"/>
              </a:rPr>
              <a:t>№47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309067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Повт. отказ — 10 клапанов + форсунки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30906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12 890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3401568"/>
            <a:ext cx="11887200" cy="329184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2880" y="3401568"/>
            <a:ext cx="36576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343814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Мар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5880" y="34381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№58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343814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Повт. отказ — клапан +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4381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15 572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3749039"/>
            <a:ext cx="11887200" cy="329184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2880" y="3749039"/>
            <a:ext cx="36576" cy="329184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785615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Мар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5880" y="37856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855"/>
                </a:solidFill>
                <a:latin typeface="DejaVu Sans"/>
              </a:rPr>
              <a:t>№83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3785615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КАТАСТРОФА — шатун/поршень/ГБЦ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785615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 2 776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096512"/>
            <a:ext cx="11887200" cy="329184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2880" y="4096512"/>
            <a:ext cx="36576" cy="329184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2608" y="4133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Апр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25880" y="413308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855"/>
                </a:solidFill>
                <a:latin typeface="DejaVu Sans"/>
              </a:rPr>
              <a:t>№48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31720" y="413308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Гидроудар, водомасляная эмульсия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35440" y="41330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после рем.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" y="4443983"/>
            <a:ext cx="11887200" cy="329184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82880" y="4443983"/>
            <a:ext cx="36576" cy="329184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4480559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Май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25880" y="448055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83FA"/>
                </a:solidFill>
                <a:latin typeface="DejaVu Sans"/>
              </a:rPr>
              <a:t>№55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31720" y="4480559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ВСЕ 16 позиций + 4 форсунки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440" y="44805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17 316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" y="4791456"/>
            <a:ext cx="11887200" cy="329184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" y="4791456"/>
            <a:ext cx="36576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2608" y="482803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Май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25880" y="48280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№69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31720" y="48280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Клапаны + засорение фильтров + поршни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48280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10 721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5138927"/>
            <a:ext cx="11887200" cy="329184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5138927"/>
            <a:ext cx="36576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2608" y="5175503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Май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25880" y="51755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№78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31720" y="5175503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3R/4R/6R/6L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5175503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 9 323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5486400"/>
            <a:ext cx="11887200" cy="329184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2880" y="5486400"/>
            <a:ext cx="36576" cy="329184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2608" y="55229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Май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25880" y="55229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№72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31720" y="552297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Отказ форсунки цил.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35440" y="55229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10 283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2880" y="5833872"/>
            <a:ext cx="11887200" cy="329184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2880" y="5833872"/>
            <a:ext cx="36576" cy="329184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2608" y="587044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Май 2026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325880" y="5870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№73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31720" y="587044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6"/>
                </a:solidFill>
                <a:latin typeface="DejaVu Sans"/>
              </a:rPr>
              <a:t>Форсунки — аномалии теста L2/R1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35440" y="58704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EF0AF"/>
                </a:solidFill>
                <a:latin typeface="DejaVu Sans Mono"/>
              </a:rPr>
              <a:t>~9 998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ФИЗИЧЕСКИЕ ПРИЗНАКИ ПОВРЕЖДЕНИЙ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Данные разборки и дефектовки | Сводка по всем агрегатам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887200" cy="82296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822960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60704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855"/>
                </a:solidFill>
                <a:latin typeface="DejaVu Sans"/>
              </a:rPr>
              <a:t>ПРОСАДКА ФАСКИ (РЕЦЕССИЯ КЛАПАНА)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71600"/>
            <a:ext cx="11612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Главный признак. Посадочная поверхность выпускного клапана «утопает» в седле. Обнаружена на всех исследованных двигателях. Твёрдость фаски 40-44 HRC (базовая).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883664"/>
            <a:ext cx="11887200" cy="82296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883664"/>
            <a:ext cx="45720" cy="822960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20240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855"/>
                </a:solidFill>
                <a:latin typeface="DejaVu Sans"/>
              </a:rPr>
              <a:t>ПЛАСТИЧЕСКАЯ ДЕФОРМАЦИЯ — «ЗАУСЕНЕЦ» НА ФАСКЕ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31136"/>
            <a:ext cx="11612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Бурт пластической деформации = признак превышения допустимой температуры тарелки. Зафиксировано в отчёте лаборатории NHL (MS&amp;T2026033).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43200"/>
            <a:ext cx="11887200" cy="82296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43200"/>
            <a:ext cx="45720" cy="8229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779776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ЗОЛЬНЫЕ ОТЛОЖЕНИЯ (Ca/Zn/P + Si/Al)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090672"/>
            <a:ext cx="11612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EDS-анализ NHL: Ca, Zn, P — зола ZDDP-присадок. Si, Al — силикатная пыль. Роль: ОТЯГЧАЮЩИЙ фактор (абразив). Не первопричина — следствие перегрева.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3602736"/>
            <a:ext cx="11887200" cy="82296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602736"/>
            <a:ext cx="45720" cy="8229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3931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ПОВРЕЖДЕНИЕ СМЕЖНЫХ ЭЛЕМЕНТОВ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50208"/>
            <a:ext cx="11612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№47/48/53/55/81: замена ГБЦ целиком. №83 (2 776 м/ч): разрушение шатуна и поршня. №48: гидроудар (водомасляная эмульсия) после первого ремонта.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62272"/>
            <a:ext cx="11887200" cy="82296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62272"/>
            <a:ext cx="45720" cy="82296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498848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83FA"/>
                </a:solidFill>
                <a:latin typeface="DejaVu Sans"/>
              </a:rPr>
              <a:t>ФОРСУНКИ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09744"/>
            <a:ext cx="11612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Заменены совместно с клапанами: №43 (9 шт.), №47, №55 (4 шт.), №73. Протечка форсунки → дополнительный нагрев → перегрев клапана.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21808"/>
            <a:ext cx="11887200" cy="82296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21808"/>
            <a:ext cx="45720" cy="82296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4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DejaVu Sans"/>
              </a:rPr>
              <a:t>ТОПОГРАФИЯ ОТКАЗОВ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669280"/>
            <a:ext cx="11612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Наиболее часто поражены: 3R, 4R, 6R, 6L, 7L, 7R. Потенциально указывает на неравномерность охлаждения ГБЦ.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АНАЛИЗ ЛАБОРАТОРИИ NHL  |  MS&amp;T2026033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Инженер Тао Лан | СЭМ + EDS спектроскопия + профилометрия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303520" cy="30175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24128"/>
            <a:ext cx="530352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4160520"/>
            <a:ext cx="11795760" cy="2514600"/>
          </a:xfrm>
          <a:prstGeom prst="rect">
            <a:avLst/>
          </a:prstGeom>
          <a:solidFill>
            <a:srgbClr val="242F39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117957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2245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  <a:latin typeface="DejaVu Sans"/>
              </a:rPr>
              <a:t>МЕТОДЫ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26280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СЭМ (электронная микроскопия)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500176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EDS-спектроскопия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547725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Измерение твёрдости 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9527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Профилометрия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2245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DejaVu Sans"/>
              </a:rPr>
              <a:t>EDS 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526280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Ca + Zn + P = зола ZDDP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00176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Si + Al = силикатная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47725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Слои толщиной 5-50 мкм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9527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Абразивная среда в зоне контакта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2245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855"/>
                </a:solidFill>
                <a:latin typeface="DejaVu Sans"/>
              </a:rPr>
              <a:t>МОРФОЛОГИЯ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526280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Пластич. деформация фаски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00176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«Заусенец» = признак T° &gt; лимита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47725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Адгезионный + абразивный износ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9527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Термическое повреждение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42245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E83FA"/>
                </a:solidFill>
                <a:latin typeface="DejaVu Sans"/>
              </a:rPr>
              <a:t>ВЫВОД NHL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526280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Комплексная причина: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500176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1. Термическое повреждение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47725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2. Абразивный износ (зола+пыль)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59527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3. Адгезионный износ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EDS-АНАЛИЗ ОТЛОЖЕНИЙ НА КЛАПАНЕ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Элементный состав | Ca/Zn/P = зола ZDDP | Si/Al = силикатная пыль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669280" cy="374903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24128"/>
            <a:ext cx="585216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4864608"/>
            <a:ext cx="11795760" cy="1810512"/>
          </a:xfrm>
          <a:prstGeom prst="rect">
            <a:avLst/>
          </a:prstGeom>
          <a:solidFill>
            <a:srgbClr val="242F39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4864608"/>
            <a:ext cx="1179576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4919472"/>
            <a:ext cx="1152144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ИНТЕРПРЕТАЦИЯ: Ca + Zn + P = зола ZDDP (разлагается при T &gt; 180°C). Si + Al = силикатная пыль через воздушный тракт. Создают абразивную среду в зоне клапан-седло. Зола — ОТЯГЧАЮЩИЙ фактор: появляется КАК СЛЕДСТВИЕ перегрева, а не его причина.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4855"/>
                </a:solidFill>
                <a:latin typeface="DejaVu Sans"/>
              </a:rPr>
              <a:t>КАТАСТРОФИЧЕСКИЙ ОТКАЗ  |  АГРЕГАТ №83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2 776 м/ч наработки — самый ранний отказ в парке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3749039" cy="283464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24128"/>
            <a:ext cx="3749039" cy="28346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24128"/>
            <a:ext cx="4023360" cy="2834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2880" y="3977639"/>
            <a:ext cx="11795760" cy="2697480"/>
          </a:xfrm>
          <a:prstGeom prst="rect">
            <a:avLst/>
          </a:prstGeom>
          <a:solidFill>
            <a:srgbClr val="242F39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4041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Гаражный №: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404164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Наработка: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443984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2 776 м/ч  (!!! норм. ресурс &gt;12 000 м/ч)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Зафиксировано: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484632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Разрушение шатуна и поршня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Замена: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5248656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ГБЦ + шатун + поршень + уплотнения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6509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Вер. причина: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5650992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Перегрев → потеря плотности клапана → прорыв газов → разрушение ЦПГ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053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Значение: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605332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Катастрофический отказ при минимальной наработке — системная проблема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АГРЕГАТ №48 — ДВОЙНОЙ ОТКАЗ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14 997 м/ч: 17 клапанов + турбина | Повторный: гидроудар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3566160" cy="265176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024128"/>
            <a:ext cx="3566160" cy="265176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024128"/>
            <a:ext cx="4389120" cy="2651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2880" y="3794760"/>
            <a:ext cx="5806440" cy="269748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" y="3794760"/>
            <a:ext cx="36576" cy="2697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3840480"/>
            <a:ext cx="5641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ПЕРВЫЙ РЕМОНТ (Фев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4142232"/>
            <a:ext cx="5623559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Наработка: 14 997 м/ч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4604918"/>
            <a:ext cx="5623559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17 выпускных клапанов (почти все позиции)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" y="5067604"/>
            <a:ext cx="5623559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Замена турбокомпрессора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5530291"/>
            <a:ext cx="5623559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Замена ГБЦ — позиция 3R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" y="5992977"/>
            <a:ext cx="5623559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Визуально: нагар, просадка, абразивный износ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94760"/>
            <a:ext cx="5897880" cy="269748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794760"/>
            <a:ext cx="36576" cy="2697480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8" y="3840480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855"/>
                </a:solidFill>
                <a:latin typeface="DejaVu Sans"/>
              </a:rPr>
              <a:t>ВТОРОЙ ОТКАЗ (Мар 2026 — после ремонта)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4142232"/>
            <a:ext cx="5715000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▸ Обнаружена водомасляная эмульсия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4604918"/>
            <a:ext cx="5715000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▸ Гидроудар — угроза разрушения ЦПГ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5067604"/>
            <a:ext cx="5715000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Источник воды: нарушение уплотнения ГБЦ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5530291"/>
            <a:ext cx="5715000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Через ~3-4 недели после первого ремонта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5992977"/>
            <a:ext cx="5715000" cy="5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Повторная разборка и дефектовка ГБЦ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АГРЕГАТЫ №55 И №69 — ПОКАЗАТЕЛЬНЫЕ СЛУЧАИ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№55: ВСЕ 16 позиций | №69: Засорение воздушных фильтров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3474720" cy="2468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794760" y="1024128"/>
            <a:ext cx="3749039" cy="246888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94760" y="1024128"/>
            <a:ext cx="36576" cy="246888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04488" y="1069848"/>
            <a:ext cx="358444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83FA"/>
                </a:solidFill>
                <a:latin typeface="DejaVu Sans"/>
              </a:rPr>
              <a:t>№55 — 17 316 М/Ч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22776" y="1371600"/>
            <a:ext cx="3566159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ВСЕ 16 позиций клапанов заменены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2776" y="1788566"/>
            <a:ext cx="3566159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Заменены 4 форсунки (1L, 2L, 3L, 6L)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2776" y="2205532"/>
            <a:ext cx="3566159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Самая большая наработка при полном поражении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22776" y="2622499"/>
            <a:ext cx="3566159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▸ Все клапаны: признаки перегрева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22776" y="3039465"/>
            <a:ext cx="3566159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→ Длительная работа с отклонениями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024128"/>
            <a:ext cx="3200400" cy="24688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589520" y="3611880"/>
            <a:ext cx="4434840" cy="260604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0" y="3611880"/>
            <a:ext cx="36576" cy="26060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8" y="3657600"/>
            <a:ext cx="4270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№69 — 10 721 М/Ч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17536" y="3959352"/>
            <a:ext cx="4251959" cy="490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▸ ЗАСОРЕНЫ ВОЗДУШНЫЕ ФИЛЬТРЫ (!)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17536" y="4403750"/>
            <a:ext cx="4251959" cy="490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Поражены: 4L, 5L, 6L, 7L, 7R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7536" y="4848148"/>
            <a:ext cx="4251959" cy="490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Замена поршней 3R и 4R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17536" y="5292547"/>
            <a:ext cx="4251959" cy="490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2 эпизода: 10 130 и 10 721 м/ч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5736945"/>
            <a:ext cx="4251959" cy="490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Единственный агрегат с документ. засорением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3611880"/>
            <a:ext cx="7315200" cy="260604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3611880"/>
            <a:ext cx="36576" cy="260604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3657600"/>
            <a:ext cx="7150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DejaVu Sans"/>
              </a:rPr>
              <a:t>№55 — СВЯЗЬ С ECM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" y="3959352"/>
            <a:ext cx="7132320" cy="601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ECM без дератинга → двигатель перегружен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" y="4514850"/>
            <a:ext cx="7132320" cy="601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Сбой форсунки = двойное тепловыделение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" y="5070348"/>
            <a:ext cx="7132320" cy="601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Итог: замена ВСЕХ клапанов + ГБЦ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" y="5625846"/>
            <a:ext cx="7132320" cy="601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▸ Длительная работа без сигналов тревоги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6309360"/>
            <a:ext cx="11795760" cy="438912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8" y="6327648"/>
            <a:ext cx="11612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№69: засорение фильтров → богатая смесь → T° выхлопа ↑↑ → ускоренный износ. У остальных агрегатов состояние фильтров при отказе не задокументировано.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ОБЗОР ГИПОТЕЗ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8 версий — от конструктивных особенностей до условий эксплуатации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960120" cy="658368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097280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41C24"/>
                </a:solidFill>
                <a:latin typeface="DejaVu Sans Mono"/>
              </a:rPr>
              <a:t>H1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024128"/>
            <a:ext cx="8412480" cy="65836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051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855"/>
                </a:solidFill>
                <a:latin typeface="DejaVu Sans"/>
              </a:rPr>
              <a:t>Настройки ECM двигателя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35024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Отключённый дератинг, задержки 51/43 с, обороты 2100 vs 1990, TIB 200% vs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38360" y="1024128"/>
            <a:ext cx="2331720" cy="658368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38360" y="1188720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C24"/>
                </a:solidFill>
                <a:latin typeface="DejaVu Sans"/>
              </a:rPr>
              <a:t>ВЫСОКИЙ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728216"/>
            <a:ext cx="960120" cy="658368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801368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41C24"/>
                </a:solidFill>
                <a:latin typeface="DejaVu Sans Mono"/>
              </a:rPr>
              <a:t>H2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1728216"/>
            <a:ext cx="8412480" cy="65836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17556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855"/>
                </a:solidFill>
                <a:latin typeface="DejaVu Sans"/>
              </a:rPr>
              <a:t>Отсутствие наплавки Stellite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03911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Фаска 40-44 HRC (NTE200) vs 55-65 HRC (730E AC). Разница твёрдости &gt;50%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38360" y="1728216"/>
            <a:ext cx="2331720" cy="658368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1892808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C24"/>
                </a:solidFill>
                <a:latin typeface="DejaVu Sans"/>
              </a:rPr>
              <a:t>ВЫСОКИЙ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2432304"/>
            <a:ext cx="960120" cy="65836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2505456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41C24"/>
                </a:solidFill>
                <a:latin typeface="DejaVu Sans Mono"/>
              </a:rPr>
              <a:t>H3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2432304"/>
            <a:ext cx="8412480" cy="65836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24597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Ошибка регулировки зазоров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74320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Малый зазор → клапан не закрывается → потеря охлаждения → перегрев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2432304"/>
            <a:ext cx="2331720" cy="65836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259689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C24"/>
                </a:solidFill>
                <a:latin typeface="DejaVu Sans"/>
              </a:rPr>
              <a:t>СРЕДНИЙ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136392"/>
            <a:ext cx="960120" cy="65836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3209544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41C24"/>
                </a:solidFill>
                <a:latin typeface="DejaVu Sans Mono"/>
              </a:rPr>
              <a:t>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3136392"/>
            <a:ext cx="8412480" cy="65836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316382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Неисправность форсунок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44728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Протечка/нарушение распыла → дожигание → перегрев. №43/47/55/73 — замена форсунок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38360" y="3136392"/>
            <a:ext cx="2331720" cy="65836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38360" y="3300984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C24"/>
                </a:solidFill>
                <a:latin typeface="DejaVu Sans"/>
              </a:rPr>
              <a:t>СРЕДНИЙ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3840480"/>
            <a:ext cx="960120" cy="658368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3913632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41C24"/>
                </a:solidFill>
                <a:latin typeface="DejaVu Sans Mono"/>
              </a:rPr>
              <a:t>H5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4440" y="3840480"/>
            <a:ext cx="8412480" cy="65836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5880" y="386791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83FA"/>
                </a:solidFill>
                <a:latin typeface="DejaVu Sans"/>
              </a:rPr>
              <a:t>Засорение воздушного фильтра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415137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Богатая смесь → T° ОГ ↑. Задокументировано только для №69.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8360" y="3840480"/>
            <a:ext cx="2331720" cy="658368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4005072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C24"/>
                </a:solidFill>
                <a:latin typeface="DejaVu Sans"/>
              </a:rPr>
              <a:t>НИЗКИЙ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44568"/>
            <a:ext cx="960120" cy="658368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" y="4617720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41C24"/>
                </a:solidFill>
                <a:latin typeface="DejaVu Sans Mono"/>
              </a:rPr>
              <a:t>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440" y="4544568"/>
            <a:ext cx="8412480" cy="65836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25880" y="4572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83FA"/>
                </a:solidFill>
                <a:latin typeface="DejaVu Sans"/>
              </a:rPr>
              <a:t>Зола масла и абразивная пыль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4855464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EDS NHL: Ca/Zn/P + Si/Al. ОТЯГЧАЮЩИЙ фактор — не первопричина.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38360" y="4544568"/>
            <a:ext cx="2331720" cy="658368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38360" y="4709160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C24"/>
                </a:solidFill>
                <a:latin typeface="DejaVu Sans"/>
              </a:rPr>
              <a:t>ОТЯГЧ.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248656"/>
            <a:ext cx="960120" cy="658368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" y="5321808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41C24"/>
                </a:solidFill>
                <a:latin typeface="DejaVu Sans Mono"/>
              </a:rPr>
              <a:t>H7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440" y="5248656"/>
            <a:ext cx="8412480" cy="65836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25880" y="5276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0868B"/>
                </a:solidFill>
                <a:latin typeface="DejaVu Sans"/>
              </a:rPr>
              <a:t>Рабочий цикл / нагружение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25880" y="555955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Горный рудник, высота, температурные перепады. Требует сравнит. анализа.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38360" y="5248656"/>
            <a:ext cx="2331720" cy="658368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38360" y="5413248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C24"/>
                </a:solidFill>
                <a:latin typeface="DejaVu Sans"/>
              </a:rPr>
              <a:t>НЕОПР.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2880" y="5952744"/>
            <a:ext cx="960120" cy="658368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" y="6025896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41C24"/>
                </a:solidFill>
                <a:latin typeface="DejaVu Sans Mono"/>
              </a:rPr>
              <a:t>H8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440" y="5952744"/>
            <a:ext cx="8412480" cy="65836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25880" y="59801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0868B"/>
                </a:solidFill>
                <a:latin typeface="DejaVu Sans"/>
              </a:rPr>
              <a:t>Конструктив охлаждения ГБЦ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25880" y="626364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Топография: 3R/4R/6R/6L чаще поражаются. Неравномерный теплоотвод?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38360" y="5952744"/>
            <a:ext cx="2331720" cy="658368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38360" y="611733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C24"/>
                </a:solidFill>
                <a:latin typeface="DejaVu Sans"/>
              </a:rPr>
              <a:t>НЕОПР.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4855"/>
                </a:solidFill>
                <a:latin typeface="DejaVu Sans"/>
              </a:rPr>
              <a:t>H1: НАСТРОЙКИ ECM — NTE200 vs KOMATSU 730E 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Один двигатель QSK50 — один объект — разные параметры защиты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402336"/>
          </a:xfrm>
          <a:prstGeom prst="rect">
            <a:avLst/>
          </a:prstGeom>
          <a:solidFill>
            <a:srgbClr val="2D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24128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855"/>
                </a:solidFill>
                <a:latin typeface="DejaVu Sans"/>
              </a:rPr>
              <a:t>КЛЮЧЕВОЙ ФАКТ: Komatsu 730E AC с аналогичными QSK50 работает НА ТОМ ЖЕ объекте. Случаев замены клапанов на 730E AC НЕ ЗАФИКСИРОВАНО.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1481328"/>
          <a:ext cx="118872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773680"/>
                <a:gridCol w="2773680"/>
                <a:gridCol w="2179320"/>
              </a:tblGrid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E84855"/>
                          </a:solidFill>
                          <a:latin typeface="DejaVu Sans"/>
                        </a:rPr>
                        <a:t>Параметр ECM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E84855"/>
                          </a:solidFill>
                          <a:latin typeface="DejaVu Sans"/>
                        </a:rPr>
                        <a:t>Komatsu 730E AC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E84855"/>
                          </a:solidFill>
                          <a:latin typeface="DejaVu Sans"/>
                        </a:rPr>
                        <a:t>NHL NTE200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E84855"/>
                          </a:solidFill>
                          <a:latin typeface="DejaVu Sans"/>
                        </a:rPr>
                        <a:t>Риск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C_EPD_OT_RPM_Drt_En
(флаг дератинга)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ВКЛЮЧЁН (1)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ОТКЛЮЧЁН (0)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Задержка по давл. масла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Немедленно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51 секунда (!)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Задержка по темп. ОЖ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Немедленно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43 секунды (!)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ВЫСОКИЙ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Максимальные обороты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1 990 об/мин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2 100 об/мин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ВЫСОКИЙ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Топливная коррекция TIB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100%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200% (!)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ВЫСОКИЙ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Триггеры по темп. ОГ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Активны (все)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ВСЕ ОТКЛЮЧЕНЫ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Дератинг при перегреве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Активен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Не работает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Обороты ХХ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700 об/мин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700 об/мин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Норма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182880" y="6601968"/>
            <a:ext cx="11795760" cy="219456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611112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855"/>
                </a:solidFill>
                <a:latin typeface="DejaVu Sans"/>
              </a:rPr>
              <a:t>«КРИТИЧЕСКИЙ» = ведёт к перегреву без снижения мощности и без сигнала оператору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H1: ЦЕПОЧКА ПОВРЕЖДЕНИЙ ЧЕРЕЗ ECM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Как отключённый дератинг ведёт к отказу клапанов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78992"/>
            <a:ext cx="2834640" cy="1645920"/>
          </a:xfrm>
          <a:prstGeom prst="rect">
            <a:avLst/>
          </a:prstGeom>
          <a:solidFill>
            <a:srgbClr val="2A3138"/>
          </a:solidFill>
          <a:ln w="254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78992"/>
            <a:ext cx="2834640" cy="54864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8872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4855"/>
                </a:solidFill>
                <a:latin typeface="DejaVu Sans"/>
              </a:rPr>
              <a:t>ECM: Дератинг ОТКЛ
+ задержки 43-51 с
+ RPM 2100
+ TIB 200%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737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0868B"/>
                </a:solidFill>
                <a:latin typeface="DejaVu Sans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78992"/>
            <a:ext cx="2834640" cy="1645920"/>
          </a:xfrm>
          <a:prstGeom prst="rect">
            <a:avLst/>
          </a:prstGeom>
          <a:solidFill>
            <a:srgbClr val="2A3138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78992"/>
            <a:ext cx="283464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8872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A623"/>
                </a:solidFill>
                <a:latin typeface="DejaVu Sans"/>
              </a:rPr>
              <a:t>Двигатель работает
без снижения мощности
при перегреве
и аварии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737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0868B"/>
                </a:solidFill>
                <a:latin typeface="DejaVu Sans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78992"/>
            <a:ext cx="2834640" cy="1645920"/>
          </a:xfrm>
          <a:prstGeom prst="rect">
            <a:avLst/>
          </a:prstGeom>
          <a:solidFill>
            <a:srgbClr val="2A3138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078992"/>
            <a:ext cx="283464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18872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A623"/>
                </a:solidFill>
                <a:latin typeface="DejaVu Sans"/>
              </a:rPr>
              <a:t>T° выхлопных газов
выше нормы
без сигнала
оператору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737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0868B"/>
                </a:solidFill>
                <a:latin typeface="DejaVu Sans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39" y="1078992"/>
            <a:ext cx="2834640" cy="1645920"/>
          </a:xfrm>
          <a:prstGeom prst="rect">
            <a:avLst/>
          </a:prstGeom>
          <a:solidFill>
            <a:srgbClr val="2A3138"/>
          </a:solidFill>
          <a:ln w="254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39" y="1078992"/>
            <a:ext cx="2834640" cy="54864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118872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4855"/>
                </a:solidFill>
                <a:latin typeface="DejaVu Sans"/>
              </a:rPr>
              <a:t>ПЕРЕГРЕВ тарелки
клапана → пластич.
деформация фаски
→ рецессия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2907792"/>
            <a:ext cx="11795760" cy="694944"/>
          </a:xfrm>
          <a:prstGeom prst="rect">
            <a:avLst/>
          </a:prstGeom>
          <a:solidFill>
            <a:srgbClr val="2D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944368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4855"/>
                </a:solidFill>
                <a:latin typeface="DejaVu Sans"/>
              </a:rPr>
              <a:t>РЕЗУЛЬТАТ: Рецессия фаски → потеря компрессии → прорыв горячих газов → ускоренный абразивный износ → последовательный выход из строя клапанов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3730752"/>
            <a:ext cx="11795760" cy="2944368"/>
          </a:xfrm>
          <a:prstGeom prst="rect">
            <a:avLst/>
          </a:prstGeom>
          <a:solidFill>
            <a:srgbClr val="242F39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785615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DejaVu Sans"/>
              </a:rPr>
              <a:t>КОСВЕННЫЕ ДОКАЗАТЕЛЬСТВА: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133087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▸  NTE200: операторов инструктируют «не глушить, давать остывать на ХХ» — косвенное признание перегревов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608575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▸  INSITE CSV (агрегат N43, 18 523 м/ч): зафиксированы температурные отклонения в рабочем цикле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084064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▸  730E AC на том же объекте, с теми же двигателями QSK50 — клапанных отказов НЕТ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559552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▸  Самые ранние отказы (№83: 2 776 м/ч | №81: 4 696 м/ч) не объяснимы обычным усталостным износом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035040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▸  Диапазон наработок (2 776 — 18 505 м/ч) указывает на вариабельный триггер, а не дефект партии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H2: ОТСУТСТВИЕ НАПЛАВКИ STELLITE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Конструктивное различие фаски клапана NTE200 vs 730E AC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5852160" cy="5303520"/>
          </a:xfrm>
          <a:prstGeom prst="rect">
            <a:avLst/>
          </a:prstGeom>
          <a:solidFill>
            <a:srgbClr val="2A3138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852160" cy="54864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4855"/>
                </a:solidFill>
                <a:latin typeface="DejaVu Sans"/>
              </a:rPr>
              <a:t>NTE200 / QSK50 (CES51005)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5087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Материал клапана: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508760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Inconel 751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98424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Наплавка фаски: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9842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4855"/>
                </a:solidFill>
                <a:latin typeface="DejaVu Sans"/>
              </a:rPr>
              <a:t>ОТСУТСТВУЕТ (по чертежу NHL)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45973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Твёрдость фаски: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459736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40–44 HRC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93522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Защита от износа: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93522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только базовый материал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4107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Поведение при T°: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410712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размягчается при 700-800°C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88620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Статус в парке: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886200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4855"/>
                </a:solidFill>
                <a:latin typeface="DejaVu Sans"/>
              </a:rPr>
              <a:t>рецессия у ВСЕХ исследованных агрегатов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024128"/>
            <a:ext cx="5852160" cy="5303520"/>
          </a:xfrm>
          <a:prstGeom prst="rect">
            <a:avLst/>
          </a:prstGeom>
          <a:solidFill>
            <a:srgbClr val="2A3138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024128"/>
            <a:ext cx="5852160" cy="5486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10972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EF0AF"/>
                </a:solidFill>
                <a:latin typeface="DejaVu Sans"/>
              </a:rPr>
              <a:t>Komatsu 730E AC / QSK50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5087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Материал клапана: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1508760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Inconel 751 / аналог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198424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Наплавка фаски: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19842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DejaVu Sans"/>
              </a:rPr>
              <a:t>STELLITE Co-Cr сплав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45973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Твёрдость фаски: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2459736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55–65 HRC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93522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Защита от износа: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93522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твёрдая + термостойкая наплавка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4107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Поведение при T°: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410712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сохраняет твёрдость до 800-900°C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8620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Статус в парке: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886200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DejaVu Sans"/>
              </a:rPr>
              <a:t>клапанных отказов не зафиксировано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6400800"/>
            <a:ext cx="11795760" cy="36576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419088"/>
            <a:ext cx="11612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DejaVu Sans"/>
              </a:rPr>
              <a:t>Stellite снижает износ в 3-5× при высоких температурах. Применение Stellite-клапанов в NTE200 — конкретная конструктивная рекомендация.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H3: ЗАЗОРЫ КЛАПАНОВ  |  H4: ФОРСУНКИ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Сопутствующие факторы теплового повреждения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5852160" cy="5349240"/>
          </a:xfrm>
          <a:prstGeom prst="rect">
            <a:avLst/>
          </a:prstGeom>
          <a:solidFill>
            <a:srgbClr val="2A3138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85216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DejaVu Sans"/>
              </a:rPr>
              <a:t>H3: ЗАЗОРЫ КЛАПАНОВ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46304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Нормативы QSK50: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77393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EF0AF"/>
                </a:solidFill>
                <a:latin typeface="DejaVu Sans"/>
              </a:rPr>
              <a:t>  Выпускной:  0.69 ± 0.05 мм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08483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EF0AF"/>
                </a:solidFill>
                <a:latin typeface="DejaVu Sans"/>
              </a:rPr>
              <a:t>  Впускной:   0.36 ± 0.05 мм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39572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0662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DejaVu Sans"/>
              </a:rPr>
              <a:t>ЕСЛИ зазор &lt; нормы: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01752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→ Клапан не закрывается полностью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32841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→ Площадь контакта с седлом 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63931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→ Теплоотвод от тарелки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95020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→ Локальный перегрев фаски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261103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→ Ускоренная рецессия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571999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88289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DejaVu Sans"/>
              </a:rPr>
              <a:t>Агрегат №59 — многократные отказы: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519379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  15 143 → ремонт → 16 219 → повтор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50468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  Регулировались ли зазоры при ремонте?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815583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126479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DejaVu Sans"/>
              </a:rPr>
              <a:t>Повторные отказы также у: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3737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  №47, №48, №69, №72, №76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1024128"/>
            <a:ext cx="5852160" cy="5349240"/>
          </a:xfrm>
          <a:prstGeom prst="rect">
            <a:avLst/>
          </a:prstGeom>
          <a:solidFill>
            <a:srgbClr val="2A3138"/>
          </a:solidFill>
          <a:ln w="12700">
            <a:solidFill>
              <a:srgbClr val="7E8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1024128"/>
            <a:ext cx="5852160" cy="54864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097280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E83FA"/>
                </a:solidFill>
                <a:latin typeface="DejaVu Sans"/>
              </a:rPr>
              <a:t>H4: ФОРСУНКИ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46304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0868B"/>
                </a:solidFill>
                <a:latin typeface="DejaVu Sans"/>
              </a:rPr>
              <a:t>Механизм: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177393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  Протечка/нарушение распылителя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08483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  → неполное сгорание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239572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  → дожигание у клапана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70662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855"/>
                </a:solidFill>
                <a:latin typeface="DejaVu Sans"/>
              </a:rPr>
              <a:t>  → перегрев тарелки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01752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32841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0868B"/>
                </a:solidFill>
                <a:latin typeface="DejaVu Sans"/>
              </a:rPr>
              <a:t>Задокументированные случаи: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63931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DejaVu Sans"/>
              </a:rPr>
              <a:t>  №43 — 9 форсунок (!)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5020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  №47 — форсунки + клапаны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261103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  №55 — 4 форсунки (1L,2L,3L,6L)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571999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  №73 — тест L2+R1: аномалии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88289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  №85 — 8 002 м/ч (отдельный отчёт)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19379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  №72 — 3 700 м/ч, цил.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50468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5815583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0868B"/>
                </a:solidFill>
                <a:latin typeface="DejaVu Sans"/>
              </a:rPr>
              <a:t>INSITE — проверка: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6126479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EF0AF"/>
                </a:solidFill>
                <a:latin typeface="DejaVu Sans"/>
              </a:rPr>
              <a:t>  Fuel balance rates по цилиндрам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643737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EF0AF"/>
                </a:solidFill>
                <a:latin typeface="DejaVu Sans"/>
              </a:rPr>
              <a:t>  Отклонение &gt;±3% = подозрит. форс.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H6: ЗОЛА МАСЛА — ОТЯГЧАЮЩИЙ ФАКТОР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Данные EDS NHL + доливки «Горной Евразии» | Апр-Май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4114800" cy="3657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434840" y="1024128"/>
            <a:ext cx="7589520" cy="5669280"/>
          </a:xfrm>
          <a:prstGeom prst="rect">
            <a:avLst/>
          </a:prstGeom>
          <a:solidFill>
            <a:srgbClr val="242F39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078992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ДАННЫЕ О ДОЛИВКАХ МАСЛА (Апр-Май 2026):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46304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Доливки: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46304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10-30 л на агрегат раз в 2-7 дней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82880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Охват: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2880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20+ единиц NTE200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9456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Норм. расход QSK50: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19456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&lt;1 л/ч ≈ 10 л/смену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56032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0868B"/>
                </a:solidFill>
                <a:latin typeface="DejaVu Sans"/>
              </a:rPr>
              <a:t>Факт. расход: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56032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DF6"/>
                </a:solidFill>
                <a:latin typeface="DejaVu Sans"/>
              </a:rPr>
              <a:t>значительно выше нормы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2542032"/>
            <a:ext cx="7589520" cy="36576"/>
          </a:xfrm>
          <a:prstGeom prst="rect">
            <a:avLst/>
          </a:prstGeom>
          <a:solidFill>
            <a:srgbClr val="30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606040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МЕХАНИЗМ ЗОЛООБРАЗОВАНИЯ: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980944"/>
            <a:ext cx="7315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▸ Перегрев клапана → сгорание масляной плёнки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328415"/>
            <a:ext cx="7315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▸ ZDDP разлагается при T &gt; 180°C → Ca/Zn/P зола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675887"/>
            <a:ext cx="7315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▸ Зола абразивна → ускоряет трение фаски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4023359"/>
            <a:ext cx="7315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DejaVu Sans"/>
              </a:rPr>
              <a:t>▸ Цикл: перегрев → зола → больше трения → перегрев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4681728"/>
            <a:ext cx="7589520" cy="36576"/>
          </a:xfrm>
          <a:prstGeom prst="rect">
            <a:avLst/>
          </a:prstGeom>
          <a:solidFill>
            <a:srgbClr val="30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4754880"/>
            <a:ext cx="7589520" cy="1024128"/>
          </a:xfrm>
          <a:prstGeom prst="rect">
            <a:avLst/>
          </a:prstGeom>
          <a:solidFill>
            <a:srgbClr val="1C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791456"/>
            <a:ext cx="7315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DejaVu Sans"/>
              </a:rPr>
              <a:t>ВАЖНО: Зола — СЛЕДСТВИЕ перегрева, не его причина.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5138928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Высокое потребление масла указывает на проблему ЦПГ или уплотнений. Необходим анализ масла (металлы износа, вискозиметрия).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МАТРИЦА ОЦЕНКИ ГИПОТЕЗ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Доказательная база и приоритет верификации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24128"/>
          <a:ext cx="117957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5324"/>
                <a:gridCol w="1867662"/>
                <a:gridCol w="1965960"/>
                <a:gridCol w="1277874"/>
                <a:gridCol w="1474470"/>
                <a:gridCol w="1474470"/>
              </a:tblGrid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DejaVu Sans"/>
                        </a:rPr>
                        <a:t>Гипотеза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DejaVu Sans"/>
                        </a:rPr>
                        <a:t>Прямые
доказательства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DejaVu Sans"/>
                        </a:rPr>
                        <a:t>Косвенные
доказательства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DejaVu Sans"/>
                        </a:rPr>
                        <a:t>Весь
парк?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DejaVu Sans"/>
                        </a:rPr>
                        <a:t>Ранние
отказы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DejaVu Sans"/>
                        </a:rPr>
                        <a:t>Приоритет</a:t>
                      </a:r>
                    </a:p>
                  </a:txBody>
                  <a:tcPr>
                    <a:solidFill>
                      <a:srgbClr val="1C2630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H1: ECM (дератинг, RPM, TIB)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3 (сравн. 730E)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730E = 0 отказов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★★★★★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H2: Нет Stellite (конструкция)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2 (чертёж NHL)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HRC &lt; нормы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★★★★★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H3: Зазоры клапанов (ТО)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1 (доп. анализ)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Повторные отказы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★★★☆☆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H4: Форсунки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2 (тест №73)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Сопутств. замены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★★★☆☆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H5: Возд. фильтр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1 (только №69)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1 агрегат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★★☆☆☆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H6: Зола масла (ОТЯГЧАЮЩИЙ)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3 (EDS NHL)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Все агрегаты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ОТЯГЧ.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H7: Режим эксплуатации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0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Контекст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★★☆☆☆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H8: Охлаждение ГБЦ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0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Топография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3BDDC"/>
                          </a:solidFill>
                          <a:latin typeface="DejaVu Sans"/>
                        </a:rPr>
                        <a:t>★★☆☆☆</a:t>
                      </a:r>
                    </a:p>
                  </a:txBody>
                  <a:tcPr>
                    <a:solidFill>
                      <a:srgbClr val="242F3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1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DejaVu Sans"/>
              </a:rPr>
              <a:t>H1 + H2 = СИСТЕМНЫЕ причины  ·  H3 + H4 = СОПУТСТВУЮЩИЕ  ·  H6 = ОТЯГЧАЮЩИЙ фактор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КАРТА ОТКАЗОВ ПО ПАРКУ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База данных ГБЦ Ремонты.xlsx | 463 строки | Агрегаты №43-92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50976"/>
            <a:ext cx="1179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868B"/>
                </a:solidFill>
                <a:latin typeface="DejaVu Sans"/>
              </a:rPr>
              <a:t>Красный = отказ клапанов зафиксирован  ·  Тёмно-красный = катастрофический  ·  Зелёный = нет данных об отказе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188720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" y="153619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16033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1188720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153619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14751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3744" y="1188720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9464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153619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17863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94176" y="1188720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9896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153619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15103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4608" y="1188720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0328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#47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1184" y="153619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12890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1188720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1616" y="153619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14997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05472" y="1188720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1192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#49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75904" y="1188720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1624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153619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15433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46336" y="1188720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92056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2911" y="153619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10783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716767" y="1188720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62488" y="1225296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53343" y="153619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18505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1975104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#53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" y="23225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17550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53312" y="1975104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99032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#54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23744" y="1975104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69464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0320" y="23225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17316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94176" y="1975104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39896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#56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64608" y="1975104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10328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184" y="23225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14808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1975104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0760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71616" y="23225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10702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05472" y="1975104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51192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048" y="23225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15143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75904" y="1975104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21624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#60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46336" y="1975104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92056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#61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716767" y="1975104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62488" y="20116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53343" y="23225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13917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2880" y="2761488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8600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#63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53312" y="2761488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99032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#64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23744" y="2761488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69464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94176" y="2761488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739896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#66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864608" y="2761488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10328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35040" y="2761488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80760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#68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205472" y="2761488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251192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#69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42048" y="3108960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10130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75904" y="2761488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21624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#70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546336" y="2761488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592056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#71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716767" y="2761488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762488" y="2798064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#72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53343" y="3108960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10000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82880" y="3547872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28600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9456" y="389534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9998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53312" y="3547872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399032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#74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9888" y="389534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9869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23744" y="3547872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569464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#75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94176" y="3547872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39896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#76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30752" y="389534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9754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864608" y="3547872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910328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#77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01184" y="389534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10016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035040" y="3547872"/>
            <a:ext cx="1115568" cy="713232"/>
          </a:xfrm>
          <a:prstGeom prst="rect">
            <a:avLst/>
          </a:prstGeom>
          <a:solidFill>
            <a:srgbClr val="381010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80760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71616" y="389534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9323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205472" y="3547872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51192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#79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375904" y="3547872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21624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#80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46336" y="3547872"/>
            <a:ext cx="1115568" cy="713232"/>
          </a:xfrm>
          <a:prstGeom prst="rect">
            <a:avLst/>
          </a:prstGeom>
          <a:solidFill>
            <a:srgbClr val="6B0F0F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92056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582911" y="389534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4696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716767" y="3547872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762488" y="3584448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#82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82880" y="4334256"/>
            <a:ext cx="1115568" cy="713232"/>
          </a:xfrm>
          <a:prstGeom prst="rect">
            <a:avLst/>
          </a:prstGeom>
          <a:solidFill>
            <a:srgbClr val="6B0F0F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28600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 Mono"/>
              </a:rPr>
              <a:t>#83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9456" y="4681728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0868B"/>
                </a:solidFill>
                <a:latin typeface="DejaVu Sans Mono"/>
              </a:rPr>
              <a:t>2776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353312" y="4334256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399032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#84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523744" y="4334256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569464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#85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94176" y="4334256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739896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#86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864608" y="4334256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910328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#87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035040" y="4334256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080760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#88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205472" y="4334256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251192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#89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375904" y="4334256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421624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#90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546336" y="4334256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592056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#91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716767" y="4334256"/>
            <a:ext cx="1115568" cy="713232"/>
          </a:xfrm>
          <a:prstGeom prst="rect">
            <a:avLst/>
          </a:prstGeom>
          <a:solidFill>
            <a:srgbClr val="2A313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762488" y="43708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DejaVu Sans Mono"/>
              </a:rPr>
              <a:t>#92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ПЛАН ВЕРИФИКАЦИИ ГИПОТЕЗ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Конкретные действия для подтверждения/опровержения каждой версии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92024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920240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7744" y="1024128"/>
            <a:ext cx="1280160" cy="192024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" y="107899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4855"/>
                </a:solidFill>
                <a:latin typeface="DejaVu Sans Mono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107899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855"/>
                </a:solidFill>
                <a:latin typeface="DejaVu Sans"/>
              </a:rPr>
              <a:t>ECM — ПРИОРИТЕТ №1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444752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Считать полный ECM с 2-3 NTE200 + 1 Komatsu 730E AC через INSITE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792224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Включить C_EPD_OT_RPM_Drt_En=1 | Задержки по маслу/ОЖ ≤10 с | RPM 1990 | TIB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139696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Активировать все триггеры температуры ОГ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48716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Наблюдение 6 мес: 0 отказов на перепрограмм. агрегатах = подтверждено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017520"/>
            <a:ext cx="11795760" cy="192024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017520"/>
            <a:ext cx="54864" cy="1920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7744" y="3017520"/>
            <a:ext cx="1280160" cy="192024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3072384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  <a:latin typeface="DejaVu Sans Mono"/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07238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STELLITE КЛАПАНЫ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438144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Запросить у NHL клапаны CES51005-S со Stellite-наплавкой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7632" y="3785616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Пилотная установка на 2-3 агрегата при следующем плановом ремонте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13308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Осмотр через 6 000 м/ч: измерить твёрдость (HRC) и рецессию фаски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44805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Сравнить с базовыми клапанами той же наработки — разница ≥50% = подтверждено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010912"/>
            <a:ext cx="11795760" cy="155448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010912"/>
            <a:ext cx="54864" cy="155448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7744" y="5010912"/>
            <a:ext cx="1280160" cy="155448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" y="506577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E83FA"/>
                </a:solidFill>
                <a:latin typeface="DejaVu Sans Mono"/>
              </a:rPr>
              <a:t>H3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06577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83FA"/>
                </a:solidFill>
                <a:latin typeface="DejaVu Sans"/>
              </a:rPr>
              <a:t>ЗАЗОРЫ КЛАПАНОВ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7632" y="5431536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Ввести протокол: измерение зазоров ДО и ПОСЛЕ каждого ремонта с записью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27632" y="577900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При ближайшем ТО проверить зазоры на 5 агрегатах без клапанного ремонта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27632" y="6126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Обучение механиков: калиброванный щуп 0.05 мм шаг | допуск ±0.05 мм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6638544"/>
            <a:ext cx="11795760" cy="155448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6638544"/>
            <a:ext cx="54864" cy="155448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7744" y="6638544"/>
            <a:ext cx="1280160" cy="155448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6888" y="669340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EF0AF"/>
                </a:solidFill>
                <a:latin typeface="DejaVu Sans Mono"/>
              </a:rPr>
              <a:t>H4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7632" y="669340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DejaVu Sans"/>
              </a:rPr>
              <a:t>ФОРСУНКИ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7632" y="705916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Стендовые тесты форсунок: №43, №47, №55, №73 — давление, возврат, распыл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7632" y="740664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INSITE: fuel balance rates → отклонение &gt;±3% = проблемная форсунка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7632" y="7754112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3BDDC"/>
                </a:solidFill>
                <a:latin typeface="DejaVu Sans"/>
              </a:rPr>
              <a:t>→  Правило: при любом клапанном ремонте — обязательная проверка форсунки цилиндра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РЕКОМЕНДАЦИИ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Приоритетные действия по устранению причин отказов клапанов QSK50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2048256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2048256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7744" y="1024128"/>
            <a:ext cx="1828800" cy="2048256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1155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4855"/>
                </a:solidFill>
                <a:latin typeface="DejaVu Sans"/>
              </a:rPr>
              <a:t>СРОЧНО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44475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68B"/>
                </a:solidFill>
                <a:latin typeface="DejaVu Sans"/>
              </a:rPr>
              <a:t>до следующего ремонта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115568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Перепрограммировать ECM: включить дератинг, задержки ≤10 с, RPM 1990, TIB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499616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Активировать все триггеры температуры выхлопных газов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883664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Проверить состояние воздушных фильтров всего парка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2267712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Обязательная проверка форсунки при каждом клапанном ремонте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145536"/>
            <a:ext cx="11795760" cy="2048256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145536"/>
            <a:ext cx="54864" cy="204825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7744" y="3145536"/>
            <a:ext cx="1828800" cy="2048256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323697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  <a:latin typeface="DejaVu Sans"/>
              </a:rPr>
              <a:t>КРАТКОСРОЧНО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" y="35661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68B"/>
                </a:solidFill>
                <a:latin typeface="DejaVu Sans"/>
              </a:rPr>
              <a:t>в течение 1 месяца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3236976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Заказать Stellite-клапаны CES51005-S — пилотная партия на 3 агрегата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3621024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Разработать и внедрить форму контроля зазоров клапанов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005072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Стендовые тесты форсунок приоритетных 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4389120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Включить логирование INSITE на всех агрегатах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266944"/>
            <a:ext cx="11795760" cy="166420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266944"/>
            <a:ext cx="54864" cy="1664208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7744" y="5266944"/>
            <a:ext cx="1828800" cy="1664208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53583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E83FA"/>
                </a:solidFill>
                <a:latin typeface="DejaVu Sans"/>
              </a:rPr>
              <a:t>СРЕДНЕСРОЧНО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568756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68B"/>
                </a:solidFill>
                <a:latin typeface="DejaVu Sans"/>
              </a:rPr>
              <a:t>в течение 3 месяцев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358384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Анализ рабочего цикла по INSITE на 5+ агрегатах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742432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Сравнительный анализ с 730E AC на том же объекте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6126480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По результатам пилота Stellite: решение о серийном переходе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7004304"/>
            <a:ext cx="11795760" cy="1664208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7004304"/>
            <a:ext cx="54864" cy="1664208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7744" y="7004304"/>
            <a:ext cx="1828800" cy="1664208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709574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F0AF"/>
                </a:solidFill>
                <a:latin typeface="DejaVu Sans"/>
              </a:rPr>
              <a:t>СИСТЕМНО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742492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68B"/>
                </a:solidFill>
                <a:latin typeface="DejaVu Sans"/>
              </a:rPr>
              <a:t>постоянные меры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7095744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Предложить NHL внесение Stellite как обязательного стандарта конструкции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7479792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База данных ТО: зазоры, форсунки, T° — на каждый агрегат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76272" y="7863840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✓  Протокол замены масла с учётом высокого потребления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88952" cy="822960"/>
          </a:xfrm>
          <a:prstGeom prst="rect">
            <a:avLst/>
          </a:prstGeom>
          <a:solidFill>
            <a:srgbClr val="1C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DF6"/>
                </a:solidFill>
                <a:latin typeface="DejaVu Sans"/>
              </a:rPr>
              <a:t>ВЫВОДЫ И СЛЕДУЮЩИЕ ШАГИ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603504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68B"/>
                </a:solidFill>
                <a:latin typeface="DejaVu Sans"/>
              </a:rPr>
              <a:t>Анализ причин износа выпускных клапанов QSK50 | NTE200 | АО «Полюс Магадан»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77824"/>
            <a:ext cx="12188952" cy="3200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11795760" cy="100584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1005840"/>
            <a:ext cx="54864" cy="1005840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7744" y="1005840"/>
            <a:ext cx="868680" cy="100584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1225296"/>
            <a:ext cx="850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4855"/>
                </a:solidFill>
                <a:latin typeface="DejaVu Sans Mon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10789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4855"/>
                </a:solidFill>
                <a:latin typeface="DejaVu Sans"/>
              </a:rPr>
              <a:t>МАСШТАБ СИСТЕМНЫЙ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48132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20+ единиц, 30+ событий, 2 776 — 18 505 м/ч. Не единичный дефект партии.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2048256"/>
            <a:ext cx="11795760" cy="100584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" y="2048256"/>
            <a:ext cx="54864" cy="1005840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" y="2048256"/>
            <a:ext cx="868680" cy="100584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" y="2267712"/>
            <a:ext cx="850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4855"/>
                </a:solidFill>
                <a:latin typeface="DejaVu Sans Mon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12140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4855"/>
                </a:solidFill>
                <a:latin typeface="DejaVu Sans"/>
              </a:rPr>
              <a:t>ECM — ГЛАВНАЯ РАБОЧАЯ ВЕРСИЯ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523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Отключённый дератинг + задержки + RPM 2100 + TIB 200%. 730E AC (те же двигатели, тот же объект) — 0 отказов.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090672"/>
            <a:ext cx="11795760" cy="100584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090672"/>
            <a:ext cx="54864" cy="1005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7744" y="3090672"/>
            <a:ext cx="868680" cy="100584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" y="3310128"/>
            <a:ext cx="850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A623"/>
                </a:solidFill>
                <a:latin typeface="DejaVu Sans Mono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16382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DejaVu Sans"/>
              </a:rPr>
              <a:t>STELLITE — КОНСТРУКТИВНАЯ УЯЗВИМОСТЬ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40-44 HRC против 55-65 HRC. Stellite сохраняет твёрдость при 800°C — критично для выпускного клапана.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4133087"/>
            <a:ext cx="11795760" cy="100584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4133087"/>
            <a:ext cx="54864" cy="100584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7744" y="4133087"/>
            <a:ext cx="868680" cy="100584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" y="4352544"/>
            <a:ext cx="850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7E83FA"/>
                </a:solidFill>
                <a:latin typeface="DejaVu Sans Mono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20624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E83FA"/>
                </a:solidFill>
                <a:latin typeface="DejaVu Sans"/>
              </a:rPr>
              <a:t>ЗОЛА — ОТЯГЧАЮЩИЙ ФАКТОР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608575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EDS NHL подтверждает Ca/Zn/P + Si/Al. Ускоряет износ, но является следствием перегрева.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5175503"/>
            <a:ext cx="11795760" cy="1005840"/>
          </a:xfrm>
          <a:prstGeom prst="rect">
            <a:avLst/>
          </a:prstGeom>
          <a:solidFill>
            <a:srgbClr val="2A3138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5175503"/>
            <a:ext cx="54864" cy="100584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7744" y="5175503"/>
            <a:ext cx="868680" cy="100584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5394959"/>
            <a:ext cx="850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DejaVu Sans Mono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248655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DejaVu Sans"/>
              </a:rPr>
              <a:t>СЛЕДУЮЩИЙ ШАГ — ВЕРИФИКАЦИЯ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8" y="56509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3BDDC"/>
                </a:solidFill>
                <a:latin typeface="DejaVu Sans"/>
              </a:rPr>
              <a:t>Перепрограммировать ECM (быстрый тест) + пилотные Stellite-клапаны на 2-3 агрегата.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6291072"/>
            <a:ext cx="11795760" cy="502920"/>
          </a:xfrm>
          <a:prstGeom prst="rect">
            <a:avLst/>
          </a:prstGeom>
          <a:solidFill>
            <a:srgbClr val="2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" y="6309360"/>
            <a:ext cx="1179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868B"/>
                </a:solidFill>
                <a:latin typeface="DejaVu Sans"/>
              </a:rPr>
              <a:t>АО «Развитие»  ·  Технический анализ  ·  Конфиденциально  ·  Май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6565392"/>
            <a:ext cx="1179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EF0AF"/>
                </a:solidFill>
                <a:latin typeface="DejaVu Sans"/>
              </a:rPr>
              <a:t>Cummins QSK50  ·  NHL NTE200  ·  АО «Полюс Магадан»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