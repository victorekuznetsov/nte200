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54864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36576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384048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5603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АО РАЗВИТИЕ  •  АНАЛИЗ НЕИСПРАВНОСТЕЙ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8229600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430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АНАЛИЗ ПРИЧИН ИЗНОСА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031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EF0AF"/>
                </a:solidFill>
                <a:latin typeface="Calibri Light"/>
              </a:rPr>
              <a:t>ВЫПУСКНЫХ КЛАПАНОВ QSK50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90672"/>
            <a:ext cx="8229600" cy="45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00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Calibri"/>
              </a:rPr>
              <a:t>Самосвалы NHL NTE200  •  АО «Полюс Магадан»  •  Омчак, Магаданская область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794760"/>
            <a:ext cx="19202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единиц с клапанными отказами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76856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794760"/>
            <a:ext cx="19202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794760"/>
            <a:ext cx="192024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ранний отказ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794760"/>
            <a:ext cx="19202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18 505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поздний отказ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Конфиденциально  •  Только для внутреннего использования  •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Статистика отказов выпускных клапанов | Парк NTE200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28346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агрегатов с отказами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97280"/>
            <a:ext cx="28346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97280"/>
            <a:ext cx="283464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м/ч мин. наработка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до отказа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097280"/>
            <a:ext cx="2834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парка — EGT 1484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ошибки ECM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Ед.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Событий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Поражение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16 033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 позиций (3L, 4L, 1R, 2R, 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14 751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~17 600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Сизый дым — замена 2 выпускных клапанов (ОТЧЁТ 23.03.2026)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12 890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14 997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17 550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17 316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14 808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6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16 219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— замена выпускных клапанов (ОТЧЁТ 06.04.2026)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10 130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10 000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9 323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/ 4R / 6R / 6L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4 696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2 776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КАТАСТРОФИЧЕСКИЙ — шатун / поршень /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ХРОНОЛОГИЯ ОТКАЗОВ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Авг 2025 — Май 2026 | 14 ключевых событий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11887200" cy="32004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7160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40817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4081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14081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4081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71907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71907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556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1755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17556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55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66543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66543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103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41401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41401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4505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2450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4288" y="24505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450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61488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61488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980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27980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27980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98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108960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108960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1455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3145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1455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56432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5643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93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3493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93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803904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803904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404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8448" y="38404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4288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КАТАСТРОФА — шатун / поршень / 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840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151376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151376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879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41879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4187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98848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98848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53542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354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04288" y="453542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84632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84632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828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8448" y="48828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288" y="48828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82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9379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9379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2303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448" y="5230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52303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3R / 4R / 6R / 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2303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541264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541264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778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8448" y="5577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557784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778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8873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88736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92531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98448" y="5925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59253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9253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~9 998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КАРТА ОТКАЗОВ ПАРКА NTE200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Гаражные номера #43–#92 | Статус по клапанному ремонту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#43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78992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9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69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69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8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11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2944368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97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40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83879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79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69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9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25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5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68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68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11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11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3877056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97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0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40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83879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83879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6880" y="3877056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26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69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69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4809744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2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5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68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68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1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11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97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897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40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40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83879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83879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326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69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69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82880" y="5870448"/>
            <a:ext cx="274320" cy="201168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2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КАТАСТРОФИЧЕСКИЙ (#81, #83)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27248" y="5870448"/>
            <a:ext cx="274320" cy="2011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ПОДТВЕРЖДЁННЫЙ ОТКАЗ КЛАПАНОВ (15 ед.)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71616" y="5870448"/>
            <a:ext cx="274320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19088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EGT-ошибки / форсунки / фильтры (12 ед.)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15984" y="5870448"/>
            <a:ext cx="274320" cy="201168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63456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НЕТ ЗАФИКСИРОВАННЫХ ОТКАЗОВ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РЕЗУЛЬТАТЫ РАЗБОРКИ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Физические признаки и лабораторный анализ NHL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ФИЗИЧЕСКИЕ ПРИЗНАКИ ПОВРЕЖДЕНИЙ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Данные разборки и дефектовки | Сводка по всем агрегатам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Главный признак. Посадочная поверхность выпускного клапана «утопает» в седле. Твёрдость фаски 40-44 HRC — соответствует чертёжной спецификации (≤46 HRC). Обнаружена на всех исследованных двигателях.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947672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947672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84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95144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Бурт пластической деформации = признак превышения допустимой T° тарелки. Зафиксировано в отчёте лаборатории NHL (MS&amp;T2026033, стр. 14-15). Пластическая деформация Inconel 751 начинается при T° &gt;700°C.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98064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98064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8346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ЗОЛЬНЫЕ ОТЛОЖЕНИЯ  Ca / Zn / P + Si / 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EDS-анализ NHL: Ca, Zn, P — зола ZDDP-присадок. Si, Al — силикатная пыль.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48456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4845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8503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95928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45720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53542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46320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4924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49240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858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9671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Наиболее часто поражены: 3R, 4R, 6R, 6L, 7L, 7R. Потенциально — неравномерность охлаждения ГБЦ.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АНАЛИЗ ЛАБОРАТОРИИ NHL  •  MS&amp;T2026033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Инженер Тао Лан | СЭМ + EDS спектроскопия + профилометрия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  <a:latin typeface="Calibri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Слои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«Заусенец» =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3. Аномально высокая T° — REC.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ГИПОТЕЗЫ О ПРИЧИНАХ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7 версий — от конфигурации ECM до условий эксплуатации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ОБЗОР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7 версий — оценка доказательной базы и приоритет верификации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8872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13385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2646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Отключённый дератинг, задержки 51/43 с, обороты 2100 vs 1990, TIB 200% vs 100%, все EGT-триггеры отключены на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097280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298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КРИТИЧЕСКИЙ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801368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92807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8013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1837943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Перегрев клапана — материал на пределе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13055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NHL (MS&amp;T2026033, стр. 14): наплавки нет по чертежу; твёрдость 40-44 HRC = в допуске ≤46 HRC. Inconel 751 пластически деформируется при T°&gt;700°C — в норм. режиме клапан достаточен.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801368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20025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СВЯЗАН с H1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05456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9689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50545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254203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283464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Малый зазор → клапан не закрывается → потеря охлаждения → перегрев фаски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505456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70662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9544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300984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20954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53312" y="324612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38728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9544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3410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913632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4005072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91363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395020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242816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913632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617720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70916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6177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46542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" y="494690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4617720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21808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413248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3218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53312" y="5358384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Рабочий цикл / конструктив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" y="565099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Горный рудник, высота, температурные перепады. Топография 3R/4R/6R/6L — неравномерный теплоотвод.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5321808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5522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H1: НАСТРОЙКИ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Сравнение NTE200 vs Komatsu 730E AC | Один объект — один двигатель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ПАРАМЕТРЫ ECM —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Один двигатель QSK50 — один объект — кардинально разные параметры защиты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402336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4023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42415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99616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Параметр ECM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Komatsu 730E AC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NHL NTE200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C_EPD_OT_RPM_Drt_En 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давлению масла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51 секунда (!)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температуре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1 990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2 100 об/мин (+5.5%)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Обороты холостого хода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Норма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6601968"/>
            <a:ext cx="117957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«КРИТИЧЕСКИЙ» —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ПАРАМЕТРЫ ЗАЩИТЫ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Как каждый параметр NTE200 ведёт к повреждению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C_EPD_OT_RPM_Drt_En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111556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ДЕРАТИНГ ПОЛНОСТЬЮ ОТКЛЮЧЁН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Этот флаг управляет автоматическим снижением мощности/оборотов при перегреве. На NTE200 значение = 0 (ВЫКЛ).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Двигатель НИКОГДА не снижает обороты при достижении критических температур. Перегрев нарастает без какого-либо самоограничения.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Клапан продолжает получать горячие газы полной мощности — температура фаски растёт до деформации.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масло = 51 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85292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51 СЕКУНДА БЕЗ ЗАЩИТЫ ПО МАСЛУ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Параметр задержки аварийной остановки по низкому давлению масла. На 730E AC — немедленная реакция; на NTE200 — 51 секунда ожидания.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падении давления масла двигатель работает 51 с без защиты. За 51 с при 2100 об/мин происходит ~1800 рабочих циклов клапана без смазки.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Перегрев клапана + недостаточная смазка направляющей → ускоренный износ фаски.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2004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ОЖ = 43 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9028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43 СЕКУНДЫ ПЕРЕГРЕВА ОЖ БЕЗ РЕАКЦИИ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Задержка защиты по высокой температуре охлаждающей жидкости. На 730E AC — немедленно; на NTE200 — 43 секунды допустимого перегрева.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Температура ОЖ выше нормы = ухудшение охлаждения ГБЦ. За 43 с перегрева ГБЦ температура тарелки клапана растёт на 80-120°C.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T° седла и направляющей клапана превышает норму → термическое разупрочнение металла фаски.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ТЕМПЕРАТУРА И ТОПЛИВО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Параметры, напрямую повышающие T° выхлопных газов у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4747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Max RPM = 2100 vs 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111556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ОБОРОТЫ НА 5.5% ВЫШЕ — ТЕПЛОГЕНЕРАЦИЯ РАСТЁТ ПРОПОРЦИОНАЛЬНО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Максимальные рабочие обороты NTE200 — 2100 об/мин. На 730E AC — 1990 об/мин. Разница +110 об/мин (+5.5%).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Каждые +100 об/мин ≈ +6-8°C T° ОГ (линейная зависимость для QSK50). При 2100 об/мин T° ОГ выше на 7-10°C постоянно.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7-10°C сами по себе некритичны, но в сочетании с отключённым дератингом и TIB 200% дают суммарный перегрев, достаточный для пластической деформации фаски (T° &gt; 700°C).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TIB коррекция = 200% vs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85292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ДВОЙНОЙ БЮДЖЕТ ТОПЛИВНОЙ КОРРЕКЦИИ — БОГАТАЯ СМЕСЬ В ЦИЛИНДРЕ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TIB (Torque-Input-Based) fuel correction — максимально допустимая топливная коррекция. NTE200: 200%. 730E AC: 100%. Параметр позволяет системе управления добавлять до 2× нормативного количества топлива.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200% TIB ECM может сделать смесь богатой в 2× нормы — дожигание в выпускном коллекторе. Прямое повышение T° ОГ на 50-100°C. Зафиксировано по профилю сгорания в INSITE CSV (аг. №43).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T° тарелки клапана превышает 700°C → пластическая деформация Inconel 751 → рецессия фаски (подтверждено NHL lab, стр. 15: «аномально высокая T°»).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EGT триггеры = ВСЕ ОТКЛЮЧЕНЫ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59028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НУЛЕВАЯ ЗАЩИТА ПО ТЕМПЕРАТУРЕ ВЫХЛОПНЫХ ГАЗОВ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На 730E AC активны все EGT-триггеры (температура ОГ) — при превышении порога происходит дератинг. На NTE200 — ВСЕ EGT-триггеры отключены. Двигатель не знает о перегреве газов.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Даже при T° ОГ 700-900°C ECM NTE200 не реагирует. Нет снижения топлива, нет снижения оборотов, нет сигнала оператору. Перегрев накапливается циклически — от поездки к поездке.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Температурная усталость Inconel 751 при повторяющихся циклах 700°C+ → необратимое разупрочнение → прогрессирующая рецессия фаски у ВСЕХ клапанов.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ЦЕПОЧКА ПОВРЕЖДЕНИЙ ЧЕРЕЗ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Суммарный эффект всех отклонений от штатной конфигурации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ECM: Дератинг ОТКЛ
+ задержки 43-51 с
+ RPM 2100
+ TIB 200%
+ EGT выкл.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Двигатель работает
на полной мощности
при перегреве —
без сигнала
оператору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T° ОГ &gt; 700°C
у тарелки
клапана — цикл
за циклом
без защиты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Пластич. деформация
Inconel 751 →
рецессия фаски →
зола в зазоре →
абразив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3127248"/>
            <a:ext cx="1179576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82112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886200"/>
            <a:ext cx="11795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319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Calibri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2519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NTE200: операторов инструктируют «не глушить, давать остывать на ХХ» — признание систематических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091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INSITE CSV (аг. №43,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1663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730E AC на том же объекте, с теми же QSK50 — клапанных отказов НЕТ (ECM настроен штатно)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6235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0807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Диапазон наработок (2 776 — 18 505 м/ч) указывает на вариабельный триггер, не дефект партии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H2: МАТЕРИАЛ КЛАПАНА НА ПРЕДЕЛЕ ТЕПЛОВОГО РЕЖИМА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Лабораторный вывод NHL MS&amp;T2026033 | Inconel 751 (CES51005)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669280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66928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972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ДАННЫЕ ЛАБОРАТОРИИ NHL (MS&amp;T2026033)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48132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0592" y="148132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Inconel 751 (CES51005)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8836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Наплавка по чертежу: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188366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ОТСУТСТВУЕТ — не предусмотрена чертежом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228600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Требование по HRC: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8600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≤ 46 HRC (по чертежу NTE200)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6883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Фактическая HRC: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688336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40.0 – 44.1 HRC  → В ДОПУСКЕ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" y="30906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Пластич. деформация: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3090672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ЕСТЬ — «заусенец» на фаске (стр. 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" y="349300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Зольные отложения: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0592" y="349300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Ca/Zn/P + Si/Al — на всех образцах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389534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Вывод NHL (стр. 19):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389534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Аномально высокая T° — первопричина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" y="429768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Рекомендация NHL: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429768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Проверить параметры T° двигателя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024128"/>
            <a:ext cx="5971032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1024128"/>
            <a:ext cx="5971032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0972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ИНТЕРПРЕТАЦИЯ И СВЯЗЬ С H1 (ECM)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481328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499616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1755648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HRC 40-44 — в пределах чертёжного допуска ≤46 HRC. Конструктивный дефект отсутствует.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432304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4505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ОТСУТСТВИЕ НАПЛАВКИ — ПО ПРОЕКТУ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06624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Inconel 751 без Stellite — штатная конструкция NTE200. 730E AC также не имеет Stellite в стандартной комплектации.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3383280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40156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INCONEL 751: ПРЕДЕЛ ПРОЧНОСТИ ПРИ T°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7600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сохраняет твёрдость до ~700°C. При 700-800°C начинается ползучесть и пластическая деформация фаски.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334256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4352544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ECM НАРУШАЕТ ТЕПЛОВОЙ РЕЖИМ КЛАПАНА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4608576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TIB 200% + RPM 2100 + нет EGT-защиты = T° ОГ превышает 700°C. Клапан деформируется не от дефекта — от аномального теплового режима, созданного ECM.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5285232"/>
            <a:ext cx="36576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5303520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H2 ЯВЛЯЕТСЯ СЛЕДСТВИЕМ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559552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клапана корректен для штатного режима. При правильном ECM (730E AC) — тех же клапанов ДОСТАТОЧНО. Первопричина — ECM (H1).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КЛЮЧЕВЫЕ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Агрегаты №83, №48, №55, №69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КАТАСТРОФИЧЕСКИЙ ОТКАЗ  •  АГРЕГАТ №83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2 776 м/ч наработки — самый ранний отказ в парке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05840"/>
            <a:ext cx="3749039" cy="28346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05840"/>
            <a:ext cx="4023360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977639"/>
            <a:ext cx="45720" cy="2697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Гаражный №: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Наработка: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2 776 м/ч  (!!! нормальный ресурс &gt;12 000 м/ч)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Зафиксировано: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Разрушение шатуна и поршня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Замена: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ГБЦ + шатун + поршень + уплотнения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Вер. причина: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Значение: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МАТРИЦА ОЦЕНКИ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Доказательная база и приоритет верификации (с учётом вывода NHL MS&amp;T2026033)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Гипотеза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Весь
парк?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Приоритет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H1: ECM (дератинг, RPM, TIB, EGT)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H2: Клапан на T°-пределе (след. H1)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NHL: T° аномальна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HRC в допуске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СЛЕДСТВИЕ H1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H4: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(тест №73)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(EDS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ОТЯГЧ.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H7: Режим эксплуатации /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Контекст + топогр.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H1 = СИСТЕМНАЯ ПЕРВОПРИЧИНА  •  H2 = следствие H1 (T°)  •  H3+H4 = СОПУТСТВУЮЩИЕ  •  H6 = ОТЯГЧАЮЩИЙ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ПЛАН ВЕРИФИКАЦИИ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Конкретные действия для подтверждения каждой гипотезы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ПЛАН ВЕРИФИКАЦИИ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Конкретные действия для подтверждения / опровержения каждой версии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1920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078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3969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Активировать все EGT-триггеры температуры выхлопных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487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Наблюдение 6 мес: 0 отказов на перепрограмм. агрегатах = гипотеза подтверждена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017520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ТЕПЛОВОЙ РЕЖИМ КЛАПАНА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4381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Установить пирометрический мониторинг T° ОГ на 2-3 агрегатах (NTE200 vs 730E AC)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78561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Сравнить T° ОГ при одинаковой нагрузке до и после перепрограммирования ECM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13308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T° ОГ &gt; 700°C в нормальном режиме — рассмотреть термоустойчивые клапаны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4645152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4645152"/>
            <a:ext cx="45720" cy="1554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645152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" y="470001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70001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ЗАЗОРЫ КЛАПАНОВ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06577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41324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576072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Калиброванный щуп 0.05 мм шаг | допуск ±0.05 мм | обучение механиков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6272784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6272784"/>
            <a:ext cx="4572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6272784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63276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H4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632764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ФОРСУНКИ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64208" y="66934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Стендовые тесты: №43, №47, №55, №73 — давление, возврат, распыл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704088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73883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20482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Активировать все EGT-триггеры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45720" cy="20482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45536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Установить пирометрический мониторинг T° ОГ на 2-3 агрегатах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Включить логирование INSITE на всех агрегатах парка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45720" cy="16642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266944"/>
            <a:ext cx="1828800" cy="166420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По результатам T°-мониторинга: оценка необходимости термоустойчивых клапанов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Сравнительный анализ показателей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Анализ рабочего цикла по INSITE на 5+ агрегатах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45720" cy="128016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7004304"/>
            <a:ext cx="1828800" cy="1280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F0AF"/>
                </a:solidFill>
                <a:latin typeface="Calibri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База данных ТО: зазоры + форсунки + T° ОГ — на каждый агрегат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Стандарт для NHL/KTG: обязательный контроль ECM при приёмке нового транспорта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ВЫВОДЫ И 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987552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87552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87552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188720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607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44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11680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11680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011680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12848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8483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ECM — ГЛАВНАЯ ПЕРВОПРИЧИНА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Дератинг откл. + задержки 43-51 с + RPM 2100 + TIB 200% + нет EGT-защиты. 730E AC (тот же объект, тот же QSK50)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35808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35808"/>
            <a:ext cx="45720" cy="9875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035808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236976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089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493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NHL MS&amp;T2026033: HRC 40-44 в допуске ≤46, наплавки нет по чертежу — это норма. Деформация вызвана аномальной T° от настроек ECM, не дефектом материала.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059936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059936"/>
            <a:ext cx="45720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059936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61104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51713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EDS NHL: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84064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084064"/>
            <a:ext cx="45720" cy="987552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084064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285232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1572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СЛЕДУЮЩИЙ ШАГ — ПЕРЕПРОГРАММИРОВАТЬ ECM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54126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Быстрый и обратимый тест: ECM → штатная конфигурация. Наблюдение 6 мес. Нет отказов = гипотеза H1 подтверждена.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63640"/>
            <a:ext cx="11795760" cy="50292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291072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Calibri"/>
              </a:rPr>
              <a:t>АО Развитие — Технический анализ  •  АО «Полюс Магадан»  •  Конфиденциально  •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EF0AF"/>
                </a:solidFill>
                <a:latin typeface="Calibri"/>
              </a:rPr>
              <a:t>Cummins QSK50  •  NHL NTE200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937"/>
                </a:solidFill>
                <a:latin typeface="Calibri Light"/>
              </a:rPr>
              <a:t>ПРОИЗВОДИТЕЛЬНОСТЬ: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85216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Январь 2024 — Июнь 2026 | Полюс Магадан | 47 ед. NTE200 vs 22 ед. 730E AC</a:t>
            </a:r>
          </a:p>
        </p:txBody>
      </p:sp>
      <p:pic>
        <p:nvPicPr>
          <p:cNvPr id="6" name="Picture 5" descr="speed_prod_3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024128"/>
            <a:ext cx="11887200" cy="40782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592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5175504"/>
            <a:ext cx="28803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+2.8%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скорость NTE200
выше в 2025 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Выше RPM ECM
(2100 vs 1990 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5175504"/>
            <a:ext cx="288036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−22%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просадка произв.
NTE200 апр-июн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Простои из-за
отказов клапанов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5175504"/>
            <a:ext cx="28803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3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≈0%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разрыв до 2026
(окт24–мар25)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3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При равном ECM
произв. одинакова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5175504"/>
            <a:ext cx="28803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−5.4%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грузооборот NTE200
ниже в среднем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Скорость не
компенсирует простои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АНАЛИЗ ДАННЫХ ECM — КЛЮЧЕВЫЕ ПОКАЗАТЕЛИ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38 агрегатов  •  133 файла ECM INSITE  •  Май–Июнь 2026</a:t>
            </a:r>
          </a:p>
        </p:txBody>
      </p:sp>
      <p:pic>
        <p:nvPicPr>
          <p:cNvPr id="6" name="Picture 5" descr="ecm_analysis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EGT — ПЕРЕГРЕВ ВЫХЛОПНЫХ ГАЗОВ ПО ЦИЛИНДРАМ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ECM1/ECM144: 20 из 38 агрегатов имеют события перегрева EGT  •  ECM0 не реагирует — все EGT-триггеры отключены</a:t>
            </a:r>
          </a:p>
        </p:txBody>
      </p:sp>
      <p:pic>
        <p:nvPicPr>
          <p:cNvPr id="6" name="Picture 5" descr="ecm_eg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РЕЗУЛЬТАТЫ АНАЛИЗА ECM — КРИТИЧЕСКИЕ НАХОДКИ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Прямые доказательства перегрева и неправильных режимов работы двигателя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34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611 — горячий останов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Двигатель перегревается
перед каждым выключением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81528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81528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2968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641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Горячих остановок всего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Подтверждён систематический
перегрев при останове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5896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17336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20 / 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Имеют перегрев EGT (ECM1)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17336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Датчики работают,
ECM0 — не реагирует!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0264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0264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4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Максимум EGT (агр.82)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704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Цилиндр 11 A6: 171 ош. цепи
+ 88 отклонений темп.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7160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9 / 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234 — обороты превышены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Агр.90: 41 событие
Агр.75: макс. 2532 об/мин!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81528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81528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72968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113°C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72968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макс. охлажд.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72968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71: 14 мин 55 сек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72968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~99°C Amber
107°C — Red (аварийный стоп)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25896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25896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17336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150°C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7336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впускной коллектор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17336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52: цил.2, 2 мин 50 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17336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~50–60°C
150°C = турбо/интеркулер отказ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70264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70264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61704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12 / 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1704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556 — давление картера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1704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Прорыв газов — признак
мех. повреждения двигателя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7160" y="4279392"/>
            <a:ext cx="1188720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" y="435254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ЦЕПОЧКА ДОКАЗАТЕЛЬСТВ: ECM MISCONFIGURATION → ПЕРЕГРЕВ → ОТКАЗ КЛАПАНОВ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160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0311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ECM0 отключил все
EGT-триггеры защиты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93391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67128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67128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12848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40280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ECM1 фиксирует перегрев EGT
20/38 агрегатов, до 259 событий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23360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97096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97096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42816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70248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Охл. жидкость до 113°C,
впускной коллектор до 150°C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3327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27064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227064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72784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611: 641 горячий останов
систематический перегрев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83296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57032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257032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02752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0184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Высокий RPM (до 2532)
TIB 200%, задержки 43-51 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13264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8700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287000" y="4718304"/>
            <a:ext cx="184708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33272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1B1B"/>
                </a:solidFill>
                <a:latin typeface="Calibri Light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0152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556: давление картера
12 агрегатов — мех. повреждения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