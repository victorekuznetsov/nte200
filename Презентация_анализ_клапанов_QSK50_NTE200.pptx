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2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85232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97280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DejaVu Sans"/>
              </a:rPr>
              <a:t>АНАЛИЗ ПРИЧИН ИЗНОСА ВЫПУСКНЫХ КЛАПАНОВ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0D4F0"/>
                </a:solidFill>
                <a:latin typeface="DejaVu Sans"/>
              </a:rPr>
              <a:t>Двигатели Cummins QSK50 | Самосвалы NHL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14600"/>
            <a:ext cx="1069848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28600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Объект: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651760"/>
            <a:ext cx="850392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DejaVu Sans"/>
              </a:rPr>
              <a:t>Золотодобывающее предприятие АО «Полюс Магадан»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28600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Район: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108960"/>
            <a:ext cx="850392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DejaVu Sans"/>
              </a:rPr>
              <a:t>Омчак, Тенькинский район, Магаданская область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228600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Двигатель: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566160"/>
            <a:ext cx="850392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DejaVu Sans"/>
              </a:rPr>
              <a:t>QSK50 MCRS (50L, 16 цил., 1492 кВт) — серийный номер 33232776 / 33238516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28600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Масштаб: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023360"/>
            <a:ext cx="850392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DejaVu Sans"/>
              </a:rPr>
              <a:t>20+ единиц, 30+ событий ремонта, 2 776 — 18 505 м/ч наработки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80560"/>
            <a:ext cx="228600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Период: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480560"/>
            <a:ext cx="8503920" cy="347472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DejaVu Sans"/>
              </a:rPr>
              <a:t>Август 2025 — Май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090B0"/>
                </a:solidFill>
                <a:latin typeface="DejaVu Sans"/>
              </a:rPr>
              <a:t>Конфиденциально — только для внутреннего использования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МАСШТАБ ПРОБЛЕМЫ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Статистика отказов выпускных клапанов QSK50 | Парк NTE200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743200" cy="164592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2560320" cy="82296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DejaVu Sans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574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DejaVu Sans"/>
              </a:rPr>
              <a:t>единиц
затронуто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188720"/>
            <a:ext cx="2743200" cy="164592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234440"/>
            <a:ext cx="2560320" cy="822960"/>
          </a:xfrm>
          <a:prstGeom prst="rect">
            <a:avLst/>
          </a:prstGeom>
          <a:solidFill>
            <a:srgbClr val="2E6DA8"/>
          </a:solidFill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DejaVu Sans"/>
              </a:rPr>
              <a:t>30+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0574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DejaVu Sans"/>
              </a:rPr>
              <a:t>событий
ремонта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2743200" cy="1645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234440"/>
            <a:ext cx="2560320" cy="82296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DejaVu Sans"/>
              </a:rPr>
              <a:t>2 776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0574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DejaVu Sans"/>
              </a:rPr>
              <a:t>м/ч минимум
до отказа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1188720"/>
            <a:ext cx="2743200" cy="1645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234440"/>
            <a:ext cx="2560320" cy="82296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DejaVu Sans"/>
              </a:rPr>
              <a:t>18 505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0574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DejaVu Sans"/>
              </a:rPr>
              <a:t>м/ч максимум
до отказа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37160" y="2926080"/>
          <a:ext cx="11887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971800"/>
                <a:gridCol w="2080260"/>
                <a:gridCol w="5646420"/>
              </a:tblGrid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ejaVu Sans"/>
                        </a:rPr>
                        <a:t>Единица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ejaVu Sans"/>
                        </a:rPr>
                        <a:t>Наработка до 1-го отказа, м/ч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ejaVu Sans"/>
                        </a:rPr>
                        <a:t>Событий ремонта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ejaVu Sans"/>
                        </a:rPr>
                        <a:t>Масштаб поражения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16 033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5 позиций (3L,4L,1R,2R,3R)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№44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14 751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17 863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 позиция (2R)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№47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12 890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14 997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№51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10 783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Замена ГБЦ (трещина, 6R)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17 550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№55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17 316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14 808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6 позиций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№58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10 702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Клапан + замена толкателя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15 143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Многократные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№62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13 917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Клапаны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10 130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Засорение возд. фильтров + поршни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№72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10 000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9 998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Клапаны +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№74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9 869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Клапаны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9 754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Клапаны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№77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10 016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Клапаны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9 323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3R/4R/6R/6L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6625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№81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4 696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16626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№83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2 776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DejaVu Sans"/>
                        </a:rPr>
                        <a:t>КАТАСТРОФИЧЕСКИЙ (замена шатуна/поршня/ГБЦ)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ХРОНОЛОГИЯ И ДИНАМИКА ОТКАЗОВ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Временная шкала ремонтных событий | Август 2025 — Май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88720"/>
            <a:ext cx="11887200" cy="3200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2070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2070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2070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Двигатель / 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2070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" y="1508760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536192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Авг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3619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536192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Замена ГБЦ (ранний эпизод) | 12 890 м/ч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1856231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1883663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Авг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1883663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1883663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Замена ГБЦ, трещина | 10 783 м/ч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" y="2203704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2231136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Авг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231136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31136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Первый эпизод — замена толкателя | 10 702 м/ч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" y="2551176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257860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Янв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578608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2578608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Замена выпускных клапанов + форсунки | 16 033 м/ч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898648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" y="2926079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Фев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926079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2926079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17 клапанов + турбина | 14 997 м/ч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" y="3246120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" y="3273551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Мар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273551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3273551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Второй эпизод — клапан + ГБЦ | 15 572 м/ч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3593592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3593592"/>
            <a:ext cx="11887200" cy="347472"/>
          </a:xfrm>
          <a:prstGeom prst="rect">
            <a:avLst/>
          </a:prstGeom>
          <a:solidFill>
            <a:srgbClr val="FF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3621024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Мар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621024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C2C"/>
                </a:solidFill>
                <a:latin typeface="DejaVu Sans"/>
              </a:rPr>
              <a:t>№83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3621024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КАТАСТРОФА — шатун/поршень/ГБЦ | 2 776 м/ч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" y="3941064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3968496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Мар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3968496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968496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Второй эпизод — 10 клапанов + форсунки | 12 890 м/ч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" y="4288536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" y="431596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Апр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4315968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Гидроудар, водомасляная эмульсия | после ремонта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" y="4636008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" y="466344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Май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37360" y="4663440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4663440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ВСЕ 16 позиций + 4 форсунки | 17 316 м/ч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7160" y="4983479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8600" y="5010912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Май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501091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№69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5010912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4L/5L/6L/7L/7R + засорение фильтров | 10 721 м/ч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7160" y="5330952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28600" y="5358384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Май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37360" y="5358384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№78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7520" y="5358384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3R/4R/6R/6L | 9 323 м/ч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" y="5678424"/>
            <a:ext cx="118872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28600" y="5705856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Май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7360" y="5705856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№72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17520" y="5705856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Инжектор (форсунка) | 10 283 м/ч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7160" y="6025896"/>
            <a:ext cx="1188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8600" y="605332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Май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37360" y="6053328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6DA8"/>
                </a:solidFill>
                <a:latin typeface="DejaVu Sans"/>
              </a:rPr>
              <a:t>№73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17520" y="6053328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Форсунки (тест L2+R1 аномалии) | ~9 998 м/ч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ФИЗИЧЕСКИЕ ПРИЗНАКИ ПОВРЕЖДЕНИЙ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Данные разборки и дефектовки | Сводка по всем агрегатам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73152" cy="64008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C2C"/>
                </a:solidFill>
                <a:latin typeface="DejaVu Sans"/>
              </a:rPr>
              <a:t>ПРОСАДКА ФАСКИ КЛАПАНА (РЕЦЕССИЯ)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99032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Главный признак. Посадочная поверхность выпускного клапана «утопает» в седле.
Твёрдость фаски 40-44 HRC (базовая) против 55-65 HRC (Stellite). Обнаружена на всех исследованных двигателях.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" y="2011680"/>
            <a:ext cx="73152" cy="6400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01168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ОТЛОЖЕНИЯ ЗОЛЫ НА ТАРЕЛКЕ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267712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EDS-анализ NHL (MS&amp;T2026033): Ca, Zn, P — зола масляных присадок ZDDP.
Si, Al — силикатная пыль через воздушный тракт. Роль: ОТЯГЧАЮЩИЙ фактор (абразив), не первопричина.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" y="2880360"/>
            <a:ext cx="73152" cy="64008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88036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C2C"/>
                </a:solidFill>
                <a:latin typeface="DejaVu Sans"/>
              </a:rPr>
              <a:t>ПЛАСТИЧЕСКАЯ ДЕФОРМАЦИЯ («ЗАУСЕНЕЦ»)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36392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Бурт пластической деформации в зоне фаски = признак перегрева тарелки.
Температура клапана вышла за допустимый предел. Зафиксировано в лабораторном заключении NHL.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3749040"/>
            <a:ext cx="73152" cy="64008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74904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A8"/>
                </a:solidFill>
                <a:latin typeface="DejaVu Sans"/>
              </a:rPr>
              <a:t>ЧАСТИЧНОЕ РАЗРУШЕНИЕ / ПРОБОЙ ГБЦ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005072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Агрегаты №47, №48, №53, №55, №81: замена ГБЦ целиком.
№83 (2 776 м/ч): разрушение шатуна и поршня — катастрофический отказ.
№48: гидроудар (водомасляная эмульсия) после первого ремонта.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" y="4617720"/>
            <a:ext cx="73152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61772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DejaVu Sans"/>
              </a:rPr>
              <a:t>КОРРЕЛЯЦИЯ С ЦИЛИНДРАМИ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873752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Наиболее часто поражены: 3R, 4R, 6R, 6L, 7L, 7R.
Потенциально связано с охлаждением (крайние ряды, расположение термостатов).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" y="5486400"/>
            <a:ext cx="73152" cy="64008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4864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A8"/>
                </a:solidFill>
                <a:latin typeface="DejaVu Sans"/>
              </a:rPr>
              <a:t>ФОРСУНКИ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742432"/>
            <a:ext cx="1170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Форсунки заменены вместе с клапанами: №43, №47, №55, №73.
Протечка форсунки = дополнительное тепловыделение → перегрев клапана.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АНАЛИЗ ЗАВОДСКОЙ ЛАБОРАТОРИИ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Отчёт MS&amp;T2026033 | Инженер Тао Лан | Декабрь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4572000" cy="411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45720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183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МЕТОДЫ АНАЛИЗА: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087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Сканирующая электронная микроскопия (СЭМ)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783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EDS-спектроскопия (элементный анализ)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0574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Измерение твёрдости фаски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3317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Профилометрия поверхности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060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88035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КЛЮЧЕВЫЕ РЕЗУЛЬТАТЫ: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15467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C2C"/>
                </a:solidFill>
                <a:latin typeface="DejaVu Sans"/>
              </a:rPr>
              <a:t>Ca / Zn / P = зола ZDDP присадок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42899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C2C"/>
                </a:solidFill>
                <a:latin typeface="DejaVu Sans"/>
              </a:rPr>
              <a:t>Si / Al = силикатная пыль (воздух)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70331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4C2C"/>
                </a:solidFill>
                <a:latin typeface="DejaVu Sans"/>
              </a:rPr>
              <a:t>Пластическая деформация фаски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9776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→ превышение температуры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25195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52627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ВЫВОД NHL: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80059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Комплексная причина: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07491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1. Термическое повреждение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34923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2. Абразивный износ (зола+пыль)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5623559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3. Адгезионный износ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EDS-АНАЛИЗ ОТЛОЖЕНИЙ | ЛАБОРАТОРИЯ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Элементный состав отложений на фаске клапана — MS&amp;T2026033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38404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66928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37160" y="5120640"/>
            <a:ext cx="11887200" cy="150876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166360"/>
            <a:ext cx="11704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3300"/>
                </a:solidFill>
                <a:latin typeface="DejaVu Sans"/>
              </a:rPr>
              <a:t>ИНТЕРПРЕТАЦИЯ: Ca (кальций) + Zn (цинк) + P (фосфор) = зола масляной присадки ZDDP (цинкдиалкилдитиофосфат). Si (кремний) + Al (алюминий) = силикатная пыль, попавшая через воздушный тракт. Отложения создают абразивную среду в зоне контакта клапан-седло, ускоряя износ. Однако зола является ОТЯГЧАЮЩИМ фактором, а не первопричиной повреждений.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7B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7B1A0A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КАТАСТРОФИЧЕСКИЙ ОТКАЗ | АГРЕГАТ №83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3000"/>
            <a:ext cx="3840480" cy="292608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143000"/>
            <a:ext cx="3840480" cy="29260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143000"/>
            <a:ext cx="3840480" cy="2926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37160" y="4206240"/>
            <a:ext cx="11887200" cy="2468880"/>
          </a:xfrm>
          <a:prstGeom prst="rect">
            <a:avLst/>
          </a:prstGeom>
          <a:solidFill>
            <a:srgbClr val="FF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251960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Гаражный номер: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251960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№83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81144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Наработка до отказа: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581144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2 776 м/ч (!!! — норм. ресурс &gt;12 000 м/ч)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910328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Серийный номер: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910328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двигатель QSK50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239512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Зафиксировано: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239512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Разрушение шатуна и поршня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5568696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Замена: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568696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ГБЦ + шатун + поршень + уплотнения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897880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Значимость: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897880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Самый ранний отказ в парке — катастрофический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227064"/>
            <a:ext cx="2926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1A0A"/>
                </a:solidFill>
                <a:latin typeface="DejaVu Sans"/>
              </a:rPr>
              <a:t>Вероятная причина: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6227064"/>
            <a:ext cx="8869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Перегрев → потеря плотности → гидроудар/поломка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АГРЕГАТ №48 — ДВОЙНОЙ ОТКАЗ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14 997 м/ч: 17 клапанов + турбина | Повторный отказ: гидроудар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3657600" cy="2743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188720"/>
            <a:ext cx="3657600" cy="2743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1188720"/>
            <a:ext cx="4114800" cy="2743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37160" y="4069080"/>
            <a:ext cx="5852160" cy="256032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114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ПЕРВЫЙ РЕМОНТ (Фев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8056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Наработка: 14 997 м/ч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79145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17 выпускных клапанов (почти все позиции)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1023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Замена турбокомпрессора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1324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Замена ГБЦ — позиция 3R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72414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Визуально: нагар, просадка, абразивный износ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069080"/>
            <a:ext cx="5852160" cy="2560320"/>
          </a:xfrm>
          <a:prstGeom prst="rect">
            <a:avLst/>
          </a:prstGeom>
          <a:solidFill>
            <a:srgbClr val="FF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1148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1A0A"/>
                </a:solidFill>
                <a:latin typeface="DejaVu Sans"/>
              </a:rPr>
              <a:t>ВТОРОЙ ОТКАЗ (Мар 2026 — после ремонта)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Обнаружена водомасляная эмульсия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791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Гидроудар — потенциальное разрушение ЦПГ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023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Источник воды: нарушение уплотнения ГБЦ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4132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После клапанного ремонта — через ~3-4 недели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72414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Повторная разборка и дефектовка ГБЦ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АГРЕГАТЫ №55 И №69 — ПОКАЗАТЕЛЬНЫЕ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№55: ВСЕ 16 позиций | №69: Засорение воздушных фильтров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5943600" cy="5577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18872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DejaVu Sans"/>
              </a:rPr>
              <a:t>АГРЕГАТ №55 (17 316 м/ч)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645920"/>
            <a:ext cx="36576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16459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Наработка: 17 316 м/ч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99339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Заменены ВСЕ 16 позиций клапанов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34086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Заменены 4 форсунки (1L, 2L, 3L, 6L)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688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Все клапаны: признаки перегрева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0358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Самая большая наработка при полном поражении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3832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→ Длительная работа с отклонениями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43000"/>
            <a:ext cx="5897880" cy="557784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АГРЕГАТ №69 (10 721 м/ч)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45920"/>
            <a:ext cx="3200400" cy="228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555480" y="164592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Наработка: 10 721 м/ч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199339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Поражены: 4L, 5L, 6L, 7L, 7R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3408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C2C"/>
                </a:solidFill>
                <a:latin typeface="DejaVu Sans"/>
              </a:rPr>
              <a:t>• ЗАСОРЕНЫ ВОЗДУШНЫЕ ФИЛЬТРЫ (!)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268833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Это единственный агрегат с задокументированным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03580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 засорением фильтров в момент отказа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38327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Замена поршней 3R и 4R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73075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• Второй эпизод (10 130 м/ч) — те же цилиндры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" y="5029200"/>
            <a:ext cx="11887200" cy="1645920"/>
          </a:xfrm>
          <a:prstGeom prst="rect">
            <a:avLst/>
          </a:prstGeom>
          <a:solidFill>
            <a:srgbClr val="FF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074920"/>
            <a:ext cx="11704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1A00"/>
                </a:solidFill>
                <a:latin typeface="DejaVu Sans"/>
              </a:rPr>
              <a:t>ВАЖНО: Засорение воздушных фильтров → снижение массового расхода воздуха → обогащение смеси → повышение температуры выпускных газов → ускоренный износ клапанов. Однако это отмечено только у №69. У других агрегатов данных о состоянии фильтров нет.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ОБЗОР ГИПОТЕЗ О ПРИЧИНАХ ОТКАЗОВ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8 версий — от конструктивных особенностей до условий эксплуатации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88720"/>
            <a:ext cx="914400" cy="64008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1188720"/>
            <a:ext cx="914400" cy="64008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197864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Настройки ECM двигателя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8132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Отключённая защита по дератингу, задержки 51/43 с, обороты 2100 vs 1990, топлив. коррекция 200%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280160"/>
            <a:ext cx="3017520" cy="45720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ВЫСОКАЯ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" y="1892808"/>
            <a:ext cx="914400" cy="64008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" y="1892808"/>
            <a:ext cx="914400" cy="64008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901952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Отсутствие наплавки Stellite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18541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NHL чертёж: без Stellite (40-44 HRC). Komatsu 730E AC: со Stellite (55-65 HRC). Разница твёрдости &gt;50%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984248"/>
            <a:ext cx="3017520" cy="45720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20299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ВЫСОКАЯ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" y="2596896"/>
            <a:ext cx="914400" cy="6400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" y="2596896"/>
            <a:ext cx="914400" cy="64008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60604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Ошибка регулировки зазоров клапанов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88950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Малый тепловой зазор → клапан не закрывается полностью → потеря охлаждения → перегрев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688336"/>
            <a:ext cx="3017520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73405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СРЕДНЯЯ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" y="3300984"/>
            <a:ext cx="914400" cy="6400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3300984"/>
            <a:ext cx="914400" cy="64008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310128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Неисправность форсунок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Протечка/нарушение распыла → дожигание в камере → перегрев клапана. №43, №47, №55, №73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392424"/>
            <a:ext cx="3017520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343814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СРЕДНЯЯ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" y="4005072"/>
            <a:ext cx="914400" cy="64008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4005072"/>
            <a:ext cx="914400" cy="640080"/>
          </a:xfrm>
          <a:prstGeom prst="rect">
            <a:avLst/>
          </a:prstGeom>
          <a:solidFill>
            <a:srgbClr val="2E6DA8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014216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Засорение воздушного фильтра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29768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Богатая смесь → высокая температура ОГ. Задокументировано только для №69.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4096512"/>
            <a:ext cx="3017520" cy="45720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414223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НИЗКАЯ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" y="4709160"/>
            <a:ext cx="914400" cy="64008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" y="4709160"/>
            <a:ext cx="914400" cy="640080"/>
          </a:xfrm>
          <a:prstGeom prst="rect">
            <a:avLst/>
          </a:prstGeom>
          <a:solidFill>
            <a:srgbClr val="2E6DA8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18304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Зола масла и абразивная пыль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00176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EDS NHL: Ca/Zn/P + Si/Al. Отягчающий фактор — не первопричина.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4800600"/>
            <a:ext cx="3017520" cy="45720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846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НИЗКАЯ (ОТЯГЧАЮЩИЙ)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" y="5413248"/>
            <a:ext cx="91440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" y="5413248"/>
            <a:ext cx="914400" cy="640080"/>
          </a:xfrm>
          <a:prstGeom prst="rect">
            <a:avLst/>
          </a:prstGeom>
          <a:solidFill>
            <a:srgbClr val="555555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5422392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Рабочий цикл / условия нагружения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570585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Тяжёлые условия (горный рудник, высота, жара/мороз). Необходим сравнительный анализ.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5504688"/>
            <a:ext cx="3017520" cy="45720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8280" y="555040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НЕОПРЕДЕЛЕНА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" y="6117336"/>
            <a:ext cx="91440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6117336"/>
            <a:ext cx="914400" cy="640080"/>
          </a:xfrm>
          <a:prstGeom prst="rect">
            <a:avLst/>
          </a:prstGeom>
          <a:solidFill>
            <a:srgbClr val="555555"/>
          </a:solidFill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DejaVu Sans"/>
              </a:rPr>
              <a:t>H8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8720" y="6126479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  <a:latin typeface="DejaVu Sans"/>
              </a:rPr>
              <a:t>Конструктив охлаждения ГБЦ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8720" y="640994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DejaVu Sans"/>
              </a:rPr>
              <a:t>Неравномерное охлаждение по цилиндрам (3R, 4R, 6R, 6L чаще поражаются).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6208775"/>
            <a:ext cx="3017520" cy="45720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625449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ejaVu Sans"/>
              </a:rPr>
              <a:t>ТРЕБУЕТ ПРОВЕРКИ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H1: НАСТРОЙКИ ECM — СРАВНЕНИЕ NTE200 vs 730E 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Один двигатель QSK50 — один объект — разные параметры защиты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11887200" cy="411480"/>
          </a:xfrm>
          <a:prstGeom prst="rect">
            <a:avLst/>
          </a:prstGeom>
          <a:solidFill>
            <a:srgbClr val="FF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170432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C2C"/>
                </a:solidFill>
                <a:latin typeface="DejaVu Sans"/>
              </a:rPr>
              <a:t>КЛЮЧЕВОЙ ФАКТ: Komatsu 730E AC с аналогичными двигателями QSK50 работает на ЭТОМ ЖЕ объекте. Случаев замены клапанов на 730E AC НЕ ЗАФИКСИРОВАНО.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37160" y="1645920"/>
          <a:ext cx="118871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45428"/>
                <a:gridCol w="2641600"/>
                <a:gridCol w="2641600"/>
                <a:gridCol w="2358571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Параметр ECM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Komatsu 730E AC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NHL NTE200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Риск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C_EPD_OT_RPM_Drt_En
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Задержка дератинга по давл. масла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Немедленно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51 секунда (!)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Задержка дератинга по темп.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1 990 об/мин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2 100 об/мин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ВЫСОКИЙ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Активны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Дератинг при высокой темп.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Обороты ХХ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700 об/мин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700 об/мин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Норма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37160" y="6492240"/>
            <a:ext cx="11887200" cy="292608"/>
          </a:xfrm>
          <a:prstGeom prst="rect">
            <a:avLst/>
          </a:prstGeom>
          <a:solidFill>
            <a:srgbClr val="FF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10528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«КРИТИЧЕСКИЙ» = потенциально ведёт к перегреву двигателя без срабатывания защиты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H1: КАК НАСТРОЙКИ ECM ВЕДУТ К ОТКАЗУ КЛАПАНОВ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Цепочка причинно-следственных связей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3200400" cy="137160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17320"/>
            <a:ext cx="3108960" cy="128016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DejaVu Sans"/>
              </a:rPr>
              <a:t>1. ECM: Дератинг ОТКЛЮЧЁН
+ задержки 43-51 сек
+ обороты 2100
+ TIB коррекция 200%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371600"/>
            <a:ext cx="3017520" cy="13716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59" y="1417320"/>
            <a:ext cx="2926079" cy="128016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DejaVu Sans"/>
              </a:rPr>
              <a:t>2. Двигатель работает
с ПЕРЕГРУЗКОЙ без
снижения мощности
при перегреве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371600"/>
            <a:ext cx="3017520" cy="13716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59" y="1417320"/>
            <a:ext cx="2926079" cy="128016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DejaVu Sans"/>
              </a:rPr>
              <a:t>3. Температура
выпускных газов
выше нормы
без сигнала оператору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49840" y="1371600"/>
            <a:ext cx="1920240" cy="137160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95560" y="1417320"/>
            <a:ext cx="1828800" cy="128016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DejaVu Sans"/>
              </a:rPr>
              <a:t>4. ПЕРЕГРЕВ
выпускного клапана
→ пластическая
деформация фаски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1920240"/>
            <a:ext cx="274320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40" y="1920240"/>
            <a:ext cx="274320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21240" y="1920240"/>
            <a:ext cx="274320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017520"/>
            <a:ext cx="11795760" cy="1280160"/>
          </a:xfrm>
          <a:prstGeom prst="rect">
            <a:avLst/>
          </a:prstGeom>
          <a:solidFill>
            <a:srgbClr val="FF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063240"/>
            <a:ext cx="11612880" cy="1188720"/>
          </a:xfrm>
          <a:prstGeom prst="rect">
            <a:avLst/>
          </a:prstGeom>
          <a:solidFill>
            <a:srgbClr val="FFE8E0"/>
          </a:solidFill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4C2C"/>
                </a:solidFill>
                <a:latin typeface="DejaVu Sans"/>
              </a:rPr>
              <a:t>5. РЕЗУЛЬТАТ: Просадка (рецессия) фаски → потеря компрессии → прорыв газов → ускоренный износ → выход из строя целого ряда/блока клапанов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480560"/>
            <a:ext cx="11795760" cy="2194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526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  <a:latin typeface="DejaVu Sans"/>
              </a:rPr>
              <a:t>КОСВЕННЫЕ ДОКАЗАТЕЛЬСТВА: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8920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NTE200 инструктируются операторам: «не глушить двигатель, давать остывать на ХХ» — что указывает на известные перегревы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276088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В INSITE CSV (агрегат N43): зафиксированы отклонения по температуре во время работы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660136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730E AC на том же объекте, с теми же двигателями — клапанных отказов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044183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Самые ранние отказы (№83 за 2776 м/ч, №81 за 4696 м/ч) не объяснимы обычным износом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H2: ОТСУТСТВИЕ НАПЛАВКИ STELLITE НА КЛАПАНАХ NTE200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Конструктивное различие: твёрдость фаски 40-44 HRC vs 55-65 HRC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594360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4C2C"/>
                </a:solidFill>
                <a:latin typeface="DejaVu Sans"/>
              </a:rPr>
              <a:t>NTE200 | QSK50 (CES51005)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Материал клапана: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645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Inconel 751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Наплавка фаски: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4C2C"/>
                </a:solidFill>
                <a:latin typeface="DejaVu Sans"/>
              </a:rPr>
              <a:t>ОТСУТСТВУЕТ (по чертежу NHL)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560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Твёрдость фаски: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5603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40-44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017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Защита от износа: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017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только базовый материал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Состояние при дефектовке: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Рецессия на всех единицах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Ресурс клапана: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931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10 000 — 18 000 м/ч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143000"/>
            <a:ext cx="5897880" cy="5029200"/>
          </a:xfrm>
          <a:prstGeom prst="rect">
            <a:avLst/>
          </a:prstGeom>
          <a:solidFill>
            <a:srgbClr val="E8F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  <a:latin typeface="DejaVu Sans"/>
              </a:rPr>
              <a:t>Komatsu 730E AC | QSK50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Материал клапана: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645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Inconel 751 или аналог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Наплавка фаски: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DejaVu Sans"/>
              </a:rPr>
              <a:t>STELLITE (Co-Cr сплав)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60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Твёрдость фаски: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2560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55-65 HRC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017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Защита от износа: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30175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твёрдая наплавка + термостойкость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Состояние при дефектовке: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нет данных об отказах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Ресурс клапана: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3931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  <a:latin typeface="DejaVu Sans"/>
              </a:rPr>
              <a:t>&gt;18 000 м/ч (нет отказов)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" y="6217920"/>
            <a:ext cx="11887200" cy="502920"/>
          </a:xfrm>
          <a:prstGeom prst="rect">
            <a:avLst/>
          </a:prstGeom>
          <a:solidFill>
            <a:srgbClr val="FF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8600" y="6245352"/>
            <a:ext cx="11704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1A0A"/>
                </a:solidFill>
                <a:latin typeface="DejaVu Sans"/>
              </a:rPr>
              <a:t>ВЫВОД H2: Stellite снижает износ в 3-5 раз при высоких температурах (Co-Cr сплав сохраняет твёрдость до 800°C). Применение Stellite клапанов в NTE200 — конкретная рекомендация по улучшению.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H3: ОШИБКА РЕГУЛИРОВКИ ЗАЗОРОВ КЛАПАНОВ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Гипотеза из анализа повторных отказов | Агрегаты №59 и №62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594360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DejaVu Sans"/>
              </a:rPr>
              <a:t>МЕХАНИЗМ НАРУШЕНИЯ: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Тепловой зазор клапана (QSK50):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91109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Впускной: 0.36 мм ± 0.05 мм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2199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Выпускной: 0.69 мм ± 0.05 мм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53288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84378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DejaVu Sans"/>
              </a:rPr>
              <a:t>ЕСЛИ зазор &lt; нормы: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7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→ Клапан не закрывается полностью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46557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→ Площадь контакта с седлом 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77647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→ Теплоотвод от тарелки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08736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→ Локальный перегрев фаски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39826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→ Мягкий металл «прилипает» к золе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70915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→ Ускоренная рецессия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02005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533095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Если зазор &gt; нормы: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64184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→ Удар при посадке → механический износ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143000"/>
            <a:ext cx="5897880" cy="50292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АГРЕГАТ №59 — МНОГОКРАТНЫЕ ОТКАЗЫ: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6002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Первый отказ: 15 143 м/ч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91109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Второй отказ: 16 219 м/ч (быстро после ремонта)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22199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Ремонт № 2 прошёл без измерения зазоров?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53288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4378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DejaVu Sans"/>
              </a:rPr>
              <a:t>Тех. отчет NTE (ед. 59, 62) ставит вопрос: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15467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  <a:latin typeface="DejaVu Sans"/>
              </a:rPr>
              <a:t>«Не является ли систематическая ошибка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46557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 регулировки первопричиной отказов?»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7647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8736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Также зафиксированы быстрые повторные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39826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отказы у: №47, №48, №69, №72, №76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709159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020055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ТРЕБУЕТ ПРОВЕРКИ: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330951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Документирование зазоров ДО и ПОСЛЕ ремонта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641847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Сравнение с нормативами Cummins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952743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Анализ квалификации механиков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" y="6263640"/>
            <a:ext cx="11887200" cy="502920"/>
          </a:xfrm>
          <a:prstGeom prst="rect">
            <a:avLst/>
          </a:prstGeom>
          <a:solidFill>
            <a:srgbClr val="FFF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600" y="6291072"/>
            <a:ext cx="11704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3300"/>
                </a:solidFill>
                <a:latin typeface="DejaVu Sans"/>
              </a:rPr>
              <a:t>СТАТУС H3: Промежуточная приоритетность. Быстрые повторные отказы могут объясняться неправильной регулировкой при ремонте. Требует инструментальной проверки.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H4: ФОРСУНКИ | H5: ВОЗДУШНЫЕ ФИЛЬТРЫ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Дополнительные факторы теплового повреждения клапанов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11887200" cy="25146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188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A8"/>
                </a:solidFill>
                <a:latin typeface="DejaVu Sans"/>
              </a:rPr>
              <a:t>H4: НЕИСПРАВНОСТЬ ФОРСУНОК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" y="1554480"/>
            <a:ext cx="54864" cy="210312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600200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Протечка или нарушение распылителя форсунки → неполное сгорание → «дожигание» у клапана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84248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4C2C"/>
                </a:solidFill>
                <a:latin typeface="DejaVu Sans"/>
              </a:rPr>
              <a:t>• Заменены совместно с клапанами: №43 (1L,2L,3L,4L,5L,6L,1R,2R,3R — 9 форсунок!), №47, №55 (1L,2L,3L,6L), №73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368296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Агрегат №85 (гар №12): 8 002 м/ч — отказ форсунки (отдельный отчёт)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52344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Агрегат №72 (гар №924): 3 700 м/ч — отказ форсунки цил.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36391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Тест L2/R1 для №73: аномальные показатели возврата топлива и давления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39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• СТАТУС: Форсунки — вероятный СОПУТСТВУЮЩИЙ фактор, ускоряющий износ клапанов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3749039"/>
            <a:ext cx="11887200" cy="288036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3794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H5: ЗАСОРЕНИЕ ВОЗДУШНЫХ ФИЛЬТРОВ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" y="4160520"/>
            <a:ext cx="54864" cy="24688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206240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Задокументировано только у ОДНОГО агрегата: №69 (25.05.2026, 10 721 м/ч)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590288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Засорённый фильтр → снижение расхода воздуха → богатая смесь → T-выпуска ↑↑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974336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У №69 поражены 4L, 5L, 6L, 7L, 7R — цилиндры левого ряда и крайние правого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358383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У других агрегатов состояние фильтров при отказе НЕ задокументировано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742431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• РЕКОМЕНДАЦИЯ: Регулярная проверка и документирование состояния фильтров при каждом 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126479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• Эксплуатация в условиях горнорудного карьера → повышенное пылевыделение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7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DejaVu Sans"/>
              </a:rPr>
              <a:t>• СТАТУС H5: Подтверждённый фактор для №69; для парка в целом — требует проверки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H6: ПОТРЕБЛЕНИЕ МАСЛА И ЗОЛЬНЫЕ ОТЛОЖЕНИЯ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Отягчающий фактор, а не первопричина | Данные «Горной Евразии»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188720"/>
            <a:ext cx="4114800" cy="3657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89120" y="1143000"/>
            <a:ext cx="7680960" cy="5623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1887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  <a:latin typeface="DejaVu Sans"/>
              </a:rPr>
              <a:t>ДОЛИВКИ МАСЛА (апрель-май 2026):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600200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Доливки: 10-30 литров на агрегат раз в 2-7 дней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01952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Данные охватывают: 20+ единиц NTE200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03704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Норм. расход QSK50: &lt;1 л/час ≈ 10 л/смена (10 ч)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05456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Фактический расход: значительно выше нормы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807208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ЗОЛЬНЫЕ ОТЛОЖЕНИЯ (EDS NHL):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410712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Ca + Zn + P = зола ZDDP (масляная присадка)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12464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ZDDP разлагается при T&gt;180°C → образует золу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014216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Зола абразивна — ускоряет трение фаски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315968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617720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  <a:latin typeface="DejaVu Sans"/>
              </a:rPr>
              <a:t>МЕХАНИЗМ ОТЯГЧЕНИЯ: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919472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4C2C"/>
                </a:solidFill>
                <a:latin typeface="DejaVu Sans"/>
              </a:rPr>
              <a:t>Перегрев → сгорание масляной плёнки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5221224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интенсивное золообразование → абразив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522976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цикл ускоренного износа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5824728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126480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НО: Это НЕ первопричина!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428232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4C2C"/>
                </a:solidFill>
                <a:latin typeface="DejaVu Sans"/>
              </a:rPr>
              <a:t>Зола появляется КАК СЛЕДСТВИЕ перегрева,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729984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а не как его причина.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7031736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7333488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Высокое потребление масла само по себе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7635240"/>
            <a:ext cx="7406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DejaVu Sans"/>
              </a:rPr>
              <a:t>указывает на проблему ЦПГ или уплотнений.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МАТРИЦА ОЦЕНКИ ГИПОТЕЗ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Доказательная база и приоритет проверки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" y="1143000"/>
          <a:ext cx="11887197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3708"/>
                <a:gridCol w="1616659"/>
                <a:gridCol w="1901952"/>
                <a:gridCol w="1521561"/>
                <a:gridCol w="1711756"/>
                <a:gridCol w="1521561"/>
              </a:tblGrid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Гипотеза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Доказательств
прямых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Охватывает
весь парк?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Объясняет
ранние отказы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ejaVu Sans"/>
                        </a:rPr>
                        <a:t>Приоритет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H1: ECM (дератинг, RPM, TIB)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H2: Нет Stellite (конструкция)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2 (NHL чертёж)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Твёрдость &lt;HRC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★★★★★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H4: Форсунки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2 (тест №73)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★★★☆☆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Только 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H6: Зола масла (ОТЯГЧ.)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3 (EDS NHL)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ОТЯГЧ.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H7: Режим эксплуатации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Общий контекст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H8: Охлаждение ГБЦ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0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Топогр. карта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ЧАСТИЧНО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НЕТ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DejaVu Sans"/>
                        </a:rPr>
                        <a:t>★★☆☆☆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37160" y="6583680"/>
            <a:ext cx="11887200" cy="201168"/>
          </a:xfrm>
          <a:prstGeom prst="rect">
            <a:avLst/>
          </a:prstGeom>
          <a:solidFill>
            <a:srgbClr val="FF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601968"/>
            <a:ext cx="1170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4C2C"/>
                </a:solidFill>
                <a:latin typeface="DejaVu Sans"/>
              </a:rPr>
              <a:t>H1 + H2 = СИСТЕМНЫЕ причины | H3 + H4 = СОПУТСТВУЮЩИЕ | H6 = ОТЯГЧАЮЩИЙ фактор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КАРТА ОТКАЗОВ ПО ПАРКУ | ГБЦ РЕМОНТЫ.XLSX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463 строки ремонтных событий | 43 единицы | авг 2025 — май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1179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DejaVu Sans"/>
              </a:rPr>
              <a:t>Каждая ячейка = 1 агрегат NTE200. Красный = отказ клапанов зафиксирован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16033 м/ч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8448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6736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14751 м/ч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59736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8024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17863 м/ч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1024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9312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15103 м/ч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12890 м/ч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1888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14997 м/ч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04888" y="150876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6" y="1527048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№49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66176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15433 м/ч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7464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45752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45752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10783 м/ч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88752" y="150876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0" y="152704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185623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18505 м/ч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" y="228600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5448" y="230428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" y="263347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17550 м/ч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98448" y="228600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16736" y="2304288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59736" y="228600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78024" y="230428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8024" y="263347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17316 м/ч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21024" y="228600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39312" y="2304288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228600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230428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600" y="263347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14808 м/ч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228600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61888" y="230428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61888" y="263347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10702 м/ч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04888" y="228600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23176" y="230428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23176" y="263347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15143 м/ч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66176" y="228600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4464" y="2304288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27464" y="228600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45752" y="2304288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88752" y="2286000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07040" y="2304288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40" y="263347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13917 м/ч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5448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98448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6736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59736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8024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21024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39312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82312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800600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43600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61888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104888" y="306323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23176" y="308152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23176" y="341071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10130 м/ч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66176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84464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427464" y="306323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445752" y="308152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588752" y="306323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607040" y="308152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07040" y="341071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10000 м/ч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384047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5448" y="385876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5448" y="418795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9998 м/ч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298448" y="384047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316736" y="385876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6736" y="418795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9869 м/ч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59736" y="384047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78024" y="385876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21024" y="384047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85876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39312" y="418795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9754 м/ч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82312" y="384047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00600" y="385876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00600" y="418795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10016 м/ч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943600" y="3840479"/>
            <a:ext cx="1106424" cy="70408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961888" y="3858767"/>
            <a:ext cx="1069848" cy="320040"/>
          </a:xfrm>
          <a:prstGeom prst="rect">
            <a:avLst/>
          </a:prstGeom>
          <a:solidFill>
            <a:srgbClr val="E84C2C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61888" y="418795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9323 м/ч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04888" y="384047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123176" y="385876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№79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266176" y="384047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84464" y="385876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27464" y="3840479"/>
            <a:ext cx="1106424" cy="704088"/>
          </a:xfrm>
          <a:prstGeom prst="rect">
            <a:avLst/>
          </a:prstGeom>
          <a:solidFill>
            <a:srgbClr val="C0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45752" y="3858767"/>
            <a:ext cx="1069848" cy="320040"/>
          </a:xfrm>
          <a:prstGeom prst="rect">
            <a:avLst/>
          </a:prstGeom>
          <a:solidFill>
            <a:srgbClr val="C0201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45752" y="4187951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4696 м/ч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588752" y="3840479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607040" y="385876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4617720"/>
            <a:ext cx="1106424" cy="704088"/>
          </a:xfrm>
          <a:prstGeom prst="rect">
            <a:avLst/>
          </a:prstGeom>
          <a:solidFill>
            <a:srgbClr val="C0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5448" y="4636007"/>
            <a:ext cx="1069848" cy="320040"/>
          </a:xfrm>
          <a:prstGeom prst="rect">
            <a:avLst/>
          </a:prstGeom>
          <a:solidFill>
            <a:srgbClr val="C0201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5448" y="496519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DejaVu Sans"/>
              </a:rPr>
              <a:t>2776 м/ч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98448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316736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459736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478024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21024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39312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82312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00600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№87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943600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961888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104888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123176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№89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266176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284464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№90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427464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445752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№91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588752" y="4617720"/>
            <a:ext cx="1106424" cy="7040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07040" y="4636007"/>
            <a:ext cx="1069848" cy="320040"/>
          </a:xfrm>
          <a:prstGeom prst="rect">
            <a:avLst/>
          </a:prstGeom>
          <a:solidFill>
            <a:srgbClr val="27AE60"/>
          </a:solidFill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№92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37160" y="6217920"/>
            <a:ext cx="1188720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74320" y="6291072"/>
            <a:ext cx="365760" cy="27432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85800" y="62910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3A5C"/>
                </a:solidFill>
                <a:latin typeface="DejaVu Sans"/>
              </a:rPr>
              <a:t>Клапанный отказ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200400" y="6291072"/>
            <a:ext cx="365760" cy="274320"/>
          </a:xfrm>
          <a:prstGeom prst="rect">
            <a:avLst/>
          </a:prstGeom>
          <a:solidFill>
            <a:srgbClr val="C0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611880" y="62910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3A5C"/>
                </a:solidFill>
                <a:latin typeface="DejaVu Sans"/>
              </a:rPr>
              <a:t>Катастрофический (81/83)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583680" y="6291072"/>
            <a:ext cx="36576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95160" y="62910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3A5C"/>
                </a:solidFill>
                <a:latin typeface="DejaVu Sans"/>
              </a:rPr>
              <a:t>Отказов не зафиксировано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ПЛАН ВЕРИФИКАЦИИ ГИПОТЕЗ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Конкретные действия для подтверждения/опровержения каждой гипотезы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640080" cy="2057400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" y="11887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DejaVu Sans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6128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C2C"/>
                </a:solidFill>
                <a:latin typeface="DejaVu Sans"/>
              </a:rPr>
              <a:t>ECM НАСТРОЙКИ — ВЕРИФИКАЦИЯ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Запросить полный файл ECM с 730E AC (Komatsu) с объекта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1965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Провести сравнительный дамп ECM с 2-3 исправных NTE200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12264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Инициировать изменение параметра C_EPD_OT_RPM_Drt_En на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04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Установить задержки по маслу/ОЖ на ≤10 с (по требованию Cummins)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97479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Снизить max RPM до 1990 и TIB коррекцию до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90087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Наблюдение: отсутствие новых отказов в течение 6 мес.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" y="3465575"/>
            <a:ext cx="640080" cy="1783080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" y="3511295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DejaVu Sans"/>
              </a:rP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483863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A8"/>
                </a:solidFill>
                <a:latin typeface="DejaVu Sans"/>
              </a:rPr>
              <a:t>STELLITE КЛАПАНЫ — ВЕРИФИКАЦИЯ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849624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Заказать 16 выпускных клапанов со Stellite-наплавкой (CES51005-S)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1422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Установить на 2-3 агрегата в следующем плановом ремонте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348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Зафиксировать наработку до следующего осмотра клапанов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2744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Сравнить состояние фаски при осмотре (через 6000 м/ч)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2005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Измерить твёрдость фаски по Роквеллу при демонтаже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" y="5495544"/>
            <a:ext cx="640080" cy="1508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55412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DejaVu Sans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138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DejaVu Sans"/>
              </a:rPr>
              <a:t>ЗАЗОРЫ КЛАПАНОВ — ВЕРИФИКАЦИЯ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795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Измерить и задокументировать зазоры при КАЖДОМ ремонте (щупами)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1722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Сравнить с нормативами QSK50: вып. 0.69±0.05 мм, впуск. 0.36±0.05 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46480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Провести аудит квалификации механиков (calibrated training)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75741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При повторном отказе — первым делом проверить зазоры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" y="7232904"/>
            <a:ext cx="640080" cy="1234439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727862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DejaVu Sans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72511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DejaVu Sans"/>
              </a:rPr>
              <a:t>ФОРСУНКИ — ВЕРИФИКАЦИЯ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761695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Провести стендовые тесты форсунок всего парка (приоритет: №43, 47, 48, 55, 73)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790956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Анализ данных INSITE: параметры впрыска, balance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820216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→ При замене клапанов — обязательная проверка форсунок того же цилиндра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430000" cy="822960"/>
          </a:xfrm>
          <a:prstGeom prst="rect">
            <a:avLst/>
          </a:prstGeom>
          <a:solidFill>
            <a:srgbClr val="1A3A5C"/>
          </a:solidFill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DejaVu Sans"/>
              </a:rPr>
              <a:t>РЕКОМЕНДАЦИИ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8"/>
                </a:solidFill>
                <a:latin typeface="DejaVu Sans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" y="1143000"/>
            <a:ext cx="11887200" cy="198424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143000"/>
            <a:ext cx="2926080" cy="384048"/>
          </a:xfrm>
          <a:prstGeom prst="rect">
            <a:avLst/>
          </a:prstGeom>
          <a:solidFill>
            <a:srgbClr val="E84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17043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СРОЧНО (до следующего ремонта)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56362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Перепрограммировать ECM: включить C_EPD_OT_RPM_Drt_En=1, снизить задержки защит до ≤10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65376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Снизить max RPM до 1990 об/мин, установить TIB коррекцию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167128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Проверить и активировать все триггеры по температуре 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68880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Провести аудит состояния воздушных фильтров всего парка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70632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Обязательная проверка форсунок при каждом клапанном ремонте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" y="3163824"/>
            <a:ext cx="11887200" cy="1984248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" y="3163824"/>
            <a:ext cx="292608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3191256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КРАТКОСРОЧНО (в течение 1 месяца)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584448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Заказать выпускные клапаны со Stellite-наплавкой (CES51005-S) для пилотной установки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886200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Разработать и внедрить форму контроля зазоров клапанов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187952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Провести обучение механиков по регулировке клапанов QSK50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48970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Установить режим ведения журнала INSITE на всех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791456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Запросить у NHL обновлённое техническое руководство по клапанам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" y="5184648"/>
            <a:ext cx="11887200" cy="1682496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160" y="5184648"/>
            <a:ext cx="2926080" cy="384048"/>
          </a:xfrm>
          <a:prstGeom prst="rect">
            <a:avLst/>
          </a:prstGeom>
          <a:solidFill>
            <a:srgbClr val="2E6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" y="521208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СРЕДНЕСРОЧНО (в течение 3 месяцев)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605272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Проанализировать рабочий цикл (нагрузка, температуры) через INSITE на 5+ агрегатах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90702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Провести сравнение с параметрами 730E AC — идентичный двигатель, тот же объект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208776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По результатам пилота Stellite — принять решение о серийном переходе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510528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Создать базу данных ТО с отслеживанием зазоров и состояния форсунок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" y="6903720"/>
            <a:ext cx="11887200" cy="1682496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" y="6903720"/>
            <a:ext cx="292608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93115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DejaVu Sans"/>
              </a:rPr>
              <a:t>СИСТЕМНЫЕ МЕРЫ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732434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Ввести регулярные ТО по часам (не только по пробегу) с контролем клапанов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7626096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Разработать протокол замены масла с учётом высокого потребления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7927848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Предложить NHL внесение изменений в конструкцию (Stellite) как обязательного стандарта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8229600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DejaVu Sans"/>
              </a:rPr>
              <a:t>✓ Провести анализ всех случаев с NHL на уровне конструкторов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612880" cy="868680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DejaVu Sans"/>
              </a:rPr>
              <a:t>ВЫВОДЫ И СЛЕДУЮЩИЕ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59436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594360" cy="73152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3A5C"/>
                </a:solidFill>
                <a:latin typeface="DejaVu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07008"/>
            <a:ext cx="11155680" cy="29260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Масштаб проблемы СИСТЕМНЫЙ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1155680" cy="38404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DejaVu Sans"/>
              </a:rPr>
              <a:t>20+ единиц, 30+ ремонтных событий, от 2776 до 18505 м/ч. Не единичный дефект.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057400"/>
            <a:ext cx="59436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2057400"/>
            <a:ext cx="594360" cy="73152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3A5C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75688"/>
            <a:ext cx="11155680" cy="29260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ECM настройки — главная рабочая версия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04872"/>
            <a:ext cx="11155680" cy="38404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DejaVu Sans"/>
              </a:rPr>
              <a:t>Отключённый дератинг + задержки защит + повышенные RPM и TIB. 730E AC (те же двигатели, тот же объект) — клапанных отказов нет.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926080"/>
            <a:ext cx="59436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2926080"/>
            <a:ext cx="594360" cy="73152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3A5C"/>
                </a:solidFill>
                <a:latin typeface="DejaVu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944368"/>
            <a:ext cx="11155680" cy="29260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Отсутствие Stellite — конструктивная уязвимость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73552"/>
            <a:ext cx="11155680" cy="38404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DejaVu Sans"/>
              </a:rPr>
              <a:t>40-44 HRC против 55-65 HRC. Stellite сохраняет твёрдость при 800°C — критично для выпускного клапана.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3794760"/>
            <a:ext cx="59436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794760"/>
            <a:ext cx="594360" cy="73152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3A5C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13048"/>
            <a:ext cx="11155680" cy="29260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Зола масла — отягчающий, но не первичный фактор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42232"/>
            <a:ext cx="11155680" cy="38404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DejaVu Sans"/>
              </a:rPr>
              <a:t>EDS анализ NHL подтверждает: Ca/Zn/P + Si/Al. Зола ускоряет износ, но появляется как следствие перегрева.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663440"/>
            <a:ext cx="594360" cy="7315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4663440"/>
            <a:ext cx="594360" cy="731520"/>
          </a:xfrm>
          <a:prstGeom prst="rect">
            <a:avLst/>
          </a:prstGeom>
          <a:solidFill>
            <a:srgbClr val="F5A623"/>
          </a:solidFill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3A5C"/>
                </a:solidFill>
                <a:latin typeface="DejaVu San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1155680" cy="29260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DejaVu Sans"/>
              </a:rPr>
              <a:t>Верификация ECM — приоритет №1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10912"/>
            <a:ext cx="11155680" cy="38404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DejaVu Sans"/>
              </a:rPr>
              <a:t>Перепрограммирование ECM — быстрый, обратимый тест. Если за 6 мес. нет новых отказов → H1 подтверждена.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5577840"/>
            <a:ext cx="1179576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5669280"/>
            <a:ext cx="11795760" cy="384048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ejaVu Sans"/>
              </a:rPr>
              <a:t>Следующий шаг: Согласование с Cummins и NHL → Перепрограммирование ECM → Пилотная установка Stellite клапанов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" y="6217920"/>
            <a:ext cx="11795760" cy="457200"/>
          </a:xfrm>
          <a:prstGeom prst="rect">
            <a:avLst/>
          </a:prstGeom>
          <a:solidFill>
            <a:srgbClr val="0D1F33"/>
          </a:solidFill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080A0"/>
                </a:solidFill>
                <a:latin typeface="DejaVu Sans"/>
              </a:rPr>
              <a:t>Конфиденциально | АО «Полюс Магадан» | Анализ неисправностей QSK50 / NTE200 | Май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