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54864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36576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28600"/>
            <a:ext cx="3840480" cy="5029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256032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АО РАЗВИТИЕ  •  АНАЛИЗ НЕИСПРАВНОСТЕЙ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8229600" cy="5486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14300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АНАЛИЗ ПРИЧИН ИЗНОСА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10312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3EF0AF"/>
                </a:solidFill>
                <a:latin typeface="Calibri Light"/>
              </a:rPr>
              <a:t>ВЫПУСКНЫХ КЛАПАНОВ QSK50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3090672"/>
            <a:ext cx="8229600" cy="45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32004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Calibri"/>
              </a:rPr>
              <a:t>Самосвалы NHL NTE200  •  АО «Полюс Магадан»  •  Омчак, Магаданская область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" y="3794760"/>
            <a:ext cx="19202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F4444"/>
                </a:solidFill>
                <a:latin typeface="Calibri"/>
              </a:rPr>
              <a:t>15+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единиц с клапанными отказами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76856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76856" y="3794760"/>
            <a:ext cx="19202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0008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9E0B"/>
                </a:solidFill>
                <a:latin typeface="Calibri"/>
              </a:rPr>
              <a:t>27+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5112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5112" y="3794760"/>
            <a:ext cx="192024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8264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EF0AF"/>
                </a:solidFill>
                <a:latin typeface="Calibri"/>
              </a:rPr>
              <a:t>2 776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9976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ранний отказ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3368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3368" y="3794760"/>
            <a:ext cx="192024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  <a:latin typeface="Calibri"/>
              </a:rPr>
              <a:t>18 505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поздний отказ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649224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Конфиденциально  •  Только для внутреннего использования  •  Май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МАСШТАБ ПРОБЛЕМЫ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Статистика отказов выпускных клапанов | Парк NTE200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МАСШТАБ ПРОБЛЕМЫ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Статистика отказов выпускных клапанов QSK50 | Весь парк NTE200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283464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F4444"/>
                </a:solidFill>
                <a:latin typeface="Calibri"/>
              </a:rPr>
              <a:t>15+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агрегатов с отказами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82112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82112" y="1097280"/>
            <a:ext cx="283464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  <a:latin typeface="Calibri"/>
              </a:rPr>
              <a:t>27+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97280"/>
            <a:ext cx="283464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3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EF0AF"/>
                </a:solidFill>
                <a:latin typeface="Calibri"/>
              </a:rPr>
              <a:t>2 776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3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м/ч мин. наработка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0482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до отказа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0576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0576" y="1097280"/>
            <a:ext cx="283464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5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B82F6"/>
                </a:solidFill>
                <a:latin typeface="Calibri"/>
              </a:rPr>
              <a:t>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5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парка — EGT 1484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5" y="20482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ошибки ECM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82880" y="2514600"/>
          <a:ext cx="118872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674620"/>
                <a:gridCol w="1485900"/>
                <a:gridCol w="6537960"/>
              </a:tblGrid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Ед.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Наработка до отказа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Событий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Поражение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16 033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 позиций (3L, 4L, 1R, 2R, 3R)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14 751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14 позиций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~17 600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Сизый дым — замена 2 выпускных клапанов (ОТЧЁТ 23.03.2026)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12 890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 позиций + замена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14 997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клапанов + турбина + гидроудар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17 550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(2 выпуск + 2 впуск)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17 316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+ 4 форсунки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14 808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6 позиций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16 219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3R — замена выпускных клапанов (ОТЧЁТ 06.04.2026)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№69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10 130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Засорение воздушных фильтров + поршни 3R/4R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10 000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8 позиций (2 эпизода)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9 323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3R / 4R / 6R / 6L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4 696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позиции + замена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2 776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КАТАСТРОФИЧЕСКИЙ — шатун / поршень /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ХРОНОЛОГИЯ ОТКАЗОВ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Авг 2025 — Май 2026 | 14 ключевых событий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11887200" cy="32004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ДАТА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ЕД.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СОБЫТИЕ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19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НАРАБОТКА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7160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137160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140817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14081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04288" y="140817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 — ранний эпизод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40817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12 890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71907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" y="171907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175564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17556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4288" y="175564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ГБЦ, трещина головки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17556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10 783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66543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066543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210312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" y="210312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4288" y="210312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толкателя клапана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1031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41401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2880" y="2414016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24505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Янв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8448" y="245059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04288" y="245059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клапанов + 9 форсунок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45059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16 033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2761488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2761488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608" y="27980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Фев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279806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04288" y="279806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17 клапанов + турбина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279806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14 997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3108960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2880" y="3108960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2608" y="31455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8448" y="314553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04288" y="314553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10 клапанов + форсунки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31455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12 890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3456432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2880" y="345643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2608" y="34930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98448" y="34930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04288" y="34930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клапан +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4930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15 572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" y="3803904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82880" y="3803904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384048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98448" y="38404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04288" y="384048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КАТАСТРОФА — шатун / поршень / ГБЦ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35440" y="3840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 2 776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4151376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2880" y="4151376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2608" y="41879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Апр 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8448" y="41879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04288" y="418795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Гидроудар, водомасляная эмульсия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35440" y="41879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после рем.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2880" y="4498848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82880" y="4498848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2608" y="453542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8448" y="453542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04288" y="453542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ВСЕ 16 позиций + 4 форсунки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35440" y="453542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17 316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2880" y="484632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2880" y="484632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2608" y="488289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98448" y="488289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№69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04288" y="488289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Клапаны + засорение фильтров + поршни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35440" y="48828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10 721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2880" y="519379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82880" y="519379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92608" y="523036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98448" y="52303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№78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4288" y="523036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3R / 4R / 6R / 6L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35440" y="523036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 9 323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5541264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2880" y="5541264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92608" y="55778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98448" y="55778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04288" y="557784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Отказ форсунки цил. 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35440" y="55778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10 283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2880" y="588873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82880" y="5888736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2608" y="592531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98448" y="592531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592531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Форсунки — аномалии теста L2/R1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35440" y="59253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~9 998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КАРТА ОТКАЗОВ ПАРКА NTE200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Гаражные номера #43–#92 | Статус по клапанному ремонту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#43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#46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7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078992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69880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9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5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68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11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11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97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879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3879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26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69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69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2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5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5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68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68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11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11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0" y="2944368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97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40880" y="2944368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40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83879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83879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26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26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469880" y="2944368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9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3877056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2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25880" y="3877056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25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68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68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11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11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97880" y="3877056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897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0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040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83879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83879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326880" y="3877056"/>
            <a:ext cx="1078992" cy="86868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326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469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69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2880" y="4809744"/>
            <a:ext cx="1078992" cy="86868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82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25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5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468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468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11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11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897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897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40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40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183879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183879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326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326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469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469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82880" y="5870448"/>
            <a:ext cx="274320" cy="201168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0352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КАТАСТРОФИЧЕСКИЙ (#81, #83)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127248" y="5870448"/>
            <a:ext cx="274320" cy="2011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74720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ПОДТВЕРЖДЁННЫЙ ОТКАЗ КЛАПАНОВ (15 ед.)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071616" y="5870448"/>
            <a:ext cx="274320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19088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EGT-ошибки / форсунки / фильтры (12 ед.)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015984" y="5870448"/>
            <a:ext cx="274320" cy="201168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363456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НЕТ ЗАФИКСИРОВАННЫХ ОТКАЗОВ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РЕЗУЛЬТАТЫ РАЗБОРКИ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Физические признаки и лабораторный анализ NHL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ФИЗИЧЕСКИЕ ПРИЗНАКИ ПОВРЕЖДЕНИЙ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Данные разборки и дефектовки | Сводка по всем агрегатам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3385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ПРОСАДКА ФАСКИ (РЕЦЕССИЯ КЛАПАНА)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4475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Главный признак. Посадочная поверхность выпускного клапана «утопает» в седле. Твёрдость фаски 40-44 HRC — соответствует чертёжной спецификации (≤46 HRC). Обнаружена на всех исследованных двигателях.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947672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1947672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984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ПЛАСТИЧЕСКАЯ ДЕФОРМАЦИЯ — «ЗАУСЕНЕЦ» НА ФАСКЕ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95144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Бурт пластической деформации = признак превышения допустимой T° тарелки. Зафиксировано в отчёте лаборатории NHL (MS&amp;T2026033, стр. 14-15). Пластическая деформация Inconel 751 начинается при T° &gt;700°C.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98064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98064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83464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ЗОЛЬНЫЕ ОТЛОЖЕНИЯ  Ca / Zn / P + Si / 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3145536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EDS-анализ NHL: Ca, Zn, P — зола ZDDP-присадок. Si, Al — силикатная пыль. ОТЯГЧАЮЩИЙ фактор (абразив). Не первопричина — следствие перегрева.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3648456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648456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68503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ПОВРЕЖДЕНИЕ СМЕЖНЫХ ЭЛЕМЕНТОВ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3995928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№47/48/53/55/81: замена ГБЦ целиком. №83 (2 776 м/ч): разрушение шатуна и поршня. №48: гидроудар (водомасляная эмульсия) после первого ремонта.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45720" cy="8046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4535424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ФОРСУНКИ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4846320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Заменены совместно с клапанами: №43 (9 шт.), №47, №55 (4 шт.), №73. Протечка форсунки → дополнительный нагрев → перегрев клапана.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534924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" y="5349240"/>
            <a:ext cx="45720" cy="8046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538581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ТОПОГРАФИЯ ОТКАЗОВ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69671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Наиболее часто поражены: 3R, 4R, 6R, 6L, 7L, 7R. Потенциально — неравномерность охлаждения ГБЦ.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АНАЛИЗ ЛАБОРАТОРИИ NHL  •  MS&amp;T2026033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Инженер Тао Лан | СЭМ + EDS спектроскопия + профилометрия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5303520" cy="301752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024128"/>
            <a:ext cx="5303520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82880" y="4160520"/>
            <a:ext cx="11795760" cy="251460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4160520"/>
            <a:ext cx="1179576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  <a:latin typeface="Calibri"/>
              </a:rPr>
              <a:t>МЕТОДЫ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СЭМ (электронная микроскопия)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EDS-спектроскопия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Измерение твёрдости HRC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Профилометрия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EDS РЕЗУЛЬТАТ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Ca + Zn + P = зола ZDDP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Si + Al = силикатная пыль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Слои 5-50 мкм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Абразивная среда в зоне контакта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МОРФОЛОГИЯ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Пластич. деформация фаски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«Заусенец» = T° &gt; лимита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Адгезионный + абразивный износ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Термическое повреждение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  <a:latin typeface="Calibri"/>
              </a:rPr>
              <a:t>ВЫВОД NHL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Комплексная причина: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1. Термическое повреждение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2. Абразивный износ (зола+пыль)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084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3. Аномально высокая T° — REC.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ГИПОТЕЗЫ О ПРИЧИНАХ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7 версий — от конфигурации ECM до условий эксплуатации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ОБЗОР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7 версий — оценка доказательной базы и приоритет верификации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96012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18872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09728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113385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Настройки ECM двигателя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42646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Отключённый дератинг, задержки 51/43 с, обороты 2100 vs 1990, TIB 200% vs 100%, все EGT-триггеры отключены на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29800" y="1097280"/>
            <a:ext cx="219456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29800" y="12984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КРИТИЧЕСКИЙ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1801368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892807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4440" y="180136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1837943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Перегрев клапана — материал на пределе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13055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NHL (MS&amp;T2026033, стр. 14): наплавки нет по чертежу; твёрдость 40-44 HRC = в допуске ≤46 HRC. Inconel 751 пластически деформируется при T°&gt;700°C — в норм. режиме клапан достаточен.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9800" y="1801368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800" y="200253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СВЯЗАН с H1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2505456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" y="2596896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250545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3312" y="2542032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Ошибка регулировки зазоров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2834640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Малый зазор → клапан не закрывается → потеря охлаждения → перегрев фаски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29800" y="2505456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270662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209544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3300984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4440" y="3209544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53312" y="324612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Неисправность форсунок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" y="3538728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Протечка/нарушение распыла → дожигание → перегрев. №43/47/55/73 — замена форсунок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9800" y="3209544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29800" y="341071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3913632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4005072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4440" y="391363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53312" y="395020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Засорение воздушного фильтра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242816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Богатая смесь → T° ОГ ↑. Задокументировано только для №69.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29800" y="3913632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980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НИЗКИЙ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617720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2880" y="470916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440" y="461772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53312" y="465429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Зола масла и абразивная пыль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53312" y="494690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EDS NHL: Ca/Zn/P + Si/Al. ОТЯГЧАЮЩИЙ фактор — не первопричина.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9800" y="4617720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9800" y="48188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ОТЯГЧ.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5321808"/>
            <a:ext cx="96012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2880" y="5413248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440" y="53218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53312" y="5358384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CA3AF"/>
                </a:solidFill>
                <a:latin typeface="Calibri"/>
              </a:rPr>
              <a:t>Рабочий цикл / конструктив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53312" y="565099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Горный рудник, высота, температурные перепады. Топография 3R/4R/6R/6L — неравномерный теплоотвод.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29800" y="5321808"/>
            <a:ext cx="219456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29800" y="552297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НЕОПР.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H1: НАСТРОЙКИ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Сравнение NTE200 vs Komatsu 730E AC | Один объект — один двигатель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H1: ПАРАМЕТРЫ ECM — NTE200 vs KOMATSU 730E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Один двигатель QSK50 — один объект — кардинально разные параметры защиты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402336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40233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042415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КЛЮЧЕВОЙ ФАКТ: Komatsu 730E AC с аналогичными QSK50 работает НА ТОМ ЖЕ объекте. Случаев замены клапанов на 730E AC НЕ ЗАФИКСИРОВАНО.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2880" y="1499616"/>
          <a:ext cx="118872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2773680"/>
                <a:gridCol w="2773680"/>
                <a:gridCol w="2179320"/>
              </a:tblGrid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Параметр ECM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Komatsu 730E AC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NHL NTE200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Риск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C_EPD_OT_RPM_Drt_En (флаг дератинга)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ВКЛЮЧЁН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ОТКЛЮЧЁН (0)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давлению масла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51 секунда (!)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температуре ОЖ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43 секунды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Максимальные обороты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1 990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2 100 об/мин (+5.5%)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Топливная коррекция TIB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200%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Триггеры по температуре ОГ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Активны (все)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ОТКЛЮЧЕНЫ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Дератинг при перегреве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 работает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Обороты холостого хода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Норма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182880" y="6601968"/>
            <a:ext cx="117957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611112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«КРИТИЧЕСКИЙ» — ведёт к перегреву без снижения мощности и без сигнала оператору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H1: МЕХАНИЗМ ОТКАЗА — ПАРАМЕТРЫ ЗАЩИТЫ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Как каждый параметр NTE200 ведёт к повреждению клапана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2004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11556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C_EPD_OT_RPM_Drt_En =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111556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ДЕРАТИНГ ПОЛНОСТЬЮ ОТКЛЮЧЁН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5179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Этот флаг управляет автоматическим снижением мощности/оборотов при перегреве. На NTE200 значение = 0 (ВЫКЛ).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8836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Двигатель НИКОГДА не снижает обороты при достижении критических температур. Перегрев нарастает без какого-либо самоограничения.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8600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Клапан продолжает получать горячие газы полной мощности — температура фаски растёт до деформации.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6148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6148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2004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85292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Задержка масло = 51 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285292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51 СЕКУНДА БЕЗ ЗАЩИТЫ ПО МАСЛУ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32552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Параметр задержки аварийной остановки по низкому давлению масла. На 730E AC — немедленная реакция; на NTE200 — 51 секунда ожидания.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6210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При падении давления масла двигатель работает 51 с без защиты. За 51 с при 2100 об/мин происходит ~1800 рабочих циклов клапана без смазки.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02336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Перегрев клапана + недостаточная смазка направляющей → ускоренный износ фаски.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54864" cy="16642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320040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59028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Задержка ОЖ = 43 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459028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43 СЕКУНДЫ ПЕРЕГРЕВА ОЖ БЕЗ РЕАКЦИИ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49926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Задержка защиты по высокой температуре охлаждающей жидкости. На 730E AC — немедленно; на NTE200 — 43 секунды допустимого перегрева.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358383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Температура ОЖ выше нормы = ухудшение охлаждения ГБЦ. За 43 с перегрева ГБЦ температура тарелки клапана растёт на 80-120°C.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76072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→ КЛАПАН: T° седла и направляющей клапана превышает норму → термическое разупрочнение металла фаски.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H1: МЕХАНИЗМ ОТКАЗА — ТЕМПЕРАТУРА И ТОПЛИВО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Параметры, напрямую повышающие T° выхлопных газов у клапана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16642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47472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11556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Max RPM = 2100 vs 1990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111556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ОБОРОТЫ НА 5.5% ВЫШЕ — ТЕПЛОГЕНЕРАЦИЯ РАСТЁТ ПРОПОРЦИОНАЛЬНО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5179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Максимальные рабочие обороты NTE200 — 2100 об/мин. На 730E AC — 1990 об/мин. Разница +110 об/мин (+5.5%).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8836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Каждые +100 об/мин ≈ +6-8°C T° ОГ (линейная зависимость для QSK50). При 2100 об/мин T° ОГ выше на 7-10°C постоянно.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8600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→ КЛАПАН: 7-10°C сами по себе некритичны, но в сочетании с отключённым дератингом и TIB 200% дают суммарный перегрев, достаточный для пластической деформации фаски (T° &gt; 700°C).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6148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6148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4747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85292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TIB коррекция = 200% vs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285292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ДВОЙНОЙ БЮДЖЕТ ТОПЛИВНОЙ КОРРЕКЦИИ — БОГАТАЯ СМЕСЬ В ЦИЛИНДРЕ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32552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TIB (Torque-Input-Based) fuel correction — максимально допустимая топливная коррекция. NTE200: 200%. 730E AC: 100%. Параметр позволяет системе управления добавлять до 2× нормативного количества топлива.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6210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При 200% TIB ECM может сделать смесь богатой в 2× нормы — дожигание в выпускном коллекторе. Прямое повышение T° ОГ на 50-100°C. Зафиксировано по профилю сгорания в INSITE CSV (аг. №43).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02336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T° тарелки клапана превышает 700°C → пластическая деформация Inconel 751 → рецессия фаски (подтверждено NHL lab, стр. 15: «аномально высокая T°»).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34747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59028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EGT триггеры = ВСЕ ОТКЛЮЧЕНЫ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459028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НУЛЕВАЯ ЗАЩИТА ПО ТЕМПЕРАТУРЕ ВЫХЛОПНЫХ ГАЗОВ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49926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На 730E AC активны все EGT-триггеры (температура ОГ) — при превышении порога происходит дератинг. На NTE200 — ВСЕ EGT-триггеры отключены. Двигатель не знает о перегреве газов.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358383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Даже при T° ОГ 700-900°C ECM NTE200 не реагирует. Нет снижения топлива, нет снижения оборотов, нет сигнала оператору. Перегрев накапливается циклически — от поездки к поездке.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76072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Температурная усталость Inconel 751 при повторяющихся циклах 700°C+ → необратимое разупрочнение → прогрессирующая рецессия фаски у ВСЕХ клапанов.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H1: ЦЕПОЧКА ПОВРЕЖДЕНИЙ ЧЕРЕЗ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Суммарный эффект всех отклонений от штатной конфигурации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51560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Calibri"/>
              </a:rPr>
              <a:t>ECM: Дератинг ОТКЛ
+ задержки 43-51 с
+ RPM 2100
+ TIB 200%
+ EGT выкл.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  <a:latin typeface="Calibri"/>
              </a:rPr>
              <a:t>Двигатель работает
на полной мощности
при перегреве —
без сигнала
оператору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051560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  <a:latin typeface="Calibri"/>
              </a:rPr>
              <a:t>T° ОГ &gt; 700°C
у тарелки
клапана — цикл
за циклом
без защиты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39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39" y="1051560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79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Calibri"/>
              </a:rPr>
              <a:t>Пластич. деформация
Inconel 751 →
рецессия фаски →
зола в зазоре →
абразив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3127248"/>
            <a:ext cx="11795760" cy="658368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182112"/>
            <a:ext cx="11521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РЕЗУЛЬТАТ: Рецессия фаски → потеря компрессии → прорыв горячих газов → ускоренный абразивный износ → последовательный выход из строя клапанов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3886200"/>
            <a:ext cx="11795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9319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EF0AF"/>
                </a:solidFill>
                <a:latin typeface="Calibri"/>
              </a:rPr>
              <a:t>КОСВЕННЫЕ ДОКАЗАТЕЛЬСТВА: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2519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NTE200: операторов инструктируют «не глушить, давать остывать на ХХ» — признание систематических перегревов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7091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INSITE CSV (аг. №43, 18 523 м/ч): зафиксированы температурные отклонения в рабочем цикле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1663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730E AC на том же объекте, с теми же QSK50 — клапанных отказов НЕТ (ECM настроен штатно)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6235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Самые ранние отказы (№83: 2 776 м/ч | №81: 4 696 м/ч) не объяснимы обычным усталостным износом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0807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Диапазон наработок (2 776 — 18 505 м/ч) указывает на вариабельный триггер, не дефект партии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H2: МАТЕРИАЛ КЛАПАНА НА ПРЕДЕЛЕ ТЕПЛОВОГО РЕЖИМА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Лабораторный вывод NHL MS&amp;T2026033 | Inconel 751 (CES51005)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5669280" cy="5376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66928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9728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Calibri"/>
              </a:rPr>
              <a:t>ДАННЫЕ ЛАБОРАТОРИИ NHL (MS&amp;T2026033)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" y="148132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Материал клапана: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0592" y="1481328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Inconel 751 (CES51005)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88366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Наплавка по чертежу: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0592" y="1883664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ОТСУТСТВУЕТ — не предусмотрена чертежом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" y="228600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Требование по HRC: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2286000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≤ 46 HRC (по чертежу NTE200)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268833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Фактическая HRC: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0592" y="2688336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40.0 – 44.1 HRC  → В ДОПУСКЕ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" y="309067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Пластич. деформация: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0592" y="3090672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ЕСТЬ — «заусенец» на фаске (стр. 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" y="349300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Зольные отложения: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50592" y="3493008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Ca/Zn/P + Si/Al — на всех образцах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" y="389534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Вывод NHL (стр. 19):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0592" y="3895344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Аномально высокая T° — первопричина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" y="429768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Рекомендация NHL: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4297680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Проверить параметры T° двигателя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1024128"/>
            <a:ext cx="5971032" cy="5376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40" y="1024128"/>
            <a:ext cx="5971032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109728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ИНТЕРПРЕТАЦИЯ И СВЯЗЬ С H1 (ECM)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481328"/>
            <a:ext cx="36576" cy="8778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1499616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КЛАПАН СООТВЕТСТВУЕТ СПЕЦИФИКАЦИИ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1755648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HRC 40-44 — в пределах чертёжного допуска ≤46 HRC. Конструктивный дефект отсутствует.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2432304"/>
            <a:ext cx="36576" cy="8778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2450592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ОТСУТСТВИЕ НАПЛАВКИ — ПО ПРОЕКТУ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2706624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Inconel 751 без Stellite — штатная конструкция NTE200. 730E AC также не имеет Stellite в стандартной комплектации.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3383280"/>
            <a:ext cx="36576" cy="8778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6208" y="3401568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INCONEL 751: ПРЕДЕЛ ПРОЧНОСТИ ПРИ T°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657600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Материал сохраняет твёрдость до ~700°C. При 700-800°C начинается ползучесть и пластическая деформация фаски.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334256"/>
            <a:ext cx="36576" cy="8778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4352544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ECM НАРУШАЕТ ТЕПЛОВОЙ РЕЖИМ КЛАПАНА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4608576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TIB 200% + RPM 2100 + нет EGT-защиты = T° ОГ превышает 700°C. Клапан деформируется не от дефекта — от аномального теплового режима, созданного ECM.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5285232"/>
            <a:ext cx="36576" cy="8778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6208" y="5303520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H2 ЯВЛЯЕТСЯ СЛЕДСТВИЕМ H1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5559552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Материал клапана корректен для штатного режима. При правильном ECM (730E AC) — тех же клапанов ДОСТАТОЧНО. Первопричина — ECM (H1).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КЛЮЧЕВЫЕ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Агрегаты №83, №48, №55, №69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КАТАСТРОФИЧЕСКИЙ ОТКАЗ  •  АГРЕГАТ №83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2 776 м/ч наработки — самый ранний отказ в парке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3749039" cy="28346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005840"/>
            <a:ext cx="3749039" cy="28346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005840"/>
            <a:ext cx="4023360" cy="28346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82880" y="3977639"/>
            <a:ext cx="11795760" cy="2697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3977639"/>
            <a:ext cx="45720" cy="2697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4041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Гаражный №: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404164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44439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Наработка: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4443984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2 776 м/ч  (!!! нормальный ресурс &gt;12 000 м/ч)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Зафиксировано: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3472" y="4846320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Разрушение шатуна и поршня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486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Замена: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5248656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ГБЦ + шатун + поршень + уплотнения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565099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Вер. причина: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33472" y="5650992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Перегрев → потеря плотности клапана → прорыв газов → разрушение ЦПГ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6053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Значение: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33472" y="605332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Катастрофический отказ при минимальной наработке — системная проблема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МАТРИЦА ОЦЕНКИ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Доказательная база и приоритет верификации (с учётом вывода NHL MS&amp;T2026033)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024128"/>
          <a:ext cx="117957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5324"/>
                <a:gridCol w="1867662"/>
                <a:gridCol w="1965960"/>
                <a:gridCol w="1277874"/>
                <a:gridCol w="1474470"/>
                <a:gridCol w="1474470"/>
              </a:tblGrid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Гипотеза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Прямые
доказательства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Косвенные
доказательства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Весь
парк?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Ранние
отказы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Приоритет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H1: ECM (дератинг, RPM, TIB, EGT)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(сравн. 730E)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730E = 0 отказов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H2: Клапан на T°-пределе (след. H1)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NHL: T° аномальна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HRC в допуске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СЛЕДСТВИЕ H1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H3: Зазоры клапанов (ТО)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(доп. анализ)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Повторные отказы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H4: Форсунки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2 (тест №73)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Сопутств. замены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H5: Возд. фильтр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(только №69)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агрегат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H6: Зола масла (ОТЯГЧАЮЩИЙ)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(EDS NHL)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Все агрегаты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ОТЯГЧ.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H7: Режим эксплуатации /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Контекст + топогр.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82880" y="6492240"/>
            <a:ext cx="11795760" cy="27432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1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H1 = СИСТЕМНАЯ ПЕРВОПРИЧИНА  •  H2 = следствие H1 (T°)  •  H3+H4 = СОПУТСТВУЮЩИЕ  •  H6 = ОТЯГЧАЮЩИЙ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ПЛАН ВЕРИФИКАЦИИ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Конкретные действия для подтверждения каждой гипотезы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ПЛАН ВЕРИФИКАЦИИ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Конкретные действия для подтверждения / опровержения каждой версии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1920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325880" cy="19202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" y="1078992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F4444"/>
                </a:solidFill>
                <a:latin typeface="Calibri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07899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ECM — ПРИОРИТЕТ №1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44475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Считать полный ECM с 2-3 NTE200 + 1 Komatsu 730E AC через INSITE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79222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Включить C_EPD_OT_RPM_Drt_En=1 | Задержки по маслу/ОЖ ≤10 с | RPM 1990 | TIB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13969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Активировать все EGT-триггеры температуры выхлопных газов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48716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Наблюдение 6 мес: 0 отказов на перепрограмм. агрегатах = гипотеза подтверждена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017520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017520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017520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8" y="3072384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9E0B"/>
                </a:solidFill>
                <a:latin typeface="Calibri"/>
              </a:rPr>
              <a:t>H2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07238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ТЕПЛОВОЙ РЕЖИМ КЛАПАНА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43814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Установить пирометрический мониторинг T° ОГ на 2-3 агрегатах (NTE200 vs 730E AC)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378561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Сравнить T° ОГ при одинаковой нагрузке до и после перепрограммирования ECM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13308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T° ОГ &gt; 700°C в нормальном режиме — рассмотреть термоустойчивые клапаны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4645152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4645152"/>
            <a:ext cx="45720" cy="1554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4645152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" y="4700016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alibri"/>
              </a:rPr>
              <a:t>H3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470001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ЗАЗОРЫ КЛАПАНОВ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506577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Ввести протокол: измерение зазоров ДО и ПОСЛЕ каждого ремонта с записью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" y="541324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ближайшем ТО проверить зазоры на 5 агрегатах без клапанного ремонта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576072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Калиброванный щуп 0.05 мм шаг | допуск ±0.05 мм | обучение механиков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6272784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6272784"/>
            <a:ext cx="45720" cy="1554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6272784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632764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  <a:latin typeface="Calibri"/>
              </a:rPr>
              <a:t>H4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632764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ФОРСУНКИ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64208" y="669340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Стендовые тесты: №43, №47, №55, №73 — давление, возврат, распыл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64208" y="704088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INSITE: fuel balance rates → отклонение &gt;±3% = проблемная форсунка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738835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клапанном ремонте — обязательная проверка форсунки цилиндра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РЕКОМЕНДАЦИИ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Приоритетные действия по устранению причин отказов клапанов QSK50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20482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11155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F4444"/>
                </a:solidFill>
                <a:latin typeface="Calibri"/>
              </a:rPr>
              <a:t>СРОЧНО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44475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до следующего ремонта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115568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Перепрограммировать ECM: включить дератинг, задержки ≤10 с, RPM 1990, TIB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149961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Активировать все EGT-триггеры температуры выхлопных газов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188366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Проверить состояние воздушных фильтров всего парка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226771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Обязательная проверка форсунки при каждом клапанном ремонте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145536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145536"/>
            <a:ext cx="45720" cy="20482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145536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323697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КРАТКОСРОЧНО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" y="356616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1 месяца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323697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Установить пирометрический мониторинг T° ОГ на 2-3 агрегатах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362102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Разработать и внедрить форму контроля зазоров клапанов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400507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Стендовые тесты форсунок приоритетных агрегатов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438912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Включить логирование INSITE на всех агрегатах парка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266944"/>
            <a:ext cx="11795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5266944"/>
            <a:ext cx="45720" cy="16642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5266944"/>
            <a:ext cx="1828800" cy="166420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53583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СРЕДНЕСРОЧНО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" y="568756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3 месяцев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35838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По результатам T°-мониторинга: оценка необходимости термоустойчивых клапанов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574243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Сравнительный анализ показателей с 730E AC на том же объекте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6272" y="612648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Анализ рабочего цикла по INSITE на 5+ агрегатах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7004304"/>
            <a:ext cx="11795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7004304"/>
            <a:ext cx="45720" cy="128016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8600" y="7004304"/>
            <a:ext cx="1828800" cy="12801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709574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EF0AF"/>
                </a:solidFill>
                <a:latin typeface="Calibri"/>
              </a:rPr>
              <a:t>СИСТЕМНО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" y="742492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постоянные меры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709574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База данных ТО: зазоры + форсунки + T° ОГ — на каждый агрегат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6272" y="747979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Стандарт для NHL/KTG: обязательный контроль ECM при приёмке нового транспорта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ВЫВОДЫ И СЛЕДУЮЩИЕ ШАГИ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Анализ причин износа выпускных клапанов QSK50 | NTE200 | АО «Полюс Магадан»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987552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987552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987552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1188720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106070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МАСШТАБ СИСТЕМНЫЙ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444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20+ единиц, 30+ событий, 2 776 — 18 505 м/ч. Не единичный дефект партии.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2011680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" y="2011680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011680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" y="2212848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208483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ECM — ГЛАВНАЯ ПЕРВОПРИЧИНА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2468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Дератинг откл. + задержки 43-51 с + RPM 2100 + TIB 200% + нет EGT-защиты. 730E AC (тот же объект, тот же QSK50) — 0 отказов.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3035808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" y="3035808"/>
            <a:ext cx="45720" cy="9875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035808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" y="3236976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10896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КЛАПАН СООТВЕТСТВУЕТ СПЕЦИФИКАЦИИ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493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NHL MS&amp;T2026033: HRC 40-44 в допуске ≤46, наплавки нет по чертежу — это норма. Деформация вызвана аномальной T° от настроек ECM, не дефектом материала.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4059936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4059936"/>
            <a:ext cx="45720" cy="9875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4059936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" y="4261104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13308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ЗОЛА — ОТЯГЧАЮЩИЙ ФАКТОР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7008" y="451713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EDS NHL: Ca/Zn/P + Si/Al. Ускоряет износ, но является следствием перегрева.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5084064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5084064"/>
            <a:ext cx="45720" cy="987552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5084064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5285232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" y="515721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Calibri"/>
              </a:rPr>
              <a:t>СЛЕДУЮЩИЙ ШАГ — ПЕРЕПРОГРАММИРОВАТЬ ECM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07008" y="554126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Быстрый и обратимый тест: ECM → штатная конфигурация. Наблюдение 6 мес. Нет отказов = гипотеза H1 подтверждена.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" y="6263640"/>
            <a:ext cx="11795760" cy="50292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2880" y="6291072"/>
            <a:ext cx="1179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Calibri"/>
              </a:rPr>
              <a:t>АО Развитие — Технический анализ  •  АО «Полюс Магадан»  •  Конфиденциально  •  Май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" y="6565392"/>
            <a:ext cx="1179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EF0AF"/>
                </a:solidFill>
                <a:latin typeface="Calibri"/>
              </a:rPr>
              <a:t>Cummins QSK50  •  NHL NTE200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937"/>
                </a:solidFill>
                <a:latin typeface="Calibri Light"/>
              </a:rPr>
              <a:t>ПРОИЗВОДИТЕЛЬНОСТЬ: NTE200 vs KOMATSU 730E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85216"/>
            <a:ext cx="11521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Январь 2024 — Июнь 2026 | Полюс Магадан | 47 ед. NTE200 vs 22 ед. 730E AC</a:t>
            </a:r>
          </a:p>
        </p:txBody>
      </p:sp>
      <p:pic>
        <p:nvPicPr>
          <p:cNvPr id="6" name="Picture 5" descr="speed_prod_3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024128"/>
            <a:ext cx="11887200" cy="40782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4592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5175504"/>
            <a:ext cx="288036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Calibri"/>
              </a:rPr>
              <a:t>+2.8%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скорость NTE200
выше в 2025 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Выше RPM ECM
(2100 vs 1990 об/мин)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72968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2968" y="5175504"/>
            <a:ext cx="288036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4408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−22%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просадка произв.
NTE200 апр-июн 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Простои из-за
отказов клапанов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5175504"/>
            <a:ext cx="28803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3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  <a:latin typeface="Calibri"/>
              </a:rPr>
              <a:t>≈0%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разрыв до 2026
(окт24–мар25)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3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При равном ECM
произв. одинакова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5175504"/>
            <a:ext cx="288036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Calibri"/>
              </a:rPr>
              <a:t>−5.4%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грузооборот NTE200
ниже в среднем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Скорость не
компенсирует простои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