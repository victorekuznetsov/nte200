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937"/>
                </a:solidFill>
                <a:latin typeface="Calibri Light"/>
              </a:rPr>
              <a:t>ПРОИЗВОДИТЕЛЬНОСТЬ: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85216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Январь 2024 — Июнь 2026 | Полюс Магадан | 47 ед. NTE200 vs 22 ед. 730E AC</a:t>
            </a:r>
          </a:p>
        </p:txBody>
      </p:sp>
      <p:pic>
        <p:nvPicPr>
          <p:cNvPr id="6" name="Picture 5" descr="speed_prod_3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024128"/>
            <a:ext cx="11887200" cy="40782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592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5175504"/>
            <a:ext cx="28803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скорость NTE200
выше в 2025 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Выше RPM ECM
(2100 vs 1990 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5175504"/>
            <a:ext cx="288036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−22%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просадка произв.
NTE200 апр-июн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Простои из-за
отказов клапанов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5175504"/>
            <a:ext cx="28803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3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≈0%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разрыв до 2026
(окт24–мар25)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3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При равном ECM
произв. одинакова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5175504"/>
            <a:ext cx="28803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−5.4%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грузооборот NTE200
ниже в среднем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Скорость не
компенсирует простои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АНАЛИЗ ДАННЫХ ECM — КЛЮЧЕВЫЕ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38 агрегатов  •  133 файла ECM INSITE  •  Май–Июнь 2026</a:t>
            </a:r>
          </a:p>
        </p:txBody>
      </p:sp>
      <p:pic>
        <p:nvPicPr>
          <p:cNvPr id="6" name="Picture 5" descr="ecm_analysis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EGT — ПЕРЕГРЕВ ВЫХЛОПНЫХ ГАЗОВ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ECM1/ECM144: 20 из 38 агрегатов имеют события перегрева EGT  •  ECM0 не реагирует — все EGT-триггеры отключены</a:t>
            </a:r>
          </a:p>
        </p:txBody>
      </p:sp>
      <p:pic>
        <p:nvPicPr>
          <p:cNvPr id="6" name="Picture 5" descr="ecm_eg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РЕЗУЛЬТАТЫ АНАЛИЗА ECM — КРИТИЧЕСКИЕ НАХОДКИ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Прямые доказательства перегрева и неправильных режимов работы двигателя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34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611 — горячий останов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Двигатель перегревается
перед каждым выключением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8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81528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2968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Горячих остановок всего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Подтверждён систематический
перегрев при останове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5896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17336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20 / 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Имеют перегрев EGT (ECM1)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7336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Датчики работают,
ECM0 — не реагирует!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0264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0264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Максимум EGT (агр.82)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Цилиндр 11 A6: 171 ош. цепи
+ 88 отклонений темп.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7160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9 / 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234 — обороты превышены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Агр.90: 41 событие
Агр.75: макс. 2532 об/мин!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81528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81528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113°C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2968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макс. охлажд.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72968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71: 14 мин 55 сек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72968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~99°C Amber
107°C — Red (аварийный стоп)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25896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17336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150°C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впускной коллектор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7336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52: цил.2, 2 мин 50 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7336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~50–60°C
150°C = турбо/интеркулер отказ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0264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0264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1704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12 / 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1704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556 — давление картера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1704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Прорыв газов — признак
мех. повреждения двигателя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" y="4279392"/>
            <a:ext cx="1188720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435254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ЦЕПОЧКА ДОКАЗАТЕЛЬСТВ: ECM MISCONFIGURATION → ПЕРЕГРЕВ → ОТКАЗ КЛАПАНОВ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311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ECM0 отключил все
EGT-триггеры защиты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93391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67128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67128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12848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40280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ECM1 фиксирует перегрев EGT
20/38 агрегатов, до 259 событий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7096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97096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42816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70248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Охл. жидкость до 113°C,
впускной коллектор до 150°C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3327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27064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27064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72784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611: 641 горячий останов
систематический перегрев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83296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57032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57032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02752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0184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Высокий RPM (до 2532)
TIB 200%, задержки 43-51 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13264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8700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287000" y="4718304"/>
            <a:ext cx="184708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33272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1B1B"/>
                </a:solidFill>
                <a:latin typeface="Calibri Light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0152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556: давление картера
12 агрегатов — мех. повреждения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 Light"/>
              </a:rPr>
              <a:t>ДЕТАЛЬНЫЙ АНАЛИЗ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EF0AF"/>
                </a:solidFill>
                <a:latin typeface="Calibri"/>
              </a:rPr>
              <a:t>Разница конфигураций ECM0/ECM1/ECM144 • Физические механизмы • Температурные данные INSITE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ДЕТАЛЬНОЕ СРАВНЕНИЕ ПАРАМЕТРОВ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6 ключевых параметров • Механизм воздействия на выпускной клапан • NTE200 vs 730E AC</a:t>
            </a:r>
          </a:p>
        </p:txBody>
      </p:sp>
      <p:pic>
        <p:nvPicPr>
          <p:cNvPr id="6" name="Picture 5" descr="ecm_params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" y="1005840"/>
            <a:ext cx="120426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ПАРАДОКС ECM: ДАТЧИКИ РАБОТАЮТ — ЗАЩИТА ОТКЛЮЧЕНА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ECM1/ECM144 фиксируют перегрев EGT  •  ECM0 игнорирует данные  •  Агрегат 83: цилиндр 12 = 934°C</a:t>
            </a:r>
          </a:p>
        </p:txBody>
      </p:sp>
      <p:pic>
        <p:nvPicPr>
          <p:cNvPr id="6" name="Picture 5" descr="ecm_architecture_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ТЕПЛОВАЯ КАРТА EGT — ВСЕ 16 ЦИЛИНДРОВ × 38 АГРЕГАТОВ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Данные при снятии ECM snapshot (INSITE)  •  A-банк (ECM144) + B-банк (ECM1)  •  Цил.12 аг.83 = 934°C</a:t>
            </a:r>
          </a:p>
        </p:txBody>
      </p:sp>
      <p:pic>
        <p:nvPicPr>
          <p:cNvPr id="6" name="Picture 5" descr="egt_full_16cy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КОРРЕЛЯЦИЯ ПОКАЗАТЕЛЕЙ ECM С ОТКАЗАМИ КЛАПАНОВ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Горячие остановы, EGT события, температура ОЖ  •  Группировка по статусу отказа</a:t>
            </a:r>
          </a:p>
        </p:txBody>
      </p:sp>
      <p:pic>
        <p:nvPicPr>
          <p:cNvPr id="6" name="Picture 5" descr="ecm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212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" y="6291072"/>
            <a:ext cx="12006072" cy="475488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6318504"/>
            <a:ext cx="1179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3EF0AF"/>
                </a:solidFill>
                <a:latin typeface="Calibri"/>
              </a:rPr>
              <a:t>Вывод: агрегаты с отказами клапанов имеют статистически значимо больше горячих остановов (FC611), выше температуру охл. жидкости и чаще имеют события EGT по цилиндрам в ECM1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ИТОГОВАЯ ТАБЛИЦА: КЛЮЧЕВЫЕ ECM-ПОКАЗАТЕЛИ ПО АГРЕГАТАМ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38 агрегатов  •  Наработка • FC611 • EGT-события • Макс. T° • Макс. EGT-цилиндр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18,859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27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4708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4144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3580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4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27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4708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144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580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446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19,049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527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4708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4144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1752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3580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17,923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4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527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2880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4708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2316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4144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3580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9728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436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344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527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4708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42316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4144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3580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9728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52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436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2344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527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2880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4708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2316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4144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1752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3580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387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9728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9436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2648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344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527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84708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2316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4144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01752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03580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44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728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436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17,410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2344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527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2880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4708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2316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01752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3580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144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728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436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12648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17,116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2344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27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82880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4708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42316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44144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01752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03580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9728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9436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2648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16,851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2344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2527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2880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84708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42316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44144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01752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03580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44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9728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9436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12648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17,068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2344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2527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82880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84708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138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42316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44144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01752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03580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144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9728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△60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9436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12648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17,330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2344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2527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82880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4708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42316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44144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01752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580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162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144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728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9436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15,813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2344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2527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82880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84708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42316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44144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1752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3580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359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144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9728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9436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12648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12,065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2344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527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83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82880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84708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42316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44144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01752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03580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44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9728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64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9436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12648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11,543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2344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2527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2880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4708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42316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44144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301752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03580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260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44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09728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9436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12648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11,796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2344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2527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32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82880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84708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2316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01752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03580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44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09728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436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12648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11,305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344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2527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82880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84708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42316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44144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01752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03580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9144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9728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9436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12648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11,342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2344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2527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82880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84708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128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42316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44144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301752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303580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9144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9728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✗69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9436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12648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10,543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2344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2527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82880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84708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42316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44144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301752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303580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21792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24535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72084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74827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36091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38835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95527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98271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5496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5770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14400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9171432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21792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236207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70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672084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739127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11,045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36091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37920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95527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97356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108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5496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5679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14400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16228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1792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6236207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71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72084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739127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10,792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36091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37920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95527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97356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85496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85679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113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914400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16228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621792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6236207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✗72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72084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6739127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10,801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36091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7920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95527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97356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85496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85679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914400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916228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621792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6236207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△73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72084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6739127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10,307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36091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37920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95527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97356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85496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85679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914400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916228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347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621792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6236207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72084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739127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10,283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736091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737920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95527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97356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5496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85679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14400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916228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21792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236207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76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672084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6739127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10,041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736091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737920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95527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797356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85496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5679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14400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916228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263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621792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236207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72084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739127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10,075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36091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737920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95527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797356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85496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85679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914400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916228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287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1792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236207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672084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6739127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9,305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36091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37920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95527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797356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5496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5679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14400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916228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316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621792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236207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79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72084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739127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4,516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736091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37920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54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795527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797356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5496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5679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914400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916228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266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621792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6236207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82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72084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6739127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4,014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736091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737920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95527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97356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259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5496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85679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914400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916228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621792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6236207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91B1B"/>
                </a:solidFill>
                <a:latin typeface="Calibri"/>
              </a:rPr>
              <a:t>!!83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672084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6739127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3,767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736091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737920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795527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797356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101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85496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85679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914400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916228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1B1B"/>
                </a:solidFill>
                <a:latin typeface="Calibri"/>
              </a:rPr>
              <a:t>934!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621792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6236207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84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72084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6739127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736091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737920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5527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797356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85496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85679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914400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916228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281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621792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6236207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△85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72084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6739127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736091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737920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795527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797356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85496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85679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914400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916228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21792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6236207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△86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672084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6739127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3,531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736091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737920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795527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797356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23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85496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5679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914400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916228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312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621792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236207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87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2084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6739127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3,778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736091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37920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12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95527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97356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85496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85679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914400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916228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621792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6236207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△88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672084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739127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3,266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736091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37920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95527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7356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85496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85679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14400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916228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326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621792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6236207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89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2084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739127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3,508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36091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737920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795527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797356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15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85496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85679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914400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916228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62" name="Rectangle 461"/>
          <p:cNvSpPr/>
          <p:nvPr/>
        </p:nvSpPr>
        <p:spPr>
          <a:xfrm>
            <a:off x="621792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6236207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90</a:t>
            </a:r>
          </a:p>
        </p:txBody>
      </p:sp>
      <p:sp>
        <p:nvSpPr>
          <p:cNvPr id="464" name="Rectangle 463"/>
          <p:cNvSpPr/>
          <p:nvPr/>
        </p:nvSpPr>
        <p:spPr>
          <a:xfrm>
            <a:off x="672084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6739127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736091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737920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8" name="Rectangle 467"/>
          <p:cNvSpPr/>
          <p:nvPr/>
        </p:nvSpPr>
        <p:spPr>
          <a:xfrm>
            <a:off x="795527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797356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0" name="Rectangle 469"/>
          <p:cNvSpPr/>
          <p:nvPr/>
        </p:nvSpPr>
        <p:spPr>
          <a:xfrm>
            <a:off x="85496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85679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914400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16228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621792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6236207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91</a:t>
            </a:r>
          </a:p>
        </p:txBody>
      </p:sp>
      <p:sp>
        <p:nvSpPr>
          <p:cNvPr id="476" name="Rectangle 475"/>
          <p:cNvSpPr/>
          <p:nvPr/>
        </p:nvSpPr>
        <p:spPr>
          <a:xfrm>
            <a:off x="672084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6739127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736091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TextBox 478"/>
          <p:cNvSpPr txBox="1"/>
          <p:nvPr/>
        </p:nvSpPr>
        <p:spPr>
          <a:xfrm>
            <a:off x="737920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0" name="Rectangle 479"/>
          <p:cNvSpPr/>
          <p:nvPr/>
        </p:nvSpPr>
        <p:spPr>
          <a:xfrm>
            <a:off x="795527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797356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2" name="Rectangle 481"/>
          <p:cNvSpPr/>
          <p:nvPr/>
        </p:nvSpPr>
        <p:spPr>
          <a:xfrm>
            <a:off x="85496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TextBox 482"/>
          <p:cNvSpPr txBox="1"/>
          <p:nvPr/>
        </p:nvSpPr>
        <p:spPr>
          <a:xfrm>
            <a:off x="85679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4" name="Rectangle 483"/>
          <p:cNvSpPr/>
          <p:nvPr/>
        </p:nvSpPr>
        <p:spPr>
          <a:xfrm>
            <a:off x="914400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TextBox 484"/>
          <p:cNvSpPr txBox="1"/>
          <p:nvPr/>
        </p:nvSpPr>
        <p:spPr>
          <a:xfrm>
            <a:off x="916228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6" name="Rectangle 485"/>
          <p:cNvSpPr/>
          <p:nvPr/>
        </p:nvSpPr>
        <p:spPr>
          <a:xfrm>
            <a:off x="6144768" y="1005840"/>
            <a:ext cx="54864" cy="5760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