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84048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АО РАЗВИТИЕ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EF0AF"/>
                </a:solidFill>
                <a:latin typeface="Calibri Light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с клапанными отказами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83464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15+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с отказами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8346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27+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83464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EF0AF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834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83464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8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— EGT 1484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482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ошибки ECM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~17 600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Сизый дым — замена 2 выпускных клапанов (ОТЧЁТ 23.03.2026)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16 219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— замена выпускных клапанов (ОТЧЁТ 06.04.2026)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КАРТА ОТКАЗОВ ПАРКА NTE200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Гаражные номера #43–#92 | Статус по клапанному ремонту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#43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078992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#49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1078992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69880" y="1078992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1280160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7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2011680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#59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69880" y="2011680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69880" y="2212848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2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68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68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2944368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97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40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#69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83879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79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2944368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944368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3145536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25880" y="3877056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5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68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68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11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97880" y="3877056"/>
            <a:ext cx="1078992" cy="868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#78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0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040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#79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83879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83879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26880" y="3877056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326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69880" y="3877056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69880" y="4078224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2880" y="4809744"/>
            <a:ext cx="1078992" cy="86868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82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5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468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468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1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11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754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54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897880" y="4809744"/>
            <a:ext cx="107899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897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#88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40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40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#89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183879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183879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326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469880" y="4809744"/>
            <a:ext cx="1078992" cy="868680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469880" y="5010912"/>
            <a:ext cx="1078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#92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82880" y="5870448"/>
            <a:ext cx="274320" cy="201168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0352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КАТАСТРОФИЧЕСКИЙ (#81, #83)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27248" y="5870448"/>
            <a:ext cx="274320" cy="2011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ПОДТВЕРЖДЁННЫЙ ОТКАЗ КЛАПАНОВ (15 ед.)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071616" y="5870448"/>
            <a:ext cx="274320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19088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EGT-ошибки / форсунки / фильтры (12 ед.)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15984" y="5870448"/>
            <a:ext cx="274320" cy="201168"/>
          </a:xfrm>
          <a:prstGeom prst="rect">
            <a:avLst/>
          </a:prstGeom>
          <a:solidFill>
            <a:srgbClr val="F9FAFB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363456" y="58795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НЕТ ЗАФИКСИРОВАННЫХ ОТКАЗОВ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— соответствует чертёжной спецификации (≤46 HRC).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(MS&amp;T2026033, стр. 14-15). Пластическая деформация Inconel 751 начинается при T° &gt;700°C.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Аномально высокая T° — REC.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7 версий — от конфигурации ECM до условий эксплуатации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7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100%, все EGT-триггеры отключены на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98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КРИТИЧЕСКИЙ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Перегрев клапана — материал на пределе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NHL (MS&amp;T2026033, стр. 14): наплавки нет по чертежу; твёрдость 40-44 HRC = в допуске ≤46 HRC. Inconel 751 пластически деформируется при T°&gt;700°C — в норм. режиме клапан достаточен.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200253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СВЯЗАН с H1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70662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4107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188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конструктив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Топография 3R/4R/6R/6L — неравномерный теплоотвод.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22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ПАРАМЕТРЫ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кардинально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EF0A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 (+5.5%)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ПАРАМЕТРЫ ЗАЩИТЫ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Как каждый параметр NTE200 ведёт к повреждению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C_EPD_OT_RPM_Drt_En =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111556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ДЕРАТИНГ ПОЛНОСТЬЮ ОТКЛЮЧЁН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Этот флаг управляет автоматическим снижением мощности/оборотов при перегреве. На NTE200 значение = 0 (ВЫКЛ).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Двигатель НИКОГДА не снижает обороты при достижении критических температур. Перегрев нарастает без какого-либо самоограничения.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Клапан продолжает получать горячие газы полной мощности — температура фаски растёт до деформации.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2004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масло = 51 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85292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51 СЕКУНДА БЕЗ ЗАЩИТЫ ПО МАСЛУ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Параметр задержки аварийной остановки по низкому давлению масла. На 730E AC — немедленная реакция; на NTE200 — 51 секунда ожидания.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падении давления масла двигатель работает 51 с без защиты. За 51 с при 2100 об/мин происходит ~1800 рабочих циклов клапана без смазки.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Перегрев клапана + недостаточная смазка направляющей → ускоренный износ фаски.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2004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145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Задержка ОЖ = 43 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90288"/>
            <a:ext cx="8321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43 СЕКУНДЫ ПЕРЕГРЕВА ОЖ БЕЗ РЕАКЦИИ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Задержка защиты по высокой температуре охлаждающей жидкости. На 730E AC — немедленно; на NTE200 — 43 секунды допустимого перегрева.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Температура ОЖ выше нормы = ухудшение охлаждения ГБЦ. За 43 с перегрева ГБЦ температура тарелки клапана растёт на 80-120°C.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T° седла и направляющей клапана превышает норму → термическое разупрочнение металла фаски.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H1: МЕХАНИЗМ ОТКАЗА — ТЕМПЕРАТУРА И ТОПЛИВО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Параметры, напрямую повышающие T° выхлопных газов у клапана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4864" cy="16642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4747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11556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Max RPM = 2100 vs 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111556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ОБОРОТЫ НА 5.5% ВЫШЕ — ТЕПЛОГЕНЕРАЦИЯ РАСТЁТ ПРОПОРЦИОНАЛЬНО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51790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Максимальные рабочие обороты NTE200 — 2100 об/мин. На 730E AC — 1990 об/мин. Разница +110 об/мин (+5.5%).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18836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Каждые +100 об/мин ≈ +6-8°C T° ОГ (линейная зависимость для QSK50). При 2100 об/мин T° ОГ выше на 7-10°C постоянно.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8600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→ КЛАПАН: 7-10°C сами по себе некритичны, но в сочетании с отключённым дератингом и TIB 200% дают суммарный перегрев, достаточный для пластической деформации фаски (T° &gt; 700°C).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6148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6148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3464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85292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TIB коррекция = 200% vs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85292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ДВОЙНОЙ БЮДЖЕТ ТОПЛИВНОЙ КОРРЕКЦИИ — БОГАТАЯ СМЕСЬ В ЦИЛИНДРЕ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325526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TIB (Torque-Input-Based) fuel correction — максимально допустимая топливная коррекция. NTE200: 200%. 730E AC: 100%. Параметр позволяет системе управления добавлять до 2× нормативного количества топлива.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36210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При 200% TIB ECM может сделать смесь богатой в 2× нормы — дожигание в выпускном коллекторе. Прямое повышение T° ОГ на 50-100°C. Зафиксировано по профилю сгорания в INSITE CSV (аг. №43).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402336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T° тарелки клапана превышает 700°C → пластическая деформация Inconel 751 → рецессия фаски (подтверждено NHL lab, стр. 15: «аномально высокая T°»).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795760" cy="166420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54864" cy="16642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572000"/>
            <a:ext cx="34747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4590288"/>
            <a:ext cx="3419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EGT триггеры = ВСЕ ОТКЛЮЧЕНЫ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590288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НУЛЕВАЯ ЗАЩИТА ПО ТЕМПЕРАТУРЕ ВЫХЛОПНЫХ ГАЗОВ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4992624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ФУНКЦИЯ: На 730E AC активны все EGT-триггеры (температура ОГ) — при превышении порога происходит дератинг. На NTE200 — ВСЕ EGT-триггеры отключены. Двигатель не знает о перегреве газов.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358383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ЭФФЕКТ: Даже при T° ОГ 700-900°C ECM NTE200 не реагирует. Нет снижения топлива, нет снижения оборотов, нет сигнала оператору. Перегрев накапливается циклически — от поездки к поездке.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760720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→ КЛАПАН: Температурная усталость Inconel 751 при повторяющихся циклах 700°C+ → необратимое разупрочнение → прогрессирующая рецессия фаски у ВСЕХ клапанов.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Суммарный эффект всех отклонений от штатной конфигурации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
+ EGT выкл.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Двигатель работает
на полной мощности
при перегреве —
без сигнала
оператору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51560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9E0B"/>
                </a:solidFill>
                <a:latin typeface="Calibri"/>
              </a:rPr>
              <a:t>T° ОГ &gt; 700°C
у тарелки
клапана — цикл
за циклом
без защиты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810512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51560"/>
            <a:ext cx="283464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5156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70432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F4444"/>
                </a:solidFill>
                <a:latin typeface="Calibri"/>
              </a:rPr>
              <a:t>Пластич. деформация
Inconel 751 →
рецессия фаски →
зола в зазоре →
абразив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3127248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82112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886200"/>
            <a:ext cx="117957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319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EF0AF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2519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признание систематических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091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(аг. №43,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663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QSK50 — клапанных отказов НЕТ (ECM настроен штатно)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6235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080760"/>
            <a:ext cx="11521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не дефект партии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H2: МАТЕРИАЛ КЛАПАНА НА ПРЕДЕЛЕ ТЕПЛОВОГО РЕЖИМА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Лабораторный вывод NHL MS&amp;T2026033 | Inconel 751 (CES51005)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669280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66928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9728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ДАННЫЕ ЛАБОРАТОРИИ NHL (MS&amp;T2026033)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48132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48132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Inconel 751 (CES51005)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Наплавка по чертежу: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188366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ОТСУТСТВУЕТ — не предусмотрена чертежом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" y="228600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Требование по HRC: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8600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≤ 46 HRC (по чертежу NTE200)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" y="26883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Фактическая HRC: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2688336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40.0 – 44.1 HRC  → В ДОПУСКЕ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" y="30906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Пластич. деформация: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3090672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ЕСТЬ — «заусенец» на фаске (стр. 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" y="349300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Зольные отложения: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0592" y="3493008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Ca/Zn/P + Si/Al — на всех образцах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38953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Вывод NHL (стр. 19):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0592" y="3895344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Аномально высокая T° — первопричина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" y="4297680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Рекомендация NHL: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4297680"/>
            <a:ext cx="3273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alibri"/>
              </a:rPr>
              <a:t>Проверить параметры T° двигателя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024128"/>
            <a:ext cx="5971032" cy="5376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35040" y="1024128"/>
            <a:ext cx="5971032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09728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ИНТЕРПРЕТАЦИЯ И СВЯЗЬ С H1 (ECM)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481328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99616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HRC 40-44 — в пределах чертёжного допуска ≤46 HRC. Конструктивный дефект отсутствует.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2432304"/>
            <a:ext cx="36576" cy="8778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245059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alibri"/>
              </a:rPr>
              <a:t>ОТСУТСТВИЕ НАПЛАВКИ — ПО ПРОЕКТУ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06624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Inconel 751 без Stellite — штатная конструкция NTE200. 730E AC также не имеет Stellite в стандартной комплектации.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3383280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6208" y="340156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INCONEL 751: ПРЕДЕЛ ПРОЧНОСТИ ПРИ T°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657600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сохраняет твёрдость до ~700°C. При 700-800°C начинается ползучесть и пластическая деформация фаски.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334256"/>
            <a:ext cx="36576" cy="8778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4352544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ECM НАРУШАЕТ ТЕПЛОВОЙ РЕЖИМ КЛАПАНА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4608576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TIB 200% + RPM 2100 + нет EGT-защиты = T° ОГ превышает 700°C. Клапан деформируется не от дефекта — от аномального теплового режима, созданного ECM.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5285232"/>
            <a:ext cx="36576" cy="8778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5303520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H2 ЯВЛЯЕТСЯ СЛЕДСТВИЕМ H1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5559552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Материал клапана корректен для штатного режима. При правильном ECM (730E AC) — тех же клапанов ДОСТАТОЧНО. Первопричина — ECM (H1).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 (с учётом вывода NHL MS&amp;T2026033)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EF0AF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93136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TIB, EGT)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Клапан на T°-пределе (след. H1)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NHL: T° аномальна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в допуске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СЛЕДСТВИЕ H1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67437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 /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 + топогр.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H1 = СИСТЕМНАЯ ПЕРВОПРИЧИНА  •  H2 = следствие H1 (T°)  •  H3+H4 = СОПУТСТВУЮЩИЕ  •  H6 = ОТЯГЧАЮЩИЙ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 Light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EGT-триггеры температуры выхлопных газов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гипотеза подтверждена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ТЕПЛОВОЙ РЕЖИМ КЛАПАНА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Установить пирометрический мониторинг T° ОГ на 2-3 агрегатах (NTE200 vs 730E AC)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Сравнить T° ОГ при одинаковой нагрузке до и после перепрограммирования ECM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T° ОГ &gt; 700°C в нормальном режиме — рассмотреть термоустойчивые клапаны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464515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464515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64515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" y="470001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70001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1324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6072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627278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627278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627278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632764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632764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408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3883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 Light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EGT-триггеры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Установить пирометрический мониторинг T° ОГ на 2-3 агрегатах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 парка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T°-мониторинга: оценка необходимости термоустойчивых клапанов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показателей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EF0AF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ОГ — на каждый агрегат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Стандарт для NHL/KTG: обязательный контроль ECM при приёмке нового транспорта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ПЕРВОПРИЧИНА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Дератинг откл. + задержки 43-51 с + RPM 2100 + TIB 200% + нет EGT-защиты. 730E AC (тот же объект, тот же QSK50)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КЛАПАН СООТВЕТСТВУЕТ СПЕЦИФИКАЦИИ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NHL MS&amp;T2026033: HRC 40-44 в допуске ≤46, наплавки нет по чертежу — это норма. Деформация вызвана аномальной T° от настроек ECM, не дефектом материала.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EF0AF"/>
                </a:solidFill>
                <a:latin typeface="Calibri"/>
              </a:rPr>
              <a:t>СЛЕДУЮЩИЙ ШАГ — ПЕРЕПРОГРАММИРОВАТЬ ECM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Быстрый и обратимый тест: ECM → штатная конфигурация. Наблюдение 6 мес. Нет отказов = гипотеза H1 подтверждена.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АО Развитие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EF0AF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937"/>
                </a:solidFill>
                <a:latin typeface="Calibri Light"/>
              </a:rPr>
              <a:t>ПРОИЗВОДИТЕЛЬНОСТЬ: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85216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Январь 2024 — Май 2026 (без июня 2026)  |  Полюс Магадан  |  47 ед. NTE200 vs 22 ед. 730E AC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" y="5175504"/>
            <a:ext cx="288036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+3.1%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скорость NTE200
выше в 2025 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Выше RPM ECM
(2100 vs 1990 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5175504"/>
            <a:ext cx="288036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4444"/>
                </a:solidFill>
                <a:latin typeface="Calibri"/>
              </a:rPr>
              <a:t>−13.2%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просадка произв.
NTE200 апр-май 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Простои из-за
отказов клапанов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5175504"/>
            <a:ext cx="28803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3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EF0AF"/>
                </a:solidFill>
                <a:latin typeface="Calibri"/>
              </a:rPr>
              <a:t>≈0%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разрыв до 2026
(окт24–мар25)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3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При равном ECM
произв. одинакова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89720" y="5175504"/>
            <a:ext cx="288036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5175504"/>
            <a:ext cx="288036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524865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8C42"/>
                </a:solidFill>
                <a:latin typeface="Calibri"/>
              </a:rPr>
              <a:t>−1.8%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5742432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2937"/>
                </a:solidFill>
                <a:latin typeface="Calibri"/>
              </a:rPr>
              <a:t>грузооборот NTE200
ниже в среднем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6144768"/>
            <a:ext cx="2743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CA3AF"/>
                </a:solidFill>
                <a:latin typeface="Calibri"/>
              </a:rPr>
              <a:t>Скорость не
компенсирует простои</a:t>
            </a:r>
          </a:p>
        </p:txBody>
      </p:sp>
      <p:pic>
        <p:nvPicPr>
          <p:cNvPr id="27" name="Picture 26" descr="speed_prod_3cha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024128"/>
            <a:ext cx="11887200" cy="407822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АНАЛИЗ ДАННЫХ ECM — КЛЮЧЕВЫЕ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38 агрегатов  •  133 файла ECM INSITE  •  Май–Июнь 2026</a:t>
            </a:r>
          </a:p>
        </p:txBody>
      </p:sp>
      <p:pic>
        <p:nvPicPr>
          <p:cNvPr id="6" name="Picture 5" descr="ecm_analysis_4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EGT — ПЕРЕГРЕВ ВЫХЛОПНЫХ ГАЗОВ ПО ЦИЛИНДРАМ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ECM1/ECM144: 20 из 38 агрегатов имеют события перегрева EGT  •  ECM0 не реагирует — все EGT-триггеры отключены</a:t>
            </a:r>
          </a:p>
        </p:txBody>
      </p:sp>
      <p:pic>
        <p:nvPicPr>
          <p:cNvPr id="6" name="Picture 5" descr="ecm_eg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24128"/>
            <a:ext cx="117957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 Light"/>
              </a:rPr>
              <a:t>РЕЗУЛЬТАТЫ АНАЛИЗА ECM — КРИТИЧЕСКИЕ НАХОДКИ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EF0AF"/>
                </a:solidFill>
                <a:latin typeface="Calibri"/>
              </a:rPr>
              <a:t>Прямые доказательства перегрева и неправильных режимов работы двигателя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34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611 — горячий останов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Двигатель перегревается
перед каждым выключением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81528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81528" y="10515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2968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F4444"/>
                </a:solidFill>
                <a:latin typeface="Calibri Light"/>
              </a:rPr>
              <a:t>641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2968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Горячих остановок всего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Подтверждён систематический
перегрев при останове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25896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17336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20 / 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Имеют перегрев EGT (ECM1)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17336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Датчики работают,
ECM0 — не реагирует!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0264" y="10515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0264" y="1051560"/>
            <a:ext cx="289864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115568"/>
            <a:ext cx="2697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991B1B"/>
                </a:solidFill>
                <a:latin typeface="Calibri Light"/>
              </a:rPr>
              <a:t>259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61704" y="1773936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событий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704" y="1956816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Максимум EGT (агр.82)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2249424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Цилиндр 11 A6: 171 ош. цепи
+ 88 отклонений темп.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7160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9 / 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234 — обороты превышены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Агр.90: 41 событие
Агр.75: макс. 2532 об/мин!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81528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81528" y="2651760"/>
            <a:ext cx="289864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72968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 Light"/>
              </a:rPr>
              <a:t>113°C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2968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макс. охлажд.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72968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71: 14 мин 55 сек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72968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~99°C Amber
107°C — Red (аварийный стоп)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25896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25896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17336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150°C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впускной коллектор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17336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Агрегат 52: цил.2, 2 мин 50 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17336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Норма: ~50–60°C
150°C = турбо/интеркулер отказ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70264" y="2651760"/>
            <a:ext cx="2898648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0264" y="2651760"/>
            <a:ext cx="289864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61704" y="2715768"/>
            <a:ext cx="2697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F4444"/>
                </a:solidFill>
                <a:latin typeface="Calibri Light"/>
              </a:rPr>
              <a:t>12 / 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3355848"/>
            <a:ext cx="2697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агрегатов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1704" y="353872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FC 556 — давление картера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1704" y="3831336"/>
            <a:ext cx="2697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Прорыв газов — признак
мех. повреждения двигателя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160" y="4279392"/>
            <a:ext cx="11887200" cy="36576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4352544"/>
            <a:ext cx="1170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EF0AF"/>
                </a:solidFill>
                <a:latin typeface="Calibri"/>
              </a:rPr>
              <a:t>ЦЕПОЧКА ДОКАЗАТЕЛЬСТВ: ECM MISCONFIGURATION → ПЕРЕГРЕВ → ОТКАЗ КЛАПАНОВ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0311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ECM0 отключил все
EGT-триггеры защиты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93391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167128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167128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212848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40280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ECM1 фиксирует перегрев EGT
20/38 агрегатов, до 259 событий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23360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7096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97096" y="4718304"/>
            <a:ext cx="1847088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42816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 Light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70248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Охл. жидкость до 113°C,
впускной коллектор до 150°C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3327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27064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227064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72784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611: 641 горячий останов
систематический перегрев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83296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57032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257032" y="4718304"/>
            <a:ext cx="18470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02752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 Light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0184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Высокий RPM (до 2532)
TIB 200%, задержки 43-51 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13264" y="507492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EF0AF"/>
                </a:solidFill>
                <a:latin typeface="Calibri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287000" y="4718304"/>
            <a:ext cx="1847088" cy="111556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287000" y="4718304"/>
            <a:ext cx="1847088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332720" y="4773168"/>
            <a:ext cx="274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91B1B"/>
                </a:solidFill>
                <a:latin typeface="Calibri Light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0152" y="5047488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Calibri"/>
              </a:rPr>
              <a:t>FC 556: давление картера
12 агрегатов — мех. повреждения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FFFFFF"/>
                </a:solidFill>
                <a:latin typeface="Calibri Light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 Light"/>
              </a:rPr>
              <a:t>ДЕТАЛЬНЫЙ АНАЛИЗ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EF0AF"/>
                </a:solidFill>
                <a:latin typeface="Calibri"/>
              </a:rPr>
              <a:t>Разница конфигураций ECM0/ECM1/ECM144 • Физические механизмы • Температурные данные INSITE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ДЕТАЛЬНОЕ СРАВНЕНИЕ ПАРАМЕТРОВ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6 ключевых параметров • Механизм воздействия на выпускной клапан • NTE200 vs 730E AC</a:t>
            </a:r>
          </a:p>
        </p:txBody>
      </p:sp>
      <p:pic>
        <p:nvPicPr>
          <p:cNvPr id="6" name="Picture 5" descr="ecm_params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1005840"/>
            <a:ext cx="120426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ПАРАДОКС ECM: ДАТЧИКИ РАБОТАЮТ — ЗАЩИТА ОТКЛЮЧЕНА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ECM1/ECM144 фиксируют перегрев EGT  •  ECM0 игнорирует данные  •  Агрегат 83: цилиндр 12 = 934°C</a:t>
            </a:r>
          </a:p>
        </p:txBody>
      </p:sp>
      <p:pic>
        <p:nvPicPr>
          <p:cNvPr id="6" name="Picture 5" descr="ecm_architecture_parad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ТЕПЛОВАЯ КАРТА EGT — ВСЕ 16 ЦИЛИНДРОВ × 38 АГРЕГАТОВ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Данные при снятии ECM snapshot (INSITE)  •  A-банк (ECM144) + B-банк (ECM1)  •  Цил.12 аг.83 = 934°C</a:t>
            </a:r>
          </a:p>
        </p:txBody>
      </p:sp>
      <p:pic>
        <p:nvPicPr>
          <p:cNvPr id="6" name="Picture 5" descr="egt_full_16cy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05840"/>
            <a:ext cx="1200607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КОРРЕЛЯЦИЯ ECM-ПОКАЗАТЕЛЕЙ С ОТКАЗАМИ КЛАПАНОВ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Все 38 агрегатов  •  6 индикаторов  •  сортировка по тяжести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" y="6291072"/>
            <a:ext cx="12006072" cy="475488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cm_unit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" y="1005840"/>
            <a:ext cx="1207008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45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 Light"/>
              </a:rPr>
              <a:t>ИТОГОВАЯ ТАБЛИЦА: КЛЮЧЕВЫЕ ECM-ПОКАЗАТЕЛИ ПО АГРЕГАТАМ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03504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EF0AF"/>
                </a:solidFill>
                <a:latin typeface="Calibri"/>
              </a:rPr>
              <a:t>38 агрегатов  •  Наработка • FC611 • EGT-события • Макс. T° • Макс. EGT-цилиндр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18,859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27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4708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4144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3580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4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27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4708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144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3580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446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19,049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527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4708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4144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1752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3580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2648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17,923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4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527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2880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4708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42316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4144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3580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9728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436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344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527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84708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42316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4144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3580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9728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52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436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17,823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2344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527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82880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84708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42316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4144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1752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3580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387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9728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9436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2648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17,582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344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527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2880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84708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2316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4144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01752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03580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44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728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△56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9436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17,410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2344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527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82880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84708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2316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01752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3580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144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9728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9436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12648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17,116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2344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527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82880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4708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42316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244144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01752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03580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9728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9436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2648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16,851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2344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2527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2880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84708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42316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44144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01752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03580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44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9728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9436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12648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17,068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2344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2527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82880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84708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138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42316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44144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01752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03580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144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9728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△60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59436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12648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17,330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2344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2527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82880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4708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42316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44144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01752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580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162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144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728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9436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15,813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2344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2527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82880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84708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42316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44144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1752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3580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359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9144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9728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9436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12648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12,065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2344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527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83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82880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84708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42316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44144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01752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03580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44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9728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64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9436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12648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11,543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2344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2527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82880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84708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42316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44144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104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301752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03580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260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44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09728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9436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12648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11,796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2344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2527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32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82880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84708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2316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01752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03580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44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09728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66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9436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612648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11,305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344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2527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82880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84708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242316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244144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301752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303580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9144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9728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△67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59436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612648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11,342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2344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2527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82880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84708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128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242316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44144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301752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303580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306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9144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9728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✗69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59436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12648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10,543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2344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2527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82880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84708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42316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44144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301752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303580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217920" y="1024128"/>
            <a:ext cx="50292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245352" y="1033272"/>
            <a:ext cx="45720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Аг.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6720840" y="1024128"/>
            <a:ext cx="64008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748272" y="1033272"/>
            <a:ext cx="59435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Нар.(ч)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36091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738835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FC611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955279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982711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соб.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549640" y="1024128"/>
            <a:ext cx="59436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577072" y="1033272"/>
            <a:ext cx="548640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T°ОЖ
°C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144000" y="1024128"/>
            <a:ext cx="777240" cy="236372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9171432" y="1033272"/>
            <a:ext cx="731519" cy="214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EF0AF"/>
                </a:solidFill>
                <a:latin typeface="Calibri"/>
              </a:rPr>
              <a:t>EGT
макс°C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6217920" y="126050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236207" y="127878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70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6720840" y="126050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739127" y="127878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11,045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736091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737920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955279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973567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108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549640" y="126050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567928" y="127878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9144000" y="126050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9162288" y="127878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217920" y="147538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6236207" y="149367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71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720840" y="147538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739127" y="149367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10,792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36091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37920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955279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973567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8549640" y="147538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8567928" y="149367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113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9144000" y="147538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9162288" y="149367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6217920" y="169026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6236207" y="170855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✗72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720840" y="169026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6739127" y="170855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10,801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36091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7920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7955279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7973567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79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8549640" y="169026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8567928" y="170855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9144000" y="169026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9162288" y="170855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283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6217920" y="190515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6236207" y="192344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△73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6720840" y="190515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6739127" y="192344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10,307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36091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737920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955279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973567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8549640" y="190515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8567928" y="192344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9144000" y="190515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9162288" y="192344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347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6217920" y="212003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6236207" y="213832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720840" y="212003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739127" y="213832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10,283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736091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737920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955279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973567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549640" y="212003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8567928" y="213832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144000" y="212003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9162288" y="213832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297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6217920" y="233492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6236207" y="235320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76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6720840" y="233492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6739127" y="235320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10,041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736091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737920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16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955279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7973567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8549640" y="233492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567928" y="235320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144000" y="233492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9162288" y="235320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263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6217920" y="254980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6236207" y="256809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720840" y="254980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739127" y="256809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10,075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36091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737920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955279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7973567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8549640" y="254980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8567928" y="256809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9144000" y="254980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9162288" y="256809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287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217920" y="276468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236207" y="278297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F4444"/>
                </a:solidFill>
                <a:latin typeface="Calibri"/>
              </a:rPr>
              <a:t>✗78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6720840" y="276468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6739127" y="278297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9,305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36091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37920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28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955279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7973567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549640" y="276468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567928" y="278297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103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144000" y="276468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TextBox 352"/>
          <p:cNvSpPr txBox="1"/>
          <p:nvPr/>
        </p:nvSpPr>
        <p:spPr>
          <a:xfrm>
            <a:off x="9162288" y="278297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316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6217920" y="297957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236207" y="299786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79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720840" y="297957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739127" y="299786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4,516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736091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737920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54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7955279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7973567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549640" y="297957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567928" y="299786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9144000" y="297957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9162288" y="299786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266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6217920" y="3194456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6236207" y="321274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82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720840" y="3194456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6739127" y="321274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4,014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736091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737920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955279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973567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259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549640" y="3194456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8567928" y="321274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9144000" y="3194456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9162288" y="321274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318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6217920" y="3409340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6236207" y="342762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91B1B"/>
                </a:solidFill>
                <a:latin typeface="Calibri"/>
              </a:rPr>
              <a:t>!!83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6720840" y="3409340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6739127" y="342762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3,767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736091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737920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31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7955279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7973567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F4444"/>
                </a:solidFill>
                <a:latin typeface="Calibri"/>
              </a:rPr>
              <a:t>101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8549640" y="3409340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8567928" y="342762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9144000" y="3409340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9162288" y="342762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91B1B"/>
                </a:solidFill>
                <a:latin typeface="Calibri"/>
              </a:rPr>
              <a:t>934!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6217920" y="3624224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6236207" y="364251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84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6720840" y="3624224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6739127" y="364251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736091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737920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7955279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7973567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8549640" y="3624224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8567928" y="364251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9144000" y="3624224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9162288" y="364251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281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6217920" y="3839108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6236207" y="385739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△85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6720840" y="3839108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6739127" y="385739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3,774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736091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737920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7955279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7973567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8549640" y="3839108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8567928" y="385739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9144000" y="3839108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9162288" y="385739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315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217920" y="4053992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6236207" y="407228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△86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6720840" y="4053992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TextBox 416"/>
          <p:cNvSpPr txBox="1"/>
          <p:nvPr/>
        </p:nvSpPr>
        <p:spPr>
          <a:xfrm>
            <a:off x="6739127" y="407228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3,531</a:t>
            </a:r>
          </a:p>
        </p:txBody>
      </p:sp>
      <p:sp>
        <p:nvSpPr>
          <p:cNvPr id="418" name="Rectangle 417"/>
          <p:cNvSpPr/>
          <p:nvPr/>
        </p:nvSpPr>
        <p:spPr>
          <a:xfrm>
            <a:off x="736091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737920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7955279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7973567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23</a:t>
            </a:r>
          </a:p>
        </p:txBody>
      </p:sp>
      <p:sp>
        <p:nvSpPr>
          <p:cNvPr id="422" name="Rectangle 421"/>
          <p:cNvSpPr/>
          <p:nvPr/>
        </p:nvSpPr>
        <p:spPr>
          <a:xfrm>
            <a:off x="8549640" y="4053992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8567928" y="407228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9144000" y="4053992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TextBox 424"/>
          <p:cNvSpPr txBox="1"/>
          <p:nvPr/>
        </p:nvSpPr>
        <p:spPr>
          <a:xfrm>
            <a:off x="9162288" y="407228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312</a:t>
            </a:r>
          </a:p>
        </p:txBody>
      </p:sp>
      <p:sp>
        <p:nvSpPr>
          <p:cNvPr id="426" name="Rectangle 425"/>
          <p:cNvSpPr/>
          <p:nvPr/>
        </p:nvSpPr>
        <p:spPr>
          <a:xfrm>
            <a:off x="6217920" y="4268876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236207" y="4287164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87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20840" y="4268876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TextBox 428"/>
          <p:cNvSpPr txBox="1"/>
          <p:nvPr/>
        </p:nvSpPr>
        <p:spPr>
          <a:xfrm>
            <a:off x="6739127" y="4287164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3,778</a:t>
            </a:r>
          </a:p>
        </p:txBody>
      </p:sp>
      <p:sp>
        <p:nvSpPr>
          <p:cNvPr id="430" name="Rectangle 429"/>
          <p:cNvSpPr/>
          <p:nvPr/>
        </p:nvSpPr>
        <p:spPr>
          <a:xfrm>
            <a:off x="736091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37920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12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955279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TextBox 432"/>
          <p:cNvSpPr txBox="1"/>
          <p:nvPr/>
        </p:nvSpPr>
        <p:spPr>
          <a:xfrm>
            <a:off x="7973567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  <p:sp>
        <p:nvSpPr>
          <p:cNvPr id="434" name="Rectangle 433"/>
          <p:cNvSpPr/>
          <p:nvPr/>
        </p:nvSpPr>
        <p:spPr>
          <a:xfrm>
            <a:off x="8549640" y="4268876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8567928" y="4287164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-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9144000" y="4268876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TextBox 436"/>
          <p:cNvSpPr txBox="1"/>
          <p:nvPr/>
        </p:nvSpPr>
        <p:spPr>
          <a:xfrm>
            <a:off x="9162288" y="4287164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6217920" y="4483760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6236207" y="4502048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Calibri"/>
              </a:rPr>
              <a:t>△88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6720840" y="4483760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739127" y="4502048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3,266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736091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37920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955279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73567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8549640" y="4483760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8567928" y="4502048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101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144000" y="4483760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9162288" y="4502048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326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6217920" y="4698644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6236207" y="4716932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89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20840" y="4698644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739127" y="4716932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3,508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36091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737920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7955279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7973567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9E0B"/>
                </a:solidFill>
                <a:latin typeface="Calibri"/>
              </a:rPr>
              <a:t>15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8549640" y="4698644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8567928" y="4716932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100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9144000" y="4698644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9162288" y="4716932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CA3AF"/>
                </a:solidFill>
                <a:latin typeface="Calibri"/>
              </a:rPr>
              <a:t>319</a:t>
            </a:r>
          </a:p>
        </p:txBody>
      </p:sp>
      <p:sp>
        <p:nvSpPr>
          <p:cNvPr id="462" name="Rectangle 461"/>
          <p:cNvSpPr/>
          <p:nvPr/>
        </p:nvSpPr>
        <p:spPr>
          <a:xfrm>
            <a:off x="6217920" y="4913528"/>
            <a:ext cx="50292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6236207" y="4931816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90</a:t>
            </a:r>
          </a:p>
        </p:txBody>
      </p:sp>
      <p:sp>
        <p:nvSpPr>
          <p:cNvPr id="464" name="Rectangle 463"/>
          <p:cNvSpPr/>
          <p:nvPr/>
        </p:nvSpPr>
        <p:spPr>
          <a:xfrm>
            <a:off x="6720840" y="4913528"/>
            <a:ext cx="64008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6739127" y="4931816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736091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737920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68" name="Rectangle 467"/>
          <p:cNvSpPr/>
          <p:nvPr/>
        </p:nvSpPr>
        <p:spPr>
          <a:xfrm>
            <a:off x="7955279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TextBox 468"/>
          <p:cNvSpPr txBox="1"/>
          <p:nvPr/>
        </p:nvSpPr>
        <p:spPr>
          <a:xfrm>
            <a:off x="7973567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0" name="Rectangle 469"/>
          <p:cNvSpPr/>
          <p:nvPr/>
        </p:nvSpPr>
        <p:spPr>
          <a:xfrm>
            <a:off x="8549640" y="4913528"/>
            <a:ext cx="59436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8567928" y="4931816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9144000" y="4913528"/>
            <a:ext cx="777240" cy="214884"/>
          </a:xfrm>
          <a:prstGeom prst="rect">
            <a:avLst/>
          </a:prstGeom>
          <a:solidFill>
            <a:srgbClr val="293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9162288" y="4931816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6217920" y="5128412"/>
            <a:ext cx="50292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6236207" y="5146700"/>
            <a:ext cx="46634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9CA3AF"/>
                </a:solidFill>
                <a:latin typeface="Calibri"/>
              </a:rPr>
              <a:t> 91</a:t>
            </a:r>
          </a:p>
        </p:txBody>
      </p:sp>
      <p:sp>
        <p:nvSpPr>
          <p:cNvPr id="476" name="Rectangle 475"/>
          <p:cNvSpPr/>
          <p:nvPr/>
        </p:nvSpPr>
        <p:spPr>
          <a:xfrm>
            <a:off x="6720840" y="5128412"/>
            <a:ext cx="64008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6739127" y="5146700"/>
            <a:ext cx="603503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736091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TextBox 478"/>
          <p:cNvSpPr txBox="1"/>
          <p:nvPr/>
        </p:nvSpPr>
        <p:spPr>
          <a:xfrm>
            <a:off x="737920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0" name="Rectangle 479"/>
          <p:cNvSpPr/>
          <p:nvPr/>
        </p:nvSpPr>
        <p:spPr>
          <a:xfrm>
            <a:off x="7955279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TextBox 480"/>
          <p:cNvSpPr txBox="1"/>
          <p:nvPr/>
        </p:nvSpPr>
        <p:spPr>
          <a:xfrm>
            <a:off x="7973567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2" name="Rectangle 481"/>
          <p:cNvSpPr/>
          <p:nvPr/>
        </p:nvSpPr>
        <p:spPr>
          <a:xfrm>
            <a:off x="8549640" y="5128412"/>
            <a:ext cx="59436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TextBox 482"/>
          <p:cNvSpPr txBox="1"/>
          <p:nvPr/>
        </p:nvSpPr>
        <p:spPr>
          <a:xfrm>
            <a:off x="8567928" y="5146700"/>
            <a:ext cx="55778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4" name="Rectangle 483"/>
          <p:cNvSpPr/>
          <p:nvPr/>
        </p:nvSpPr>
        <p:spPr>
          <a:xfrm>
            <a:off x="9144000" y="5128412"/>
            <a:ext cx="777240" cy="214884"/>
          </a:xfrm>
          <a:prstGeom prst="rect">
            <a:avLst/>
          </a:prstGeom>
          <a:solidFill>
            <a:srgbClr val="1F26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TextBox 484"/>
          <p:cNvSpPr txBox="1"/>
          <p:nvPr/>
        </p:nvSpPr>
        <p:spPr>
          <a:xfrm>
            <a:off x="9162288" y="5146700"/>
            <a:ext cx="740664" cy="178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5F5F5"/>
                </a:solidFill>
                <a:latin typeface="Calibri"/>
              </a:rPr>
              <a:t>-</a:t>
            </a:r>
          </a:p>
        </p:txBody>
      </p:sp>
      <p:sp>
        <p:nvSpPr>
          <p:cNvPr id="486" name="Rectangle 485"/>
          <p:cNvSpPr/>
          <p:nvPr/>
        </p:nvSpPr>
        <p:spPr>
          <a:xfrm>
            <a:off x="6144768" y="1005840"/>
            <a:ext cx="54864" cy="576072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40000"/>
            <a:ext cx="12189600" cy="2160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40000"/>
            <a:ext cx="12189600" cy="10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2592000"/>
            <a:ext cx="18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3EF0AF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0" y="2808000"/>
            <a:ext cx="90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АНАЛИЗ DML ЛОГОВ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0000" y="3671999"/>
            <a:ext cx="86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EF0AF"/>
                </a:solidFill>
              </a:rPr>
              <a:t>Динамический анализ параметров двигателя в реальном времени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5220000"/>
            <a:ext cx="2700000" cy="90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8000" y="5256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EF0AF"/>
                </a:solidFill>
              </a:rPr>
              <a:t>02.06.2026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5652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77"/>
                </a:solidFill>
              </a:rPr>
              <a:t>Дата теста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0000" y="5220000"/>
            <a:ext cx="2700000" cy="90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8000" y="5256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EF0AF"/>
                </a:solidFill>
              </a:rPr>
              <a:t>Агрегат 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8000" y="5652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77"/>
                </a:solidFill>
              </a:rPr>
              <a:t>Объект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5220000"/>
            <a:ext cx="2700000" cy="90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8000" y="5256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EF0AF"/>
                </a:solidFill>
              </a:rPr>
              <a:t>2 теста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5652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77"/>
                </a:solidFill>
              </a:rPr>
              <a:t>Кол-во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0000" y="5220000"/>
            <a:ext cx="2700000" cy="90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8000" y="5256000"/>
            <a:ext cx="25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EF0AF"/>
                </a:solidFill>
              </a:rPr>
              <a:t>13.5 + 23.8 мин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8000" y="5652000"/>
            <a:ext cx="25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67777"/>
                </a:solidFill>
              </a:rPr>
              <a:t>Длительность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63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7777"/>
                </a:solidFill>
              </a:rPr>
              <a:t>Методология: тест без нагрузки (порожний рейс) + тест под нагрузкой (с породой)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92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08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КЛЮЧЕВЫЕ ВЫВОДЫ DML — АГРЕГАТ 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58000"/>
            <a:ext cx="10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</a:rPr>
              <a:t>02 июня 2026  |  Тест 1 (без породы) + Тест 2 (с породой)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90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6000" y="1008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6000" y="99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29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4444"/>
                </a:solidFill>
              </a:rPr>
              <a:t>567°C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205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Макс. ЕГТ цил.6 и цил.2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241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Цилиндры 6 и 2 достигают 567°C под нагрузкой.
Предел клапана Cummins QSK50: 650°C.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8000" y="90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6000" y="1008000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99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ВЫСОКАЯ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2000" y="129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8C42"/>
                </a:solidFill>
              </a:rP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2000" y="205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Нагрузка с породой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2000" y="241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Средняя нагрузка 88% при ведении с породой.
Это в 4.1x выше порожнего режима (21%).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8000" y="90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6000" y="1008000"/>
            <a:ext cx="1260000" cy="234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6000" y="99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КОНТРОЛЬ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2000" y="129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D166"/>
                </a:solidFill>
              </a:rPr>
              <a:t>1929 об/м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2000" y="205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Макс. обороты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2000" y="241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Максимальные обороты 1929 rpm под нагрузкой.
Ниже лимита 2100, но TIB=200% удваивает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00" y="378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" y="3888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000" y="387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ДЕФЕКТ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417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4444"/>
                </a:solidFill>
              </a:rPr>
              <a:t>Цил.11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493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Отказ датчика ЕГТ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000" y="529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63% времени теста датчик ЕГТ цил.11 выдаёт
0°C — признак обгоревшего клапана.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48000" y="378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56000" y="3888000"/>
            <a:ext cx="1260000" cy="234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6000" y="387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КРИТИЧНО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2000" y="417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4444"/>
                </a:solidFill>
              </a:rPr>
              <a:t>525°C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92000" y="493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Ср. ЕГТ правого банка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92000" y="529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Правый банк (B-банк, чётные цилиндры) горячее
левого на 60°C в среднем под нагрузкой.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08000" y="3780000"/>
            <a:ext cx="3780000" cy="2700000"/>
          </a:xfrm>
          <a:prstGeom prst="rect">
            <a:avLst/>
          </a:prstGeom>
          <a:solidFill>
            <a:srgbClr val="1E2529"/>
          </a:solidFill>
          <a:ln w="1905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16000" y="3888000"/>
            <a:ext cx="1260000" cy="234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6000" y="3870000"/>
            <a:ext cx="1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93136"/>
                </a:solidFill>
              </a:rPr>
              <a:t>НАГРЕВ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2000" y="4176000"/>
            <a:ext cx="342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8C42"/>
                </a:solidFill>
              </a:rPr>
              <a:t>+186°C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52000" y="4932000"/>
            <a:ext cx="34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Прирост ЕГТ под нагрузкой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2000" y="5292000"/>
            <a:ext cx="352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Нагрузка поднимает ЕГТ с 287°C до 474°C.
Дельта +186°C при нагрузке с породой.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503999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6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DML: ДИНАМИКА ПАРАМЕТРОВ — АГРЕГАТ 82</a:t>
            </a:r>
          </a:p>
        </p:txBody>
      </p:sp>
      <p:pic>
        <p:nvPicPr>
          <p:cNvPr id="4" name="Picture 3" descr="dml_t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540000"/>
            <a:ext cx="11700000" cy="804728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503999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6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DML: ТЕМПЕРАТУРА ЕГТ ПО ЦИЛИНДРАМ — АГРЕГАТ 82</a:t>
            </a:r>
          </a:p>
        </p:txBody>
      </p:sp>
      <p:pic>
        <p:nvPicPr>
          <p:cNvPr id="4" name="Picture 3" descr="dml_egt_cy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540000"/>
            <a:ext cx="11700000" cy="507661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503999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6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DML: АНОМАЛИЯ ЕГТ ЦИЛ.11 + РЕЙТИНГ ГОРЯЧИХ ЦИЛИНДРОВ</a:t>
            </a:r>
          </a:p>
        </p:txBody>
      </p:sp>
      <p:pic>
        <p:nvPicPr>
          <p:cNvPr id="4" name="Picture 3" descr="dml_cyl11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540000"/>
            <a:ext cx="11700000" cy="58018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503999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36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DML: ТЕМПЕРАТУРНАЯ АСИММЕТРИЯ БАНКОВ  |  Тест 2 (с породой)</a:t>
            </a:r>
          </a:p>
        </p:txBody>
      </p:sp>
      <p:sp>
        <p:nvSpPr>
          <p:cNvPr id="4" name="Rectangle 3"/>
          <p:cNvSpPr/>
          <p:nvPr/>
        </p:nvSpPr>
        <p:spPr>
          <a:xfrm>
            <a:off x="180000" y="6192000"/>
            <a:ext cx="11700000" cy="576000"/>
          </a:xfrm>
          <a:prstGeom prst="rect">
            <a:avLst/>
          </a:prstGeom>
          <a:solidFill>
            <a:srgbClr val="1E2529"/>
          </a:solidFill>
          <a:ln w="127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228000"/>
            <a:ext cx="1152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42"/>
                </a:solidFill>
              </a:rPr>
              <a:t>ВЫВОД: B-банк (правый, чётные) в среднем на 60°C горячее A-банка. Цил.6 и Цил.2 — лидеры перегрева (567°C max).</a:t>
            </a:r>
          </a:p>
        </p:txBody>
      </p:sp>
      <p:pic>
        <p:nvPicPr>
          <p:cNvPr id="6" name="Picture 5" descr="dml_bank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540000"/>
            <a:ext cx="11700000" cy="5580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720000"/>
          </a:xfrm>
          <a:prstGeom prst="rect">
            <a:avLst/>
          </a:prstGeom>
          <a:solidFill>
            <a:srgbClr val="1E25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72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DML: ЗАКЛЮЧЕНИЕ И РЕКОМЕНДАЦИИ — АГРЕГАТ 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EF0AF"/>
                </a:solidFill>
              </a:rPr>
              <a:t>На основе анализа 2 DML-логов от 02.06.2026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792000"/>
            <a:ext cx="5580000" cy="288000"/>
          </a:xfrm>
          <a:prstGeom prst="rect">
            <a:avLst/>
          </a:prstGeom>
          <a:solidFill>
            <a:srgbClr val="F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" y="792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3136"/>
                </a:solidFill>
              </a:rPr>
              <a:t>ПОДТВЕРЖДЁННЫЕ РИСКИ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1152000"/>
            <a:ext cx="5580000" cy="126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444"/>
                </a:solidFill>
              </a:rPr>
              <a:t>1. Цил.11 — отказ датчика ЕГТ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48000"/>
            <a:ext cx="532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77"/>
                </a:solidFill>
              </a:rPr>
              <a:t>63% времени теста датчик показывает 0°C при
полной нагрузке. Дефект клапана → обрыв термопары.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0000" y="2520000"/>
            <a:ext cx="5580000" cy="126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00" y="2592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444"/>
                </a:solidFill>
              </a:rPr>
              <a:t>2. Цил.6 и Цил.2 — температурный экстремум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2916000"/>
            <a:ext cx="532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77"/>
                </a:solidFill>
              </a:rPr>
              <a:t>Оба достигают 567°C при нагрузке 88%.
Цил.6 — хронически горячий (avg 530°C).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0000" y="3888000"/>
            <a:ext cx="5580000" cy="126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00" y="3960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444"/>
                </a:solidFill>
              </a:rPr>
              <a:t>3. B-банк системно горячее A-банка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4284000"/>
            <a:ext cx="532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77"/>
                </a:solidFill>
              </a:rPr>
              <a:t>Delta +60°C между банками под нагрузкой.
Асимметрия может указывать на дисбаланс TIB.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0000" y="5255999"/>
            <a:ext cx="5580000" cy="1260000"/>
          </a:xfrm>
          <a:prstGeom prst="rect">
            <a:avLst/>
          </a:prstGeom>
          <a:solidFill>
            <a:srgbClr val="1E2529"/>
          </a:solidFill>
          <a:ln w="12700">
            <a:solidFill>
              <a:srgbClr val="F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5327999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444"/>
                </a:solidFill>
              </a:rPr>
              <a:t>4. Нагрузка +4x при работе с породой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00" y="5651999"/>
            <a:ext cx="532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7777"/>
                </a:solidFill>
              </a:rPr>
              <a:t>С 21% до 88% — экстремальный нагрев при каждом
рейсе с загрузкой. При 200% TIB нагрев удваивается.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000" y="792000"/>
            <a:ext cx="5580000" cy="288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000" y="792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3136"/>
                </a:solidFill>
              </a:rPr>
              <a:t>РЕКОМЕНДАЦИИ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000" y="1152000"/>
            <a:ext cx="5580000" cy="1007999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8000" y="1224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1. СРОЧНО: Инспекция цилиндра 11 A-банка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1512000"/>
            <a:ext cx="53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Стробоскопическая и механическая проверка клапана 11.
Замена термопары ЕГТ. Компрессия цилиндра.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0000" y="2232000"/>
            <a:ext cx="5580000" cy="1007999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8000" y="2304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2. Мониторинг цилиндров 6 и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8000" y="2592000"/>
            <a:ext cx="53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Установить пороговую сигнализацию 520°C для Ц6 и Ц2.
Плановый осмотр при следующем ТО.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0000" y="3311999"/>
            <a:ext cx="5580000" cy="1007999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8000" y="3383999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3. Рекалибровка TIB для NTE200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8000" y="3671999"/>
            <a:ext cx="53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Снизить TIB с 200% до 150-160% → снизит нагрев
на 25-35°C при тех же эксплуатационных показателях.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0000" y="4392000"/>
            <a:ext cx="5580000" cy="1007999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8000" y="4464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4. Включить ограничение ЕГТ в ECM0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8000" y="4752000"/>
            <a:ext cx="53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Активировать C_EPD_OT_RPM_Drt_En → деррейт
оборотов при перегреве ЕГТ &gt;500°C.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0000" y="5472000"/>
            <a:ext cx="5580000" cy="1007999"/>
          </a:xfrm>
          <a:prstGeom prst="rect">
            <a:avLst/>
          </a:prstGeom>
          <a:solidFill>
            <a:srgbClr val="1E2529"/>
          </a:solidFill>
          <a:ln w="12700">
            <a:solidFill>
              <a:srgbClr val="3EF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8000" y="5544000"/>
            <a:ext cx="53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EF0AF"/>
                </a:solidFill>
              </a:rPr>
              <a:t>5. Регулярный DML-мониторинг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8000" y="5832000"/>
            <a:ext cx="532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777"/>
                </a:solidFill>
              </a:rPr>
              <a:t>Ежемесячный DML тест под нагрузкой для всего
парка. Приоритет: единицы 82, 75, 83, 80.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0000" y="792000"/>
            <a:ext cx="54000" cy="5940000"/>
          </a:xfrm>
          <a:prstGeom prst="rect">
            <a:avLst/>
          </a:prstGeom>
          <a:solidFill>
            <a:srgbClr val="66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552000"/>
            <a:ext cx="12189600" cy="306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0000" y="6570000"/>
            <a:ext cx="11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93136"/>
                </a:solidFill>
              </a:rPr>
              <a:t>Агрегат 82 — наивысший риск в парке. DML подтверждает начало отказа Цил.11. Требуется немедленная диагностика.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