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3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54864" cy="685800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515600" y="0"/>
            <a:ext cx="36576" cy="685800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228600"/>
            <a:ext cx="3200400" cy="50292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256032"/>
            <a:ext cx="3017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4D399"/>
                </a:solidFill>
                <a:latin typeface="Calibri"/>
              </a:rPr>
              <a:t>КТГ  •  АНАЛИЗ НЕИСПРАВНОСТЕЙ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005840"/>
            <a:ext cx="8229600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143000"/>
            <a:ext cx="8686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АНАЛИЗ ПРИЧИН ИЗНОСА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2103120"/>
            <a:ext cx="8686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34D399"/>
                </a:solidFill>
                <a:latin typeface="Calibri"/>
              </a:rPr>
              <a:t>ВЫПУСКНЫХ КЛАПАНОВ QSK50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3090672"/>
            <a:ext cx="8229600" cy="4572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600" y="32004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CA3AF"/>
                </a:solidFill>
                <a:latin typeface="Calibri"/>
              </a:rPr>
              <a:t>Самосвалы NHL NTE200  •  АО «Полюс Магадан»  •  Омчак, Магаданская область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3794760"/>
            <a:ext cx="1920240" cy="118872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8600" y="3794760"/>
            <a:ext cx="1920240" cy="457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1752" y="3858768"/>
            <a:ext cx="17739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EF4444"/>
                </a:solidFill>
                <a:latin typeface="Calibri"/>
              </a:rPr>
              <a:t>20+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" y="4425696"/>
            <a:ext cx="18105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единиц парка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76856" y="3794760"/>
            <a:ext cx="1920240" cy="118872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76856" y="3794760"/>
            <a:ext cx="192024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50008" y="3858768"/>
            <a:ext cx="17739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9E0B"/>
                </a:solidFill>
                <a:latin typeface="Calibri"/>
              </a:rPr>
              <a:t>30+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4425696"/>
            <a:ext cx="18105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ремонтных событий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25112" y="3794760"/>
            <a:ext cx="1920240" cy="118872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25112" y="3794760"/>
            <a:ext cx="1920240" cy="457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98264" y="3858768"/>
            <a:ext cx="17739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34D399"/>
                </a:solidFill>
                <a:latin typeface="Calibri"/>
              </a:rPr>
              <a:t>2 776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79976" y="4425696"/>
            <a:ext cx="18105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м/ч — ранний отказ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73368" y="3794760"/>
            <a:ext cx="1920240" cy="118872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73368" y="3794760"/>
            <a:ext cx="1920240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3858768"/>
            <a:ext cx="17739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0B981"/>
                </a:solidFill>
                <a:latin typeface="Calibri"/>
              </a:rPr>
              <a:t>18 505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8232" y="4425696"/>
            <a:ext cx="18105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м/ч — поздний отказ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" y="6492240"/>
            <a:ext cx="1179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Конфиденциально  •  Только для внутреннего использования  •  Май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3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3108960"/>
            <a:ext cx="4572000" cy="457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МАСШТАБ ПРОБЛЕМЫ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2062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4D399"/>
                </a:solidFill>
                <a:latin typeface="Calibri"/>
              </a:rPr>
              <a:t>Статистика отказов выпускных клапанов | Парк NTE200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"/>
              </a:rPr>
              <a:t>МАСШТАБ ПРОБЛЕМЫ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Статистика отказов выпускных клапанов QSK50 | Весь парк NTE200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97280"/>
            <a:ext cx="269748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97280"/>
            <a:ext cx="2697480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207007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EF4444"/>
                </a:solidFill>
                <a:latin typeface="Calibri"/>
              </a:rPr>
              <a:t>20+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792224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агрегатов затронуто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82112" y="1097280"/>
            <a:ext cx="269748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182112" y="1097280"/>
            <a:ext cx="269748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73552" y="1207007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59E0B"/>
                </a:solidFill>
                <a:latin typeface="Calibri"/>
              </a:rPr>
              <a:t>30+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73552" y="1792224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ремонтных событий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1344" y="1097280"/>
            <a:ext cx="269748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1344" y="1097280"/>
            <a:ext cx="269748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2783" y="1207007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34D399"/>
                </a:solidFill>
                <a:latin typeface="Calibri"/>
              </a:rPr>
              <a:t>2 776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2783" y="1792224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м/ч мин. наработка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2783" y="205740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до отказа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80576" y="1097280"/>
            <a:ext cx="269748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80576" y="1097280"/>
            <a:ext cx="269748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72015" y="1207007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3B82F6"/>
                </a:solidFill>
                <a:latin typeface="Calibri"/>
              </a:rPr>
              <a:t>100%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72015" y="1792224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парка №43-83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2015" y="205740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CA3AF"/>
                </a:solidFill>
                <a:latin typeface="Calibri"/>
              </a:rPr>
              <a:t>с отказами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82880" y="2514600"/>
          <a:ext cx="118872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674620"/>
                <a:gridCol w="1485900"/>
                <a:gridCol w="6537960"/>
              </a:tblGrid>
              <a:tr h="323556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4D399"/>
                          </a:solidFill>
                          <a:latin typeface="Calibri"/>
                        </a:rPr>
                        <a:t>Ед.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4D399"/>
                          </a:solidFill>
                          <a:latin typeface="Calibri"/>
                        </a:rPr>
                        <a:t>Наработка до отказа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4D399"/>
                          </a:solidFill>
                          <a:latin typeface="Calibri"/>
                        </a:rPr>
                        <a:t>Событий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4D399"/>
                          </a:solidFill>
                          <a:latin typeface="Calibri"/>
                        </a:rPr>
                        <a:t>Поражение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</a:tr>
              <a:tr h="32355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16 033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5 позиций (3L, 4L, 1R, 2R, 3R)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№44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14 751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ВСЕ 14 позиций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2355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12 890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7 позиций + замена ГБЦ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№48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14 997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17 клапанов + турбина + гидроудар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2355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17 550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ВСЕ 16 позиций (2 выпуск + 2 впуск)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№55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17 316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ВСЕ 16 позиций + 4 форсунки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2355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14 808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6 позиций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№69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10 130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Засорение воздушных фильтров + поршни 3R/4R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2355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10 000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8 позиций (2 эпизода)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355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№78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 9 323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3R / 4R / 6R / 6L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23556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 4 696 м/ч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ВСЕ позиции + замена ГБЦ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3568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№83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 2 776 м/ч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КАТАСТРОФИЧЕСКИЙ — шатун / поршень / ГБЦ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"/>
              </a:rPr>
              <a:t>ХРОНОЛОГИЯ ОТКАЗОВ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Авг 2025 — Май 2026 | 14 ключевых событий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1560"/>
            <a:ext cx="11887200" cy="320040"/>
          </a:xfrm>
          <a:prstGeom prst="rect">
            <a:avLst/>
          </a:prstGeom>
          <a:solidFill>
            <a:srgbClr val="2A3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6984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CA3AF"/>
                </a:solidFill>
                <a:latin typeface="Calibri"/>
              </a:rPr>
              <a:t>ДАТА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06984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CA3AF"/>
                </a:solidFill>
                <a:latin typeface="Calibri"/>
              </a:rPr>
              <a:t>ЕД.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06984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CA3AF"/>
                </a:solidFill>
                <a:latin typeface="Calibri"/>
              </a:rPr>
              <a:t>СОБЫТИЕ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19" y="106984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CA3AF"/>
                </a:solidFill>
                <a:latin typeface="Calibri"/>
              </a:rPr>
              <a:t>НАРАБОТКА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371600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2880" y="1371600"/>
            <a:ext cx="36576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" y="1408176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Авг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8448" y="14081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№47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04288" y="1408176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Замена ГБЦ — ранний эпизод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140817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59E0B"/>
                </a:solidFill>
                <a:latin typeface="Calibri"/>
              </a:rPr>
              <a:t>12 890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719072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2880" y="1719072"/>
            <a:ext cx="36576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2608" y="175564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Авг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8448" y="17556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№51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04288" y="175564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Замена ГБЦ, трещина головки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175564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59E0B"/>
                </a:solidFill>
                <a:latin typeface="Calibri"/>
              </a:rPr>
              <a:t>10 783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066543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82880" y="2066543"/>
            <a:ext cx="36576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8" y="210312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Авг 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98448" y="210312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№58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04288" y="2103120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Замена толкателя клапана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10312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59E0B"/>
                </a:solidFill>
                <a:latin typeface="Calibri"/>
              </a:rPr>
              <a:t>10 702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82880" y="2414016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82880" y="2414016"/>
            <a:ext cx="36576" cy="32918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2608" y="2450592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Янв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98448" y="245059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  <a:latin typeface="Calibri"/>
              </a:rPr>
              <a:t>№43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04288" y="2450592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Замена клапанов + 9 форсунок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245059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3B82F6"/>
                </a:solidFill>
                <a:latin typeface="Calibri"/>
              </a:rPr>
              <a:t>16 033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2880" y="2761488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82880" y="2761488"/>
            <a:ext cx="36576" cy="32918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2608" y="2798064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Фев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98448" y="279806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№48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04288" y="2798064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17 клапанов + турбина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5440" y="2798064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EF4444"/>
                </a:solidFill>
                <a:latin typeface="Calibri"/>
              </a:rPr>
              <a:t>14 997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82880" y="3108960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82880" y="3108960"/>
            <a:ext cx="36576" cy="32918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2608" y="3145536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Мар 2026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98448" y="314553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№47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04288" y="3145536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Повт. отказ — 10 клапанов + форсунки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35440" y="314553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EF4444"/>
                </a:solidFill>
                <a:latin typeface="Calibri"/>
              </a:rPr>
              <a:t>12 890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2880" y="3456432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82880" y="3456432"/>
            <a:ext cx="36576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2608" y="349300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Мар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98448" y="34930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№58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04288" y="34930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Повт. отказ — клапан + ГБЦ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35440" y="349300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59E0B"/>
                </a:solidFill>
                <a:latin typeface="Calibri"/>
              </a:rPr>
              <a:t>15 572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82880" y="3803904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82880" y="3803904"/>
            <a:ext cx="36576" cy="32918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92608" y="384048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Мар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98448" y="384048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№83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04288" y="3840480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КАТАСТРОФА — шатун / поршень / ГБЦ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235440" y="384048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EF4444"/>
                </a:solidFill>
                <a:latin typeface="Calibri"/>
              </a:rPr>
              <a:t> 2 776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82880" y="4151376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82880" y="4151376"/>
            <a:ext cx="36576" cy="32918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92608" y="4187952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Апр 2026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98448" y="41879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№48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304288" y="4187952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Гидроудар, водомасляная эмульсия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235440" y="418795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EF4444"/>
                </a:solidFill>
                <a:latin typeface="Calibri"/>
              </a:rPr>
              <a:t>после рем.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82880" y="4498848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82880" y="4498848"/>
            <a:ext cx="36576" cy="32918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92608" y="4535424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Май 2026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98448" y="453542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  <a:latin typeface="Calibri"/>
              </a:rPr>
              <a:t>№55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04288" y="4535424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ВСЕ 16 позиций + 4 форсунки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235440" y="4535424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3B82F6"/>
                </a:solidFill>
                <a:latin typeface="Calibri"/>
              </a:rPr>
              <a:t>17 316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82880" y="4846320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82880" y="4846320"/>
            <a:ext cx="36576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92608" y="4882896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Май 2026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298448" y="488289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№69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04288" y="4882896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Клапаны + засорение фильтров + поршни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235440" y="488289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59E0B"/>
                </a:solidFill>
                <a:latin typeface="Calibri"/>
              </a:rPr>
              <a:t>10 721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82880" y="5193792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82880" y="5193792"/>
            <a:ext cx="36576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92608" y="523036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Май 2026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298448" y="523036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№78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04288" y="523036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3R / 4R / 6R / 6L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235440" y="523036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59E0B"/>
                </a:solidFill>
                <a:latin typeface="Calibri"/>
              </a:rPr>
              <a:t> 9 323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82880" y="5541264"/>
            <a:ext cx="1188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82880" y="5541264"/>
            <a:ext cx="36576" cy="329184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92608" y="557784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Май 2026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298448" y="55778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CA3AF"/>
                </a:solidFill>
                <a:latin typeface="Calibri"/>
              </a:rPr>
              <a:t>№72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304288" y="5577840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Отказ форсунки цил. 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235440" y="557784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9CA3AF"/>
                </a:solidFill>
                <a:latin typeface="Calibri"/>
              </a:rPr>
              <a:t>10 283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82880" y="5888736"/>
            <a:ext cx="1188720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82880" y="5888736"/>
            <a:ext cx="36576" cy="329184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92608" y="5925312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Май 2026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298448" y="592531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CA3AF"/>
                </a:solidFill>
                <a:latin typeface="Calibri"/>
              </a:rPr>
              <a:t>№73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04288" y="5925312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Форсунки — аномалии теста L2/R1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235440" y="592531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9CA3AF"/>
                </a:solidFill>
                <a:latin typeface="Calibri"/>
              </a:rPr>
              <a:t>~9 998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3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3108960"/>
            <a:ext cx="4572000" cy="457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РЕЗУЛЬТАТЫ РАЗБОРКИ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2062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4D399"/>
                </a:solidFill>
                <a:latin typeface="Calibri"/>
              </a:rPr>
              <a:t>Физические признаки и лабораторный анализ NHL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"/>
              </a:rPr>
              <a:t>ФИЗИЧЕСКИЕ ПРИЗНАКИ ПОВРЕЖДЕНИЙ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Данные разборки и дефектовки | Сводка по всем агрегатам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97280"/>
            <a:ext cx="11887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97280"/>
            <a:ext cx="45720" cy="8046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133856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ПРОСАДКА ФАСКИ (РЕЦЕССИЯ КЛАПАНА)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44752"/>
            <a:ext cx="116128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Главный признак. Посадочная поверхность выпускного клапана «утопает» в седле. Твёрдость фаски 40-44 HRC (базовая). Обнаружена на всех исследованных двигателях.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947672"/>
            <a:ext cx="11887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2880" y="1947672"/>
            <a:ext cx="45720" cy="8046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1984248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ПЛАСТИЧЕСКАЯ ДЕФОРМАЦИЯ — «ЗАУСЕНЕЦ» НА ФАСКЕ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" y="2295144"/>
            <a:ext cx="116128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Бурт пластической деформации = признак превышения допустимой T° тарелки. Зафиксировано в отчёте лаборатории NHL (MS&amp;T2026033).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" y="2798064"/>
            <a:ext cx="11887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2880" y="2798064"/>
            <a:ext cx="45720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283464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ЗОЛЬНЫЕ ОТЛОЖЕНИЯ  Ca / Zn / P + Si / 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" y="3145536"/>
            <a:ext cx="116128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EDS-анализ NHL: Ca, Zn, P — зола ZDDP-присадок. Si, Al — силикатная пыль. ОТЯГЧАЮЩИЙ фактор (абразив). Не первопричина — следствие перегрева.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3648456"/>
            <a:ext cx="11887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2880" y="3648456"/>
            <a:ext cx="45720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472" y="368503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ПОВРЕЖДЕНИЕ СМЕЖНЫХ ЭЛЕМЕНТОВ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3995928"/>
            <a:ext cx="116128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№47/48/53/55/81: замена ГБЦ целиком. №83 (2 776 м/ч): разрушение шатуна и поршня. №48: гидроудар (водомасляная эмульсия) после первого ремонта.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4498848"/>
            <a:ext cx="11887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82880" y="4498848"/>
            <a:ext cx="45720" cy="80467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" y="4535424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Calibri"/>
              </a:rPr>
              <a:t>ФОРСУНКИ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" y="4846320"/>
            <a:ext cx="116128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Заменены совместно с клапанами: №43 (9 шт.), №47, №55 (4 шт.), №73. Протечка форсунки → дополнительный нагрев → перегрев клапана.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2880" y="5349240"/>
            <a:ext cx="118872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2880" y="5349240"/>
            <a:ext cx="45720" cy="8046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7472" y="5385816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ТОПОГРАФИЯ ОТКАЗОВ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" y="5696712"/>
            <a:ext cx="116128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Наиболее часто поражены: 3R, 4R, 6R, 6L, 7L, 7R. Потенциально — неравномерность охлаждения ГБЦ.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"/>
              </a:rPr>
              <a:t>АНАЛИЗ ЛАБОРАТОРИИ NHL  •  MS&amp;T2026033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Инженер Тао Лан | СЭМ + EDS спектроскопия + профилометрия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24128"/>
            <a:ext cx="5303520" cy="301752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1024128"/>
            <a:ext cx="5303520" cy="3017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82880" y="4160520"/>
            <a:ext cx="11795760" cy="2514600"/>
          </a:xfrm>
          <a:prstGeom prst="rect">
            <a:avLst/>
          </a:prstGeom>
          <a:solidFill>
            <a:srgbClr val="2A3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" y="4160520"/>
            <a:ext cx="1179576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4224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4D399"/>
                </a:solidFill>
                <a:latin typeface="Calibri"/>
              </a:rPr>
              <a:t>МЕТОДЫ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4526280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СЭМ (электронная микроскопия)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" y="5001768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EDS-спектроскопия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" y="5477256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Измерение твёрдости HRC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" y="5952744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Профилометрия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18688" y="4224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Calibri"/>
              </a:rPr>
              <a:t>EDS РЕЗУЛЬТАТ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18688" y="4526280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Ca + Zn + P = зола ZDDP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18688" y="5001768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Si + Al = силикатная пыль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18688" y="5477256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Слои 5-50 мкм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18688" y="5952744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Абразивная среда в зоне контакта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44768" y="4224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МОРФОЛОГИЯ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44768" y="4526280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Пластич. деформация фаски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5001768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«Заусенец» = T° &gt; лимита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44768" y="5477256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Адгезионный + абразивный износ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4768" y="5952744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Термическое повреждение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0848" y="4224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B82F6"/>
                </a:solidFill>
                <a:latin typeface="Calibri"/>
              </a:rPr>
              <a:t>ВЫВОД NHL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0848" y="4526280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Комплексная причина: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0848" y="5001768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1. Термическое повреждение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0848" y="5477256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2. Абразивный износ (зола+пыль)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70848" y="5952744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3. Адгезионный износ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3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3108960"/>
            <a:ext cx="4572000" cy="457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ГИПОТЕЗЫ О ПРИЧИНАХ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2062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4D399"/>
                </a:solidFill>
                <a:latin typeface="Calibri"/>
              </a:rPr>
              <a:t>8 версий — от конструктивных особенностей до условий эксплуатации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"/>
              </a:rPr>
              <a:t>ОБЗОР ГИПОТЕЗ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8 версий — оценка доказательной базы и приоритет верификации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97280"/>
            <a:ext cx="960120" cy="65836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1188720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H1</a:t>
            </a:r>
          </a:p>
        </p:txBody>
      </p:sp>
      <p:sp>
        <p:nvSpPr>
          <p:cNvPr id="8" name="Rectangle 7"/>
          <p:cNvSpPr/>
          <p:nvPr/>
        </p:nvSpPr>
        <p:spPr>
          <a:xfrm>
            <a:off x="1234440" y="1097280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3312" y="1133856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Настройки ECM двигателя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1426464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Отключённый дератинг, задержки 51/43 с, обороты 2100 vs 1990, TIB 200% vs 100%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829800" y="1097280"/>
            <a:ext cx="2194560" cy="65836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29800" y="1280160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ВЫСОКИЙ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" y="1801368"/>
            <a:ext cx="960120" cy="65836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1892807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34440" y="1801368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53312" y="1837943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Отсутствие наплавки Stellite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2130552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Фаска 40-44 HRC (NTE200) vs 55-65 HRC (Komatsu 730E AC). Разница твёрдости &gt;50%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29800" y="1801368"/>
            <a:ext cx="2194560" cy="65836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29800" y="1984248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ВЫСОКИЙ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2880" y="2505456"/>
            <a:ext cx="960120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2880" y="2596896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34440" y="2505456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53312" y="2542032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Ошибка регулировки зазоров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53312" y="2834640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Малый зазор → клапан не закрывается → потеря охлаждения → перегрев фаски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29800" y="2505456"/>
            <a:ext cx="2194560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9800" y="2688336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СРЕДНИЙ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2880" y="3209544"/>
            <a:ext cx="960120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2880" y="3300984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34440" y="3209544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53312" y="3246120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Неисправность форсунок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53312" y="3538728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Протечка/нарушение распыла → дожигание → перегрев. №43/47/55/73 — замена форсунок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829800" y="3209544"/>
            <a:ext cx="2194560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29800" y="3392424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СРЕДНИЙ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2880" y="3913632"/>
            <a:ext cx="960120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2880" y="4005072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34440" y="3913632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53312" y="3950208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Calibri"/>
              </a:rPr>
              <a:t>Засорение воздушного фильтра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53312" y="4242816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Богатая смесь → T° ОГ ↑. Задокументировано только для №69.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29800" y="3913632"/>
            <a:ext cx="2194560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29800" y="4096512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НИЗКИЙ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82880" y="4617720"/>
            <a:ext cx="960120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82880" y="4709160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34440" y="4617720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353312" y="4654296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Calibri"/>
              </a:rPr>
              <a:t>Зола масла и абразивная пыль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53312" y="4946904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EDS NHL: Ca/Zn/P + Si/Al. ОТЯГЧАЮЩИЙ фактор — не первопричина.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9800" y="4617720"/>
            <a:ext cx="2194560" cy="6583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29800" y="4800600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ОТЯГЧ.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2880" y="5321808"/>
            <a:ext cx="960120" cy="658368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2880" y="5413248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34440" y="5321808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353312" y="5358384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CA3AF"/>
                </a:solidFill>
                <a:latin typeface="Calibri"/>
              </a:rPr>
              <a:t>Рабочий цикл / нагружение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53312" y="5650992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Горный рудник, высота, температурные перепады. Требует сравнит. анализа.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829800" y="5321808"/>
            <a:ext cx="2194560" cy="658368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829800" y="5504688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НЕОПР.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82880" y="6025896"/>
            <a:ext cx="960120" cy="658368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82880" y="6117336"/>
            <a:ext cx="9601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34440" y="6025896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353312" y="6062472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CA3AF"/>
                </a:solidFill>
                <a:latin typeface="Calibri"/>
              </a:rPr>
              <a:t>Конструктив охлаждения ГБЦ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353312" y="6355080"/>
            <a:ext cx="8321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Топография: 3R/4R/6R/6L чаще поражаются. Неравномерный теплоотвод?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29800" y="6025896"/>
            <a:ext cx="2194560" cy="658368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29800" y="6208776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НЕОПР.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3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3108960"/>
            <a:ext cx="4572000" cy="457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H1: НАСТРОЙКИ ECM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2062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4D399"/>
                </a:solidFill>
                <a:latin typeface="Calibri"/>
              </a:rPr>
              <a:t>Сравнение NTE200 vs Komatsu 730E AC | Один объект — один двигатель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"/>
              </a:rPr>
              <a:t>H1: НАСТРОЙКИ ECM — NTE200 vs KOMATSU 730E 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Один двигатель QSK50 — один объект — разные параметры защиты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24128"/>
            <a:ext cx="11795760" cy="402336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24128"/>
            <a:ext cx="45720" cy="40233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042415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КЛЮЧЕВОЙ ФАКТ: Komatsu 730E AC с аналогичными QSK50 работает НА ТОМ ЖЕ объекте. Случаев замены клапанов на 730E AC НЕ ЗАФИКСИРОВАНО.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82880" y="1499616"/>
          <a:ext cx="118872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520"/>
                <a:gridCol w="2773680"/>
                <a:gridCol w="2773680"/>
                <a:gridCol w="2179320"/>
              </a:tblGrid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4D399"/>
                          </a:solidFill>
                          <a:latin typeface="Calibri"/>
                        </a:rPr>
                        <a:t>Параметр ECM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4D399"/>
                          </a:solidFill>
                          <a:latin typeface="Calibri"/>
                        </a:rPr>
                        <a:t>Komatsu 730E AC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4D399"/>
                          </a:solidFill>
                          <a:latin typeface="Calibri"/>
                        </a:rPr>
                        <a:t>NHL NTE200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4D399"/>
                          </a:solidFill>
                          <a:latin typeface="Calibri"/>
                        </a:rPr>
                        <a:t>Риск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C_EPD_OT_RPM_Drt_En (флаг дератинга)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ВКЛЮЧЁН (1)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ОТКЛЮЧЁН (0)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КРИТИЧЕСКИЙ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Задержка по давлению масла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Немедленно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51 секунда (!)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КРИТИЧЕСКИЙ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Задержка по температуре ОЖ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Немедленно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43 секунды (!)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ВЫСОКИЙ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Максимальные обороты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1 990 об/мин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2 100 об/мин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ВЫСОКИЙ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Топливная коррекция TIB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200% (!)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ВЫСОКИЙ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Триггеры по температуре ОГ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Активны (все)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ВСЕ ОТКЛЮЧЕНЫ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КРИТИЧЕСКИЙ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Дератинг при перегреве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Активен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Не работает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КРИТИЧЕСКИЙ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Обороты холостого хода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700 об/мин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700 об/мин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F2937"/>
                          </a:solidFill>
                          <a:latin typeface="Calibri"/>
                        </a:rPr>
                        <a:t>Норма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182880" y="6601968"/>
            <a:ext cx="117957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611112"/>
            <a:ext cx="11612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F4444"/>
                </a:solidFill>
                <a:latin typeface="Calibri"/>
              </a:rPr>
              <a:t>«КРИТИЧЕСКИЙ» — ведёт к перегреву без снижения мощности и без сигнала оператору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"/>
              </a:rPr>
              <a:t>H1: ЦЕПОЧКА ПОВРЕЖДЕНИЙ ЧЕРЕЗ ECM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Как отключённый дератинг ведёт к отказу клапанов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78992"/>
            <a:ext cx="2834640" cy="1645920"/>
          </a:xfrm>
          <a:prstGeom prst="rect">
            <a:avLst/>
          </a:prstGeom>
          <a:solidFill>
            <a:srgbClr val="FFFFFF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78992"/>
            <a:ext cx="2834640" cy="457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188720"/>
            <a:ext cx="2651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F4444"/>
                </a:solidFill>
                <a:latin typeface="Calibri"/>
              </a:rPr>
              <a:t>ECM: Дератинг ОТКЛ
+ задержки 43-51 с
+ RPM 2100
+ TIB 200%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755648"/>
            <a:ext cx="18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9CA3A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078992"/>
            <a:ext cx="2834640" cy="1645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78992"/>
            <a:ext cx="283464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188720"/>
            <a:ext cx="2651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9E0B"/>
                </a:solidFill>
                <a:latin typeface="Calibri"/>
              </a:rPr>
              <a:t>Двигатель работает
без снижения мощности
при перегреве
и аварии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1755648"/>
            <a:ext cx="18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9CA3AF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078992"/>
            <a:ext cx="2834640" cy="1645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078992"/>
            <a:ext cx="283464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59" y="1188720"/>
            <a:ext cx="2651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59E0B"/>
                </a:solidFill>
                <a:latin typeface="Calibri"/>
              </a:rPr>
              <a:t>T° выхлопных газов
выше нормы
без сигнала
оператору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755648"/>
            <a:ext cx="18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9CA3AF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39" y="1078992"/>
            <a:ext cx="2834640" cy="1645920"/>
          </a:xfrm>
          <a:prstGeom prst="rect">
            <a:avLst/>
          </a:prstGeom>
          <a:solidFill>
            <a:srgbClr val="FFFFFF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35439" y="1078992"/>
            <a:ext cx="2834640" cy="457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79" y="1188720"/>
            <a:ext cx="2651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F4444"/>
                </a:solidFill>
                <a:latin typeface="Calibri"/>
              </a:rPr>
              <a:t>ПЕРЕГРЕВ тарелки
клапана → деформация
фаски → рецессия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" y="2889504"/>
            <a:ext cx="11795760" cy="658368"/>
          </a:xfrm>
          <a:prstGeom prst="rect">
            <a:avLst/>
          </a:prstGeom>
          <a:solidFill>
            <a:srgbClr val="FEE2E2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2926080"/>
            <a:ext cx="1152144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  <a:latin typeface="Calibri"/>
              </a:rPr>
              <a:t>РЕЗУЛЬТАТ: Рецессия фаски → потеря компрессии → прорыв горячих газов → ускоренный абразивный износ → последовательный выход из строя клапанов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3675887"/>
            <a:ext cx="11795760" cy="2999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3730752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4D399"/>
                </a:solidFill>
                <a:latin typeface="Calibri"/>
              </a:rPr>
              <a:t>КОСВЕННЫЕ ДОКАЗАТЕЛЬСТВА: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4069080"/>
            <a:ext cx="11521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▸  NTE200: операторов инструктируют «не глушить, давать остывать на ХХ» — косвенное признание перегревов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" y="4544568"/>
            <a:ext cx="11521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▸  INSITE CSV (агрегат N43, 18 523 м/ч): зафиксированы температурные отклонения в рабочем цикле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5020056"/>
            <a:ext cx="11521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▸  730E AC на том же объекте, с теми же двигателями QSK50 — клапанных отказов НЕТ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5495544"/>
            <a:ext cx="11521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▸  Самые ранние отказы (№83: 2 776 м/ч | №81: 4 696 м/ч) не объяснимы обычным усталостным износом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5971032"/>
            <a:ext cx="11521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▸  Диапазон наработок (2 776 — 18 505 м/ч) указывает на вариабельный триггер, а не дефект партии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"/>
              </a:rPr>
              <a:t>H2: ОТСУТСТВИЕ НАПЛАВКИ STELLITE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Конструктивное различие фаски клапана NTE200 vs Komatsu 730E AC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24128"/>
            <a:ext cx="5852160" cy="5303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24128"/>
            <a:ext cx="5852160" cy="457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9728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F4444"/>
                </a:solidFill>
                <a:latin typeface="Calibri"/>
              </a:rPr>
              <a:t>NTE200 / QSK50 (CES51005)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50876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Материал клапана: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1508760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Inconel 751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984248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Наплавка фаски: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1984248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F4444"/>
                </a:solidFill>
                <a:latin typeface="Calibri"/>
              </a:rPr>
              <a:t>ОТСУТСТВУЕТ (по чертежу NHL)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2459736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Твёрдость фаски: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2459736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40–44 HRC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2935224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Защита от износа: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2935224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только базовый материал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3410712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Поведение при T°: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4600" y="3410712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размягчается при 700-800°C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388620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Статус в парке: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3886200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F4444"/>
                </a:solidFill>
                <a:latin typeface="Calibri"/>
              </a:rPr>
              <a:t>рецессия у ВСЕХ исследованных агрегатов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1024128"/>
            <a:ext cx="5852160" cy="5303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1024128"/>
            <a:ext cx="5852160" cy="457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109728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Komatsu 730E AC / QSK50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150876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Материал клапана: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1508760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Inconel 751 / аналог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1984248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Наплавка фаски: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1984248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B981"/>
                </a:solidFill>
                <a:latin typeface="Calibri"/>
              </a:rPr>
              <a:t>STELLITE Co-Cr сплав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2459736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Твёрдость фаски: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2459736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55–65 HRC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2935224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Защита от износа: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2935224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твёрдая + термостойкая наплавка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3410712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Поведение при T°: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3410712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сохраняет твёрдость до 800-900°C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388620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Статус в парке: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3886200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B981"/>
                </a:solidFill>
                <a:latin typeface="Calibri"/>
              </a:rPr>
              <a:t>клапанных отказов не зафиксировано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2880" y="6400800"/>
            <a:ext cx="11795760" cy="36576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4320" y="6419088"/>
            <a:ext cx="11612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Stellite снижает износ в 3-5× при высоких температурах. Применение Stellite-клапанов в NTE200 — конкретная конструктивная рекомендация.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3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3108960"/>
            <a:ext cx="4572000" cy="457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КЛЮЧЕВЫЕ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2062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4D399"/>
                </a:solidFill>
                <a:latin typeface="Calibri"/>
              </a:rPr>
              <a:t>Агрегаты №83, №48, №55, №69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3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26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КАТАСТРОФИЧЕСКИЙ ОТКАЗ  •  АГРЕГАТ №83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58521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2 776 м/ч наработки — самый ранний отказ в парке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5840"/>
            <a:ext cx="3749039" cy="283464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1005840"/>
            <a:ext cx="3749039" cy="283464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1005840"/>
            <a:ext cx="4023360" cy="28346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82880" y="3977639"/>
            <a:ext cx="11795760" cy="269748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2880" y="3977639"/>
            <a:ext cx="45720" cy="26974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404164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Гаражный №: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33472" y="4041648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83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" y="4443984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Наработка: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33472" y="4443984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2 776 м/ч  (!!! нормальный ресурс &gt;12 000 м/ч)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" y="48463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Зафиксировано: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33472" y="4846320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Разрушение шатуна и поршня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524865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Замена: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33472" y="5248656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ГБЦ + шатун + поршень + уплотнения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" y="5650992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Вер. причина: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33472" y="5650992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Перегрев → потеря плотности клапана → прорыв газов → разрушение ЦПГ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" y="605332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Значение: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33472" y="6053328"/>
            <a:ext cx="9235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Катастрофический отказ при минимальной наработке — системная проблема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"/>
              </a:rPr>
              <a:t>МАТРИЦА ОЦЕНКИ ГИПОТЕЗ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Доказательная база и приоритет верификации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82880" y="1024128"/>
          <a:ext cx="1179576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35324"/>
                <a:gridCol w="1867662"/>
                <a:gridCol w="1965960"/>
                <a:gridCol w="1277874"/>
                <a:gridCol w="1474470"/>
                <a:gridCol w="1474470"/>
              </a:tblGrid>
              <a:tr h="59944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Гипотеза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Прямые
доказательства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Косвенные
доказательства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Весь
парк?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Ранние
отказы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4D399"/>
                          </a:solidFill>
                          <a:latin typeface="Calibri"/>
                        </a:rPr>
                        <a:t>Приоритет</a:t>
                      </a:r>
                    </a:p>
                  </a:txBody>
                  <a:tcPr>
                    <a:solidFill>
                      <a:srgbClr val="2A3138"/>
                    </a:solidFill>
                  </a:tcPr>
                </a:tc>
              </a:tr>
              <a:tr h="59944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H1: ECM (дератинг, RPM, TIB)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3 (сравн. 730E)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730E = 0 отказов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★★★★★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944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H2: Нет Stellite (конструкция)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2 (чертёж NHL)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HRC &lt; нормы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★★★★★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59944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H3: Зазоры клапанов (ТО)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1 (доп. анализ)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Повторные отказы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★★★☆☆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944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H4: Форсунки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2 (тест №73)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Сопутств. замены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ЧАСТИЧНО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★★★☆☆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59944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H5: Возд. фильтр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1 (только №69)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1 агрегат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★★☆☆☆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944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H6: Зола масла (ОТЯГЧАЮЩИЙ)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3 (EDS NHL)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Все агрегаты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ЧАСТИЧНО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ОТЯГЧ.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59944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H7: Режим эксплуатации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Контекст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★★☆☆☆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944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H8: Охлаждение ГБЦ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Топография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ЧАСТИЧНО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★★☆☆☆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182880" y="6492240"/>
            <a:ext cx="11795760" cy="27432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1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4D399"/>
                </a:solidFill>
                <a:latin typeface="Calibri"/>
              </a:rPr>
              <a:t>H1 + H2 = СИСТЕМНЫЕ причины  •  H3 + H4 = СОПУТСТВУЮЩИЕ  •  H6 = ОТЯГЧАЮЩИЙ фактор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3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0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3108960"/>
            <a:ext cx="4572000" cy="457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324612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ПЛАН ВЕРИФИКАЦИИ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2062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4D399"/>
                </a:solidFill>
                <a:latin typeface="Calibri"/>
              </a:rPr>
              <a:t>Конкретные действия для подтверждения каждой гипотезы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"/>
              </a:rPr>
              <a:t>ПЛАН ВЕРИФИКАЦИИ ГИПОТЕЗ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Конкретные действия для подтверждения / опровержения каждой версии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24128"/>
            <a:ext cx="117957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24128"/>
            <a:ext cx="45720" cy="19202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024128"/>
            <a:ext cx="1325880" cy="192024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6888" y="1078992"/>
            <a:ext cx="12618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F4444"/>
                </a:solidFill>
                <a:latin typeface="Calibri"/>
              </a:rPr>
              <a:t>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078992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  <a:latin typeface="Calibri"/>
              </a:rPr>
              <a:t>ECM — ПРИОРИТЕТ №1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1444752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Считать полный ECM с 2-3 NTE200 + 1 Komatsu 730E AC через INSITE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" y="1792224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Включить C_EPD_OT_RPM_Drt_En=1 | Задержки по маслу/ОЖ ≤10 с | RPM 1990 | TIB 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139696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Активировать все триггеры температуры ОГ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2487168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Наблюдение 6 мес: 0 отказов на перепрограмм. агрегатах = подтверждено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" y="3017520"/>
            <a:ext cx="117957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2880" y="3017520"/>
            <a:ext cx="45720" cy="1920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8600" y="3017520"/>
            <a:ext cx="1325880" cy="192024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6888" y="3072384"/>
            <a:ext cx="12618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9E0B"/>
                </a:solidFill>
                <a:latin typeface="Calibri"/>
              </a:rPr>
              <a:t>H2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3072384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STELLITE КЛАПАНЫ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3438144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Запросить у NHL клапаны CES51005-S со Stellite-наплавкой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8" y="3785616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Пилотная установка на 2-3 агрегата при следующем плановом ремонте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4208" y="4133088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Осмотр через 6 000 м/ч: измерить твёрдость (HRC) и рецессию фаски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64208" y="4480560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Разница ≥50% vs базовый клапан той же наработки = подтверждено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" y="5010912"/>
            <a:ext cx="117957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2880" y="5010912"/>
            <a:ext cx="45720" cy="15544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8600" y="5010912"/>
            <a:ext cx="1325880" cy="155448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6888" y="5065776"/>
            <a:ext cx="12618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B82F6"/>
                </a:solidFill>
                <a:latin typeface="Calibri"/>
              </a:rPr>
              <a:t>H3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64208" y="5065776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Calibri"/>
              </a:rPr>
              <a:t>ЗАЗОРЫ КЛАПАНОВ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64208" y="5431536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Ввести протокол: измерение зазоров ДО и ПОСЛЕ каждого ремонта с записью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5779008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При ближайшем ТО проверить зазоры на 5 агрегатах без клапанного ремонта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64208" y="6126480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Калиброванный щуп 0.05 мм шаг | допуск ±0.05 мм | обучение механиков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2880" y="6638544"/>
            <a:ext cx="117957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2880" y="6638544"/>
            <a:ext cx="45720" cy="1554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28600" y="6638544"/>
            <a:ext cx="1325880" cy="155448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6888" y="6693408"/>
            <a:ext cx="12618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0B981"/>
                </a:solidFill>
                <a:latin typeface="Calibri"/>
              </a:rPr>
              <a:t>H4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64208" y="6693408"/>
            <a:ext cx="10241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ФОРСУНКИ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64208" y="7059168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Стендовые тесты: №43, №47, №55, №73 — давление, возврат, распыл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64208" y="7406640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INSITE: fuel balance rates → отклонение &gt;±3% = проблемная форсунка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64208" y="7754112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→  Правило: при клапанном ремонте — обязательная проверка форсунки цилиндра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2937"/>
                </a:solidFill>
                <a:latin typeface="Calibri"/>
              </a:rPr>
              <a:t>РЕКОМЕНДАЦИИ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Приоритетные действия по устранению причин отказов клапанов QSK50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24128"/>
            <a:ext cx="1179576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24128"/>
            <a:ext cx="45720" cy="204825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024128"/>
            <a:ext cx="1828800" cy="2048256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032" y="111556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F4444"/>
                </a:solidFill>
                <a:latin typeface="Calibri"/>
              </a:rPr>
              <a:t>СРОЧНО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" y="1444752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  <a:latin typeface="Calibri"/>
              </a:rPr>
              <a:t>до следующего ремонта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1115568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Перепрограммировать ECM: включить дератинг, задержки ≤10 с, RPM 1990, TIB 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76272" y="1499616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Активировать все триггеры температуры выхлопных газов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76272" y="1883664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Проверить состояние воздушных фильтров всего парка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76272" y="2267712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Обязательная проверка форсунки при каждом клапанном ремонте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" y="3145536"/>
            <a:ext cx="1179576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2880" y="3145536"/>
            <a:ext cx="45720" cy="20482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8600" y="3145536"/>
            <a:ext cx="1828800" cy="2048256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032" y="3236976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9E0B"/>
                </a:solidFill>
                <a:latin typeface="Calibri"/>
              </a:rPr>
              <a:t>КРАТКОСРОЧНО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" y="3566160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  <a:latin typeface="Calibri"/>
              </a:rPr>
              <a:t>в течение 1 месяца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76272" y="3236976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Заказать Stellite-клапаны CES51005-S — пилотная партия на 3 агрегата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76272" y="3621024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Разработать и внедрить форму контроля зазоров клапанов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76272" y="4005072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Стендовые тесты форсунок приоритетных агрегатов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76272" y="4389120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Включить логирование INSITE на всех агрегатах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" y="5266944"/>
            <a:ext cx="1179576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2880" y="5266944"/>
            <a:ext cx="45720" cy="16642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8600" y="5266944"/>
            <a:ext cx="1828800" cy="166420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6032" y="5358384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B82F6"/>
                </a:solidFill>
                <a:latin typeface="Calibri"/>
              </a:rPr>
              <a:t>СРЕДНЕСРОЧНО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032" y="5687568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  <a:latin typeface="Calibri"/>
              </a:rPr>
              <a:t>в течение 3 месяцев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6272" y="5358384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Анализ рабочего цикла по INSITE на 5+ агрегатах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76272" y="5742432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Сравнительный анализ с 730E AC на том же объекте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76272" y="6126480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По результатам пилота Stellite: решение о серийном переходе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2880" y="7004304"/>
            <a:ext cx="11795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2880" y="7004304"/>
            <a:ext cx="45720" cy="1280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28600" y="7004304"/>
            <a:ext cx="1828800" cy="128016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6032" y="7095744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4D399"/>
                </a:solidFill>
                <a:latin typeface="Calibri"/>
              </a:rPr>
              <a:t>СИСТЕМНО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6032" y="7424928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  <a:latin typeface="Calibri"/>
              </a:rPr>
              <a:t>постоянные меры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76272" y="7095744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Предложить NHL внесение Stellite как обязательного стандарта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76272" y="7479792"/>
            <a:ext cx="9692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✓  База данных ТО: зазоры + форсунки + T° — на каждый агрегат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31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26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73152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ВЫВОДЫ И СЛЕДУЮЩИЕ ШАГИ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58521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Анализ причин износа выпускных клапанов QSK50 | NTE200 | АО «Полюс Магадан»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987552"/>
            <a:ext cx="11795760" cy="987552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987552"/>
            <a:ext cx="45720" cy="9875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987552"/>
            <a:ext cx="868680" cy="987552"/>
          </a:xfrm>
          <a:prstGeom prst="rect">
            <a:avLst/>
          </a:prstGeom>
          <a:solidFill>
            <a:srgbClr val="2A3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" y="1188720"/>
            <a:ext cx="822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F4444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1060704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  <a:latin typeface="Calibri"/>
              </a:rPr>
              <a:t>МАСШТАБ СИСТЕМНЫЙ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144475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20+ единиц, 30+ событий, 2 776 — 18 505 м/ч. Не единичный дефект партии.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" y="2011680"/>
            <a:ext cx="11795760" cy="987552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2880" y="2011680"/>
            <a:ext cx="45720" cy="9875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8600" y="2011680"/>
            <a:ext cx="868680" cy="987552"/>
          </a:xfrm>
          <a:prstGeom prst="rect">
            <a:avLst/>
          </a:prstGeom>
          <a:solidFill>
            <a:srgbClr val="2A3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888" y="2212848"/>
            <a:ext cx="822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F4444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7008" y="2084832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  <a:latin typeface="Calibri"/>
              </a:rPr>
              <a:t>ECM — ГЛАВНАЯ РАБОЧАЯ ВЕРСИЯ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8" y="2468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Отключённый дератинг + задержки + RPM 2100 + TIB 200%. 730E AC (тот же объект) — 0 отказов.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" y="3035808"/>
            <a:ext cx="11795760" cy="987552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2880" y="3035808"/>
            <a:ext cx="45720" cy="9875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8600" y="3035808"/>
            <a:ext cx="868680" cy="987552"/>
          </a:xfrm>
          <a:prstGeom prst="rect">
            <a:avLst/>
          </a:prstGeom>
          <a:solidFill>
            <a:srgbClr val="2A3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6888" y="3236976"/>
            <a:ext cx="822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59E0B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07008" y="3108960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STELLITE — КОНСТРУКТИВНАЯ УЯЗВИМОСТЬ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8" y="3493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40-44 HRC против 55-65 HRC. Stellite сохраняет твёрдость при 800°C — критично для клапана.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2880" y="4059936"/>
            <a:ext cx="11795760" cy="987552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82880" y="4059936"/>
            <a:ext cx="45720" cy="9875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4059936"/>
            <a:ext cx="868680" cy="987552"/>
          </a:xfrm>
          <a:prstGeom prst="rect">
            <a:avLst/>
          </a:prstGeom>
          <a:solidFill>
            <a:srgbClr val="2A3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6888" y="4261104"/>
            <a:ext cx="822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3B82F6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07008" y="4133088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  <a:latin typeface="Calibri"/>
              </a:rPr>
              <a:t>ЗОЛА — ОТЯГЧАЮЩИЙ ФАКТОР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07008" y="4517136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EDS NHL: Ca/Zn/P + Si/Al. Ускоряет износ, но является следствием перегрева.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2880" y="5084064"/>
            <a:ext cx="11795760" cy="987552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2880" y="5084064"/>
            <a:ext cx="45720" cy="98755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8600" y="5084064"/>
            <a:ext cx="868680" cy="987552"/>
          </a:xfrm>
          <a:prstGeom prst="rect">
            <a:avLst/>
          </a:prstGeom>
          <a:solidFill>
            <a:srgbClr val="2A3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6888" y="5285232"/>
            <a:ext cx="822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34D399"/>
                </a:solidFill>
                <a:latin typeface="Calibr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07008" y="5157216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Calibri"/>
              </a:rPr>
              <a:t>СЛЕДУЮЩИЙ ШАГ — ВЕРИФИКАЦИЯ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07008" y="5541264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Перепрограммировать ECM (быстрый тест) + пилотные Stellite-клапаны на 2-3 агрегата.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82880" y="6263640"/>
            <a:ext cx="11795760" cy="502920"/>
          </a:xfrm>
          <a:prstGeom prst="rect">
            <a:avLst/>
          </a:prstGeom>
          <a:solidFill>
            <a:srgbClr val="1F26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82880" y="6291072"/>
            <a:ext cx="11795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CA3AF"/>
                </a:solidFill>
                <a:latin typeface="Calibri"/>
              </a:rPr>
              <a:t>КТГ — Технический анализ  •  АО «Полюс Магадан»  •  Конфиденциально  •  Май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2880" y="6565392"/>
            <a:ext cx="1179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4D399"/>
                </a:solidFill>
                <a:latin typeface="Calibri"/>
              </a:rPr>
              <a:t>Cummins QSK50  •  NHL NTE200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