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96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0" cy="6858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08000" y="0"/>
            <a:ext cx="79200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720000"/>
            <a:ext cx="1800000" cy="288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827999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3EF0AF"/>
                </a:solidFill>
              </a:rPr>
              <a:t>DML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98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LOG-FILES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448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1080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АНАЛИЗ DML ЛОГ-ФАЙЛОВ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0" y="1908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EF0AF"/>
                </a:solidFill>
              </a:rPr>
              <a:t>ПАРК 730E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0" y="2880000"/>
            <a:ext cx="8280000" cy="28800"/>
          </a:xfrm>
          <a:prstGeom prst="rect">
            <a:avLst/>
          </a:prstGeom>
          <a:solidFill>
            <a:srgbClr val="66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0" y="2988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</a:rPr>
              <a:t>9 агрегатов  |  май 2026  |  Cummins QSK50 MCRS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0" y="3600000"/>
            <a:ext cx="1908000" cy="1007999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1999" y="3671999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1999" y="414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агрегатов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8000" y="3600000"/>
            <a:ext cx="1908000" cy="1007999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0" y="3671999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414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критических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16000" y="3600000"/>
            <a:ext cx="1908000" cy="1007999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8000" y="3671999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</a:rPr>
              <a:t>QSK50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000" y="414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MCRS двигатель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4000" y="3600000"/>
            <a:ext cx="1908000" cy="1007999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6000" y="3671999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</a:rPr>
              <a:t>DML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000" y="414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реал-тайм лог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0000" y="5040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7788"/>
                </a:solidFill>
              </a:rPr>
              <a:t>730E  •  Cummins QSK50 MCRS  •  16 цилиндров  •  ECM0 / ECM1 / ECM144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0000" y="5400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7788"/>
                </a:solidFill>
              </a:rPr>
              <a:t>Данные: INSITE DML  •  16–21 мая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ОБЗОР ПАРКА 730E — СТАТУС АГРЕГАТОВ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Ключевые параметры DML-сессий | 9 агрегатов | май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" y="827999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0000" y="900000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881999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8000" y="900000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8000" y="1152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21.05.2026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122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1224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515°C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" y="1429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1429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554°C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" y="1634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0000" y="1634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1855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" y="1839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0" y="1839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93%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" y="20448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0000" y="20448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103°C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000" y="225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000" y="225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9.3 мин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0000" y="827999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12000" y="900000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2000" y="881999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0000" y="900000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0000" y="1152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16.05.2026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8000" y="122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2000" y="1224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352°C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8000" y="1429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2000" y="1429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590°C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48000" y="1634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2000" y="1634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0" y="1839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2000" y="1839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83%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0" y="20448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2000" y="20448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8C42"/>
                </a:solidFill>
              </a:rPr>
              <a:t>107°C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0" y="225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2000" y="225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20.7 мин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72000" y="827999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43999" y="900000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3999" y="881999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2000" y="900000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2000" y="1152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18.05.2026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0000" y="122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4000" y="1224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427°C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0000" y="1429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4000" y="1429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558°C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0000" y="1634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4000" y="1634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0000" y="1839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84000" y="1839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83%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0000" y="20448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84000" y="20448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91°C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0000" y="225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84000" y="225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3.3 мин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000" y="2880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0000" y="2951999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0000" y="2934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48000" y="2951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48000" y="3204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20.05.2026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6000" y="327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20000" y="327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436°C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6000" y="3481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20000" y="3481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548°C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6000" y="3686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20000" y="3686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1639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6000" y="3891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20000" y="3891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70%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6000" y="4096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20000" y="4096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98°C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6000" y="430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20000" y="4302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27.6 мин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40000" y="2880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12000" y="2951999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12000" y="2934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80000" y="2951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#39 (16.05)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80000" y="3204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16.05.2026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48000" y="327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52000" y="327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283°C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48000" y="3481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52000" y="3481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745°C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48000" y="3686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52000" y="3686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48000" y="3891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52000" y="3891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86%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48000" y="4096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52000" y="4096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8C42"/>
                </a:solidFill>
              </a:rPr>
              <a:t>109°C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48000" y="430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52000" y="4302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20.1 мин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72000" y="2880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43999" y="2951999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43999" y="2934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ВНИМАНИЕ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12000" y="2951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730E #23 (19.05)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12000" y="3204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19.05.2026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80000" y="327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84000" y="327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61°C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80000" y="3481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84000" y="3481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101°C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80000" y="3686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84000" y="3686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1854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80000" y="3891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84000" y="3891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96%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0000" y="4096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84000" y="4096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92°C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80000" y="430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84000" y="4302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1.5 мин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8000" y="4932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80000" y="5003999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0000" y="4986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ВНИМАНИЕ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48000" y="5003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730E #23 (20.05)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48000" y="5256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20.05.2026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16000" y="5328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620000" y="5328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61°C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16000" y="5533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20000" y="5533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102°C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6000" y="5738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20000" y="5738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1662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6000" y="5943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620000" y="5943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72%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6000" y="6148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20000" y="6148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104°C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16000" y="6353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20000" y="63539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25.9 мин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40000" y="4932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212000" y="5003999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212000" y="4986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ВНИМАНИЕ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80000" y="5003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730E #39 (21.05)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580000" y="5256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21.05.2026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248000" y="5328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52000" y="5328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300°C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48000" y="5533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52000" y="5533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460°C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248000" y="5738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52000" y="5738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1730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48000" y="5943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652000" y="5943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N/A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48000" y="6148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52000" y="6148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N/A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48000" y="6353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52000" y="63539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6.1 мин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172000" y="4932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243999" y="5003999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43999" y="4986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ВНИМАНИЕ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12000" y="5003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730E #40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612000" y="5256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20.05.2026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280000" y="5328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684000" y="5328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68°C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80000" y="5533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684000" y="5533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108°C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80000" y="5738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84000" y="5738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1764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280000" y="5943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684000" y="5943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81%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80000" y="6148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84000" y="6148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102°C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80000" y="6353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684000" y="63539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23.0 мин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ЕГТ — СРАВНЕНИЕ ПО АГРЕГАТАМ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Средняя и максимальная температура выхлопных газов (из данных 16 цилиндров)</a:t>
            </a:r>
          </a:p>
        </p:txBody>
      </p:sp>
      <p:pic>
        <p:nvPicPr>
          <p:cNvPr id="6" name="Picture 5" descr="tmpg4l0iog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92000"/>
            <a:ext cx="11807999" cy="56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СВОДКА ПАРАМЕТРОВ — ВСЕ АГРЕГАТЫ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Нагрузка, RPM, ЕГТ, температура масла, наддув, давление масла</a:t>
            </a:r>
          </a:p>
        </p:txBody>
      </p:sp>
      <p:pic>
        <p:nvPicPr>
          <p:cNvPr id="6" name="Picture 5" descr="tmpmc4zwgj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86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КРИТИЧНО: 730E #24  |  21.05.2026  |  ЕГТ avg 515°C  max 554°C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Длит. 9.3 мин  |  RPM avg 1855  |  Нагрузка 93%  |  Цил.9 — 554°C</a:t>
            </a:r>
          </a:p>
        </p:txBody>
      </p:sp>
      <p:pic>
        <p:nvPicPr>
          <p:cNvPr id="6" name="Picture 5" descr="tmph63082x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ВЫВОД: Агрегат 730E #24 — ЕГТ цил.9 достигает 554°C. Нагрузка 93%  |  Масло 103°C.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730E #24 — ЕГТ ПО ЦИЛИНДРАМ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21.05.2026  |  Горячий цил.: Ц9 (554°C)</a:t>
            </a:r>
          </a:p>
        </p:txBody>
      </p:sp>
      <p:pic>
        <p:nvPicPr>
          <p:cNvPr id="6" name="Picture 5" descr="tmptaxgiv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92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Цил.9 (А-банк (нечётные)) — 554°C максимум. Средняя ЕГТ по парку цилиндров: 515°C.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730E #28 — ДЛИТЕЛЬНАЯ СЕССИЯ  |  20.05.2026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27.6 мин  |  RPM avg 1639  |  Нагрузка 70%  |  Цил.11 max 548°C</a:t>
            </a:r>
          </a:p>
        </p:txBody>
      </p:sp>
      <p:pic>
        <p:nvPicPr>
          <p:cNvPr id="6" name="Picture 5" descr="tmp7txq4uk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Наиболее горячий цил.11 — 548°C. Мониторинг В-банка (чётные): Ц11 и Ц13 — лидеры нагрева.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ДИАГНОСТИКА ДАТЧИКОВ ЕГТ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Рабочий профиль vs. отказ датчиков (значение 58°C = разрыв сигнала)</a:t>
            </a:r>
          </a:p>
        </p:txBody>
      </p:sp>
      <p:pic>
        <p:nvPicPr>
          <p:cNvPr id="6" name="Picture 5" descr="tmpgodkom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Агрегаты с отказом датчиков ЕГТ: 730E #19, 730E #23 (19.05), 730E #23 (20.05), 730E #40. Все цилиндры показывают ≈58°C — признак разрыва цепи термопары.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730E #39 — ДВЕ СЕССИИ: 16.05 И 21.05.2026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Сравнение RPM и ЕГТ по цилиндрам между сессиями</a:t>
            </a:r>
          </a:p>
        </p:txBody>
      </p:sp>
      <p:pic>
        <p:nvPicPr>
          <p:cNvPr id="6" name="Picture 5" descr="tmprj__rq8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76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52000"/>
            <a:ext cx="12189600" cy="306000"/>
          </a:xfrm>
          <a:prstGeom prst="rect">
            <a:avLst/>
          </a:prstGeom>
          <a:solidFill>
            <a:srgbClr val="20272B"/>
          </a:solidFill>
          <a:ln w="1016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570000"/>
            <a:ext cx="11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67788"/>
                </a:solidFill>
              </a:rPr>
              <a:t>16.05: max ЕГТ 745°C (Ц15)  |  21.05: max ЕГТ 460°C (Ц13)  |  Масло 16.05: 109°C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ТЕПЛОВАЯ КАРТА ЕГТ — ВСЕ АГРЕГАТЫ × 16 ЦИЛИНДРОВ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Максимальная температура выхлопных газов по каждому цилиндру</a:t>
            </a:r>
          </a:p>
        </p:txBody>
      </p:sp>
      <p:pic>
        <p:nvPicPr>
          <p:cNvPr id="6" name="Picture 5" descr="tmpw242zu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76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МАТРИЦА АНОМАЛИЙ — ПАРК 730E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Обнаруженные отклонения по каждому агрегату | май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" y="810000"/>
            <a:ext cx="12024000" cy="324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" y="84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7788"/>
                </a:solidFill>
              </a:rPr>
              <a:t>Агрегат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ЕГТ &gt;500°C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Масло &gt;105°C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Датч. ЕГТ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ЕГТ 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Статус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" y="1170000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000" y="1314000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554°C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103°C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554°C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" y="1745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000" y="1890000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590°C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107°C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ОТКАЗ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590°C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" y="2321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4000" y="2466000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#23 (19.05)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101°C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92°C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ОТКАЗ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101°C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ВНИМАНИЕ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" y="2897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000" y="3041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#23 (20.05)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102°C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104°C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ОТКАЗ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102°C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4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ВНИМАНИЕ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00" y="3473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4000" y="3617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558°C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91°C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2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558°C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" y="4049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4000" y="4193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6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548°C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98°C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2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548°C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000" y="4625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4000" y="4769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#39 (16.05)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745°C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109°C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2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0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745°C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000" y="5201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4000" y="5345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#39 (21.05)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460°C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2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460°C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4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ВНИМАНИЕ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000" y="5777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000" y="5921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6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108°C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4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102°C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2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ОТКАЗ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0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108°C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4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ВНИМАНИЕ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КРИТИЧНО: #24, #19, #27, #28, #39 (16.05). Требуется немедленная проверка цилиндров с ЕГТ &gt;500°C.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ЗАКЛЮЧЕНИЕ И РЕКОМЕНДАЦИИ — ПАРК 730E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522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На основе DML-логов | 9 агрегатов | 16–21 мая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" y="827999"/>
            <a:ext cx="5760000" cy="270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" y="827999"/>
            <a:ext cx="57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3136"/>
                </a:solidFill>
              </a:rPr>
              <a:t>КРИТИЧЕСКИЕ РИСКИ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" y="1134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1170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#24 — ЕГТ max 554°C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440000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Цил.9 = 554°C при нагрузке 93%. Превышение порога 500°C.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" y="1890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000" y="1925999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#19 — ЕГТ max 590°C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" y="2196000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Цил.12 = 590°C при нагрузке 83%. Превышение порога 500°C.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000" y="2646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000" y="2681999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#27 — ЕГТ max 558°C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2951999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Цил.15 = 558°C при нагрузке 83%. Превышение порога 500°C.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000" y="3402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000" y="3438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#28 — ЕГТ max 548°C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" y="3708000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Цил.11 = 548°C при нагрузке 70%. Превышение порога 500°C.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" y="4158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4194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#39 (16.05) — ЕГТ max 745°C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00" y="4464000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Цил.15 = 745°C при нагрузке 86%. Превышение порога 500°C.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827999"/>
            <a:ext cx="5940000" cy="27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0" y="827999"/>
            <a:ext cx="59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3136"/>
                </a:solidFill>
              </a:rPr>
              <a:t>РЕКОМЕНДАЦИИ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1134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000" y="1170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СРОЧНО: Инспекция цилиндров &gt;500°C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2000" y="1440000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730E #24 Ц9, #27 Ц15, #28 Ц11: эндоскопия клапанов.
Тепловой зазор клапанов, состояние форсунок.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1890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2000" y="1925999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Диагностика датчиков ЕГТ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2000" y="2196000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Агрегаты #23, #40: все датчики ЕГТ показывают 58°C.
Проверить разъёмы термопар, заменить датчики.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2646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2000" y="2681999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Мониторинг масла: #19 и #39a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2000" y="2951999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Масло 107°C и 109°C — близко к пределу 110°C.
Проверить систему охлаждения масла.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0000" y="3402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2000" y="343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Регулярный DML-мониторинг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2000" y="3708000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Съём DML-логов каждые 2 недели для контроля.
Пороги: ЕГТ &gt;450°C = предупреждение, &gt;500°C = СТОП.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0000" y="4158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2000" y="4194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Сравнительный анализ с NTE200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2000" y="4464000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EGT 730E ниже NTE200 (нет TIB=200%).
Базовый уровень EGT: 400–450°C при нагрузке 70–90%.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40000"/>
            <a:ext cx="12189600" cy="216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89600" cy="10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70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3EF0AF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2700000"/>
            <a:ext cx="9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ТЕМПЕРАТУРА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4140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788"/>
                </a:solidFill>
              </a:rPr>
              <a:t>А-банк (ECM144) vs В-банк (ECM1)  |  Все агрегаты 730E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ТЕМПЕРАТУРА ЦИЛИНДРОВ — 730E #24  |  21.05.2026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А-банк (нечётные, ECM144) — В-банк (чётные, ECM1)  |  Индивидуальные ЕГТ по цилиндрам</a:t>
            </a:r>
          </a:p>
        </p:txBody>
      </p:sp>
      <p:pic>
        <p:nvPicPr>
          <p:cNvPr id="6" name="Picture 5" descr="tmpznsvr3x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Банки температурно симметричны. Макс. ЕГТ: 554°C — КРИТИЧНО (&gt;500°C).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ТЕМПЕРАТУРА ЦИЛИНДРОВ — 730E #19  |  16.05.2026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А-банк (нечётные, ECM144) — В-банк (чётные, ECM1)  |  Индивидуальные ЕГТ по цилиндрам</a:t>
            </a:r>
          </a:p>
        </p:txBody>
      </p:sp>
      <p:pic>
        <p:nvPicPr>
          <p:cNvPr id="6" name="Picture 5" descr="tmpk_7kg_b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В-банк горячее А-банка на 358°C. Макс. ЕГТ: 590°C — КРИТИЧНО (&gt;500°C).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ТЕМПЕРАТУРА ЦИЛИНДРОВ — 730E #23 (19.05)  |  19.05.2026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А-банк (нечётные, ECM144) — В-банк (чётные, ECM1)  |  Индивидуальные ЕГТ по цилиндрам</a:t>
            </a:r>
          </a:p>
        </p:txBody>
      </p:sp>
      <p:pic>
        <p:nvPicPr>
          <p:cNvPr id="6" name="Picture 5" descr="tmpzrjlyk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Банки температурно симметричны. Макс. ЕГТ: 101°C — в норме.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ТЕМПЕРАТУРА ЦИЛИНДРОВ — 730E #23 (20.05)  |  20.05.2026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А-банк (нечётные, ECM144) — В-банк (чётные, ECM1)  |  Индивидуальные ЕГТ по цилиндрам</a:t>
            </a:r>
          </a:p>
        </p:txBody>
      </p:sp>
      <p:pic>
        <p:nvPicPr>
          <p:cNvPr id="6" name="Picture 5" descr="tmppy02lg9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Банки температурно симметричны. Макс. ЕГТ: 102°C — в норме.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ТЕМПЕРАТУРА ЦИЛИНДРОВ — 730E #27  |  18.05.2026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А-банк (нечётные, ECM144) — В-банк (чётные, ECM1)  |  Индивидуальные ЕГТ по цилиндрам</a:t>
            </a:r>
          </a:p>
        </p:txBody>
      </p:sp>
      <p:pic>
        <p:nvPicPr>
          <p:cNvPr id="6" name="Picture 5" descr="tmpfnrp8z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Банки температурно симметричны. Макс. ЕГТ: 558°C — КРИТИЧНО (&gt;500°C).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ТЕМПЕРАТУРА ЦИЛИНДРОВ — 730E #28  |  20.05.2026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А-банк (нечётные, ECM144) — В-банк (чётные, ECM1)  |  Индивидуальные ЕГТ по цилиндрам</a:t>
            </a:r>
          </a:p>
        </p:txBody>
      </p:sp>
      <p:pic>
        <p:nvPicPr>
          <p:cNvPr id="6" name="Picture 5" descr="tmpg2ga8v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Банки температурно симметричны. Макс. ЕГТ: 548°C — КРИТИЧНО (&gt;500°C).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ТЕМПЕРАТУРА ЦИЛИНДРОВ — 730E #39 (16.05)  |  16.05.2026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А-банк (нечётные, ECM144) — В-банк (чётные, ECM1)  |  Индивидуальные ЕГТ по цилиндрам</a:t>
            </a:r>
          </a:p>
        </p:txBody>
      </p:sp>
      <p:pic>
        <p:nvPicPr>
          <p:cNvPr id="6" name="Picture 5" descr="tmpg12y87h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А-банк горячее В-банка на 44°C. Макс. ЕГТ: 745°C — КРИТИЧНО (&gt;500°C).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ТЕМПЕРАТУРА ЦИЛИНДРОВ — 730E #39 (21.05)  |  21.05.2026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А-банк (нечётные, ECM144) — В-банк (чётные, ECM1)  |  Индивидуальные ЕГТ по цилиндрам</a:t>
            </a:r>
          </a:p>
        </p:txBody>
      </p:sp>
      <p:pic>
        <p:nvPicPr>
          <p:cNvPr id="6" name="Picture 5" descr="tmpavivo3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А-банк горячее В-банка на 13°C. Макс. ЕГТ: 460°C — ВНИМАНИЕ (&gt;450°C).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ТЕМПЕРАТУРА ЦИЛИНДРОВ — 730E #40  |  20.05.2026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А-банк (нечётные, ECM144) — В-банк (чётные, ECM1)  |  Индивидуальные ЕГТ по цилиндрам</a:t>
            </a:r>
          </a:p>
        </p:txBody>
      </p:sp>
      <p:pic>
        <p:nvPicPr>
          <p:cNvPr id="6" name="Picture 5" descr="tmpapdzr9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Банки температурно симметричны. Макс. ЕГТ: 108°C — в норме.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