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96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880000" cy="6858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08000" y="0"/>
            <a:ext cx="79200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" y="720000"/>
            <a:ext cx="1800000" cy="288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827999"/>
            <a:ext cx="21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3EF0AF"/>
                </a:solidFill>
              </a:rPr>
              <a:t>DML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980000"/>
            <a:ext cx="2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LOG-FILES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2448000"/>
            <a:ext cx="2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0000" y="1080000"/>
            <a:ext cx="82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АНАЛИЗ DML ЛОГ-ФАЙЛОВ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0000" y="1908000"/>
            <a:ext cx="82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EF0AF"/>
                </a:solidFill>
              </a:rPr>
              <a:t>ПАРК 730E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0" y="2880000"/>
            <a:ext cx="8280000" cy="28800"/>
          </a:xfrm>
          <a:prstGeom prst="rect">
            <a:avLst/>
          </a:prstGeom>
          <a:solidFill>
            <a:srgbClr val="667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0000" y="2988000"/>
            <a:ext cx="82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7788"/>
                </a:solidFill>
              </a:rPr>
              <a:t>9 агрегатов  |  май 2026  |  Cummins QSK50 MCRS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0" y="3600000"/>
            <a:ext cx="1908000" cy="1007999"/>
          </a:xfrm>
          <a:prstGeom prst="rect">
            <a:avLst/>
          </a:prstGeom>
          <a:solidFill>
            <a:srgbClr val="20272B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1999" y="3671999"/>
            <a:ext cx="1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1999" y="4140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7788"/>
                </a:solidFill>
              </a:rPr>
              <a:t>агрегатов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0" y="3600000"/>
            <a:ext cx="1908000" cy="1007999"/>
          </a:xfrm>
          <a:prstGeom prst="rect">
            <a:avLst/>
          </a:prstGeom>
          <a:solidFill>
            <a:srgbClr val="20272B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00000" y="3671999"/>
            <a:ext cx="1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0" y="4140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7788"/>
                </a:solidFill>
              </a:rPr>
              <a:t>критических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16000" y="3600000"/>
            <a:ext cx="1908000" cy="1007999"/>
          </a:xfrm>
          <a:prstGeom prst="rect">
            <a:avLst/>
          </a:prstGeom>
          <a:solidFill>
            <a:srgbClr val="20272B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000" y="3671999"/>
            <a:ext cx="1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</a:rPr>
              <a:t>QSK50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000" y="4140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7788"/>
                </a:solidFill>
              </a:rPr>
              <a:t>MCRS двигатель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04000" y="3600000"/>
            <a:ext cx="1908000" cy="1007999"/>
          </a:xfrm>
          <a:prstGeom prst="rect">
            <a:avLst/>
          </a:prstGeom>
          <a:solidFill>
            <a:srgbClr val="20272B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76000" y="3671999"/>
            <a:ext cx="1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</a:rPr>
              <a:t>DML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76000" y="4140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7788"/>
                </a:solidFill>
              </a:rPr>
              <a:t>реал-тайм лог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0000" y="5040000"/>
            <a:ext cx="82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7788"/>
                </a:solidFill>
              </a:rPr>
              <a:t>730E  •  Cummins QSK50 MCRS  •  16 цилиндров  •  ECM0 / ECM1 / ECM144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0000" y="5400000"/>
            <a:ext cx="82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7788"/>
                </a:solidFill>
              </a:rPr>
              <a:t>Данные: INSITE DML  •  16–21 мая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8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ОБЗОР ПАРКА 730E — СТАТУС АГРЕГАТОВ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Ключевые параметры DML-сессий | 9 агрегатов | май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000" y="827999"/>
            <a:ext cx="3888000" cy="1692000"/>
          </a:xfrm>
          <a:prstGeom prst="rect">
            <a:avLst/>
          </a:prstGeom>
          <a:solidFill>
            <a:srgbClr val="20272B"/>
          </a:solidFill>
          <a:ln w="190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0000" y="900000"/>
            <a:ext cx="1260000" cy="234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881999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</a:rPr>
              <a:t>КРИТИЧНО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48000" y="900000"/>
            <a:ext cx="23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444"/>
                </a:solidFill>
              </a:rPr>
              <a:t>730E #24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8000" y="1152000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21.05.2026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" y="1224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avg: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0000" y="12240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4444"/>
                </a:solidFill>
              </a:rPr>
              <a:t>515°C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000" y="14292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max: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14292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4444"/>
                </a:solidFill>
              </a:rPr>
              <a:t>554°C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000" y="16344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RPM avg: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0000" y="16344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EC9F0"/>
                </a:solidFill>
              </a:rPr>
              <a:t>1855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6000" y="18395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Нагрузка: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0000" y="18395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D166"/>
                </a:solidFill>
              </a:rPr>
              <a:t>93%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000" y="20448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Т° масла: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0000" y="20448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EF0AF"/>
                </a:solidFill>
              </a:rPr>
              <a:t>103°C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6000" y="2250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Длит.: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0000" y="22500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67788"/>
                </a:solidFill>
              </a:rPr>
              <a:t>9.3 мин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40000" y="827999"/>
            <a:ext cx="3888000" cy="1692000"/>
          </a:xfrm>
          <a:prstGeom prst="rect">
            <a:avLst/>
          </a:prstGeom>
          <a:solidFill>
            <a:srgbClr val="20272B"/>
          </a:solidFill>
          <a:ln w="190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12000" y="900000"/>
            <a:ext cx="1260000" cy="234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12000" y="881999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</a:rPr>
              <a:t>КРИТИЧНО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80000" y="900000"/>
            <a:ext cx="23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444"/>
                </a:solidFill>
              </a:rPr>
              <a:t>730E #19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80000" y="1152000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16.05.2026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8000" y="1224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avg: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52000" y="12240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352°C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48000" y="14292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max: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52000" y="14292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4444"/>
                </a:solidFill>
              </a:rPr>
              <a:t>590°C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48000" y="16344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RPM avg: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52000" y="16344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EC9F0"/>
                </a:solidFill>
              </a:rPr>
              <a:t>1782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0" y="18395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Нагрузка: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52000" y="18395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D166"/>
                </a:solidFill>
              </a:rPr>
              <a:t>83%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0" y="20448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Т° масла: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52000" y="20448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42"/>
                </a:solidFill>
              </a:rPr>
              <a:t>107°C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48000" y="2250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Длит.: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52000" y="22500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67788"/>
                </a:solidFill>
              </a:rPr>
              <a:t>20.7 мин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72000" y="827999"/>
            <a:ext cx="3888000" cy="1692000"/>
          </a:xfrm>
          <a:prstGeom prst="rect">
            <a:avLst/>
          </a:prstGeom>
          <a:solidFill>
            <a:srgbClr val="20272B"/>
          </a:solidFill>
          <a:ln w="190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43999" y="900000"/>
            <a:ext cx="1260000" cy="234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43999" y="881999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</a:rPr>
              <a:t>КРИТИЧНО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12000" y="900000"/>
            <a:ext cx="23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444"/>
                </a:solidFill>
              </a:rPr>
              <a:t>730E #27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12000" y="1152000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18.05.2026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80000" y="1224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avg: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84000" y="12240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427°C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80000" y="14292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max: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84000" y="14292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4444"/>
                </a:solidFill>
              </a:rPr>
              <a:t>558°C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80000" y="16344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RPM avg: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84000" y="16344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EC9F0"/>
                </a:solidFill>
              </a:rPr>
              <a:t>1718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80000" y="18395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Нагрузка: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84000" y="18395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D166"/>
                </a:solidFill>
              </a:rPr>
              <a:t>83%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80000" y="20448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Т° масла: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84000" y="20448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EF0AF"/>
                </a:solidFill>
              </a:rPr>
              <a:t>91°C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80000" y="2250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Длит.: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84000" y="22500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67788"/>
                </a:solidFill>
              </a:rPr>
              <a:t>3.3 мин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8000" y="2880000"/>
            <a:ext cx="3888000" cy="1692000"/>
          </a:xfrm>
          <a:prstGeom prst="rect">
            <a:avLst/>
          </a:prstGeom>
          <a:solidFill>
            <a:srgbClr val="20272B"/>
          </a:solidFill>
          <a:ln w="190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80000" y="2951999"/>
            <a:ext cx="1260000" cy="234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0000" y="2934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</a:rPr>
              <a:t>КРИТИЧНО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48000" y="2951999"/>
            <a:ext cx="23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444"/>
                </a:solidFill>
              </a:rPr>
              <a:t>730E #28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48000" y="3204000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20.05.2026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6000" y="3276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avg: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20000" y="32760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436°C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6000" y="34812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max: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20000" y="34812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4444"/>
                </a:solidFill>
              </a:rPr>
              <a:t>548°C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6000" y="36864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RPM avg: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20000" y="36864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EC9F0"/>
                </a:solidFill>
              </a:rPr>
              <a:t>1639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6000" y="38915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Нагрузка: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620000" y="38915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D166"/>
                </a:solidFill>
              </a:rPr>
              <a:t>70%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6000" y="40967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Т° масла: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20000" y="40967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EF0AF"/>
                </a:solidFill>
              </a:rPr>
              <a:t>98°C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6000" y="4302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Длит.: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20000" y="43020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67788"/>
                </a:solidFill>
              </a:rPr>
              <a:t>27.6 мин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40000" y="2880000"/>
            <a:ext cx="3888000" cy="1692000"/>
          </a:xfrm>
          <a:prstGeom prst="rect">
            <a:avLst/>
          </a:prstGeom>
          <a:solidFill>
            <a:srgbClr val="20272B"/>
          </a:solidFill>
          <a:ln w="190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212000" y="2951999"/>
            <a:ext cx="1260000" cy="234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12000" y="2934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</a:rPr>
              <a:t>КРИТИЧНО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80000" y="2951999"/>
            <a:ext cx="23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444"/>
                </a:solidFill>
              </a:rPr>
              <a:t>730E #39 (16.05)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80000" y="3204000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16.05.2026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48000" y="3276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avg: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52000" y="32760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283°C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48000" y="34812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max: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52000" y="34812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4444"/>
                </a:solidFill>
              </a:rPr>
              <a:t>745°C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48000" y="36864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RPM avg: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52000" y="36864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EC9F0"/>
                </a:solidFill>
              </a:rPr>
              <a:t>1799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48000" y="38915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Нагрузка: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52000" y="38915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D166"/>
                </a:solidFill>
              </a:rPr>
              <a:t>86%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48000" y="40967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Т° масла: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52000" y="40967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42"/>
                </a:solidFill>
              </a:rPr>
              <a:t>109°C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48000" y="4302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Длит.: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52000" y="43020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67788"/>
                </a:solidFill>
              </a:rPr>
              <a:t>20.1 мин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172000" y="2880000"/>
            <a:ext cx="3888000" cy="1692000"/>
          </a:xfrm>
          <a:prstGeom prst="rect">
            <a:avLst/>
          </a:prstGeom>
          <a:solidFill>
            <a:srgbClr val="20272B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243999" y="2951999"/>
            <a:ext cx="1260000" cy="234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43999" y="2934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</a:rPr>
              <a:t>ВНИМАНИЕ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12000" y="2951999"/>
            <a:ext cx="23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42"/>
                </a:solidFill>
              </a:rPr>
              <a:t>730E #23 (19.05)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612000" y="3204000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19.05.2026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80000" y="3276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avg: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84000" y="32760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61°C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80000" y="34812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max: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684000" y="34812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101°C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280000" y="36864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RPM avg: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84000" y="36864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EC9F0"/>
                </a:solidFill>
              </a:rPr>
              <a:t>1854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80000" y="38915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Нагрузка: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684000" y="38915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D166"/>
                </a:solidFill>
              </a:rPr>
              <a:t>96%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80000" y="40967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Т° масла: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684000" y="40967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EF0AF"/>
                </a:solidFill>
              </a:rPr>
              <a:t>92°C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80000" y="4302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Длит.: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684000" y="43020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67788"/>
                </a:solidFill>
              </a:rPr>
              <a:t>1.5 мин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8000" y="4932000"/>
            <a:ext cx="3888000" cy="1692000"/>
          </a:xfrm>
          <a:prstGeom prst="rect">
            <a:avLst/>
          </a:prstGeom>
          <a:solidFill>
            <a:srgbClr val="20272B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80000" y="5003999"/>
            <a:ext cx="1260000" cy="234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80000" y="4986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</a:rPr>
              <a:t>ВНИМАНИЕ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48000" y="5003999"/>
            <a:ext cx="23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42"/>
                </a:solidFill>
              </a:rPr>
              <a:t>730E #23 (20.05)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548000" y="5256000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20.05.2026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6000" y="5328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avg: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620000" y="53280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61°C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6000" y="55332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max: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20000" y="55332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102°C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16000" y="57384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RPM avg: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20000" y="57384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EC9F0"/>
                </a:solidFill>
              </a:rPr>
              <a:t>1662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16000" y="59435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Нагрузка: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620000" y="59435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D166"/>
                </a:solidFill>
              </a:rPr>
              <a:t>72%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6000" y="61487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Т° масла: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620000" y="61487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EF0AF"/>
                </a:solidFill>
              </a:rPr>
              <a:t>104°C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16000" y="63539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Длит.: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620000" y="63539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67788"/>
                </a:solidFill>
              </a:rPr>
              <a:t>25.9 мин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40000" y="4932000"/>
            <a:ext cx="3888000" cy="1692000"/>
          </a:xfrm>
          <a:prstGeom prst="rect">
            <a:avLst/>
          </a:prstGeom>
          <a:solidFill>
            <a:srgbClr val="20272B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212000" y="5003999"/>
            <a:ext cx="1260000" cy="234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212000" y="4986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</a:rPr>
              <a:t>ВНИМАНИЕ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580000" y="5003999"/>
            <a:ext cx="23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42"/>
                </a:solidFill>
              </a:rPr>
              <a:t>730E #39 (21.05)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580000" y="5256000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21.05.2026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248000" y="5328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avg: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652000" y="53280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300°C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248000" y="55332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max: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52000" y="55332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460°C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48000" y="57384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RPM avg: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52000" y="57384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EC9F0"/>
                </a:solidFill>
              </a:rPr>
              <a:t>1730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248000" y="59435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Нагрузка: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652000" y="59435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D166"/>
                </a:solidFill>
              </a:rPr>
              <a:t>N/A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48000" y="61487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Т° масла: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52000" y="61487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EF0AF"/>
                </a:solidFill>
              </a:rPr>
              <a:t>N/A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248000" y="63539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Длит.: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652000" y="63539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67788"/>
                </a:solidFill>
              </a:rPr>
              <a:t>6.1 мин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172000" y="4932000"/>
            <a:ext cx="3888000" cy="1692000"/>
          </a:xfrm>
          <a:prstGeom prst="rect">
            <a:avLst/>
          </a:prstGeom>
          <a:solidFill>
            <a:srgbClr val="20272B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243999" y="5003999"/>
            <a:ext cx="1260000" cy="234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243999" y="4986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</a:rPr>
              <a:t>ВНИМАНИЕ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612000" y="5003999"/>
            <a:ext cx="23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42"/>
                </a:solidFill>
              </a:rPr>
              <a:t>730E #40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612000" y="5256000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20.05.2026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280000" y="5328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avg: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84000" y="53280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68°C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280000" y="55332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ЕГТ max: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684000" y="55332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108°C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280000" y="57384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RPM avg: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684000" y="5738400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EC9F0"/>
                </a:solidFill>
              </a:rPr>
              <a:t>1764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280000" y="59435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Нагрузка: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684000" y="59435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D166"/>
                </a:solidFill>
              </a:rPr>
              <a:t>81%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280000" y="61487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Т° масла: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684000" y="61487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EF0AF"/>
                </a:solidFill>
              </a:rPr>
              <a:t>102°C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280000" y="6353999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Длит.: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684000" y="6353999"/>
            <a:ext cx="21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667788"/>
                </a:solidFill>
              </a:rPr>
              <a:t>23.0 мин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8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ЕГТ — СРАВНЕНИЕ ПО АГРЕГАТАМ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Средняя и максимальная температура выхлопных газов (из данных 16 цилиндров)</a:t>
            </a:r>
          </a:p>
        </p:txBody>
      </p:sp>
      <p:pic>
        <p:nvPicPr>
          <p:cNvPr id="6" name="Picture 5" descr="tmpg0yjigj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792000"/>
            <a:ext cx="11807999" cy="565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8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СВОДКА ПАРАМЕТРОВ — ВСЕ АГРЕГАТЫ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Нагрузка, RPM, ЕГТ, температура масла, наддув, давление масла</a:t>
            </a:r>
          </a:p>
        </p:txBody>
      </p:sp>
      <p:pic>
        <p:nvPicPr>
          <p:cNvPr id="6" name="Picture 5" descr="tmpr902x0r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56000"/>
            <a:ext cx="11952000" cy="586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8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КРИТИЧНО: 730E #24  |  21.05.2026  |  ЕГТ avg 515°C  max 554°C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Длит. 9.3 мин  |  RPM avg 1855  |  Нагрузка 93%  |  Цил.9 — 554°C</a:t>
            </a:r>
          </a:p>
        </p:txBody>
      </p:sp>
      <p:pic>
        <p:nvPicPr>
          <p:cNvPr id="6" name="Picture 5" descr="tmpuv077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56000"/>
            <a:ext cx="11952000" cy="558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72000"/>
            <a:ext cx="12189600" cy="4860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390000"/>
            <a:ext cx="11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444"/>
                </a:solidFill>
              </a:rPr>
              <a:t>ВЫВОД: Агрегат 730E #24 — ЕГТ цил.9 достигает 554°C. Нагрузка 93%  |  Масло 103°C.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8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730E #24 — ЕГТ ПО ЦИЛИНДРАМ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21.05.2026  |  Горячий цил.: Ц9 (554°C)</a:t>
            </a:r>
          </a:p>
        </p:txBody>
      </p:sp>
      <p:pic>
        <p:nvPicPr>
          <p:cNvPr id="6" name="Picture 5" descr="tmpaasuhg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92000"/>
            <a:ext cx="11952000" cy="558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72000"/>
            <a:ext cx="12189600" cy="4860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390000"/>
            <a:ext cx="11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42"/>
                </a:solidFill>
              </a:rPr>
              <a:t>ВЫВОД: Цил.9 (А-банк (нечётные)) — 554°C максимум. Средняя ЕГТ по парку цилиндров: 515°C.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8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730E #28 — ДЛИТЕЛЬНАЯ СЕССИЯ  |  20.05.2026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27.6 мин  |  RPM avg 1639  |  Нагрузка 70%  |  Цил.11 max 548°C</a:t>
            </a:r>
          </a:p>
        </p:txBody>
      </p:sp>
      <p:pic>
        <p:nvPicPr>
          <p:cNvPr id="6" name="Picture 5" descr="tmpklr586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56000"/>
            <a:ext cx="11952000" cy="558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72000"/>
            <a:ext cx="12189600" cy="4860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390000"/>
            <a:ext cx="11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42"/>
                </a:solidFill>
              </a:rPr>
              <a:t>ВЫВОД: Наиболее горячий цил.11 — 548°C. Мониторинг В-банка (чётные): Ц11 и Ц13 — лидеры нагрева.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8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ДИАГНОСТИКА ДАТЧИКОВ ЕГТ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Рабочий профиль vs. отказ датчиков (значение 58°C = разрыв сигнала)</a:t>
            </a:r>
          </a:p>
        </p:txBody>
      </p:sp>
      <p:pic>
        <p:nvPicPr>
          <p:cNvPr id="6" name="Picture 5" descr="tmpho42i1k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56000"/>
            <a:ext cx="11952000" cy="558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72000"/>
            <a:ext cx="12189600" cy="4860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390000"/>
            <a:ext cx="11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42"/>
                </a:solidFill>
              </a:rPr>
              <a:t>ВЫВОД: Агрегаты с отказом датчиков ЕГТ: 730E #19, 730E #23 (19.05), 730E #23 (20.05), 730E #40. Все цилиндры показывают ≈58°C — признак разрыва цепи термопары.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8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730E #39 — ДВЕ СЕССИИ: 16.05 И 21.05.2026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Сравнение RPM и ЕГТ по цилиндрам между сессиями</a:t>
            </a:r>
          </a:p>
        </p:txBody>
      </p:sp>
      <p:pic>
        <p:nvPicPr>
          <p:cNvPr id="6" name="Picture 5" descr="tmpqvzfso6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56000"/>
            <a:ext cx="11952000" cy="576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52000"/>
            <a:ext cx="12189600" cy="306000"/>
          </a:xfrm>
          <a:prstGeom prst="rect">
            <a:avLst/>
          </a:prstGeom>
          <a:solidFill>
            <a:srgbClr val="20272B"/>
          </a:solidFill>
          <a:ln w="10160">
            <a:solidFill>
              <a:srgbClr val="667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570000"/>
            <a:ext cx="117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667788"/>
                </a:solidFill>
              </a:rPr>
              <a:t>16.05: max ЕГТ 745°C (Ц15)  |  21.05: max ЕГТ 460°C (Ц13)  |  Масло 16.05: 109°C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8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ТЕПЛОВАЯ КАРТА ЕГТ — ВСЕ АГРЕГАТЫ × 16 ЦИЛИНДРОВ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Максимальная температура выхлопных газов по каждому цилиндру</a:t>
            </a:r>
          </a:p>
        </p:txBody>
      </p:sp>
      <p:pic>
        <p:nvPicPr>
          <p:cNvPr id="6" name="Picture 5" descr="tmptkcfhi6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" y="756000"/>
            <a:ext cx="11952000" cy="576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8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МАТРИЦА АНОМАЛИЙ — ПАРК 730E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88"/>
                </a:solidFill>
              </a:rPr>
              <a:t>Обнаруженные отклонения по каждому агрегату | май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" y="810000"/>
            <a:ext cx="12024000" cy="324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4000" y="846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67788"/>
                </a:solidFill>
              </a:rPr>
              <a:t>Агрегат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0000" y="846000"/>
            <a:ext cx="19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667788"/>
                </a:solidFill>
              </a:rPr>
              <a:t>ЕГТ &gt;500°C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0000" y="846000"/>
            <a:ext cx="19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667788"/>
                </a:solidFill>
              </a:rPr>
              <a:t>Масло &gt;105°C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0" y="846000"/>
            <a:ext cx="19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667788"/>
                </a:solidFill>
              </a:rPr>
              <a:t>Датч. ЕГТ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0" y="846000"/>
            <a:ext cx="19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667788"/>
                </a:solidFill>
              </a:rPr>
              <a:t>ЕГТ max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40000" y="846000"/>
            <a:ext cx="19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667788"/>
                </a:solidFill>
              </a:rPr>
              <a:t>Статус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00" y="1170000"/>
            <a:ext cx="12024000" cy="540000"/>
          </a:xfrm>
          <a:prstGeom prst="rect">
            <a:avLst/>
          </a:prstGeom>
          <a:solidFill>
            <a:srgbClr val="1A1F23"/>
          </a:solidFill>
          <a:ln w="3810">
            <a:solidFill>
              <a:srgbClr val="667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000" y="1314000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730E #24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0000" y="1314000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554°C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0000" y="1314000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103°C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0000" y="1314000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НОРМА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0" y="1314000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554°C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40000" y="1314000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КРИТИЧНО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000" y="1745999"/>
            <a:ext cx="12024000" cy="540000"/>
          </a:xfrm>
          <a:prstGeom prst="rect">
            <a:avLst/>
          </a:prstGeom>
          <a:solidFill>
            <a:srgbClr val="1A1F23"/>
          </a:solidFill>
          <a:ln w="3810">
            <a:solidFill>
              <a:srgbClr val="667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000" y="1890000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730E #19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0000" y="1890000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590°C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0000" y="1890000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107°C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000" y="1890000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ОТКАЗ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0000" y="1890000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590°C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40000" y="1890000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КРИТИЧНО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000" y="2321999"/>
            <a:ext cx="12024000" cy="540000"/>
          </a:xfrm>
          <a:prstGeom prst="rect">
            <a:avLst/>
          </a:prstGeom>
          <a:solidFill>
            <a:srgbClr val="1A1F23"/>
          </a:solidFill>
          <a:ln w="3810">
            <a:solidFill>
              <a:srgbClr val="667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000" y="2466000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730E #23 (19.05)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0000" y="2466000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101°C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0000" y="2466000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92°C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20000" y="2466000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ОТКАЗ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00000" y="2466000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101°C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40000" y="2466000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8C42"/>
                </a:solidFill>
              </a:rPr>
              <a:t>ВНИМАНИЕ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000" y="2897999"/>
            <a:ext cx="12024000" cy="540000"/>
          </a:xfrm>
          <a:prstGeom prst="rect">
            <a:avLst/>
          </a:prstGeom>
          <a:solidFill>
            <a:srgbClr val="1A1F23"/>
          </a:solidFill>
          <a:ln w="3810">
            <a:solidFill>
              <a:srgbClr val="667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4000" y="3041999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730E #23 (20.05)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0000" y="3041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102°C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0000" y="3041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104°C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20000" y="3041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ОТКАЗ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00000" y="3041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102°C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40000" y="3041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8C42"/>
                </a:solidFill>
              </a:rPr>
              <a:t>ВНИМАНИЕ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000" y="3473999"/>
            <a:ext cx="12024000" cy="540000"/>
          </a:xfrm>
          <a:prstGeom prst="rect">
            <a:avLst/>
          </a:prstGeom>
          <a:solidFill>
            <a:srgbClr val="1A1F23"/>
          </a:solidFill>
          <a:ln w="3810">
            <a:solidFill>
              <a:srgbClr val="667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4000" y="3617999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730E #27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60000" y="3617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558°C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40000" y="3617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91°C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20000" y="3617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НОРМА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00000" y="3617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558°C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40000" y="3617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КРИТИЧНО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000" y="4049999"/>
            <a:ext cx="12024000" cy="540000"/>
          </a:xfrm>
          <a:prstGeom prst="rect">
            <a:avLst/>
          </a:prstGeom>
          <a:solidFill>
            <a:srgbClr val="1A1F23"/>
          </a:solidFill>
          <a:ln w="3810">
            <a:solidFill>
              <a:srgbClr val="667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4000" y="4193999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730E #28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60000" y="4193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548°C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40000" y="4193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98°C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20000" y="4193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НОРМА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00000" y="4193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548°C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0000" y="4193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КРИТИЧНО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000" y="4625999"/>
            <a:ext cx="12024000" cy="540000"/>
          </a:xfrm>
          <a:prstGeom prst="rect">
            <a:avLst/>
          </a:prstGeom>
          <a:solidFill>
            <a:srgbClr val="1A1F23"/>
          </a:solidFill>
          <a:ln w="3810">
            <a:solidFill>
              <a:srgbClr val="667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4000" y="4769999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730E #39 (16.05)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60000" y="4769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745°C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40000" y="4769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109°C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20000" y="4769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НОРМА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00000" y="4769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745°C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0000" y="4769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КРИТИЧНО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000" y="5201999"/>
            <a:ext cx="12024000" cy="540000"/>
          </a:xfrm>
          <a:prstGeom prst="rect">
            <a:avLst/>
          </a:prstGeom>
          <a:solidFill>
            <a:srgbClr val="1A1F23"/>
          </a:solidFill>
          <a:ln w="3810">
            <a:solidFill>
              <a:srgbClr val="667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4000" y="5345999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730E #39 (21.05)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60000" y="5345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460°C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40000" y="5345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-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20000" y="5345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НОРМА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00000" y="5345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460°C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40000" y="5345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8C42"/>
                </a:solidFill>
              </a:rPr>
              <a:t>ВНИМАНИЕ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000" y="5777999"/>
            <a:ext cx="12024000" cy="540000"/>
          </a:xfrm>
          <a:prstGeom prst="rect">
            <a:avLst/>
          </a:prstGeom>
          <a:solidFill>
            <a:srgbClr val="1A1F23"/>
          </a:solidFill>
          <a:ln w="3810">
            <a:solidFill>
              <a:srgbClr val="667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44000" y="5921999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730E #40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60000" y="5921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108°C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40000" y="5921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102°C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20000" y="5921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4444"/>
                </a:solidFill>
              </a:rPr>
              <a:t>ОТКАЗ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00000" y="5921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</a:rPr>
              <a:t>108°C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40000" y="5921999"/>
            <a:ext cx="19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8C42"/>
                </a:solidFill>
              </a:rPr>
              <a:t>ВНИМАНИЕ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6372000"/>
            <a:ext cx="12189600" cy="486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80000" y="6390000"/>
            <a:ext cx="117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42"/>
                </a:solidFill>
              </a:rPr>
              <a:t>КРИТИЧНО: #24, #19, #27, #28, #39 (16.05). Требуется немедленная проверка цилиндров с ЕГТ &gt;500°C.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72000"/>
            <a:ext cx="11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ЗАКЛЮЧЕНИЕ И РЕКОМЕНДАЦИИ — ПАРК 730E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522000"/>
            <a:ext cx="115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</a:rPr>
              <a:t>На основе DML-логов | 9 агрегатов | 16–21 мая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000" y="827999"/>
            <a:ext cx="5760000" cy="270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000" y="827999"/>
            <a:ext cx="57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93136"/>
                </a:solidFill>
              </a:rPr>
              <a:t>КРИТИЧЕСКИЕ РИСКИ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8000" y="1134000"/>
            <a:ext cx="5760000" cy="648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1170000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444"/>
                </a:solidFill>
              </a:rPr>
              <a:t>730E #24 — ЕГТ max 554°C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00" y="1440000"/>
            <a:ext cx="55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</a:rPr>
              <a:t>Цил.9 = 554°C при нагрузке 93%. Превышение порога 500°C.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8000" y="1890000"/>
            <a:ext cx="5760000" cy="648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0000" y="1925999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444"/>
                </a:solidFill>
              </a:rPr>
              <a:t>730E #19 — ЕГТ max 590°C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000" y="2196000"/>
            <a:ext cx="55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</a:rPr>
              <a:t>Цил.12 = 590°C при нагрузке 83%. Превышение порога 500°C.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8000" y="2646000"/>
            <a:ext cx="5760000" cy="648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0000" y="2681999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444"/>
                </a:solidFill>
              </a:rPr>
              <a:t>730E #27 — ЕГТ max 558°C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000" y="2951999"/>
            <a:ext cx="55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</a:rPr>
              <a:t>Цил.15 = 558°C при нагрузке 83%. Превышение порога 500°C.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8000" y="3402000"/>
            <a:ext cx="5760000" cy="648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0000" y="3438000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444"/>
                </a:solidFill>
              </a:rPr>
              <a:t>730E #28 — ЕГТ max 548°C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000" y="3708000"/>
            <a:ext cx="55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</a:rPr>
              <a:t>Цил.11 = 548°C при нагрузке 70%. Превышение порога 500°C.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000" y="4158000"/>
            <a:ext cx="5760000" cy="648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4194000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444"/>
                </a:solidFill>
              </a:rPr>
              <a:t>730E #39 (16.05) — ЕГТ max 745°C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0000" y="4464000"/>
            <a:ext cx="55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</a:rPr>
              <a:t>Цил.15 = 745°C при нагрузке 86%. Превышение порога 500°C.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0000" y="827999"/>
            <a:ext cx="5940000" cy="270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0000" y="827999"/>
            <a:ext cx="59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93136"/>
                </a:solidFill>
              </a:rPr>
              <a:t>РЕКОМЕНДАЦИИ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0000" y="1134000"/>
            <a:ext cx="5940000" cy="648000"/>
          </a:xfrm>
          <a:prstGeom prst="rect">
            <a:avLst/>
          </a:prstGeom>
          <a:solidFill>
            <a:srgbClr val="20272B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2000" y="1170000"/>
            <a:ext cx="57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</a:rPr>
              <a:t>СРОЧНО: Инспекция цилиндров &gt;500°C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2000" y="1440000"/>
            <a:ext cx="57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</a:rPr>
              <a:t>730E #24 Ц9, #27 Ц15, #28 Ц11: эндоскопия клапанов.
Тепловой зазор клапанов, состояние форсунок.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0000" y="1890000"/>
            <a:ext cx="5940000" cy="648000"/>
          </a:xfrm>
          <a:prstGeom prst="rect">
            <a:avLst/>
          </a:prstGeom>
          <a:solidFill>
            <a:srgbClr val="20272B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2000" y="1925999"/>
            <a:ext cx="57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</a:rPr>
              <a:t>Диагностика датчиков ЕГТ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2000" y="2196000"/>
            <a:ext cx="57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</a:rPr>
              <a:t>Агрегаты #23, #40: все датчики ЕГТ показывают 58°C.
Проверить разъёмы термопар, заменить датчики.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0000" y="2646000"/>
            <a:ext cx="5940000" cy="648000"/>
          </a:xfrm>
          <a:prstGeom prst="rect">
            <a:avLst/>
          </a:prstGeom>
          <a:solidFill>
            <a:srgbClr val="20272B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2000" y="2681999"/>
            <a:ext cx="57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</a:rPr>
              <a:t>Мониторинг масла: #19 и #39a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2000" y="2951999"/>
            <a:ext cx="57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</a:rPr>
              <a:t>Масло 107°C и 109°C — близко к пределу 110°C.
Проверить систему охлаждения масла.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0000" y="3402000"/>
            <a:ext cx="5940000" cy="648000"/>
          </a:xfrm>
          <a:prstGeom prst="rect">
            <a:avLst/>
          </a:prstGeom>
          <a:solidFill>
            <a:srgbClr val="20272B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2000" y="3438000"/>
            <a:ext cx="57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</a:rPr>
              <a:t>Регулярный DML-мониторинг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2000" y="3708000"/>
            <a:ext cx="57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</a:rPr>
              <a:t>Съём DML-логов каждые 2 недели для контроля.
Пороги: ЕГТ &gt;450°C = предупреждение, &gt;500°C = СТОП.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0000" y="4158000"/>
            <a:ext cx="5940000" cy="648000"/>
          </a:xfrm>
          <a:prstGeom prst="rect">
            <a:avLst/>
          </a:prstGeom>
          <a:solidFill>
            <a:srgbClr val="20272B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2000" y="4194000"/>
            <a:ext cx="57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</a:rPr>
              <a:t>Сравнительный анализ с NTE200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2000" y="4464000"/>
            <a:ext cx="57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</a:rPr>
              <a:t>EGT 730E ниже NTE200 (нет TIB=200%).
Базовый уровень EGT: 400–450°C при нагрузке 70–90%.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40000"/>
            <a:ext cx="12189600" cy="216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40000"/>
            <a:ext cx="12189600" cy="10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2700000"/>
            <a:ext cx="1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3EF0AF"/>
                </a:solidFill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0000" y="2700000"/>
            <a:ext cx="9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ТЕМПЕРАТУРА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20000" y="4140000"/>
            <a:ext cx="90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67788"/>
                </a:solidFill>
              </a:rPr>
              <a:t>А-банк (ECM144) vs В-банк (ECM1)  |  Все агрегаты 730E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ТЕМПЕРАТУРА ЦИЛИНДРОВ — 730E #24  |  21.05.2026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13999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Δ внутри банков  |  Δ каждого цилиндра от среднего  |  Межбанковая асимметрия по времени</a:t>
            </a:r>
          </a:p>
        </p:txBody>
      </p:sp>
      <p:pic>
        <p:nvPicPr>
          <p:cNvPr id="6" name="Picture 5" descr="tmps2vhd2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" y="737999"/>
            <a:ext cx="12045600" cy="559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64800"/>
            <a:ext cx="12189600" cy="4932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000" y="6382800"/>
            <a:ext cx="118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8C42"/>
                </a:solidFill>
              </a:rPr>
              <a:t>ВЫВОД: Банки симметричны.  |  Разброс: А=196°C  В=201°C.  |  Цил.16 горячее avg на +21°C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ТЕМПЕРАТУРА ЦИЛИНДРОВ — 730E #19  |  16.05.2026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13999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Δ внутри банков  |  Δ каждого цилиндра от среднего  |  Межбанковая асимметрия по времени</a:t>
            </a:r>
          </a:p>
        </p:txBody>
      </p:sp>
      <p:pic>
        <p:nvPicPr>
          <p:cNvPr id="6" name="Picture 5" descr="tmpenajb2u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" y="737999"/>
            <a:ext cx="12045600" cy="559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64800"/>
            <a:ext cx="12189600" cy="4932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000" y="6382800"/>
            <a:ext cx="118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8C42"/>
                </a:solidFill>
              </a:rPr>
              <a:t>ВЫВОД: В-банк горячее А-банка на 358°C.  |  Разброс: А=93°C  В=122°C.  |  Цил.9 горячее avg на +52°C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ТЕМПЕРАТУРА ЦИЛИНДРОВ — 730E #23 (19.05)  |  19.05.2026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13999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Δ внутри банков  |  Δ каждого цилиндра от среднего  |  Межбанковая асимметрия по времени</a:t>
            </a:r>
          </a:p>
        </p:txBody>
      </p:sp>
      <p:pic>
        <p:nvPicPr>
          <p:cNvPr id="6" name="Picture 5" descr="tmpxnl6uz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" y="737999"/>
            <a:ext cx="12045600" cy="559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64800"/>
            <a:ext cx="12189600" cy="4932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000" y="6382800"/>
            <a:ext cx="118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8C42"/>
                </a:solidFill>
              </a:rPr>
              <a:t>ВЫВОД: Банки симметричны.  |  Разброс: А=0°C  В=43°C.  |  Цил.2 горячее avg на +38°C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ТЕМПЕРАТУРА ЦИЛИНДРОВ — 730E #23 (20.05)  |  20.05.2026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13999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Δ внутри банков  |  Δ каждого цилиндра от среднего  |  Межбанковая асимметрия по времени</a:t>
            </a:r>
          </a:p>
        </p:txBody>
      </p:sp>
      <p:pic>
        <p:nvPicPr>
          <p:cNvPr id="6" name="Picture 5" descr="tmpok7dp5v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" y="737999"/>
            <a:ext cx="12045600" cy="559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64800"/>
            <a:ext cx="12189600" cy="4932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000" y="6382800"/>
            <a:ext cx="118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8C42"/>
                </a:solidFill>
              </a:rPr>
              <a:t>ВЫВОД: Банки симметричны.  |  Разброс: А=0°C  В=44°C.  |  Цил.2 горячее avg на +38°C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ТЕМПЕРАТУРА ЦИЛИНДРОВ — 730E #27  |  18.05.2026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13999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Δ внутри банков  |  Δ каждого цилиндра от среднего  |  Межбанковая асимметрия по времени</a:t>
            </a:r>
          </a:p>
        </p:txBody>
      </p:sp>
      <p:pic>
        <p:nvPicPr>
          <p:cNvPr id="6" name="Picture 5" descr="tmp_38x6a9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" y="737999"/>
            <a:ext cx="12045600" cy="559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64800"/>
            <a:ext cx="12189600" cy="4932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000" y="6382800"/>
            <a:ext cx="118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8C42"/>
                </a:solidFill>
              </a:rPr>
              <a:t>ВЫВОД: Банки симметричны.  |  Разброс: А=443°C  В=431°C.  |  Цил.15 горячее avg на +35°C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ТЕМПЕРАТУРА ЦИЛИНДРОВ — 730E #28  |  20.05.2026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13999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Δ внутри банков  |  Δ каждого цилиндра от среднего  |  Межбанковая асимметрия по времени</a:t>
            </a:r>
          </a:p>
        </p:txBody>
      </p:sp>
      <p:pic>
        <p:nvPicPr>
          <p:cNvPr id="6" name="Picture 5" descr="tmp23du8f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" y="737999"/>
            <a:ext cx="12045600" cy="559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64800"/>
            <a:ext cx="12189600" cy="4932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000" y="6382800"/>
            <a:ext cx="118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8C42"/>
                </a:solidFill>
              </a:rPr>
              <a:t>ВЫВОД: Банки симметричны.  |  Разброс: А=404°C  В=391°C.  |  Цил.16 горячее avg на +21°C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ТЕМПЕРАТУРА ЦИЛИНДРОВ — 730E #39 (16.05)  |  16.05.2026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13999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Δ внутри банков  |  Δ каждого цилиндра от среднего  |  Межбанковая асимметрия по времени</a:t>
            </a:r>
          </a:p>
        </p:txBody>
      </p:sp>
      <p:pic>
        <p:nvPicPr>
          <p:cNvPr id="6" name="Picture 5" descr="tmpzvncarj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" y="737999"/>
            <a:ext cx="12045600" cy="559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64800"/>
            <a:ext cx="12189600" cy="4932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000" y="6382800"/>
            <a:ext cx="118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8C42"/>
                </a:solidFill>
              </a:rPr>
              <a:t>ВЫВОД: А-банк горячее В-банка на 44°C.  |  Разброс: А=498°C  В=95°C.  |  Цил.15 горячее avg на +219°C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ТЕМПЕРАТУРА ЦИЛИНДРОВ — 730E #39 (21.05)  |  21.05.2026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13999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Δ внутри банков  |  Δ каждого цилиндра от среднего  |  Межбанковая асимметрия по времени</a:t>
            </a:r>
          </a:p>
        </p:txBody>
      </p:sp>
      <p:pic>
        <p:nvPicPr>
          <p:cNvPr id="6" name="Picture 5" descr="tmp4b3736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" y="737999"/>
            <a:ext cx="12045600" cy="559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64800"/>
            <a:ext cx="12189600" cy="4932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000" y="6382800"/>
            <a:ext cx="118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8C42"/>
                </a:solidFill>
              </a:rPr>
              <a:t>ВЫВОД: А-банк горячее В-банка на 13°C.  |  Разброс: А=202°C  В=171°C.  |  Цил.13 горячее avg на +14°C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6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36000"/>
            <a:ext cx="11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ТЕМПЕРАТУРА ЦИЛИНДРОВ — 730E #40  |  20.05.2026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13999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88"/>
                </a:solidFill>
              </a:rPr>
              <a:t>Δ внутри банков  |  Δ каждого цилиндра от среднего  |  Межбанковая асимметрия по времени</a:t>
            </a:r>
          </a:p>
        </p:txBody>
      </p:sp>
      <p:pic>
        <p:nvPicPr>
          <p:cNvPr id="6" name="Picture 5" descr="tmpjcdlgy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" y="737999"/>
            <a:ext cx="12045600" cy="559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64800"/>
            <a:ext cx="12189600" cy="493200"/>
          </a:xfrm>
          <a:prstGeom prst="rect">
            <a:avLst/>
          </a:prstGeom>
          <a:solidFill>
            <a:srgbClr val="20272B"/>
          </a:solidFill>
          <a:ln w="1524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000" y="6382800"/>
            <a:ext cx="118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8C42"/>
                </a:solidFill>
              </a:rPr>
              <a:t>ВЫВОД: Банки симметричны.  |  Разброс: А=44°C  В=50°C.  |  Цил.6 горячее avg на +40°C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</a:rPr>
              <a:t>Анализ DML | Парк 730E | QSK50 MCRS | май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