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0"/>
            <a:ext cx="12193200" cy="54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АНАЛИЗ ОТКАЗОВ ГОЛОВОК БЛОКА ЦИЛИНДРОВ (ГБЦ)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188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0" i="0">
                <a:solidFill>
                  <a:srgbClr val="C8CEDD"/>
                </a:solidFill>
                <a:latin typeface="Calibri"/>
              </a:rPr>
              <a:t>Двигатели Cummins QSK50 MCRS • Карьерные самосвалы NTE200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12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0" i="0">
                <a:solidFill>
                  <a:srgbClr val="0055B8"/>
                </a:solidFill>
                <a:latin typeface="Calibri"/>
              </a:rPr>
              <a:t>Золоторудное месторождение «Полюс Магадан»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232000"/>
            <a:ext cx="2124000" cy="1296000"/>
          </a:xfrm>
          <a:prstGeom prst="rect">
            <a:avLst/>
          </a:prstGeom>
          <a:solidFill>
            <a:srgbClr val="DDE8F8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2232000"/>
            <a:ext cx="2124000" cy="72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2448000"/>
            <a:ext cx="19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400" b="1" i="0">
                <a:solidFill>
                  <a:srgbClr val="C01020"/>
                </a:solidFill>
                <a:latin typeface="Calibri"/>
              </a:rPr>
              <a:t>24+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3132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Отказы ГБЦ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8000" y="2232000"/>
            <a:ext cx="2124000" cy="1296000"/>
          </a:xfrm>
          <a:prstGeom prst="rect">
            <a:avLst/>
          </a:prstGeom>
          <a:solidFill>
            <a:srgbClr val="DDE8F8"/>
          </a:solidFill>
          <a:ln w="2540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8000" y="2232000"/>
            <a:ext cx="2124000" cy="72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0" y="2448000"/>
            <a:ext cx="19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400" b="1" i="0">
                <a:solidFill>
                  <a:srgbClr val="C04400"/>
                </a:solidFill>
                <a:latin typeface="Calibri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0" y="3132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Ремонтов выполнено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6000" y="2232000"/>
            <a:ext cx="2124000" cy="1296000"/>
          </a:xfrm>
          <a:prstGeom prst="rect">
            <a:avLst/>
          </a:prstGeom>
          <a:solidFill>
            <a:srgbClr val="DDE8F8"/>
          </a:solidFill>
          <a:ln w="25400">
            <a:solidFill>
              <a:srgbClr val="B3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6000" y="2232000"/>
            <a:ext cx="2124000" cy="72000"/>
          </a:xfrm>
          <a:prstGeom prst="rect">
            <a:avLst/>
          </a:prstGeom>
          <a:solidFill>
            <a:srgbClr val="B3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000" y="2448000"/>
            <a:ext cx="19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400" b="1" i="0">
                <a:solidFill>
                  <a:srgbClr val="B37000"/>
                </a:solidFill>
                <a:latin typeface="Calibri"/>
              </a:rPr>
              <a:t>3480 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3132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Долив масла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44000" y="2232000"/>
            <a:ext cx="2124000" cy="1296000"/>
          </a:xfrm>
          <a:prstGeom prst="rect">
            <a:avLst/>
          </a:prstGeom>
          <a:solidFill>
            <a:srgbClr val="DDE8F8"/>
          </a:solidFill>
          <a:ln w="2540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44000" y="2232000"/>
            <a:ext cx="2124000" cy="72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6000" y="2448000"/>
            <a:ext cx="19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400" b="1" i="0">
                <a:solidFill>
                  <a:srgbClr val="0055B8"/>
                </a:solidFill>
                <a:latin typeface="Calibri"/>
              </a:rPr>
              <a:t>4583 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6000" y="3132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Простой парка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2000" y="2232000"/>
            <a:ext cx="2124000" cy="1296000"/>
          </a:xfrm>
          <a:prstGeom prst="rect">
            <a:avLst/>
          </a:prstGeom>
          <a:solidFill>
            <a:srgbClr val="DDE8F8"/>
          </a:solidFill>
          <a:ln w="2540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12000" y="2232000"/>
            <a:ext cx="2124000" cy="72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4000" y="2448000"/>
            <a:ext cx="19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400" b="1" i="0">
                <a:solidFill>
                  <a:srgbClr val="007A3D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4000" y="3132000"/>
            <a:ext cx="198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Отказы на 730E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3960000"/>
            <a:ext cx="11088000" cy="1908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000" y="4068000"/>
            <a:ext cx="10800000" cy="172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Заказчик: АО «Полюс Магадан»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Объект: парк карьерных самосвалов NTE200 (45+ единиц)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Двигатель: Cummins QSK50 MCRS (16-цилиндровый V-образный дизель)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Контрольная группа: Komatsu 730E-DC (тот же двигатель QSK50, тот же объект) — ОТКАЗОВ НЕТ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Цель: установить корневую причину массовых отказов ГБЦ и опровергнуть версию дилера CCEC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Дата отчёта: июнь 2026 г.  •  Методика: анализ данных эксплуатации, телеметрии DML, калибровок ECM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81200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000" b="0" i="0">
                <a:solidFill>
                  <a:srgbClr val="C8CEDD"/>
                </a:solidFill>
                <a:latin typeface="Calibri"/>
              </a:rPr>
              <a:t>1 / 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Содержание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Структура отчёта — 10 разделов, 100 слайдов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9720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0260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000" y="10152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Обзор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0" y="10260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1–10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0000" y="10260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Введение, KPI, методика, источники данных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5012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15012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15552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000" y="15444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Анализ отказов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0" y="15552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11–20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0" y="15552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Статистика, хронология, распределение по цилиндрам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0304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000" y="20304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0844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000" y="20736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Контроль масла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0000" y="20844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21–32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0000" y="20844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Расход масла по единицам, корреляция с отказами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25596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0000" y="25596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26136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4000" y="26028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Журнал ТО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0000" y="26136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33–44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0000" y="26136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Простои, категории работ, Парето-анализ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30888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0000" y="30888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000" y="31428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000" y="31320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Данные DML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60000" y="31428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45–62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0000" y="31428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Телеметрия двигателя, EGT, давление CR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36180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0000" y="36180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000" y="36720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4000" y="36612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Калибровка ECM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0000" y="36720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63–72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0000" y="36720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15 отличий NTE200 от 730E, параметр TIB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000" y="41472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0000" y="41472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000" y="42012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4000" y="41904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Контрольная группа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60000" y="42012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73–78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80000" y="42012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Сравнение с парком 730E-DC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0000" y="46764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0000" y="46764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000" y="47304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4000" y="47196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Анализ CCEC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60000" y="47304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79–85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80000" y="47304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Опровержение версии дилера (зола, пыль)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0000" y="52056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0000" y="52056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000" y="52596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4000" y="52488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Механизм отказа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60000" y="52596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86–92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80000" y="52596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TIB → EGT → тепловая перегрузка клапанов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0000" y="5734800"/>
            <a:ext cx="11448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0000" y="5734800"/>
            <a:ext cx="576000" cy="48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0000" y="5788800"/>
            <a:ext cx="576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4000" y="5778000"/>
            <a:ext cx="288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Выводы и действия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60000" y="5788800"/>
            <a:ext cx="144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55B8"/>
                </a:solidFill>
                <a:latin typeface="Calibri"/>
              </a:rPr>
              <a:t>слайды 93–100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80000" y="5788800"/>
            <a:ext cx="6120000" cy="41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Заключения, рекомендации, дорожная карта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Резюме для руководства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Ключевые выводы анализа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9720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000" y="1000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1. Зафиксировано 24+ отказов ГБЦ на 30 событий ремонта в парке NTE200 — массовый системный характер.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594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0000" y="15948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1623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2. На идентичных двигателях QSK50 в составе Komatsu 730E-DC на том же объекте — НИ ОДНОГО отказа ГБЦ.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217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22176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000" y="2246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3. Параметр калибровки ECM C_TIB_Fuel_Adjust = 200% (против 100% у 730E) — двойная добавка топлива.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28404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000" y="28404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28692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4. Защита двигателя по EGT на NTE200 ОТКЛЮЧЕНА (Engine_Protection_Mode=0, EGT_Limit отсутствует).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4632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000" y="3463200"/>
            <a:ext cx="54000" cy="558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000" y="34920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5. Телеметрия DML: цилиндры №2 и №6 достигают 567°C при пределе 520°C — тепловая перегрузка.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4086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0000" y="4086000"/>
            <a:ext cx="54000" cy="558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000" y="4114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6. Версия дилера CCEC (зола масла, пыль) опровергается: расход масла НЕ коррелирует с отказами.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4708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B3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0000" y="4708800"/>
            <a:ext cx="54000" cy="558000"/>
          </a:xfrm>
          <a:prstGeom prst="rect">
            <a:avLst/>
          </a:prstGeom>
          <a:solidFill>
            <a:srgbClr val="B3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000" y="4737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7. Отказы происходят как при 2776 м/ч (новая машина NTE#83), так и при 18505 м/ч — не износ.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5331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0000" y="53316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000" y="5360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8. Корневая причина — калибровка ECM (TIB 200% + отсутствие тепловой защиты), а не внешние факторы.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Состав парка и расход масла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Долив моторного масла по единицам техники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6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688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Всего 40 единиц • 3480 л за 182 событий долива. Красный ≥150 л, оранжевый ≥80 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Двигатель Cummins QSK50 MCRS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Технические характеристики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5580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072799"/>
            <a:ext cx="2340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libri"/>
              </a:rPr>
              <a:t>Тип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8000" y="1072799"/>
            <a:ext cx="3024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16-цилиндровый V-образный дизель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537199"/>
            <a:ext cx="5580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" y="1601999"/>
            <a:ext cx="2340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libri"/>
              </a:rPr>
              <a:t>Система впрыска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000" y="1601999"/>
            <a:ext cx="3024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MCRS — модульная Common Rail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066399"/>
            <a:ext cx="5580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2131199"/>
            <a:ext cx="2340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libri"/>
              </a:rPr>
              <a:t>Рабочий объём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8000" y="2131199"/>
            <a:ext cx="3024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50,3 литра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2595599"/>
            <a:ext cx="5580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00" y="2660399"/>
            <a:ext cx="2340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libri"/>
              </a:rPr>
              <a:t>Конфигурация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8000" y="2660399"/>
            <a:ext cx="3024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V16, угол развала 60°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124799"/>
            <a:ext cx="5580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3189599"/>
            <a:ext cx="2340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libri"/>
              </a:rPr>
              <a:t>Мощность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8000" y="3189599"/>
            <a:ext cx="3024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~2013 кВт (2700 л.с.)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3653999"/>
            <a:ext cx="5580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000" y="3718799"/>
            <a:ext cx="2340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libri"/>
              </a:rPr>
              <a:t>Давление в рампе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8000" y="3718799"/>
            <a:ext cx="3024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до 1650 бар (NTE200)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4183199"/>
            <a:ext cx="5580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4247999"/>
            <a:ext cx="2340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libri"/>
              </a:rPr>
              <a:t>Управление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0" y="4247999"/>
            <a:ext cx="3024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ECM с индивидуальным впрыском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4712399"/>
            <a:ext cx="5580000" cy="486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000" y="4777199"/>
            <a:ext cx="2340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libri"/>
              </a:rPr>
              <a:t>Ресурс ГБЦ (план)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8000" y="4777199"/>
            <a:ext cx="3024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&gt; 20000 моточасов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2000" y="1007999"/>
            <a:ext cx="5616000" cy="4716000"/>
          </a:xfrm>
          <a:prstGeom prst="rect">
            <a:avLst/>
          </a:prstGeom>
          <a:solidFill>
            <a:srgbClr val="DCF0E5"/>
          </a:solidFill>
          <a:ln w="1905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000" y="1080000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7A3D"/>
                </a:solidFill>
                <a:latin typeface="Calibri"/>
              </a:rPr>
              <a:t>Архитектура двигателя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000" y="1440000"/>
            <a:ext cx="5400000" cy="41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MCRS (Modular Common Rail System) обеспечивает независимый впрыск для каждого цилиндра под управлением ECM.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Два ряда цилиндров (банки A и B), по 8 цилиндров. ГБЦ — индивидуальные на каждый цилиндр.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ECM управляет дозой топлива, моментом впрыска и давлением в рампе на основе обратной связи по температуре выхлопа (EGT) и оборотам.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Функция TIB (Temperature Imbalance Balancing) корректирует подачу топлива по цилиндрам для выравнивания температур. Именно её верхний предел (200% против 100%) играет ключевую роль в перегреве.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Функция ГБЦ и режим отказа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Головка блока цилиндров — назначение и разрушение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5580000" cy="4680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80000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0055B8"/>
                </a:solidFill>
                <a:latin typeface="Calibri"/>
              </a:rPr>
              <a:t>Назначение ГБЦ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440000"/>
            <a:ext cx="5400000" cy="41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Головка блока цилиндров (ГБЦ) закрывает камеру сгорания и несёт: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впускные и выпускные клапаны и их сёдла;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форсунку впрыска топлива;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каналы охлаждения и смазки;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свечу/датчики температуры выхлопа.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ГБЦ работает в условиях высоких температур и давлений сгорания. Сёдла и тарелки выпускных клапанов наиболее термонагружены.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На QSK50 — индивидуальная ГБЦ на каждый цилиндр, что позволяет локализовать отказы по конкретным цилиндрам.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000" y="1007999"/>
            <a:ext cx="5616000" cy="4680000"/>
          </a:xfrm>
          <a:prstGeom prst="rect">
            <a:avLst/>
          </a:prstGeom>
          <a:solidFill>
            <a:srgbClr val="F8DCDC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1080000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C01020"/>
                </a:solidFill>
                <a:latin typeface="Calibri"/>
              </a:rPr>
              <a:t>Режим отказа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1440000"/>
            <a:ext cx="5400000" cy="41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Наблюдаемый отказ — прогар выпускных клапанов и сёдел, эрозия камеры сгорания.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Последовательность: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1. Избыточная доза топлива (TIB до 200%).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2. Рост температуры выхлопа EGT выше предела 520°C (до 567°C).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3. Перегрев тарелки выпускного клапана и седла.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4. Потеря герметичности, прогар, эрозия.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5. Падение компрессии, попадание газов, разрушение ГБЦ.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При отключённой тепловой защите (Engine_Protection_Mode=0) ECM не снижает нагрузку при перегреве — отказ развивается беспрепятственно.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Хронология проблемы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Ключевые даты отказов ГБЦ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1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184000"/>
            <a:ext cx="1116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Первый отказ: 2025-07 (NTE#51, NTE#43). Пик: апрель–май 2026. Самый ранний по моточасам: NTE#83 — 2776 м/ч (новая машина).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Панель ключевых показателей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Сводка по проблеме отказов ГБЦ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80000"/>
            <a:ext cx="2736000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80000"/>
            <a:ext cx="2736000" cy="648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1512000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 i="0">
                <a:solidFill>
                  <a:srgbClr val="C01020"/>
                </a:solidFill>
                <a:latin typeface="Calibr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19999"/>
            <a:ext cx="2592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Событий ремонта ГБЦ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6000" y="1080000"/>
            <a:ext cx="2736000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6000" y="1080000"/>
            <a:ext cx="2736000" cy="648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8000" y="1512000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 i="0">
                <a:solidFill>
                  <a:srgbClr val="C01020"/>
                </a:solidFill>
                <a:latin typeface="Calibri"/>
              </a:rPr>
              <a:t>130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519999"/>
            <a:ext cx="2592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Цилиндров отказало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2000" y="1080000"/>
            <a:ext cx="2736000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2000" y="1080000"/>
            <a:ext cx="2736000" cy="648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4000" y="1512000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 i="0">
                <a:solidFill>
                  <a:srgbClr val="C04400"/>
                </a:solidFill>
                <a:latin typeface="Calibri"/>
              </a:rPr>
              <a:t>2776–18505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4000" y="2519999"/>
            <a:ext cx="2592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Диапазон м/ч отказа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08000" y="1080000"/>
            <a:ext cx="2736000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08000" y="1080000"/>
            <a:ext cx="2736000" cy="648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000" y="1512000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 i="0">
                <a:solidFill>
                  <a:srgbClr val="C04400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000" y="2519999"/>
            <a:ext cx="2592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Повторные отказы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3311999"/>
            <a:ext cx="2736000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B3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0000" y="3311999"/>
            <a:ext cx="2736000" cy="64800"/>
          </a:xfrm>
          <a:prstGeom prst="rect">
            <a:avLst/>
          </a:prstGeom>
          <a:solidFill>
            <a:srgbClr val="B3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000" y="3743999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 i="0">
                <a:solidFill>
                  <a:srgbClr val="B37000"/>
                </a:solidFill>
                <a:latin typeface="Calibri"/>
              </a:rPr>
              <a:t>3480 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4751998"/>
            <a:ext cx="2592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Долив масла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6000" y="3311999"/>
            <a:ext cx="2736000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000" y="3311999"/>
            <a:ext cx="2736000" cy="648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0" y="3743999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 i="0">
                <a:solidFill>
                  <a:srgbClr val="0055B8"/>
                </a:solidFill>
                <a:latin typeface="Calibri"/>
              </a:rPr>
              <a:t>4583 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48000" y="4751998"/>
            <a:ext cx="2592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Простой парка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2000" y="3311999"/>
            <a:ext cx="2736000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2000" y="3311999"/>
            <a:ext cx="2736000" cy="648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4000" y="3743999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 i="0">
                <a:solidFill>
                  <a:srgbClr val="007A3D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4000" y="4751998"/>
            <a:ext cx="2592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Отказы на 730E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08000" y="3311999"/>
            <a:ext cx="2736000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08000" y="3311999"/>
            <a:ext cx="2736000" cy="648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0000" y="3743999"/>
            <a:ext cx="2592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 i="0">
                <a:solidFill>
                  <a:srgbClr val="C01020"/>
                </a:solidFill>
                <a:latin typeface="Calibri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0000" y="4751998"/>
            <a:ext cx="2592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Отличий ECM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Методика исследования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5 шагов анализа корневой причины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620000"/>
            <a:ext cx="2160000" cy="3060000"/>
          </a:xfrm>
          <a:prstGeom prst="rect">
            <a:avLst/>
          </a:prstGeom>
          <a:solidFill>
            <a:srgbClr val="DDE8F8"/>
          </a:solidFill>
          <a:ln w="2540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620000"/>
            <a:ext cx="2160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674000"/>
            <a:ext cx="21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268000"/>
            <a:ext cx="20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Сбор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844000"/>
            <a:ext cx="2016000" cy="172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Журнал ТО (1004 записи), журнал ремонтов ГБЦ, телеметрия DML, калибровки ECM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000" y="2880000"/>
            <a:ext cx="2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0055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36000" y="1620000"/>
            <a:ext cx="2160000" cy="3060000"/>
          </a:xfrm>
          <a:prstGeom prst="rect">
            <a:avLst/>
          </a:prstGeom>
          <a:solidFill>
            <a:srgbClr val="DDE8F8"/>
          </a:solidFill>
          <a:ln w="2540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36000" y="1620000"/>
            <a:ext cx="2160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6000" y="1674000"/>
            <a:ext cx="21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8000" y="2268000"/>
            <a:ext cx="20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Статистика отказов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8000" y="2844000"/>
            <a:ext cx="2016000" cy="172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Распределение по цилиндрам, моточасам, датам; повторные отказы; тяжесть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6000" y="2880000"/>
            <a:ext cx="2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0055B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12000" y="1620000"/>
            <a:ext cx="2160000" cy="3060000"/>
          </a:xfrm>
          <a:prstGeom prst="rect">
            <a:avLst/>
          </a:prstGeom>
          <a:solidFill>
            <a:srgbClr val="DDE8F8"/>
          </a:solidFill>
          <a:ln w="2540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12000" y="1620000"/>
            <a:ext cx="2160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12000" y="1674000"/>
            <a:ext cx="21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000" y="2268000"/>
            <a:ext cx="20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Анализ телеметрии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000" y="2844000"/>
            <a:ext cx="2016000" cy="172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EGT по цилиндрам, давление CR, превышения пределов температуры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2000" y="2880000"/>
            <a:ext cx="2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0055B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88000" y="1620000"/>
            <a:ext cx="2160000" cy="3060000"/>
          </a:xfrm>
          <a:prstGeom prst="rect">
            <a:avLst/>
          </a:prstGeom>
          <a:solidFill>
            <a:srgbClr val="DDE8F8"/>
          </a:solidFill>
          <a:ln w="2540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88000" y="1620000"/>
            <a:ext cx="2160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000" y="1674000"/>
            <a:ext cx="21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0000" y="2268000"/>
            <a:ext cx="20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Сравнение калибровок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0000" y="2844000"/>
            <a:ext cx="2016000" cy="172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15 отличий ECM NTE200 vs 730E; контрольная группа без отказов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8000" y="2880000"/>
            <a:ext cx="2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0055B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64000" y="1620000"/>
            <a:ext cx="2160000" cy="3060000"/>
          </a:xfrm>
          <a:prstGeom prst="rect">
            <a:avLst/>
          </a:prstGeom>
          <a:solidFill>
            <a:srgbClr val="DDE8F8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64000" y="1620000"/>
            <a:ext cx="2160000" cy="540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64000" y="1674000"/>
            <a:ext cx="21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6000" y="2268000"/>
            <a:ext cx="201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Calibri"/>
              </a:rPr>
              <a:t>Корневая причина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6000" y="2844000"/>
            <a:ext cx="2016000" cy="172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TIB 200% + отсутствие тепловой защиты → перегрев → прогар клапанов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Источники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Использованные файлы и извлечённые данные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10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80000"/>
            <a:ext cx="3420000" cy="648000"/>
          </a:xfrm>
          <a:prstGeom prst="rect">
            <a:avLst/>
          </a:prstGeom>
          <a:solidFill>
            <a:srgbClr val="002B5C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188000"/>
            <a:ext cx="327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Файл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0000" y="1080000"/>
            <a:ext cx="3960000" cy="648000"/>
          </a:xfrm>
          <a:prstGeom prst="rect">
            <a:avLst/>
          </a:prstGeom>
          <a:solidFill>
            <a:srgbClr val="002B5C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2000" y="1188000"/>
            <a:ext cx="38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Содержание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0000" y="1080000"/>
            <a:ext cx="4068000" cy="648000"/>
          </a:xfrm>
          <a:prstGeom prst="rect">
            <a:avLst/>
          </a:prstGeom>
          <a:solidFill>
            <a:srgbClr val="002B5C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2000" y="1188000"/>
            <a:ext cx="392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Извлечено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728000"/>
            <a:ext cx="3420000" cy="648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1836000"/>
            <a:ext cx="327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ОТЧЕТ_Полюс_Магадан.xlsx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0000" y="1728000"/>
            <a:ext cx="3960000" cy="648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2000" y="1836000"/>
            <a:ext cx="38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Журнал ТО, 1004 записи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0000" y="1728000"/>
            <a:ext cx="4068000" cy="648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2000" y="1836000"/>
            <a:ext cx="392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Долив масла 3480 л, простой 4583 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376000"/>
            <a:ext cx="3420000" cy="648000"/>
          </a:xfrm>
          <a:prstGeom prst="rect">
            <a:avLst/>
          </a:prstGeom>
          <a:solidFill>
            <a:srgbClr val="DCF0E5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2484000"/>
            <a:ext cx="327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ГБЦ ремонты.xlsx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0000" y="2376000"/>
            <a:ext cx="3960000" cy="648000"/>
          </a:xfrm>
          <a:prstGeom prst="rect">
            <a:avLst/>
          </a:prstGeom>
          <a:solidFill>
            <a:srgbClr val="DCF0E5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52000" y="2484000"/>
            <a:ext cx="38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Журнал ремонтов ГБЦ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0000" y="2376000"/>
            <a:ext cx="4068000" cy="648000"/>
          </a:xfrm>
          <a:prstGeom prst="rect">
            <a:avLst/>
          </a:prstGeom>
          <a:solidFill>
            <a:srgbClr val="DCF0E5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2000" y="2484000"/>
            <a:ext cx="392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30 событий, моточасы, цилиндры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3024000"/>
            <a:ext cx="3420000" cy="648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3132000"/>
            <a:ext cx="327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DML_82_s_porodoy.csv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80000" y="3024000"/>
            <a:ext cx="3960000" cy="648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52000" y="3132000"/>
            <a:ext cx="38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Телеметрия NTE#82, 1407 строк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40000" y="3024000"/>
            <a:ext cx="4068000" cy="648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2000" y="3132000"/>
            <a:ext cx="392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EGT по 16 цил., давление CR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3672000"/>
            <a:ext cx="3420000" cy="648000"/>
          </a:xfrm>
          <a:prstGeom prst="rect">
            <a:avLst/>
          </a:prstGeom>
          <a:solidFill>
            <a:srgbClr val="DCF0E5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000" y="3780000"/>
            <a:ext cx="327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ECM_Analysis_NTE200.xlsx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80000" y="3672000"/>
            <a:ext cx="3960000" cy="648000"/>
          </a:xfrm>
          <a:prstGeom prst="rect">
            <a:avLst/>
          </a:prstGeom>
          <a:solidFill>
            <a:srgbClr val="DCF0E5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52000" y="3780000"/>
            <a:ext cx="38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Калибровки ECM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40000" y="3672000"/>
            <a:ext cx="4068000" cy="648000"/>
          </a:xfrm>
          <a:prstGeom prst="rect">
            <a:avLst/>
          </a:prstGeom>
          <a:solidFill>
            <a:srgbClr val="DCF0E5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2000" y="3780000"/>
            <a:ext cx="392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15 отличий NTE200 vs 730E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4320000"/>
            <a:ext cx="3420000" cy="648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000" y="4428000"/>
            <a:ext cx="327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730E (контрольная группа)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80000" y="4320000"/>
            <a:ext cx="3960000" cy="648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52000" y="4428000"/>
            <a:ext cx="38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Парк Komatsu 730E-DC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40000" y="4320000"/>
            <a:ext cx="4068000" cy="648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2000" y="4428000"/>
            <a:ext cx="392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0 отказов ГБЦ — эталон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Статистика отказов ГБЦ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Цилиндров на событие ремонта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11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2736000" cy="936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972000"/>
            <a:ext cx="64800" cy="936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999" y="1062000"/>
            <a:ext cx="2556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C01020"/>
                </a:solidFill>
                <a:latin typeface="Calibr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999" y="1458000"/>
            <a:ext cx="2556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Событий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8000" y="972000"/>
            <a:ext cx="2736000" cy="936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68000" y="972000"/>
            <a:ext cx="64800" cy="936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3999" y="1062000"/>
            <a:ext cx="2556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C01020"/>
                </a:solidFill>
                <a:latin typeface="Calibri"/>
              </a:rPr>
              <a:t>130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3999" y="1458000"/>
            <a:ext cx="2556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Цилиндров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76000" y="972000"/>
            <a:ext cx="2736000" cy="936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76000" y="972000"/>
            <a:ext cx="64800" cy="936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1999" y="1062000"/>
            <a:ext cx="2556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C04400"/>
                </a:solidFill>
                <a:latin typeface="Calibri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1999" y="1458000"/>
            <a:ext cx="2556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Множеств. отказы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84000" y="972000"/>
            <a:ext cx="3024000" cy="936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4000" y="972000"/>
            <a:ext cx="64800" cy="936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9999" y="1062000"/>
            <a:ext cx="2844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C01020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9999" y="1458000"/>
            <a:ext cx="2844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Полная замена ГБЦ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2015999"/>
            <a:ext cx="11664000" cy="3671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Хронология ремонтов ГБЦ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События 1–15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12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1512000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000" y="1051199"/>
            <a:ext cx="1440000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Единица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2000" y="1007999"/>
            <a:ext cx="1800000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6000" y="1051199"/>
            <a:ext cx="1728000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Дата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2000" y="1007999"/>
            <a:ext cx="1620000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6000" y="1051199"/>
            <a:ext cx="1548000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Моточасы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92000" y="1007999"/>
            <a:ext cx="4680000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6000" y="1051199"/>
            <a:ext cx="4608000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Цилиндры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72000" y="1007999"/>
            <a:ext cx="1835999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6000" y="1051199"/>
            <a:ext cx="1763999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Тип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3175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000" y="13535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2000" y="13175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6000" y="13535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2025-07-22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2000" y="13175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6000" y="13535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11943 м/ч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92000" y="13175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6000" y="13535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72000" y="13175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6000" y="13535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16271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000" y="16631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NTE#43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2000" y="16271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6000" y="16631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2026-01-21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2000" y="16271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26000" y="16631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16033 м/ч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16271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6000" y="16631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Ц5, Ц7, Ц2, Ц4, Ц6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72000" y="16271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6000" y="16631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C01020"/>
                </a:solidFill>
                <a:latin typeface="Calibri"/>
              </a:rPr>
              <a:t>повтор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19367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4000" y="19727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NTE#44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2000" y="19367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6000" y="19727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2026-12-27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2000" y="19367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26000" y="19727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14751 м/ч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92000" y="19367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6000" y="19727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ВСЕ 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72000" y="19367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26000" y="19727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" y="2246399"/>
            <a:ext cx="1512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000" y="22823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NTE#45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72000" y="2246399"/>
            <a:ext cx="180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6000" y="22823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2026-03-24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72000" y="2246399"/>
            <a:ext cx="162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26000" y="22823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17863 м/ч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92000" y="2246399"/>
            <a:ext cx="468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6000" y="22823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72000" y="2246399"/>
            <a:ext cx="1835999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26000" y="22823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" y="25559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4000" y="25919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NTE#46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72000" y="25559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26000" y="25919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2025-12-17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72000" y="25559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26000" y="25919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15103 м/ч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92000" y="25559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46000" y="25919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72000" y="25559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26000" y="25919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0000" y="28655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4000" y="29015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NTE#47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2000" y="28655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26000" y="29015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2026-08-11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72000" y="28655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26000" y="29015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12890 м/ч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92000" y="28655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46000" y="29015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Ц5, Ц9, Ц11, Ц13, Ц4, Ц6, Ц14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72000" y="28655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26000" y="29015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0000" y="31751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4000" y="32111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NTE#48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72000" y="31751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26000" y="32111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2025-11-23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72000" y="31751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26000" y="32111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14997 м/ч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92000" y="31751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46000" y="32111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Ц5, Ц11, Ц6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72000" y="31751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026000" y="32111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0000" y="3484799"/>
            <a:ext cx="1512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4000" y="35207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72000" y="3484799"/>
            <a:ext cx="180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26000" y="35207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2026-01-12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72000" y="3484799"/>
            <a:ext cx="162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26000" y="35207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15433 м/ч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92000" y="3484799"/>
            <a:ext cx="468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46000" y="35207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972000" y="3484799"/>
            <a:ext cx="1835999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026000" y="35207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0000" y="37943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4000" y="38303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72000" y="37943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926000" y="38303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2025-07-17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72000" y="37943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726000" y="38303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10783 м/ч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292000" y="37943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46000" y="38303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Ц12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972000" y="37943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026000" y="38303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0000" y="4103999"/>
            <a:ext cx="1512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14000" y="41399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72000" y="4103999"/>
            <a:ext cx="180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926000" y="41399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2026-02-10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72000" y="4103999"/>
            <a:ext cx="162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726000" y="41399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18505 м/ч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92000" y="4103999"/>
            <a:ext cx="468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46000" y="41399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Ц12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72000" y="4103999"/>
            <a:ext cx="1835999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026000" y="41399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0000" y="44135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14000" y="44495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72000" y="44135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926000" y="44495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2026-05-25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672000" y="44135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726000" y="44495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17550 м/ч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292000" y="44135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46000" y="44495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ВСЕ 16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72000" y="44135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026000" y="44495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0000" y="47231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14000" y="47591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872000" y="47231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926000" y="47591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2026-05-19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72000" y="47231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726000" y="47591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17316 м/ч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292000" y="47231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346000" y="47591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ВСЕ 16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972000" y="47231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26000" y="47591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60000" y="50327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14000" y="50687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872000" y="50327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926000" y="50687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2026-02-05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672000" y="50327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726000" y="50687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14808 м/ч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292000" y="50327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346000" y="50687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Ц3, Ц5, Ц15, Ц4, Ц6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972000" y="50327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026000" y="50687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0000" y="5342399"/>
            <a:ext cx="1512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14000" y="53783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72000" y="5342399"/>
            <a:ext cx="180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926000" y="53783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2026-08-10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72000" y="5342399"/>
            <a:ext cx="162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726000" y="53783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10702 м/ч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292000" y="5342399"/>
            <a:ext cx="468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46000" y="53783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Ц13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972000" y="5342399"/>
            <a:ext cx="1835999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026000" y="53783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0000" y="56519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14000" y="56879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NTE#58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872000" y="56519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926000" y="56879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2026-03-17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672000" y="56519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726000" y="56879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15572 м/ч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292000" y="56519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346000" y="56879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Ц8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972000" y="56519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026000" y="56879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C01020"/>
                </a:solidFill>
                <a:latin typeface="Calibri"/>
              </a:rPr>
              <a:t>повтор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60000" y="6033599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1">
                <a:solidFill>
                  <a:srgbClr val="7880A0"/>
                </a:solidFill>
                <a:latin typeface="Calibri"/>
              </a:rPr>
              <a:t>Красные строки — отказ 5+ цилиндров.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Хронология ремонтов ГБЦ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События 16–30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13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1512000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000" y="1051199"/>
            <a:ext cx="1440000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Единица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2000" y="1007999"/>
            <a:ext cx="1800000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6000" y="1051199"/>
            <a:ext cx="1728000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Дата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2000" y="1007999"/>
            <a:ext cx="1620000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6000" y="1051199"/>
            <a:ext cx="1548000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Моточасы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92000" y="1007999"/>
            <a:ext cx="4680000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6000" y="1051199"/>
            <a:ext cx="4608000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Цилиндры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72000" y="1007999"/>
            <a:ext cx="1835999" cy="3096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6000" y="1051199"/>
            <a:ext cx="1763999" cy="237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Тип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3175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000" y="13535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2000" y="13175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6000" y="13535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2026-02-18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2000" y="13175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6000" y="13535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15143 м/ч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92000" y="13175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6000" y="13535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72000" y="13175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6000" y="13535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1627199"/>
            <a:ext cx="1512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000" y="16631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NTE#59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2000" y="1627199"/>
            <a:ext cx="180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6000" y="16631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2026-04-06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2000" y="1627199"/>
            <a:ext cx="162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26000" y="16631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16219 м/ч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1627199"/>
            <a:ext cx="468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6000" y="16631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72000" y="1627199"/>
            <a:ext cx="1835999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6000" y="16631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C01020"/>
                </a:solidFill>
                <a:latin typeface="Calibri"/>
              </a:rPr>
              <a:t>повтор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19367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4000" y="19727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NTE#62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2000" y="19367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6000" y="19727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2026-02-19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2000" y="19367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26000" y="19727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13917 м/ч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92000" y="19367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6000" y="19727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72000" y="19367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26000" y="19727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" y="2246399"/>
            <a:ext cx="1512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000" y="22823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NTE#69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72000" y="2246399"/>
            <a:ext cx="180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6000" y="22823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2026-04-16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72000" y="2246399"/>
            <a:ext cx="162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26000" y="22823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10130 м/ч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92000" y="2246399"/>
            <a:ext cx="468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6000" y="22823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Ц5, Ц7, Ц6, Ц8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72000" y="2246399"/>
            <a:ext cx="1835999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26000" y="22823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" y="25559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4000" y="25919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NTE#69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72000" y="25559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26000" y="25919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72000" y="25559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26000" y="25919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10721 м/ч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92000" y="25559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46000" y="25919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Ц7, Ц9, Ц11, Ц13, Ц14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72000" y="25559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26000" y="25919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C01020"/>
                </a:solidFill>
                <a:latin typeface="Calibri"/>
              </a:rPr>
              <a:t>повтор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0000" y="28655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4000" y="29015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NTE#72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2000" y="28655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26000" y="29015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2026-04-18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72000" y="28655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26000" y="29015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10000 м/ч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92000" y="28655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46000" y="29015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Ц9, Ц11, Ц13, Ц10, Ц12, Ц14, Ц16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72000" y="28655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26000" y="29015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0000" y="31751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4000" y="32111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NTE#72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72000" y="31751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26000" y="32111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2026-05-05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72000" y="31751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26000" y="32111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10283 м/ч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92000" y="31751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46000" y="32111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Ц9, Ц11, Ц13, Ц10, Ц12, Ц14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72000" y="31751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026000" y="32111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C01020"/>
                </a:solidFill>
                <a:latin typeface="Calibri"/>
              </a:rPr>
              <a:t>повтор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0000" y="3484799"/>
            <a:ext cx="1512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4000" y="35207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NTE#73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72000" y="3484799"/>
            <a:ext cx="180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26000" y="35207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2026-04-24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72000" y="3484799"/>
            <a:ext cx="162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26000" y="35207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9998 м/ч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92000" y="3484799"/>
            <a:ext cx="4680000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46000" y="35207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972000" y="3484799"/>
            <a:ext cx="1835999" cy="3096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026000" y="35207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0000" y="37943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4000" y="38303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NTE#74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72000" y="37943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926000" y="38303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2026-05-02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72000" y="37943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726000" y="38303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9869 м/ч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292000" y="37943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46000" y="38303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Ц12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972000" y="37943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026000" y="38303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0000" y="41039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14000" y="41399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NTE#76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72000" y="41039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926000" y="41399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2026-05-01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72000" y="41039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726000" y="41399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9754 м/ч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92000" y="41039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46000" y="41399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Ц5, Ц11, Ц13, Ц8, Ц10, Ц12, Ц14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72000" y="41039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026000" y="41399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0000" y="44135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14000" y="44495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NTE#76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72000" y="44135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926000" y="44495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2026-05-27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672000" y="44135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726000" y="44495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10028 м/ч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292000" y="44135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46000" y="44495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Ц12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972000" y="44135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026000" y="44495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C01020"/>
                </a:solidFill>
                <a:latin typeface="Calibri"/>
              </a:rPr>
              <a:t>повтор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0000" y="47231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14000" y="47591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NTE#77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872000" y="47231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926000" y="47591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2026-05-26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72000" y="47231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726000" y="47591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10016 м/ч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292000" y="47231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346000" y="47591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Ц7, Ц4, Ц6, Ц8, Ц12, Ц14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972000" y="47231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26000" y="47591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60000" y="50327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14000" y="50687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NTE#78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872000" y="50327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926000" y="50687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2026-05-19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672000" y="50327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726000" y="50687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9323 м/ч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292000" y="50327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346000" y="50687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Ц11, Ц6, Ц8, Ц12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972000" y="50327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026000" y="50687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0000" y="5342399"/>
            <a:ext cx="1512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14000" y="53783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NTE#81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72000" y="5342399"/>
            <a:ext cx="180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926000" y="53783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2026-05-13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72000" y="5342399"/>
            <a:ext cx="162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726000" y="53783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4696 м/ч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292000" y="5342399"/>
            <a:ext cx="4680000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46000" y="53783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9 цил.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972000" y="5342399"/>
            <a:ext cx="1835999" cy="3096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026000" y="53783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0000" y="5651999"/>
            <a:ext cx="1512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14000" y="5687999"/>
            <a:ext cx="1440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NTE#83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872000" y="5651999"/>
            <a:ext cx="180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926000" y="5687999"/>
            <a:ext cx="172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2026-03-21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672000" y="5651999"/>
            <a:ext cx="162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726000" y="5687999"/>
            <a:ext cx="154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2776 м/ч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292000" y="5651999"/>
            <a:ext cx="4680000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346000" y="5687999"/>
            <a:ext cx="4608000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Ц16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972000" y="5651999"/>
            <a:ext cx="1835999" cy="3096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026000" y="5687999"/>
            <a:ext cx="1763999" cy="255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первичн.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60000" y="6033599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1">
                <a:solidFill>
                  <a:srgbClr val="7880A0"/>
                </a:solidFill>
                <a:latin typeface="Calibri"/>
              </a:rPr>
              <a:t>NTE#81 (4696 м/ч) и NTE#83 (2776 м/ч) — отказы на очень малых моточасах.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Распределение моточасов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Моточасы на момент отказа ГБЦ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14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Разброс 2776–18505 м/ч. Отказы не привязаны к износу: есть как ранние (2776 м/ч), так и поздние (18505 м/ч).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Анализ Вейбулла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Функция распределения отказов по моточасам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15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1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Параметр формы β=3.67. β&gt;1 указывает на возрастающую интенсивность отказов, но ранние отказы (NTE#83) нарушают монотонность — признак внешнего управляющего фактора (ECM).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Тепловая карта отказов по цилиндрам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Частота отказа каждого цилиндра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16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36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4680000"/>
            <a:ext cx="1116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Цилиндры №6, №12, №14 и №8 отказывают чаще остальных — это коррелирует с самыми высокими EGT (Ц6=567°C).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Банк A против Банка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Распределение отказов между рядами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17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328000"/>
            <a:ext cx="111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Чётные цилиндры (Банк B: 2,4,6,8...) отказывают чаще — это правый ряд, где зафиксированы пиковые EGT (Ц2 и Ц6 = 567°C).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Повторные отказы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Единицы с многократным ремонтом ГБЦ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18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37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4824000"/>
            <a:ext cx="11448000" cy="9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NTE#72: интервал между отказами всего 283 м/ч (10000 → 10283 м/ч) — повторный прогар тех же цилиндров. NTE#69: 10130 → 10721 м/ч. Быстрый рецидив доказывает, что причина системная (калибровка), а не дефект ГБЦ.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Тяжесть отказов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Распределение по числу отказавших цилиндров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19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0" y="936000"/>
            <a:ext cx="6480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Эскалация во времени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Накопленное число отказов ГБЦ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20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1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Резкая эскалация в апреле–мае 2026 г.: за 2 месяца более половины всех событий. Совпадает с обновлением калибровки парка.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Контроль расхода масла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Обзор долива моторного масла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21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2736000" cy="1080000"/>
          </a:xfrm>
          <a:prstGeom prst="rect">
            <a:avLst/>
          </a:prstGeom>
          <a:solidFill>
            <a:srgbClr val="DDE8F8"/>
          </a:solidFill>
          <a:ln w="19050">
            <a:solidFill>
              <a:srgbClr val="B3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07999"/>
            <a:ext cx="64800" cy="1080000"/>
          </a:xfrm>
          <a:prstGeom prst="rect">
            <a:avLst/>
          </a:prstGeom>
          <a:solidFill>
            <a:srgbClr val="B3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999" y="1097999"/>
            <a:ext cx="2556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B37000"/>
                </a:solidFill>
                <a:latin typeface="Calibri"/>
              </a:rPr>
              <a:t>3480 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999" y="1637999"/>
            <a:ext cx="2556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Всего долито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8000" y="1007999"/>
            <a:ext cx="2736000" cy="1080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68000" y="1007999"/>
            <a:ext cx="64800" cy="108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3999" y="1097999"/>
            <a:ext cx="2556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0055B8"/>
                </a:solidFill>
                <a:latin typeface="Calibri"/>
              </a:rPr>
              <a:t>182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3999" y="1637999"/>
            <a:ext cx="2556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Событий долива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76000" y="1007999"/>
            <a:ext cx="2736000" cy="1080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76000" y="1007999"/>
            <a:ext cx="64800" cy="1080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1999" y="1097999"/>
            <a:ext cx="2556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C01020"/>
                </a:solidFill>
                <a:latin typeface="Calibri"/>
              </a:rPr>
              <a:t>246 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1999" y="1637999"/>
            <a:ext cx="2556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Макс. на единицу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84000" y="1007999"/>
            <a:ext cx="3024000" cy="1080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4000" y="1007999"/>
            <a:ext cx="64800" cy="1080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9999" y="1097999"/>
            <a:ext cx="2844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007A3D"/>
                </a:solidFill>
                <a:latin typeface="Calibri"/>
              </a:rPr>
              <a:t>87 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9999" y="1637999"/>
            <a:ext cx="2844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Средн. на ед.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2304000"/>
            <a:ext cx="11448000" cy="3240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999" y="2448000"/>
            <a:ext cx="11160000" cy="29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Расход масла на угар — индикатор состояния ЦПГ и износа. Дилер CCEC утверждает, что зольность масла образует отложения, ведущие к прогару клапанов.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Однако наши данные показывают: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Максимальный расход (NTE#50 = 246 л, NTE#53 = 220 л, NTE#73 = 195 л) — у разных единиц;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Многие единицы с высоким доливом НЕ имеют отказов ГБЦ;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Единицы с НУЛЕВЫМ доливом (NTE#72, NTE#74) — имеют тяжёлые отказы ГБЦ;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NTE#83 (0 л долива) отказал на 2776 м/ч — масло физически не успело образовать золу.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Вывод: расход масла не объясняет картину отказов. Это опровергает версию CCEC.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Расход масла по всем единицам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Сортировка по убыванию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22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Топ-10 по расходу масла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Крупнейшие потребители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23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Красный — единицы с отказом ГБЦ, синий — без отказа. Высокий расход не предсказывает отказ.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Высокий расход масла без отказа ГБЦ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Контрпример версии CCEC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24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328000"/>
            <a:ext cx="11448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9 единиц с высоким расходом масла НЕ имеют отказов ГБЦ. Если бы зола масла вызывала прогар, эти единицы отказали бы первыми. Они исправны.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Динамика долива масла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Помесячный тренд событий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25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Долив масла относительно стабилен во времени, тогда как отказы ГБЦ резко выросли весной 2026 г. Отсутствие корреляции по времени — ещё один аргумент против масляной версии.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Удельный расход масла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Литров на единицу с доливом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26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75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Частота событий долива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Распределение объёмов долива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27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Медиана 78 л, разброс 10–246 л. Распределение широкое, что отражает индивидуальные особенности эксплуатации.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Моторное масло против прочих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Категории расходных материалов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28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36000"/>
            <a:ext cx="11088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 анализе учитывался только долив моторного масла ДВС (фильтр «долив масла дв»), чтобы исключить искажения от гидравлики и трансмиссии.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Корреляция: масло против отказов ГБЦ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Расход масла и число отказавших цилиндров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29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Коэффициент корреляции близок к нулю/отрицателен: расход масла НЕ предсказывает тяжесть отказа ГБЦ. Версия CCEC статистически не подтверждается.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Анализ крупных потребителей масла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Детальный разбор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30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11448000" cy="684000"/>
          </a:xfrm>
          <a:prstGeom prst="rect">
            <a:avLst/>
          </a:prstGeom>
          <a:solidFill>
            <a:srgbClr val="F8DCDC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134000"/>
            <a:ext cx="180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C01020"/>
                </a:solidFill>
                <a:latin typeface="Calibri"/>
              </a:rPr>
              <a:t>NTE#50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000" y="1134000"/>
            <a:ext cx="144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Calibri"/>
              </a:rPr>
              <a:t>246 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1206000"/>
            <a:ext cx="75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ЕСТЬ отказ ГБЦ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781999"/>
            <a:ext cx="11448000" cy="684000"/>
          </a:xfrm>
          <a:prstGeom prst="rect">
            <a:avLst/>
          </a:prstGeom>
          <a:solidFill>
            <a:srgbClr val="F8DCDC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1871999"/>
            <a:ext cx="180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C01020"/>
                </a:solidFill>
                <a:latin typeface="Calibri"/>
              </a:rPr>
              <a:t>NTE#53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000" y="1871999"/>
            <a:ext cx="144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Calibri"/>
              </a:rPr>
              <a:t>220 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1943999"/>
            <a:ext cx="75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ЕСТЬ отказ ГБЦ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519998"/>
            <a:ext cx="11448000" cy="684000"/>
          </a:xfrm>
          <a:prstGeom prst="rect">
            <a:avLst/>
          </a:prstGeom>
          <a:solidFill>
            <a:srgbClr val="DCF0E5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2609998"/>
            <a:ext cx="180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007A3D"/>
                </a:solidFill>
                <a:latin typeface="Calibri"/>
              </a:rPr>
              <a:t>NTE#54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000" y="2609998"/>
            <a:ext cx="144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Calibri"/>
              </a:rPr>
              <a:t>205 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0" y="2681998"/>
            <a:ext cx="75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НЕТ отказа ГБЦ — исправен несмотря на высокий расход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257997"/>
            <a:ext cx="11448000" cy="684000"/>
          </a:xfrm>
          <a:prstGeom prst="rect">
            <a:avLst/>
          </a:prstGeom>
          <a:solidFill>
            <a:srgbClr val="F8DCDC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3347997"/>
            <a:ext cx="180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C01020"/>
                </a:solidFill>
                <a:latin typeface="Calibri"/>
              </a:rPr>
              <a:t>NTE#73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000" y="3347997"/>
            <a:ext cx="144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Calibri"/>
              </a:rPr>
              <a:t>195 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0" y="3419997"/>
            <a:ext cx="75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ЕСТЬ отказ ГБЦ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3995996"/>
            <a:ext cx="11448000" cy="684000"/>
          </a:xfrm>
          <a:prstGeom prst="rect">
            <a:avLst/>
          </a:prstGeom>
          <a:solidFill>
            <a:srgbClr val="DCF0E5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000" y="4085996"/>
            <a:ext cx="180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007A3D"/>
                </a:solidFill>
                <a:latin typeface="Calibri"/>
              </a:rPr>
              <a:t>NTE#61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4085996"/>
            <a:ext cx="144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Calibri"/>
              </a:rPr>
              <a:t>170 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0000" y="4157996"/>
            <a:ext cx="75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НЕТ отказа ГБЦ — исправен несмотря на высокий расход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4733995"/>
            <a:ext cx="11448000" cy="684000"/>
          </a:xfrm>
          <a:prstGeom prst="rect">
            <a:avLst/>
          </a:prstGeom>
          <a:solidFill>
            <a:srgbClr val="F8DCDC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000" y="4823995"/>
            <a:ext cx="180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C01020"/>
                </a:solidFill>
                <a:latin typeface="Calibri"/>
              </a:rPr>
              <a:t>NTE#51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0000" y="4823995"/>
            <a:ext cx="144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Calibri"/>
              </a:rPr>
              <a:t>160 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0000" y="4895995"/>
            <a:ext cx="756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ЕСТЬ отказ ГБЦ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Низкий расход масла, но отказ ГБЦ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Прямое опровержение масляной версии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31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11448000" cy="360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116000"/>
            <a:ext cx="216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Единица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1116000"/>
            <a:ext cx="252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Долив масла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0" y="1116000"/>
            <a:ext cx="288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Моточасы отказа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0" y="1116000"/>
            <a:ext cx="252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Цилиндров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1440000"/>
            <a:ext cx="11448000" cy="468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1530000"/>
            <a:ext cx="216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C01020"/>
                </a:solidFill>
                <a:latin typeface="Calibri"/>
              </a:rPr>
              <a:t>NTE#43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1530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30 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0" y="1530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11943 м/ч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0" y="1530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943999"/>
            <a:ext cx="11448000" cy="468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2033999"/>
            <a:ext cx="216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C01020"/>
                </a:solidFill>
                <a:latin typeface="Calibri"/>
              </a:rPr>
              <a:t>NTE#44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0" y="2033999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20 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2033999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14751 м/ч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0" y="2033999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2447998"/>
            <a:ext cx="11448000" cy="468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2537998"/>
            <a:ext cx="216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C01020"/>
                </a:solidFill>
                <a:latin typeface="Calibri"/>
              </a:rPr>
              <a:t>NTE#47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2537998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30 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2537998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12890 м/ч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0000" y="2537998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2951997"/>
            <a:ext cx="11448000" cy="468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000" y="3041997"/>
            <a:ext cx="216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C01020"/>
                </a:solidFill>
                <a:latin typeface="Calibri"/>
              </a:rPr>
              <a:t>NTE#48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000" y="3041997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10 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0" y="3041997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14997 м/ч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0000" y="3041997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000" y="3455996"/>
            <a:ext cx="11448000" cy="468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000" y="3545996"/>
            <a:ext cx="216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C01020"/>
                </a:solidFill>
                <a:latin typeface="Calibri"/>
              </a:rPr>
              <a:t>NTE#57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000" y="3545996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20 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000" y="3545996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14808 м/ч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0000" y="3545996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3959995"/>
            <a:ext cx="11448000" cy="468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000" y="4049995"/>
            <a:ext cx="216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C01020"/>
                </a:solidFill>
                <a:latin typeface="Calibri"/>
              </a:rPr>
              <a:t>NTE#59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000" y="4049995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0 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000" y="4049995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15143 м/ч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0000" y="4049995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0000" y="4463994"/>
            <a:ext cx="11448000" cy="468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000" y="4553994"/>
            <a:ext cx="216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C01020"/>
                </a:solidFill>
                <a:latin typeface="Calibri"/>
              </a:rPr>
              <a:t>NTE#62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000" y="4553994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0 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000" y="4553994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13917 м/ч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0000" y="4553994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" y="4967993"/>
            <a:ext cx="11448000" cy="468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000" y="5057993"/>
            <a:ext cx="216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C01020"/>
                </a:solidFill>
                <a:latin typeface="Calibri"/>
              </a:rPr>
              <a:t>NTE#69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000" y="5057993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0 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000" y="5057993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10130 м/ч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0000" y="5057993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Выводы по контролю масла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32 /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972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54000" cy="558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00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1. Всего долито 3480 л моторного масла за 182 события по 40+ единицам.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594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15948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623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2. Максимальный расход (NTE#50 = 246 л) не сопровождается тяжёлым отказом ГБЦ.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217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" y="22176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2246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3. Единицы NTE#72 и NTE#74 с НУЛЕВЫМ доливом имеют отказы ГБЦ.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8404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28404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28692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4. NTE#83 отказал на 2776 м/ч без значимого долива — зола не успела образоваться.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4632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0000" y="3463200"/>
            <a:ext cx="54000" cy="558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34920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5. Корреляция «расход масла — отказ ГБЦ» близка к нулю.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4086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" y="4086000"/>
            <a:ext cx="54000" cy="558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4114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6. Тренд долива во времени стабилен, тогда как отказы резко выросли весной 2026 г.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4708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00" y="47088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4737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7. Множество единиц с высоким расходом масла полностью исправны.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5331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53316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5360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8. Вывод: расход/зольность масла НЕ является корневой причиной отказов ГБЦ.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Журнал технического обслуживания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Обзор простоев и работ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33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80000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80000"/>
            <a:ext cx="3671999" cy="648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1512000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0055B8"/>
                </a:solidFill>
                <a:latin typeface="Calibri"/>
              </a:rPr>
              <a:t>1004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19999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Записей в журнале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7999" y="1080000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7999" y="1080000"/>
            <a:ext cx="3671999" cy="648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9999" y="1512000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C01020"/>
                </a:solidFill>
                <a:latin typeface="Calibri"/>
              </a:rPr>
              <a:t>4583 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9999" y="2519999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Суммарный простой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5998" y="1080000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5998" y="1080000"/>
            <a:ext cx="3671999" cy="648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7998" y="1512000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0055B8"/>
                </a:solidFill>
                <a:latin typeface="Calibri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7998" y="2519999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Единиц техники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311999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000" y="3311999"/>
            <a:ext cx="3671999" cy="648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" y="3743999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007A3D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4751998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Категорий работ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7999" y="3311999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7999" y="3311999"/>
            <a:ext cx="3671999" cy="648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9999" y="3743999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C01020"/>
                </a:solidFill>
                <a:latin typeface="Calibri"/>
              </a:rPr>
              <a:t>562 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9999" y="4751998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Макс. простой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5998" y="3311999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5998" y="3311999"/>
            <a:ext cx="3671999" cy="648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7998" y="3743999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C04400"/>
                </a:solidFill>
                <a:latin typeface="Calibri"/>
              </a:rPr>
              <a:t>2024 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7998" y="4751998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Диагностика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Простой по всем единицам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Суммарные часы простоя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34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Топ-10 по простою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Наиболее проблемные единицы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35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NTE#47 (561.8 ч) и NTE#55 (404.3 ч) — лидеры по простою; обе единицы имели тяжёлые отказы ГБЦ.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Простой по категориям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Структура простоя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36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События диагностики и ошибок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Крупнейшая категория простоя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37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936000"/>
            <a:ext cx="11448000" cy="41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148000"/>
            <a:ext cx="11448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Диагностика и работа с ошибками ECM — крупнейшая категория (2024 ч, ~44% простоя). Большое число диагностических событий косвенно указывает на программные/калибровочные проблемы.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Плановое техническое обслуживание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Статистика ТО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38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3671999" cy="1224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44000"/>
            <a:ext cx="64800" cy="1224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999" y="1134000"/>
            <a:ext cx="3491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0055B8"/>
                </a:solidFill>
                <a:latin typeface="Calibri"/>
              </a:rPr>
              <a:t>1360 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999" y="1818000"/>
            <a:ext cx="3491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Плановое ТО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0" y="1044000"/>
            <a:ext cx="3671999" cy="1224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8000" y="1044000"/>
            <a:ext cx="64800" cy="1224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999" y="1134000"/>
            <a:ext cx="3491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007A3D"/>
                </a:solidFill>
                <a:latin typeface="Calibri"/>
              </a:rPr>
              <a:t>30 %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999" y="1818000"/>
            <a:ext cx="3491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Доля ТО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6000" y="1044000"/>
            <a:ext cx="3671999" cy="1224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6000" y="1044000"/>
            <a:ext cx="64800" cy="1224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1999" y="1134000"/>
            <a:ext cx="3491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C04400"/>
                </a:solidFill>
                <a:latin typeface="Calibri"/>
              </a:rPr>
              <a:t>842 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1999" y="1818000"/>
            <a:ext cx="3491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Замена/ремонт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448000"/>
            <a:ext cx="11448000" cy="3096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999" y="2592000"/>
            <a:ext cx="11160000" cy="280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Плановое ТО (ТО-1, ТО-2 и т.п.) занимает около 1360 ч простоя — это нормальная составляющая эксплуатации.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Однако в сумме с диагностикой и внеплановыми ремонтами общий простой парка достигает 4583 ч, что значительно выше ожидаемого для исправного парка.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Избыточный простой формируется в основном за счёт диагностики ошибок ECM и ремонтов, связанных с отказами ГБЦ. Это указывает на то, что проблема носит системный, а не эксплуатационный характер.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Плановый против внепланового простоя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Соотношение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39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0" y="936000"/>
            <a:ext cx="7920000" cy="4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400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Внеплановый простой (3217 ч, 70%) преобладает — это характерно для парка с системной технической проблемой.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Анализ утечек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События, связанные с утечками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40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936000"/>
            <a:ext cx="11448000" cy="41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148000"/>
            <a:ext cx="11448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Утечки (10 ч) и отбор проб (6.1 ч) дают минимальный вклад в простой. Прямой простой по ремонту ГБЦ (78.9 ч) занижен — основная часть учтена в категории «Замена/ремонт».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Отбор проб масла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Частота диагностики масла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41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32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Регулярный отбор проб масла не выявил систематических отклонений, которые предшествовали бы отказам ГБЦ. Это ещё раз опровергает масляную версию CCEC.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Парето-анализ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80/20 по часам простоя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42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Первые 2 категории (диагностика + плановое ТО) дают ~74% простоя. Сокращение диагностических событий через исправление калибровки даст наибольший эффект.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Матрица критичных единиц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Топ-единицы по простою и доливу масла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43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0" y="936000"/>
            <a:ext cx="6480000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Метрики эффективности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Показатели готовности парка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44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80000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80000"/>
            <a:ext cx="3671999" cy="648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1512000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C04400"/>
                </a:solidFill>
                <a:latin typeface="Calibri"/>
              </a:rPr>
              <a:t>92 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19999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Средний простой/ед.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7999" y="1080000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7999" y="1080000"/>
            <a:ext cx="3671999" cy="648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9999" y="1512000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007A3D"/>
                </a:solidFill>
                <a:latin typeface="Calibri"/>
              </a:rPr>
              <a:t>30 %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9999" y="2519999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Доля планового ТО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5998" y="1080000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5998" y="1080000"/>
            <a:ext cx="3671999" cy="648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7998" y="1512000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C01020"/>
                </a:solidFill>
                <a:latin typeface="Calibri"/>
              </a:rPr>
              <a:t>70 %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7998" y="2519999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Доля внепланового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311999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000" y="3311999"/>
            <a:ext cx="3671999" cy="648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" y="3743999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C01020"/>
                </a:solidFill>
                <a:latin typeface="Calibri"/>
              </a:rPr>
              <a:t>79 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4751998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Простой на отказ ГБЦ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7999" y="3311999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7999" y="3311999"/>
            <a:ext cx="3671999" cy="648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9999" y="3743999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C04400"/>
                </a:solidFill>
                <a:latin typeface="Calibri"/>
              </a:rPr>
              <a:t>44 %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9999" y="4751998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Диагностика/всего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5998" y="3311999"/>
            <a:ext cx="3671999" cy="2015999"/>
          </a:xfrm>
          <a:prstGeom prst="rect">
            <a:avLst/>
          </a:prstGeom>
          <a:solidFill>
            <a:srgbClr val="DDE8F8"/>
          </a:solidFill>
          <a:ln w="2540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5998" y="3311999"/>
            <a:ext cx="3671999" cy="648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7998" y="3743999"/>
            <a:ext cx="3527999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0055B8"/>
                </a:solidFill>
                <a:latin typeface="Calibri"/>
              </a:rP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7998" y="4751998"/>
            <a:ext cx="3527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Единиц затронуто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Телеметрия DML —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Запись данных двигателя NTE#82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45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3671999" cy="1152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44000"/>
            <a:ext cx="64800" cy="1152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999" y="1134000"/>
            <a:ext cx="3491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0055B8"/>
                </a:solidFill>
                <a:latin typeface="Calibri"/>
              </a:rPr>
              <a:t>1407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999" y="1746000"/>
            <a:ext cx="3491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Записей DML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0" y="1044000"/>
            <a:ext cx="3671999" cy="1152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8000" y="1044000"/>
            <a:ext cx="64800" cy="1152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999" y="1134000"/>
            <a:ext cx="3491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C04400"/>
                </a:solidFill>
                <a:latin typeface="Calibri"/>
              </a:rPr>
              <a:t>1489 бар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999" y="1746000"/>
            <a:ext cx="3491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Давление CR ср.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6000" y="1044000"/>
            <a:ext cx="3671999" cy="1152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6000" y="1044000"/>
            <a:ext cx="64800" cy="1152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1999" y="1134000"/>
            <a:ext cx="3491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 i="0">
                <a:solidFill>
                  <a:srgbClr val="C01020"/>
                </a:solidFill>
                <a:latin typeface="Calibri"/>
              </a:rPr>
              <a:t>1623 бар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1999" y="1746000"/>
            <a:ext cx="3491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Давление CR макс.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412000"/>
            <a:ext cx="11448000" cy="3131999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999" y="2556000"/>
            <a:ext cx="11160000" cy="284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Источник: DML_82_s_porodoy.csv — запись телеметрии Cummins DataMonitor с двигателя NTE#82 под нагрузкой (тест с породой).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Объём данных: 1407 строк измерений.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Параметры: температура выхлопа (EGT) по каждому из 16 цилиндров, давление в топливной рампе (Common Rail), обороты, нагрузка, давление масла и наддува.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Среднее давление в рампе 1489 бар, пик 1623 бар (близко к пределу 1650 бар калибровки NTE200).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Данные DML позволяют напрямую увидеть тепловую перегрузку отдельных цилиндров и связать её с превышением предела EGT 520°C.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Обзор режимов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Давление CR и распределение нагрузки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46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Средняя EGT по цилиндрам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Предел 520°C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47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Цил.11 = 98°C — неисправный датчик (исключён из анализа средних). Цил.6 и Цил.2 — самые горячие в среднем.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Максимальная EGT по цилиндрам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Пиковые температуры выхлопа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48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Цил.2 и Цил.6 достигают 567°C — на 47°C выше предела. Именно эти цилиндры (правый ряд) лидируют по числу отказов ГБЦ.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EGT: среднее vs максимум vs предел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Групповое сравнение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49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Пять цилиндров превышают предел по максимуму: Ц2(567), Ц6(567), Ц15(542), Ц1(535), Ц8(532).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Тепловая карта EGT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Средняя температура по расположению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50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36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4680000"/>
            <a:ext cx="11448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Тепловая нагрузка распределена неравномерно. Банк B (чётные) в среднем горячее — TIB усиливает дисбаланс вместо его устранения.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Разброс EGT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Box-plot по цилиндрам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51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752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EGT Банк A — временной ряд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Цилиндры 1,3,5,7,9,11,13,15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52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752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EGT Банк B — временной ряд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Цилиндры 2,4,6,8,10,12,14,16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53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752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Критичные цилиндры Ц2 и Ц6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Самые горячие — детальный ряд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54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Цилиндры 2 и 6 регулярно превышают предел 520°C и достигают 567°C. Это термонапряжённые цилиндры, которые отказывают первыми.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Превышения предела EGT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Число измерений выше 520°C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55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Цилиндры с наибольшим числом превышений предела совпадают с теми, что чаще отказывают по ГБЦ. Хроническая перегрузка = накопленное повреждение.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Давление в топливной рампе (CR)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Временной ряд Common 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56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Пик 1623 бар приближается к пределу 1650 бар калибровки NTE200 (против 1550 бар у 730E). Повышенное давление = больше топлива = выше EGT.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Распределение давления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Гистограмма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57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Высокая плотность давления в диапазоне 1450–1600 бар — двигатель работает на повышенной топливоподаче, что согласуется с TIB 200%.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Давление масла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Тренд по данным DML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58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Предел снижения мощности по давлению масла на NTE200 = 95 кПа (против 120 кПа у 730E) — двигатель работает дольше при пониженном давлении масла.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Давление наддува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Boost pressure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59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Повышенный предел наддува (310 кПа против 290 кПа у 730E) увеличивает массу воздуха и топлива в цилиндре, повышая температуру сгорания.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Расход топлива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Тренд по данным DML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60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TIB до 200% означает, что при дисбалансе температур ECM удваивает дозу впрыска в отдельные цилиндры. Это напрямую отражается в повышенном расходе и EGT.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Матрица корреляций параметров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Взаимосвязь телеметрии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61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0" y="936000"/>
            <a:ext cx="6480000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EGT против нагрузки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Зависимость температуры от давления CR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62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Положительная связь: рост давления/топливоподачи повышает EGT. При TIB 200% эта связь усилена, что выводит горячие цилиндры за предел 520°C.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Калибровка ECM —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Что такое калибровка и почему она критична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63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3671999" cy="1152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44000"/>
            <a:ext cx="64800" cy="1152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999" y="1134000"/>
            <a:ext cx="3491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C01020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999" y="1746000"/>
            <a:ext cx="3491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Отличий ECM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0" y="1044000"/>
            <a:ext cx="3671999" cy="1152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8000" y="1044000"/>
            <a:ext cx="64800" cy="1152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999" y="1134000"/>
            <a:ext cx="3491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C0102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999" y="1746000"/>
            <a:ext cx="3491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Критичных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6000" y="1044000"/>
            <a:ext cx="3671999" cy="1152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6000" y="1044000"/>
            <a:ext cx="64800" cy="1152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1999" y="1134000"/>
            <a:ext cx="3491999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C04400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1999" y="1746000"/>
            <a:ext cx="3491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Высокого риска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412000"/>
            <a:ext cx="11448000" cy="3131999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999" y="2556000"/>
            <a:ext cx="11160000" cy="284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ECM (Engine Control Module) — электронный блок управления двигателем. Калибровка — это набор параметров, определяющих дозу впрыска, моменты, пределы защиты и реакции на перегрев.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NTE200 использует калибровку эмиссии AQ60809.08.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Komatsu 730E-DC использует AQ60217.28 на ФИЗИЧЕСКИ ТОМ ЖЕ двигателе QSK50.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Сравнение двух калибровок выявило 15 значимых отличий. Четыре из них критичны: верхний предел TIB (200% vs 100%), конфигурация защиты DO_Option, отключённый режим защиты двигателя и отсутствие предела защиты по EGT.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Именно эти отличия объясняют, почему NTE200 массово теряет ГБЦ, а 730E — нет.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Параметры ECM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Отличия 1–8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64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468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000" y="1133998"/>
            <a:ext cx="396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" y="1007999"/>
            <a:ext cx="5400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000" y="1133998"/>
            <a:ext cx="5328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Параметр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8000" y="1007999"/>
            <a:ext cx="2340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2000" y="1133998"/>
            <a:ext cx="2268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NTE200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8000" y="1007999"/>
            <a:ext cx="2160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000" y="1133998"/>
            <a:ext cx="2088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730E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28000" y="1007999"/>
            <a:ext cx="1080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2000" y="1133998"/>
            <a:ext cx="1008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Риск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519199"/>
            <a:ext cx="468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000" y="15911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000" y="1519199"/>
            <a:ext cx="540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00" y="15911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C_TIB_Fuel_Adjust_Upper_Limit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8000" y="1519199"/>
            <a:ext cx="234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2000" y="15911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200%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68000" y="1519199"/>
            <a:ext cx="216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000" y="15911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8000" y="1519199"/>
            <a:ext cx="108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2000" y="15911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C01020"/>
                </a:solidFill>
                <a:latin typeface="Calibri"/>
              </a:rPr>
              <a:t>КРИТ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2030399"/>
            <a:ext cx="468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000" y="21023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000" y="2030399"/>
            <a:ext cx="540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000" y="21023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DO_Option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8000" y="2030399"/>
            <a:ext cx="234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2000" y="21023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61042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68000" y="2030399"/>
            <a:ext cx="216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2000" y="21023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6765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28000" y="2030399"/>
            <a:ext cx="108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2000" y="21023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C01020"/>
                </a:solidFill>
                <a:latin typeface="Calibri"/>
              </a:rPr>
              <a:t>КРИТ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2541599"/>
            <a:ext cx="468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4000" y="26135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8000" y="2541599"/>
            <a:ext cx="540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000" y="26135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Engine_Speed_Max_Limit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28000" y="2541599"/>
            <a:ext cx="234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2000" y="26135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2100 об/мин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68000" y="2541599"/>
            <a:ext cx="216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22000" y="26135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1990 об/мин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28000" y="2541599"/>
            <a:ext cx="108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82000" y="26135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C04400"/>
                </a:solidFill>
                <a:latin typeface="Calibri"/>
              </a:rPr>
              <a:t>ВЫС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" y="3052799"/>
            <a:ext cx="468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000" y="31247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8000" y="3052799"/>
            <a:ext cx="540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000" y="31247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FC0_Speed_Margin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28000" y="3052799"/>
            <a:ext cx="234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2000" y="31247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80 об/мин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68000" y="3052799"/>
            <a:ext cx="216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22000" y="31247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260 об/мин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28000" y="3052799"/>
            <a:ext cx="108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2000" y="31247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C04400"/>
                </a:solidFill>
                <a:latin typeface="Calibri"/>
              </a:rPr>
              <a:t>ВЫС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" y="3563999"/>
            <a:ext cx="468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4000" y="36359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8000" y="3563999"/>
            <a:ext cx="540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2000" y="36359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Engine_Protection_Mode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28000" y="3563999"/>
            <a:ext cx="234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82000" y="36359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0 (выкл)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68000" y="3563999"/>
            <a:ext cx="216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22000" y="36359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 (вкл)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28000" y="3563999"/>
            <a:ext cx="108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82000" y="36359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C01020"/>
                </a:solidFill>
                <a:latin typeface="Calibri"/>
              </a:rPr>
              <a:t>КРИТ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0000" y="4075199"/>
            <a:ext cx="468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4000" y="41471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8000" y="4075199"/>
            <a:ext cx="540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2000" y="41471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Idle_Speed_Target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28000" y="4075199"/>
            <a:ext cx="234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82000" y="41471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700 об/мин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68000" y="4075199"/>
            <a:ext cx="216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22000" y="41471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750 об/мин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28000" y="4075199"/>
            <a:ext cx="108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82000" y="41471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B37000"/>
                </a:solidFill>
                <a:latin typeface="Calibri"/>
              </a:rPr>
              <a:t>СРЕД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0000" y="4586399"/>
            <a:ext cx="468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4000" y="46583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8000" y="4586399"/>
            <a:ext cx="540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2000" y="46583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Coolant_Temp_Derate_Limit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28000" y="4586399"/>
            <a:ext cx="234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82000" y="46583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108°C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68000" y="4586399"/>
            <a:ext cx="216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22000" y="46583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103°C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28000" y="4586399"/>
            <a:ext cx="108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782000" y="46583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B37000"/>
                </a:solidFill>
                <a:latin typeface="Calibri"/>
              </a:rPr>
              <a:t>СРЕД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0000" y="5097599"/>
            <a:ext cx="468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4000" y="51695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8000" y="5097599"/>
            <a:ext cx="540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2000" y="51695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Oil_Pressure_Derate_Limit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28000" y="5097599"/>
            <a:ext cx="234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82000" y="51695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95 кПа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68000" y="5097599"/>
            <a:ext cx="216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22000" y="51695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120 кПа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28000" y="5097599"/>
            <a:ext cx="108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782000" y="51695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C04400"/>
                </a:solidFill>
                <a:latin typeface="Calibri"/>
              </a:rPr>
              <a:t>ВЫС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0000" y="5580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1">
                <a:solidFill>
                  <a:srgbClr val="7880A0"/>
                </a:solidFill>
                <a:latin typeface="Calibri"/>
              </a:rPr>
              <a:t>Красные строки — критический риск. NTE200 = объект, 730E = контрольная группа.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Параметры ECM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Отличия 9–15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65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468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000" y="1133998"/>
            <a:ext cx="396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" y="1007999"/>
            <a:ext cx="5400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000" y="1133998"/>
            <a:ext cx="5328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Параметр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8000" y="1007999"/>
            <a:ext cx="2340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2000" y="1133998"/>
            <a:ext cx="2268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NTE200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8000" y="1007999"/>
            <a:ext cx="2160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000" y="1133998"/>
            <a:ext cx="2088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730E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28000" y="1007999"/>
            <a:ext cx="1080000" cy="5112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2000" y="1133998"/>
            <a:ext cx="1008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Риск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519199"/>
            <a:ext cx="468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000" y="15911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000" y="1519199"/>
            <a:ext cx="540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00" y="15911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Boost_Pressure_Max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8000" y="1519199"/>
            <a:ext cx="234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2000" y="15911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310 кПа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68000" y="1519199"/>
            <a:ext cx="216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000" y="15911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290 кПа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8000" y="1519199"/>
            <a:ext cx="108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2000" y="15911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B37000"/>
                </a:solidFill>
                <a:latin typeface="Calibri"/>
              </a:rPr>
              <a:t>СРЕД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2030399"/>
            <a:ext cx="468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000" y="21023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000" y="2030399"/>
            <a:ext cx="540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000" y="21023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Fuel_Rail_Pressure_Max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8000" y="2030399"/>
            <a:ext cx="234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2000" y="21023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1650 бар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68000" y="2030399"/>
            <a:ext cx="216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2000" y="21023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1550 бар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28000" y="2030399"/>
            <a:ext cx="108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2000" y="21023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C04400"/>
                </a:solidFill>
                <a:latin typeface="Calibri"/>
              </a:rPr>
              <a:t>ВЫС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2541599"/>
            <a:ext cx="468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4000" y="26135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8000" y="2541599"/>
            <a:ext cx="540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000" y="26135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EGT_Protection_Limit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28000" y="2541599"/>
            <a:ext cx="234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2000" y="26135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Нет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68000" y="2541599"/>
            <a:ext cx="216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22000" y="26135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550°C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28000" y="2541599"/>
            <a:ext cx="1080000" cy="5112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82000" y="26135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C01020"/>
                </a:solidFill>
                <a:latin typeface="Calibri"/>
              </a:rPr>
              <a:t>КРИТ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" y="3052799"/>
            <a:ext cx="468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000" y="31247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8000" y="3052799"/>
            <a:ext cx="540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000" y="31247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Fan_Clutch_Control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28000" y="3052799"/>
            <a:ext cx="234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2000" y="31247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0 (выкл)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68000" y="3052799"/>
            <a:ext cx="216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22000" y="31247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 (авто)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28000" y="3052799"/>
            <a:ext cx="108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2000" y="31247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B37000"/>
                </a:solidFill>
                <a:latin typeface="Calibri"/>
              </a:rPr>
              <a:t>СРЕД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" y="3563999"/>
            <a:ext cx="468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4000" y="36359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8000" y="3563999"/>
            <a:ext cx="540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2000" y="36359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Intake_Manifold_Temp_Max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28000" y="3563999"/>
            <a:ext cx="234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82000" y="36359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58°C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68000" y="3563999"/>
            <a:ext cx="216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22000" y="36359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52°C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28000" y="3563999"/>
            <a:ext cx="108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82000" y="36359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B37000"/>
                </a:solidFill>
                <a:latin typeface="Calibri"/>
              </a:rPr>
              <a:t>СРЕД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0000" y="4075199"/>
            <a:ext cx="468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4000" y="41471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8000" y="4075199"/>
            <a:ext cx="540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2000" y="41471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Ambient_Temp_Compensation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28000" y="4075199"/>
            <a:ext cx="234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82000" y="41471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0 (выкл)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68000" y="4075199"/>
            <a:ext cx="216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22000" y="41471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 (вкл)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28000" y="4075199"/>
            <a:ext cx="1080000" cy="5112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82000" y="41471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B37000"/>
                </a:solidFill>
                <a:latin typeface="Calibri"/>
              </a:rPr>
              <a:t>СРЕД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0000" y="4586399"/>
            <a:ext cx="468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4000" y="4658399"/>
            <a:ext cx="396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8000" y="4586399"/>
            <a:ext cx="540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2000" y="4658399"/>
            <a:ext cx="532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libri"/>
              </a:rPr>
              <a:t>Emission_Calibration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28000" y="4586399"/>
            <a:ext cx="234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82000" y="4658399"/>
            <a:ext cx="226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AQ60809.08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68000" y="4586399"/>
            <a:ext cx="216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22000" y="4658399"/>
            <a:ext cx="208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AQ60217.28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28000" y="4586399"/>
            <a:ext cx="1080000" cy="5112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782000" y="4658399"/>
            <a:ext cx="1008000" cy="403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C04400"/>
                </a:solidFill>
                <a:latin typeface="Calibri"/>
              </a:rPr>
              <a:t>ВЫС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0000" y="5400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1">
                <a:solidFill>
                  <a:srgbClr val="7880A0"/>
                </a:solidFill>
                <a:latin typeface="Calibri"/>
              </a:rPr>
              <a:t>Параметр 11 (EGT_Protection_Limit) на NTE200 ОТСУТСТВУЕТ — нет тепловой защиты выхлопа.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Параметр TIB — углублённый анализ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C_TIB_Fuel_Adjust_Upper_Limit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66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936000"/>
            <a:ext cx="5580000" cy="414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20000" y="936000"/>
            <a:ext cx="5688000" cy="4680000"/>
          </a:xfrm>
          <a:prstGeom prst="rect">
            <a:avLst/>
          </a:prstGeom>
          <a:solidFill>
            <a:srgbClr val="F8DCDC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8000" y="1007999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C01020"/>
                </a:solidFill>
                <a:latin typeface="Calibri"/>
              </a:rPr>
              <a:t>Что означает TIB = 200%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8000" y="1368000"/>
            <a:ext cx="5472000" cy="41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TIB (Temperature Imbalance Balancing) — функция выравнивания температур цилиндров путём коррекции дозы впрыска.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При TIB = 200% ECM может добавить до 200% сверх штатной дозы топлива в «холодный» цилиндр — вдвое больше штатной коррекции (100% у 730E).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Последствия: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Избыток топлива → позднее догорание в такте выпуска;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Резкий рост EGT (до 567°C при пределе 520°C);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Перегрев тарелки и седла выпускного клапана;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Прогар ГБЦ.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Функция, призванная защищать двигатель, при пределе 200% сама становится причиной отказа.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Анализ DO_Option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Конфигурация цифровых выходов защиты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67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5580000" cy="4500000"/>
          </a:xfrm>
          <a:prstGeom prst="rect">
            <a:avLst/>
          </a:prstGeom>
          <a:solidFill>
            <a:srgbClr val="DCF0E5"/>
          </a:solidFill>
          <a:ln w="1905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116000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7A3D"/>
                </a:solidFill>
                <a:latin typeface="Calibri"/>
              </a:rPr>
              <a:t>730E: DO_Option = 6765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475999"/>
            <a:ext cx="5400000" cy="39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Цифровые выходы защиты двигателя НАСТРОЕНЫ и АКТИВНЫ: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Сигналы перегрева передаются в систему машины;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Активируется снижение мощности (derate) при перегреве;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Оператор получает предупреждение;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Двигатель защищён от тепловой перегрузки.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Результат: НИ ОДНОГО отказа ГБЦ.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044000"/>
            <a:ext cx="5688000" cy="4500000"/>
          </a:xfrm>
          <a:prstGeom prst="rect">
            <a:avLst/>
          </a:prstGeom>
          <a:solidFill>
            <a:srgbClr val="F8DCDC"/>
          </a:solidFill>
          <a:ln w="1905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8000" y="1116000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C01020"/>
                </a:solidFill>
                <a:latin typeface="Calibri"/>
              </a:rPr>
              <a:t>NTE200: DO_Option = 61042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000" y="1475999"/>
            <a:ext cx="5472000" cy="39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Цифровые выходы защиты сконфигурированы ИНАЧЕ — внешние сигналы защиты ОТКЛЮЧЕНЫ: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Сигналы перегрева НЕ доходят до системы машины;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Снижение мощности при перегреве НЕ срабатывает;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Оператор не получает предупреждения;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• Двигатель продолжает работать на перегретых цилиндрах.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Результат: 24+ отказа ГБЦ.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Пределы оборотов и защиты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NTE200 против 730E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68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NTE200 имеет более высокие обороты (2100 vs 1990) и меньший запас регулятора (80 vs 260) — двигатель работает ближе к границам, агрессивнее.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Параметры управления топливом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Давление, наддув, температуры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69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Все параметры NTE200 смещены в сторону большей топливоподачи и тепловой нагрузки: выше давление рампы и наддува, выше допустимая температура впуска.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Оценка влияния параметров ECM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Матрица риск × вероятность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70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936000"/>
            <a:ext cx="8640000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Версии калибровки 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Сравнение версий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71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260000"/>
            <a:ext cx="11448000" cy="36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00" y="1620000"/>
            <a:ext cx="5040000" cy="3060000"/>
          </a:xfrm>
          <a:prstGeom prst="rect">
            <a:avLst/>
          </a:prstGeom>
          <a:solidFill>
            <a:srgbClr val="DCF0E5"/>
          </a:solidFill>
          <a:ln w="2540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000" y="1728000"/>
            <a:ext cx="468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1" i="0">
                <a:solidFill>
                  <a:srgbClr val="007A3D"/>
                </a:solidFill>
                <a:latin typeface="Calibri"/>
              </a:rPr>
              <a:t>730E-DC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" y="2232000"/>
            <a:ext cx="468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002B5C"/>
                </a:solidFill>
                <a:latin typeface="Calibri"/>
              </a:rPr>
              <a:t>AQ60217.28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" y="2808000"/>
            <a:ext cx="4680000" cy="16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Защита включена, TIB 100%, EGT лимит 550°C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1620000"/>
            <a:ext cx="5040000" cy="3060000"/>
          </a:xfrm>
          <a:prstGeom prst="rect">
            <a:avLst/>
          </a:prstGeom>
          <a:solidFill>
            <a:srgbClr val="F8DCDC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4000" y="1728000"/>
            <a:ext cx="468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000" b="1" i="0">
                <a:solidFill>
                  <a:srgbClr val="C01020"/>
                </a:solidFill>
                <a:latin typeface="Calibri"/>
              </a:rPr>
              <a:t>NTE200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4000" y="2232000"/>
            <a:ext cx="468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002B5C"/>
                </a:solidFill>
                <a:latin typeface="Calibri"/>
              </a:rPr>
              <a:t>AQ60809.08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4000" y="2808000"/>
            <a:ext cx="4680000" cy="16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Защита отключена, TIB 200%, EGT лимит отсутствует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860000"/>
            <a:ext cx="11448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Calibri"/>
              </a:rPr>
              <a:t>Обе калибровки предназначены для одного двигателя QSK50 MCRS. Различие версий — единственный фактор, отличающий отказывающий парк NTE200 от исправного парка 730E.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Выводы по калибровке ECM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72 /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972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54000" cy="558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00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1. Выявлено 15 значимых отличий калибровки NTE200 от исправной 730E.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594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15948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623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2. TIB = 200% (vs 100%) — ECM удваивает добавку топлива, перегревая цилиндры. [КРИТ]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217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" y="22176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2246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3. EGT_Protection_Limit отсутствует (vs 550°C у 730E) — нет защиты по температуре выхлопа. [КРИТ]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8404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28404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28692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4. Engine_Protection_Mode = 0 — общий режим защиты двигателя отключён. [КРИТ]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4632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0000" y="34632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34920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5. DO_Option = 61042 — внешние сигналы защиты отключены, derate не срабатывает. [КРИТ]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4086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" y="4086000"/>
            <a:ext cx="54000" cy="558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4114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6. Давление рампы 1650 бар и наддув 310 кПа повышены — больше топлива и тепла.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4708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00" y="4708800"/>
            <a:ext cx="54000" cy="558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4737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7. Все параметры смещены в сторону агрессивной топливоподачи без тепловой защиты.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5331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53316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5360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8. Калибровка ECM — единственный фактор, объясняющий разницу с контрольной группой 730E.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Контрольная группа 730E-DC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Эталон для сравнения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73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11448000" cy="4500000"/>
          </a:xfrm>
          <a:prstGeom prst="rect">
            <a:avLst/>
          </a:prstGeom>
          <a:solidFill>
            <a:srgbClr val="DCF0E5"/>
          </a:solidFill>
          <a:ln w="1905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999" y="1116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007A3D"/>
                </a:solidFill>
                <a:latin typeface="Calibri"/>
              </a:rPr>
              <a:t>Что такое контрольная группа 730E-DC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999" y="1475999"/>
            <a:ext cx="11160000" cy="39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Komatsu 730E-DC — карьерный самосвал, эксплуатируемый на ТОМ ЖЕ месторождении «Полюс Магадан», с ТЕМ ЖЕ двигателем Cummins QSK50 MCRS.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Это идеальная контрольная группа для научного сравнения: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Тот же физический двигатель (QSK50 MCRS);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Тот же объект эксплуатации (Полюс Магадан);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Та же руда и горная масса;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Тот же климат (Магадан, экстремальные температуры);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Те же операторы и сервисная служба;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• Те же горюче-смазочные материалы и масло.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ЕДИНСТВЕННОЕ принципиальное отличие — калибровка ECM (AQ60217.28 vs AQ60809.08).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Результат: парк 730E-DC имеет НОЛЬ отказов ГБЦ, тогда как NTE200 — 24+ отказа.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Это решающий аргумент: при равенстве всех внешних факторов отличается только ПО двигателя.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Операционное сравнение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NTE200 против 730E по ключевым метрикам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74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730E с включённой защитой и TIB 100% — ноль отказов. NTE200 без защиты и TIB 200% — массовые отказы.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Матрица факторов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12 факторов: одинаковы или различны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75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11448000" cy="360000"/>
          </a:xfrm>
          <a:prstGeom prst="rect">
            <a:avLst/>
          </a:prstGeom>
          <a:solidFill>
            <a:srgbClr val="DCF0E5"/>
          </a:solidFill>
          <a:ln w="9525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619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Двигатель QSK50 MCRS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0" y="10619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007A3D"/>
                </a:solidFill>
                <a:latin typeface="Calibri"/>
              </a:rPr>
              <a:t>Одинаково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389599"/>
            <a:ext cx="11448000" cy="360000"/>
          </a:xfrm>
          <a:prstGeom prst="rect">
            <a:avLst/>
          </a:prstGeom>
          <a:solidFill>
            <a:srgbClr val="DCF0E5"/>
          </a:solidFill>
          <a:ln w="9525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4435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Месторождение / объект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0000" y="14435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007A3D"/>
                </a:solidFill>
                <a:latin typeface="Calibri"/>
              </a:rPr>
              <a:t>Одинаково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771199"/>
            <a:ext cx="11448000" cy="360000"/>
          </a:xfrm>
          <a:prstGeom prst="rect">
            <a:avLst/>
          </a:prstGeom>
          <a:solidFill>
            <a:srgbClr val="DCF0E5"/>
          </a:solidFill>
          <a:ln w="9525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18251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Руда и горная масса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0" y="18251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007A3D"/>
                </a:solidFill>
                <a:latin typeface="Calibri"/>
              </a:rPr>
              <a:t>Одинаково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2152799"/>
            <a:ext cx="11448000" cy="360000"/>
          </a:xfrm>
          <a:prstGeom prst="rect">
            <a:avLst/>
          </a:prstGeom>
          <a:solidFill>
            <a:srgbClr val="DCF0E5"/>
          </a:solidFill>
          <a:ln w="9525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22067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Климат (Магадан)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0000" y="22067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007A3D"/>
                </a:solidFill>
                <a:latin typeface="Calibri"/>
              </a:rPr>
              <a:t>Одинаково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534399"/>
            <a:ext cx="11448000" cy="360000"/>
          </a:xfrm>
          <a:prstGeom prst="rect">
            <a:avLst/>
          </a:prstGeom>
          <a:solidFill>
            <a:srgbClr val="DCF0E5"/>
          </a:solidFill>
          <a:ln w="9525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25883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Операторы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0000" y="25883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007A3D"/>
                </a:solidFill>
                <a:latin typeface="Calibri"/>
              </a:rPr>
              <a:t>Одинаково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2915999"/>
            <a:ext cx="11448000" cy="360000"/>
          </a:xfrm>
          <a:prstGeom prst="rect">
            <a:avLst/>
          </a:prstGeom>
          <a:solidFill>
            <a:srgbClr val="DCF0E5"/>
          </a:solidFill>
          <a:ln w="9525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29699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Сервис и ТО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0000" y="29699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007A3D"/>
                </a:solidFill>
                <a:latin typeface="Calibri"/>
              </a:rPr>
              <a:t>Одинаково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3297599"/>
            <a:ext cx="11448000" cy="360000"/>
          </a:xfrm>
          <a:prstGeom prst="rect">
            <a:avLst/>
          </a:prstGeom>
          <a:solidFill>
            <a:srgbClr val="DCF0E5"/>
          </a:solidFill>
          <a:ln w="9525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33515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Топливо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0000" y="33515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007A3D"/>
                </a:solidFill>
                <a:latin typeface="Calibri"/>
              </a:rPr>
              <a:t>Одинаково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3679199"/>
            <a:ext cx="11448000" cy="360000"/>
          </a:xfrm>
          <a:prstGeom prst="rect">
            <a:avLst/>
          </a:prstGeom>
          <a:solidFill>
            <a:srgbClr val="DCF0E5"/>
          </a:solidFill>
          <a:ln w="9525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37331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Моторное масло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0000" y="37331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007A3D"/>
                </a:solidFill>
                <a:latin typeface="Calibri"/>
              </a:rPr>
              <a:t>Одинаково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4060799"/>
            <a:ext cx="11448000" cy="360000"/>
          </a:xfrm>
          <a:prstGeom prst="rect">
            <a:avLst/>
          </a:prstGeom>
          <a:solidFill>
            <a:srgbClr val="DCF0E5"/>
          </a:solidFill>
          <a:ln w="9525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000" y="41147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Воздушные фильтры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0000" y="41147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007A3D"/>
                </a:solidFill>
                <a:latin typeface="Calibri"/>
              </a:rPr>
              <a:t>Одинаково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4442399"/>
            <a:ext cx="11448000" cy="360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000" y="44963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Калибровка ECM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0000" y="44963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C01020"/>
                </a:solidFill>
                <a:latin typeface="Calibri"/>
              </a:rPr>
              <a:t>РАЗЛИЧНО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4823999"/>
            <a:ext cx="11448000" cy="360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000" y="48779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TIB / защита EGT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0000" y="48779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C01020"/>
                </a:solidFill>
                <a:latin typeface="Calibri"/>
              </a:rPr>
              <a:t>РАЗЛИЧНО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0000" y="5205599"/>
            <a:ext cx="11448000" cy="360000"/>
          </a:xfrm>
          <a:prstGeom prst="rect">
            <a:avLst/>
          </a:prstGeom>
          <a:solidFill>
            <a:srgbClr val="F8DCDC"/>
          </a:solidFill>
          <a:ln w="9525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000" y="5259599"/>
            <a:ext cx="792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Отказы ГБЦ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0000" y="5259599"/>
            <a:ext cx="288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1" i="0">
                <a:solidFill>
                  <a:srgbClr val="C01020"/>
                </a:solidFill>
                <a:latin typeface="Calibri"/>
              </a:rPr>
              <a:t>РАЗЛИЧНО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730E-DC: ноль отказов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Решающее доказательство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76 /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07999"/>
            <a:ext cx="4680000" cy="36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0000" b="1" i="0">
                <a:solidFill>
                  <a:srgbClr val="007A3D"/>
                </a:solidFill>
                <a:latin typeface="Calibri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0000" y="1260000"/>
            <a:ext cx="5868000" cy="3960000"/>
          </a:xfrm>
          <a:prstGeom prst="rect">
            <a:avLst/>
          </a:prstGeom>
          <a:solidFill>
            <a:srgbClr val="DCF0E5"/>
          </a:solidFill>
          <a:ln w="1905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3999" y="1368000"/>
            <a:ext cx="5580000" cy="9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007A3D"/>
                </a:solidFill>
                <a:latin typeface="Calibri"/>
              </a:rPr>
              <a:t>НОЛЬ отказов ГБЦ</a:t>
            </a:r>
          </a:p>
          <a:p>
            <a:pPr algn="l"/>
            <a:r>
              <a:rPr sz="2200" b="1" i="0">
                <a:solidFill>
                  <a:srgbClr val="007A3D"/>
                </a:solidFill>
                <a:latin typeface="Calibri"/>
              </a:rPr>
              <a:t>на парке 730E-DC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3999" y="2304000"/>
            <a:ext cx="5580000" cy="28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Парк Komatsu 730E-DC с двигателем QSK50 MCRS на месторождении «Полюс Магадан» не зафиксировал НИ ОДНОГО отказа ГБЦ за тот же период.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Если бы причиной были зола масла, пыль, руда, климат или топливо (версия CCEC), то 730E отказывал бы наравне с NTE200 — двигатель и условия идентичны.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Отсутствие отказов на 730E ОДНОЗНАЧНО исключает внешние факторы и указывает на единственное отличие — калибровку ECM.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Паритет условий эксплуатации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Один объект, одна руда, одни операторы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77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11448000" cy="827999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44000"/>
            <a:ext cx="64800" cy="827999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999" y="1134000"/>
            <a:ext cx="28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Calibri"/>
              </a:rPr>
              <a:t>Объект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0000" y="1152000"/>
            <a:ext cx="828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Месторождение «Полюс Магадан» — одна площадка, одни забои и маршруты для обоих парков.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944000"/>
            <a:ext cx="11448000" cy="827999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000" y="1944000"/>
            <a:ext cx="64800" cy="827999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2034000"/>
            <a:ext cx="28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Calibri"/>
              </a:rPr>
              <a:t>Руда / горная масса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0" y="2052000"/>
            <a:ext cx="828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Идентичный абразивный материал, одинаковая нагрузка на двигатель при транспортировке.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844000"/>
            <a:ext cx="11448000" cy="827999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2844000"/>
            <a:ext cx="64800" cy="827999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2934000"/>
            <a:ext cx="28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Calibri"/>
              </a:rPr>
              <a:t>Климат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000" y="2952000"/>
            <a:ext cx="828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Магадан: экстремально низкие зимние и умеренные летние температуры — одинаково для всех.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744000"/>
            <a:ext cx="11448000" cy="827999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000" y="3744000"/>
            <a:ext cx="64800" cy="827999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999" y="3834000"/>
            <a:ext cx="28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Calibri"/>
              </a:rPr>
              <a:t>Операторы и сервис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0000" y="3852000"/>
            <a:ext cx="828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Один штат водителей и механиков, единые регламенты ТО и заправки.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4644000"/>
            <a:ext cx="11448000" cy="827999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0000" y="4644000"/>
            <a:ext cx="64800" cy="827999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999" y="4734000"/>
            <a:ext cx="288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Calibri"/>
              </a:rPr>
              <a:t>ГСМ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0000" y="4752000"/>
            <a:ext cx="828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Одно дизельное топливо, одно моторное масло, одни фильтры для обоих типов техники.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Выводы по контрольной группе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78 /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972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00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1. 730E-DC и NTE200 используют один и тот же двигатель QSK50 MCRS.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594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15948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623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2. Все внешние факторы (объект, руда, климат, операторы, ГСМ) идентичны.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217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" y="22176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2246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3. Парк 730E-DC имеет НОЛЬ отказов ГБЦ за анализируемый период.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8404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28404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28692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4. Парк NTE200 имеет 24+ отказа ГБЦ на 30 событий ремонта.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4632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0000" y="34632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34920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5. Единственное принципиальное отличие — калибровка ECM (TIB, защита).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4086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" y="40860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4114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6. Это исключает внешние факторы как корневую причину.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4708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00" y="4708800"/>
            <a:ext cx="54000" cy="558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4737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7. Контрольная группа подтверждает гипотезу о калибровочной причине.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5331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53316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5360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8. Перенос калибровки 730E на NTE200 должен устранить отказы.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Заключение дилера CCEC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Версия Cummins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79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11448000" cy="4500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999" y="1116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C04400"/>
                </a:solidFill>
                <a:latin typeface="Calibri"/>
              </a:rPr>
              <a:t>Что заключил дилер CCEC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999" y="1475999"/>
            <a:ext cx="11160000" cy="39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Дилер Cummins (CCEC) в своём отчёте о причинах массовых отказов ГБЦ на парке NTE200 возложил ответственность на ВНЕШНИЕ факторы эксплуатации: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1. Зольность моторного масла — образование отложений на клапанах и в камере сгорания, ведущее к нарушению теплоотвода и прогару.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2. Запылённость воздуха (попадание абразивной пыли) — износ ЦПГ и клапанного механизма.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Из этого следует вывод дилера: отказы вызваны условиями эксплуатации и качеством обслуживания, а НЕ конструкцией или калибровкой двигателя.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Этот вывод снимает ответственность с производителя и перекладывает её на эксплуатанта.</a:t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Наш анализ данных ОПРОВЕРГАЕТ обе версии CCEC, что показано на следующих слайдах.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Аргумент 1: зола масла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Версия CCEC и опровержение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80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5580000" cy="4500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116000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C04400"/>
                </a:solidFill>
                <a:latin typeface="Calibri"/>
              </a:rPr>
              <a:t>Версия CCEC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475999"/>
            <a:ext cx="5400000" cy="39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Зольность моторного масла образует твёрдые отложения на тарелках клапанов и сёдлах.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Отложения ухудшают прилегание клапана, нарушают теплоотвод, что приводит к локальному перегреву и прогару ГБЦ.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Чем больше расход масла на угар, тем больше золы и выше риск отказа.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044000"/>
            <a:ext cx="5688000" cy="4500000"/>
          </a:xfrm>
          <a:prstGeom prst="rect">
            <a:avLst/>
          </a:prstGeom>
          <a:solidFill>
            <a:srgbClr val="F8DCDC"/>
          </a:solidFill>
          <a:ln w="1905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8000" y="1116000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7A3D"/>
                </a:solidFill>
                <a:latin typeface="Calibri"/>
              </a:rPr>
              <a:t>Наше опровержение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000" y="1475999"/>
            <a:ext cx="5472000" cy="39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Корреляция «расход масла — отказ ГБЦ» близка к нулю (см. слайд 29).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NTE#50 (246 л масла) — нет тяжёлого отказа; NTE#72/74 (0 л) — есть отказ.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NTE#83 отказал на 2776 м/ч — зола физически не успела накопиться.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Множество единиц с высоким расходом масла полностью исправны.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730E на том же масле — ноль отказов.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Вывод: зольность масла НЕ объясняет картину отказов.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Аргумент 2: запылённость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Версия CCEC и опровержение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81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5580000" cy="4500000"/>
          </a:xfrm>
          <a:prstGeom prst="rect">
            <a:avLst/>
          </a:prstGeom>
          <a:solidFill>
            <a:srgbClr val="DDE8F8"/>
          </a:solidFill>
          <a:ln w="1905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116000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C04400"/>
                </a:solidFill>
                <a:latin typeface="Calibri"/>
              </a:rPr>
              <a:t>Версия CCEC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475999"/>
            <a:ext cx="5400000" cy="39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Абразивная пыль карьера проникает во впускной тракт, вызывая ускоренный износ ЦПГ, направляющих и сёдел клапанов.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Износ нарушает герметичность клапанов, что ведёт к прорыву горячих газов и прогару ГБЦ.</a:t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Причина — недостаточная фильтрация и условия запылённости.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044000"/>
            <a:ext cx="5688000" cy="4500000"/>
          </a:xfrm>
          <a:prstGeom prst="rect">
            <a:avLst/>
          </a:prstGeom>
          <a:solidFill>
            <a:srgbClr val="F8DCDC"/>
          </a:solidFill>
          <a:ln w="1905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8000" y="1116000"/>
            <a:ext cx="540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7A3D"/>
                </a:solidFill>
                <a:latin typeface="Calibri"/>
              </a:rPr>
              <a:t>Наше опровержение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000" y="1475999"/>
            <a:ext cx="5472000" cy="39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730E работает в той же пыли с теми же фильтрами — ноль отказов.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Пылевой износ был бы равномерным по цилиндрам; реально отказывают преимущественно горячие Ц2, Ц6 (правый ряд).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Пыль не объясняет превышение EGT до 567°C, зафиксированное в DML.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Ранние отказы (2776 м/ч) исключают накопительный износ.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Повторные отказы через 283 м/ч (NTE#72) несовместимы с износом.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Вывод: запылённость НЕ является корневой причиной.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Статистическое опровержение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Данные против версии CCEC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82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6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652000"/>
            <a:ext cx="11448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Ни расход масла, ни моточасы не дают предсказуемой связи с отказом — это несовместимо с износными/зольными механизмами CCEC.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Логический анализ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Почему калибровка ECM объясняет картину лучше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83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11448000" cy="684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972000"/>
            <a:ext cx="54000" cy="684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000" y="1000800"/>
            <a:ext cx="11268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Локализация на горячих цилиндрах (Ц2, Ц6 = 567°C) объясняется TIB и EGT, а не равномерной пылью.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735200"/>
            <a:ext cx="11448000" cy="684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0000" y="1735200"/>
            <a:ext cx="54000" cy="684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1764000"/>
            <a:ext cx="11268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Ранние отказы (2776 м/ч) и быстрые рецидивы (283 м/ч) исключают накопительный износ/золу.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498400"/>
            <a:ext cx="11448000" cy="684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2498400"/>
            <a:ext cx="54000" cy="684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000" y="2527200"/>
            <a:ext cx="11268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Ноль отказов на идентичном 730E при тех же ГСМ и пыли — указывает строго на разницу ПО.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3261600"/>
            <a:ext cx="11448000" cy="684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000" y="3261600"/>
            <a:ext cx="54000" cy="684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3290400"/>
            <a:ext cx="11268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Прямые данные DML фиксируют превышение EGT 520°C — измеримый механизм перегрева.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4024800"/>
            <a:ext cx="11448000" cy="684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000" y="4024800"/>
            <a:ext cx="54000" cy="684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000" y="4053600"/>
            <a:ext cx="11268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Отключённая защита (Protection_Mode=0, нет EGT-лимита) объясняет, почему перегрев не пресекается.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4788000"/>
            <a:ext cx="11448000" cy="684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0000" y="4788000"/>
            <a:ext cx="54000" cy="684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000" y="4816800"/>
            <a:ext cx="11268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TIB 200% — конкретный параметр, удваивающий топливоподачу и температуру выхлопа.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Сводка доказательств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За и против каждой гипотезы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84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4680000" cy="522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152000"/>
            <a:ext cx="4572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Доказательство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0" y="1044000"/>
            <a:ext cx="3384000" cy="522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2000" y="1152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Зола/пыль (CCEC)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4000" y="1044000"/>
            <a:ext cx="3384000" cy="522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96000" y="1152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Калибровка ECM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566000"/>
            <a:ext cx="4680000" cy="52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1674000"/>
            <a:ext cx="4572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Корреляция с маслом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0000" y="1566000"/>
            <a:ext cx="3384000" cy="5220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2000" y="1674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C01020"/>
                </a:solidFill>
                <a:latin typeface="Calibri"/>
              </a:rPr>
              <a:t>Против (r≈0)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24000" y="1566000"/>
            <a:ext cx="3384000" cy="52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96000" y="1674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7A3D"/>
                </a:solidFill>
                <a:latin typeface="Calibri"/>
              </a:rPr>
              <a:t>Нейтрально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088000"/>
            <a:ext cx="4680000" cy="52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2196000"/>
            <a:ext cx="4572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Ранние отказы (2776 м/ч)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0000" y="2088000"/>
            <a:ext cx="3384000" cy="5220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2000" y="2196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C01020"/>
                </a:solidFill>
                <a:latin typeface="Calibri"/>
              </a:rPr>
              <a:t>Против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4000" y="2088000"/>
            <a:ext cx="3384000" cy="52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96000" y="2196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7A3D"/>
                </a:solidFill>
                <a:latin typeface="Calibri"/>
              </a:rPr>
              <a:t>За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2610000"/>
            <a:ext cx="4680000" cy="52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2718000"/>
            <a:ext cx="4572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Быстрые рецидивы (283 м/ч)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0000" y="2610000"/>
            <a:ext cx="3384000" cy="5220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12000" y="2718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C01020"/>
                </a:solidFill>
                <a:latin typeface="Calibri"/>
              </a:rPr>
              <a:t>Против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24000" y="2610000"/>
            <a:ext cx="3384000" cy="52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6000" y="2718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7A3D"/>
                </a:solidFill>
                <a:latin typeface="Calibri"/>
              </a:rPr>
              <a:t>За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3132000"/>
            <a:ext cx="4680000" cy="52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000" y="3240000"/>
            <a:ext cx="4572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730E ноль отказов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0000" y="3132000"/>
            <a:ext cx="3384000" cy="5220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12000" y="3240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C01020"/>
                </a:solidFill>
                <a:latin typeface="Calibri"/>
              </a:rPr>
              <a:t>Против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24000" y="3132000"/>
            <a:ext cx="3384000" cy="52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6000" y="3240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7A3D"/>
                </a:solidFill>
                <a:latin typeface="Calibri"/>
              </a:rPr>
              <a:t>За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3654000"/>
            <a:ext cx="4680000" cy="52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000" y="3762000"/>
            <a:ext cx="4572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EGT 567°C в DML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0000" y="3654000"/>
            <a:ext cx="3384000" cy="5220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2000" y="3762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C01020"/>
                </a:solidFill>
                <a:latin typeface="Calibri"/>
              </a:rPr>
              <a:t>Не объясняет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24000" y="3654000"/>
            <a:ext cx="3384000" cy="52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96000" y="3762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7A3D"/>
                </a:solidFill>
                <a:latin typeface="Calibri"/>
              </a:rPr>
              <a:t>За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000" y="4176000"/>
            <a:ext cx="4680000" cy="52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000" y="4284000"/>
            <a:ext cx="4572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Локализация Ц2/Ц6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40000" y="4176000"/>
            <a:ext cx="3384000" cy="5220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12000" y="4284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C01020"/>
                </a:solidFill>
                <a:latin typeface="Calibri"/>
              </a:rPr>
              <a:t>Против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24000" y="4176000"/>
            <a:ext cx="3384000" cy="52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96000" y="4284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7A3D"/>
                </a:solidFill>
                <a:latin typeface="Calibri"/>
              </a:rPr>
              <a:t>За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0000" y="4698000"/>
            <a:ext cx="4680000" cy="52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000" y="4806000"/>
            <a:ext cx="4572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Отключённая защита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40000" y="4698000"/>
            <a:ext cx="3384000" cy="522000"/>
          </a:xfrm>
          <a:prstGeom prst="rect">
            <a:avLst/>
          </a:prstGeom>
          <a:solidFill>
            <a:srgbClr val="F8DCD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12000" y="4806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C01020"/>
                </a:solidFill>
                <a:latin typeface="Calibri"/>
              </a:rPr>
              <a:t>Не учитывает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4000" y="4698000"/>
            <a:ext cx="3384000" cy="52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6000" y="4806000"/>
            <a:ext cx="3276000" cy="37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007A3D"/>
                </a:solidFill>
                <a:latin typeface="Calibri"/>
              </a:rPr>
              <a:t>За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Выводы по анализу CCEC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85 /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972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00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1. Версия CCEC о зольности масла статистически не подтверждается (корреляция ≈ 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594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15948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623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2. Версия о запылённости опровергается нулевыми отказами на 730E в тех же условиях.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217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" y="22176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2246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3. Ранние отказы и быстрые рецидивы несовместимы с износными/зольными механизмами.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8404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2840400"/>
            <a:ext cx="54000" cy="558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28692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4. CCEC не учитывает измеренное превышение EGT 567°C и отключённую защиту двигателя.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4632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0000" y="3463200"/>
            <a:ext cx="54000" cy="558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34920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5. Заключение CCEC снимает ответственность с ПО двигателя без анализа калибровки.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4086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" y="40860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4114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6. Все доказательства последовательно поддерживают калибровочную гипотезу.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4708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00" y="47088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4737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7. Версия CCEC должна быть отклонена как не объясняющая наблюдаемые факты.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5331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5331600"/>
            <a:ext cx="54000" cy="558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5360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8. Требуется официальный пересмотр калибровки ECM производителем.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Механизм отказа — обзор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Цепочка причинно-следственных связей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86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000" y="1980000"/>
            <a:ext cx="2015999" cy="2160000"/>
          </a:xfrm>
          <a:prstGeom prst="rect">
            <a:avLst/>
          </a:prstGeom>
          <a:solidFill>
            <a:srgbClr val="F8DCDC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8000" y="1980000"/>
            <a:ext cx="2015999" cy="503999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2052000"/>
            <a:ext cx="1943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TIB 200%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700000"/>
            <a:ext cx="1871999" cy="12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ECM удваивает</a:t>
            </a:r>
          </a:p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добавку топлива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3999" y="2807999"/>
            <a:ext cx="30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C0102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9999" y="1980000"/>
            <a:ext cx="2015999" cy="2160000"/>
          </a:xfrm>
          <a:prstGeom prst="rect">
            <a:avLst/>
          </a:prstGeom>
          <a:solidFill>
            <a:srgbClr val="F8DCDC"/>
          </a:solidFill>
          <a:ln w="2540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9999" y="1980000"/>
            <a:ext cx="2015999" cy="503999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25999" y="2052000"/>
            <a:ext cx="1943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Топливо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1999" y="2700000"/>
            <a:ext cx="1871999" cy="12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Избыток дозы</a:t>
            </a:r>
          </a:p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впрыска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5998" y="2807999"/>
            <a:ext cx="30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C0102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1998" y="1980000"/>
            <a:ext cx="2015999" cy="2160000"/>
          </a:xfrm>
          <a:prstGeom prst="rect">
            <a:avLst/>
          </a:prstGeom>
          <a:solidFill>
            <a:srgbClr val="F8DCDC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1998" y="1980000"/>
            <a:ext cx="2015999" cy="503999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7998" y="2052000"/>
            <a:ext cx="1943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EGT ↑ 567°C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3998" y="2700000"/>
            <a:ext cx="1871999" cy="12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Перегрев</a:t>
            </a:r>
          </a:p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выхлопа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7997" y="2807999"/>
            <a:ext cx="30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C0102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33997" y="1980000"/>
            <a:ext cx="2015999" cy="2160000"/>
          </a:xfrm>
          <a:prstGeom prst="rect">
            <a:avLst/>
          </a:prstGeom>
          <a:solidFill>
            <a:srgbClr val="F8DCDC"/>
          </a:solidFill>
          <a:ln w="2540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33997" y="1980000"/>
            <a:ext cx="2015999" cy="503999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9997" y="2052000"/>
            <a:ext cx="1943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Тепловая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перегрузка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5997" y="2700000"/>
            <a:ext cx="1871999" cy="12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Клапан и</a:t>
            </a:r>
          </a:p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седло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9996" y="2807999"/>
            <a:ext cx="306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C01020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55996" y="1980000"/>
            <a:ext cx="2015999" cy="2160000"/>
          </a:xfrm>
          <a:prstGeom prst="rect">
            <a:avLst/>
          </a:prstGeom>
          <a:solidFill>
            <a:srgbClr val="F8DCDC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55996" y="1980000"/>
            <a:ext cx="2015999" cy="503999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91996" y="2052000"/>
            <a:ext cx="1943999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Прогар ГБЦ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7996" y="2700000"/>
            <a:ext cx="1871999" cy="12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Потеря</a:t>
            </a:r>
          </a:p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герметичности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000" y="4500000"/>
            <a:ext cx="11160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Ключевое: при отключённой защите (Engine_Protection_Mode=0) ECM не прерывает эту цепочку — перегрев развивается до разрушения ГБЦ.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Механизм TIB — детально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Нормальный впрыск против TIB 200%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87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936000"/>
            <a:ext cx="11448000" cy="41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148000"/>
            <a:ext cx="11448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TIB пытается «догреть» цилиндры с низким показанием датчика, добавляя топливо. При пределе 200% добавка чрезмерна и перегревает реально исправные горячие цилиндры.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Тепловой путь отказа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От TIB до прогара клапана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88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11448000" cy="827999"/>
          </a:xfrm>
          <a:prstGeom prst="rect">
            <a:avLst/>
          </a:prstGeom>
          <a:solidFill>
            <a:srgbClr val="F8DCDC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44000"/>
            <a:ext cx="64800" cy="827999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999" y="1134000"/>
            <a:ext cx="324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C01020"/>
                </a:solidFill>
                <a:latin typeface="Calibri"/>
              </a:rPr>
              <a:t>1. TIB ↑ до 200%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0000" y="1169999"/>
            <a:ext cx="792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ECM увеличивает дозу впрыска в отдельные цилиндры вдвое сверх штатной коррекции.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944000"/>
            <a:ext cx="11448000" cy="827999"/>
          </a:xfrm>
          <a:prstGeom prst="rect">
            <a:avLst/>
          </a:prstGeom>
          <a:solidFill>
            <a:srgbClr val="F8DCDC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000" y="1944000"/>
            <a:ext cx="64800" cy="827999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2034000"/>
            <a:ext cx="324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C04400"/>
                </a:solidFill>
                <a:latin typeface="Calibri"/>
              </a:rPr>
              <a:t>2. Топливо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0" y="2069999"/>
            <a:ext cx="792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Избыток топлива не успевает сгореть в основном такте, догорает в такте выпуска.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844000"/>
            <a:ext cx="11448000" cy="827999"/>
          </a:xfrm>
          <a:prstGeom prst="rect">
            <a:avLst/>
          </a:prstGeom>
          <a:solidFill>
            <a:srgbClr val="F8DCDC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2844000"/>
            <a:ext cx="64800" cy="827999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2934000"/>
            <a:ext cx="324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C01020"/>
                </a:solidFill>
                <a:latin typeface="Calibri"/>
              </a:rPr>
              <a:t>3. EGT ↑ до 567°C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0" y="2969999"/>
            <a:ext cx="792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Температура выхлопных газов превышает предел 520°C (зафиксировано в DML).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744000"/>
            <a:ext cx="11448000" cy="827999"/>
          </a:xfrm>
          <a:prstGeom prst="rect">
            <a:avLst/>
          </a:prstGeom>
          <a:solidFill>
            <a:srgbClr val="F8DCDC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000" y="3744000"/>
            <a:ext cx="64800" cy="827999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999" y="3834000"/>
            <a:ext cx="324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C04400"/>
                </a:solidFill>
                <a:latin typeface="Calibri"/>
              </a:rPr>
              <a:t>4. Перегрев клапана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0" y="3869999"/>
            <a:ext cx="792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Тарелка и седло выпускного клапана теряют прочность, начинается ползучесть металла.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4644000"/>
            <a:ext cx="11448000" cy="827999"/>
          </a:xfrm>
          <a:prstGeom prst="rect">
            <a:avLst/>
          </a:prstGeom>
          <a:solidFill>
            <a:srgbClr val="F8DCDC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0000" y="4644000"/>
            <a:ext cx="64800" cy="827999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999" y="4734000"/>
            <a:ext cx="3240000" cy="6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C01020"/>
                </a:solidFill>
                <a:latin typeface="Calibri"/>
              </a:rPr>
              <a:t>5. Прогар и эрозия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0000" y="4769999"/>
            <a:ext cx="7920000" cy="6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Локальный прогар тарелки/седла, прорыв газов, разрушение ГБЦ.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Дерево отказов (FTA)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Вершина: прогар ГБЦ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89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0000" y="936000"/>
            <a:ext cx="3960000" cy="576000"/>
          </a:xfrm>
          <a:prstGeom prst="rect">
            <a:avLst/>
          </a:prstGeom>
          <a:solidFill>
            <a:srgbClr val="C01020"/>
          </a:solidFill>
          <a:ln w="127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0000" y="1044000"/>
            <a:ext cx="396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ПРОГАР ГБЦ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2160000"/>
            <a:ext cx="2880000" cy="648000"/>
          </a:xfrm>
          <a:prstGeom prst="rect">
            <a:avLst/>
          </a:prstGeom>
          <a:solidFill>
            <a:srgbClr val="C04400"/>
          </a:solidFill>
          <a:ln w="127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2250000"/>
            <a:ext cx="288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Тепловая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перегрузка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0" y="2160000"/>
            <a:ext cx="2880000" cy="648000"/>
          </a:xfrm>
          <a:prstGeom prst="rect">
            <a:avLst/>
          </a:prstGeom>
          <a:solidFill>
            <a:srgbClr val="C04400"/>
          </a:solidFill>
          <a:ln w="127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0" y="2250000"/>
            <a:ext cx="288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Защита не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сработала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0000" y="2160000"/>
            <a:ext cx="2880000" cy="648000"/>
          </a:xfrm>
          <a:prstGeom prst="rect">
            <a:avLst/>
          </a:prstGeom>
          <a:solidFill>
            <a:srgbClr val="C04400"/>
          </a:solidFill>
          <a:ln w="127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0000" y="2250000"/>
            <a:ext cx="2880000" cy="503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Дисбаланс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цилиндров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600000"/>
            <a:ext cx="2268000" cy="648000"/>
          </a:xfrm>
          <a:prstGeom prst="rect">
            <a:avLst/>
          </a:prstGeom>
          <a:solidFill>
            <a:srgbClr val="F8DCDC"/>
          </a:solidFill>
          <a:ln w="127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3744000"/>
            <a:ext cx="2124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C01020"/>
                </a:solidFill>
                <a:latin typeface="Calibri"/>
              </a:rPr>
              <a:t>EGT &gt; 520°C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0000" y="3600000"/>
            <a:ext cx="2268000" cy="648000"/>
          </a:xfrm>
          <a:prstGeom prst="rect">
            <a:avLst/>
          </a:prstGeom>
          <a:solidFill>
            <a:srgbClr val="F8DCDC"/>
          </a:solidFill>
          <a:ln w="127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2000" y="3744000"/>
            <a:ext cx="2124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C01020"/>
                </a:solidFill>
                <a:latin typeface="Calibri"/>
              </a:rPr>
              <a:t>TIB 200%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0000" y="3600000"/>
            <a:ext cx="2268000" cy="648000"/>
          </a:xfrm>
          <a:prstGeom prst="rect">
            <a:avLst/>
          </a:prstGeom>
          <a:solidFill>
            <a:srgbClr val="F8DCDC"/>
          </a:solidFill>
          <a:ln w="127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2000" y="3744000"/>
            <a:ext cx="2124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C01020"/>
                </a:solidFill>
                <a:latin typeface="Calibri"/>
              </a:rPr>
              <a:t>Protection=0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0000" y="3600000"/>
            <a:ext cx="2268000" cy="648000"/>
          </a:xfrm>
          <a:prstGeom prst="rect">
            <a:avLst/>
          </a:prstGeom>
          <a:solidFill>
            <a:srgbClr val="F8DCDC"/>
          </a:solidFill>
          <a:ln w="127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12000" y="3744000"/>
            <a:ext cx="2124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C01020"/>
                </a:solidFill>
                <a:latin typeface="Calibri"/>
              </a:rPr>
              <a:t>Нет EGT лимита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000" y="3600000"/>
            <a:ext cx="2268000" cy="648000"/>
          </a:xfrm>
          <a:prstGeom prst="rect">
            <a:avLst/>
          </a:prstGeom>
          <a:solidFill>
            <a:srgbClr val="F8DCDC"/>
          </a:solidFill>
          <a:ln w="127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2000" y="3744000"/>
            <a:ext cx="2124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C01020"/>
                </a:solidFill>
                <a:latin typeface="Calibri"/>
              </a:rPr>
              <a:t>DO_Option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48000" y="1512000"/>
            <a:ext cx="18000" cy="648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4608000"/>
            <a:ext cx="11448000" cy="9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Логика И/ИЛИ: тепловая перегрузка (TIB+EGT) при отказе защиты (Protection=0, нет EGT-лимита, DO_Option) приводит к прогару ГБЦ.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Диаграмма Исикавы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Причинно-следственный анализ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90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Матрица доказательств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Связь улик с гипотезой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91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4320000" cy="378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026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Улика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0000" y="972000"/>
            <a:ext cx="3960000" cy="378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2000" y="1026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Гипотеза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0000" y="972000"/>
            <a:ext cx="3168000" cy="378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2000" y="1026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Сила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350000"/>
            <a:ext cx="432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1404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TIB 200% vs 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0" y="1350000"/>
            <a:ext cx="396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2000" y="1404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Калибровка ECM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0000" y="1350000"/>
            <a:ext cx="3168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2000" y="1404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Очень высокая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1728000"/>
            <a:ext cx="432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1782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Нет EGT-лимита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728000"/>
            <a:ext cx="396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2000" y="1782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Калибровка ECM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0000" y="1728000"/>
            <a:ext cx="3168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12000" y="1782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Очень высокая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2106000"/>
            <a:ext cx="432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2160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Protection_Mode=0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106000"/>
            <a:ext cx="396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2000" y="2160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Калибровка ECM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0000" y="2106000"/>
            <a:ext cx="3168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2000" y="2160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Высокая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2484000"/>
            <a:ext cx="432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000" y="2538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DO_Option=61042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80000" y="2484000"/>
            <a:ext cx="396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2000" y="2538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Калибровка ECM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0000" y="2484000"/>
            <a:ext cx="3168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12000" y="2538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Высокая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2862000"/>
            <a:ext cx="432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000" y="2916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EGT 567°C в DML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80000" y="2862000"/>
            <a:ext cx="396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2000" y="2916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Тепловая перегрузка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40000" y="2862000"/>
            <a:ext cx="3168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2000" y="2916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Очень высокая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000" y="3240000"/>
            <a:ext cx="432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000" y="3294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Локализация Ц2/Ц6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80000" y="3240000"/>
            <a:ext cx="396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2000" y="3294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Тепловая перегрузка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0000" y="3240000"/>
            <a:ext cx="3168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12000" y="3294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Высокая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0000" y="3618000"/>
            <a:ext cx="432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000" y="3672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730E ноль отказов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80000" y="3618000"/>
            <a:ext cx="396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2000" y="3672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Калибровка ECM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40000" y="3618000"/>
            <a:ext cx="3168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12000" y="3672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Решающая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0000" y="3996000"/>
            <a:ext cx="432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2000" y="4050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Ранний отказ 2776 м/ч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80000" y="3996000"/>
            <a:ext cx="396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2000" y="4050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Не износ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40000" y="3996000"/>
            <a:ext cx="3168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12000" y="4050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Высокая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0000" y="4374000"/>
            <a:ext cx="432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2000" y="4428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Рецидив 283 м/ч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80000" y="4374000"/>
            <a:ext cx="396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2000" y="4428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Не износ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40000" y="4374000"/>
            <a:ext cx="3168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12000" y="4428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Высокая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0000" y="4752000"/>
            <a:ext cx="432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2000" y="4806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Масло r≈0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80000" y="4752000"/>
            <a:ext cx="3960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2000" y="4806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Не зола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40000" y="4752000"/>
            <a:ext cx="3168000" cy="378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12000" y="4806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Высокая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0000" y="5130000"/>
            <a:ext cx="432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2000" y="5184000"/>
            <a:ext cx="421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Пыль одинакова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80000" y="5130000"/>
            <a:ext cx="3960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2000" y="5184000"/>
            <a:ext cx="3852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Не пыль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40000" y="5130000"/>
            <a:ext cx="3168000" cy="378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12000" y="5184000"/>
            <a:ext cx="3060000" cy="30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Высокая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Формулировка корневой причины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Заключение анализа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92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11448000" cy="1872000"/>
          </a:xfrm>
          <a:prstGeom prst="rect">
            <a:avLst/>
          </a:prstGeom>
          <a:solidFill>
            <a:srgbClr val="F8DCDC"/>
          </a:solidFill>
          <a:ln w="2540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999" y="1116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C01020"/>
                </a:solidFill>
                <a:latin typeface="Calibri"/>
              </a:rPr>
              <a:t>КОРНЕВАЯ ПРИЧИНА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999" y="1512000"/>
            <a:ext cx="11160000" cy="13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Калибровка ECM NTE200 (AQ60809.08) задаёт верхний предел коррекции TIB = 200% при ОДНОВРЕМЕННО отключённой тепловой защите двигателя (Engine_Protection_Mode=0, отсутствие EGT_Protection_Limit, DO_Option=61042). Это приводит к избыточной топливоподаче в отдельные цилиндры, перегреву выхлопа до 567°C (выше предела 520°C) и прогару выпускных клапанов и ГБЦ.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060000"/>
            <a:ext cx="11448000" cy="1188000"/>
          </a:xfrm>
          <a:prstGeom prst="rect">
            <a:avLst/>
          </a:prstGeom>
          <a:solidFill>
            <a:srgbClr val="DCF0E5"/>
          </a:solidFill>
          <a:ln w="1905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999" y="3131999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7A3D"/>
                </a:solidFill>
                <a:latin typeface="Calibri"/>
              </a:rPr>
              <a:t>ПОДТВЕРЖДЕНИЕ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3491999"/>
            <a:ext cx="11160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Идентичный двигатель QSK50 в Komatsu 730E-DC с калибровкой AQ60217.28 (TIB 100%, защита включена, EGT-лимит 550°C) на том же объекте имеет НОЛЬ отказов ГБЦ.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4392000"/>
            <a:ext cx="11448000" cy="1152000"/>
          </a:xfrm>
          <a:prstGeom prst="rect">
            <a:avLst/>
          </a:prstGeom>
          <a:solidFill>
            <a:srgbClr val="DDE8F8"/>
          </a:solidFill>
          <a:ln w="1905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999" y="4464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0055B8"/>
                </a:solidFill>
                <a:latin typeface="Calibri"/>
              </a:rPr>
              <a:t>РЕШЕНИЕ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99" y="4824000"/>
            <a:ext cx="11160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Привести калибровку ECM NTE200 к параметрам защиты 730E: ограничить TIB до 100%, включить Engine_Protection_Mode, установить EGT_Protection_Limit 550°C, восстановить сигналы защиты.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Ключевые заключения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93 /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972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00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1. Зафиксировано 24+ отказа ГБЦ на 30 событий ремонта в парке NTE200 — системная проблема.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594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15948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623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2. Корневая причина — калибровка ECM: TIB 200% + отключённая тепловая защита двигателя.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217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" y="2217600"/>
            <a:ext cx="54000" cy="558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000" y="2246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3. Телеметрия DML подтверждает перегрев: EGT до 567°C при пределе 520°C (Ц2, Ц6).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8404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28404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28692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4. Контрольная группа 730E-DC с защитной калибровкой — НОЛЬ отказов в тех же условиях.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4632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0000" y="3463200"/>
            <a:ext cx="54000" cy="558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34920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5. Версия дилера CCEC (зола масла, пыль) опровергнута статистически и логически.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40860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C0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" y="4086000"/>
            <a:ext cx="54000" cy="558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41148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6. Отказы не связаны с износом: разброс 2776–18505 м/ч, рецидивы через 283 м/ч.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47088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000" y="4708800"/>
            <a:ext cx="54000" cy="558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47376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7. Расход масла не коррелирует с отказами; пыль одинакова для исправного 730E.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5331600"/>
            <a:ext cx="11448000" cy="558000"/>
          </a:xfrm>
          <a:prstGeom prst="rect">
            <a:avLst/>
          </a:prstGeom>
          <a:solidFill>
            <a:srgbClr val="DDE8F8"/>
          </a:solidFill>
          <a:ln w="15240">
            <a:solidFill>
              <a:srgbClr val="005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5331600"/>
            <a:ext cx="54000" cy="558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5360400"/>
            <a:ext cx="11268000" cy="52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8. Проблема устранима программно — переносом защитной калибровки 730E на NTE200.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Неотложные действия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Срочные меры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94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6480000" cy="360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116000"/>
            <a:ext cx="6372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Действие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0" y="1044000"/>
            <a:ext cx="3060000" cy="360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2000" y="1116000"/>
            <a:ext cx="2952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Ответственный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0000" y="1044000"/>
            <a:ext cx="1908000" cy="360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72000" y="1116000"/>
            <a:ext cx="180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Срок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404000"/>
            <a:ext cx="648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1404000"/>
            <a:ext cx="43200" cy="612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" y="1476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Ограничить TIB до 100% в калибровке ECM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0000" y="1404000"/>
            <a:ext cx="306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0000" y="1476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Cummins/CCEC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0000" y="1404000"/>
            <a:ext cx="1908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0000" y="1476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 нед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2016000"/>
            <a:ext cx="648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0000" y="2016000"/>
            <a:ext cx="43200" cy="612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000" y="2088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Включить Engine_Protection_Mode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2016000"/>
            <a:ext cx="306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0000" y="2088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Cummins/CCEC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0000" y="2016000"/>
            <a:ext cx="1908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0000" y="2088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 нед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2628000"/>
            <a:ext cx="648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2628000"/>
            <a:ext cx="43200" cy="6120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2700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Установить EGT_Protection_Limit 550°C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40000" y="2628000"/>
            <a:ext cx="306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0000" y="2700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Cummins/CCEC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00000" y="2628000"/>
            <a:ext cx="1908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0000" y="2700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 нед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3240000"/>
            <a:ext cx="648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0000" y="3240000"/>
            <a:ext cx="43200" cy="612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000" y="3312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Мониторинг EGT горячих цилиндров (Ц2, Ц6)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40000" y="3240000"/>
            <a:ext cx="306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0000" y="3312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Служба ТО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00000" y="3240000"/>
            <a:ext cx="1908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90000" y="3312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3 дня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0000" y="3852000"/>
            <a:ext cx="648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0000" y="3852000"/>
            <a:ext cx="43200" cy="612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000" y="3924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Снижение нагрузки на критичных единицах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40000" y="3852000"/>
            <a:ext cx="306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30000" y="3924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Эксплуатация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00000" y="3852000"/>
            <a:ext cx="1908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90000" y="3924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немедл.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0000" y="4464000"/>
            <a:ext cx="648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0000" y="4464000"/>
            <a:ext cx="43200" cy="612000"/>
          </a:xfrm>
          <a:prstGeom prst="rect">
            <a:avLst/>
          </a:prstGeom>
          <a:solidFill>
            <a:srgbClr val="B3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0000" y="4536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Внеплановая инспекция ГБЦ топ-риска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40000" y="4464000"/>
            <a:ext cx="306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30000" y="4536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Служба ТО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00000" y="4464000"/>
            <a:ext cx="1908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90000" y="4536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2 нед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000" y="5130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1">
                <a:solidFill>
                  <a:srgbClr val="7880A0"/>
                </a:solidFill>
                <a:latin typeface="Calibri"/>
              </a:rPr>
              <a:t>Приоритет действий обозначен цветной полосой слева.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Долгосрочные действия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Стратегические меры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95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44000"/>
            <a:ext cx="6480000" cy="360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116000"/>
            <a:ext cx="6372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Действие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0" y="1044000"/>
            <a:ext cx="3060000" cy="360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2000" y="1116000"/>
            <a:ext cx="2952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Ответственный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0000" y="1044000"/>
            <a:ext cx="1908000" cy="360000"/>
          </a:xfrm>
          <a:prstGeom prst="rect">
            <a:avLst/>
          </a:prstGeom>
          <a:solidFill>
            <a:srgbClr val="002B5C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72000" y="1116000"/>
            <a:ext cx="18000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Срок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404000"/>
            <a:ext cx="648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1404000"/>
            <a:ext cx="43200" cy="612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" y="1476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Унифицировать калибровку NTE200 с защитой 730E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0000" y="1404000"/>
            <a:ext cx="306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0000" y="1476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Cummins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0000" y="1404000"/>
            <a:ext cx="1908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0000" y="1476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1-2 мес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2016000"/>
            <a:ext cx="648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0000" y="2016000"/>
            <a:ext cx="43200" cy="612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000" y="2088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Внедрить постоянный мониторинг EGT по парку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2016000"/>
            <a:ext cx="306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0000" y="2088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Служба ТО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0000" y="2016000"/>
            <a:ext cx="1908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0000" y="2088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2 мес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2628000"/>
            <a:ext cx="648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2628000"/>
            <a:ext cx="43200" cy="612000"/>
          </a:xfrm>
          <a:prstGeom prst="rect">
            <a:avLst/>
          </a:prstGeom>
          <a:solidFill>
            <a:srgbClr val="C0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2700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Программа замены ГБЦ на отказавших единицах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40000" y="2628000"/>
            <a:ext cx="306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0000" y="2700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Ремонт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00000" y="2628000"/>
            <a:ext cx="1908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0000" y="2700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3 мес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3240000"/>
            <a:ext cx="648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0000" y="3240000"/>
            <a:ext cx="43200" cy="612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000" y="3312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Аудит всех калибровок парка NTE200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40000" y="3240000"/>
            <a:ext cx="306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0000" y="3312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Инжиниринг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00000" y="3240000"/>
            <a:ext cx="1908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90000" y="3312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 мес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0000" y="3852000"/>
            <a:ext cx="648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0000" y="3852000"/>
            <a:ext cx="43200" cy="612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000" y="3924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Соглашение с поставщиком о гарантии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40000" y="3852000"/>
            <a:ext cx="3060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30000" y="3924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Закупки/юр.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00000" y="3852000"/>
            <a:ext cx="1908000" cy="612000"/>
          </a:xfrm>
          <a:prstGeom prst="rect">
            <a:avLst/>
          </a:prstGeom>
          <a:solidFill>
            <a:srgbClr val="DCF0E5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90000" y="3924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2 мес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0000" y="4464000"/>
            <a:ext cx="648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0000" y="4464000"/>
            <a:ext cx="43200" cy="61200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0000" y="4536000"/>
            <a:ext cx="633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Обучение операторов признакам перегрева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40000" y="4464000"/>
            <a:ext cx="3060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30000" y="4536000"/>
            <a:ext cx="2916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HR/Эксплуатация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00000" y="4464000"/>
            <a:ext cx="1908000" cy="612000"/>
          </a:xfrm>
          <a:prstGeom prst="rect">
            <a:avLst/>
          </a:prstGeom>
          <a:solidFill>
            <a:srgbClr val="DDE8F8"/>
          </a:solidFill>
          <a:ln w="635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90000" y="4536000"/>
            <a:ext cx="1764000" cy="50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 мес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000" y="5130000"/>
            <a:ext cx="1116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 i="1">
                <a:solidFill>
                  <a:srgbClr val="7880A0"/>
                </a:solidFill>
                <a:latin typeface="Calibri"/>
              </a:rPr>
              <a:t>Долгосрочные меры закрепляют результат после неотложных действий.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Матрица рисков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Вероятность против воздействия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96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0" y="936000"/>
            <a:ext cx="7920000" cy="4860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Ожидаемый эффект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Прогноз снижения отказов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97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36000"/>
            <a:ext cx="11088000" cy="41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148000"/>
            <a:ext cx="11448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Поэтапное приведение калибровки к параметрам 730E прогнозно снижает число отказов до нуля — до уровня контрольной группы.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План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Дорожная карта (Гантт)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98 / 100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936000"/>
            <a:ext cx="11664000" cy="4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000" y="5508000"/>
            <a:ext cx="11448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Полное развёртывание решения — около 12 недель. Замена ГБЦ идёт параллельно с обновлением ПО.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5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54000"/>
            <a:ext cx="1080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Источники и стандарты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450000"/>
            <a:ext cx="1080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8CEDD"/>
                </a:solidFill>
                <a:latin typeface="Calibri"/>
              </a:rPr>
              <a:t>Использованные материалы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6613200"/>
            <a:ext cx="8640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C8CEDD"/>
                </a:solidFill>
                <a:latin typeface="Calibri"/>
              </a:rPr>
              <a:t>Анализ отказов ГБЦ • Cummins QSK50 MCRS • NTE200 • Полюс Магадан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1200" y="66132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00" b="0" i="0">
                <a:solidFill>
                  <a:srgbClr val="C8CEDD"/>
                </a:solidFill>
                <a:latin typeface="Calibri"/>
              </a:rPr>
              <a:t>99 /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07999"/>
            <a:ext cx="11448000" cy="540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" y="1007999"/>
            <a:ext cx="54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999" y="1097999"/>
            <a:ext cx="1116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ОТЧЕТ Полюс Магадан.xlsx — журнал ТО, 1004 записи (долив масла, простои, моточасы).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591199"/>
            <a:ext cx="11448000" cy="540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0000" y="1591199"/>
            <a:ext cx="54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999" y="1681199"/>
            <a:ext cx="1116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ГБЦ ремонты.xlsx — журнал ремонтов головок блока цилиндров (30 событий).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174399"/>
            <a:ext cx="11448000" cy="540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2174399"/>
            <a:ext cx="54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999" y="2264399"/>
            <a:ext cx="1116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DML_82_s_porodoy.csv — телеметрия Cummins DataMonitor, двигатель NTE#82 под нагрузкой.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2757599"/>
            <a:ext cx="11448000" cy="540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000" y="2757599"/>
            <a:ext cx="54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999" y="2847599"/>
            <a:ext cx="1116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ECM_Analysis_NTE200.xlsx — сравнение калибровок ECM NTE200 vs 730E (15 параметров).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340799"/>
            <a:ext cx="11448000" cy="540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000" y="3340799"/>
            <a:ext cx="54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999" y="3430799"/>
            <a:ext cx="1116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Калибровка эмиссии Cummins: AQ60809.08 (NTE200), AQ60217.28 (730E-DC).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3923999"/>
            <a:ext cx="11448000" cy="540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0000" y="3923999"/>
            <a:ext cx="54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999" y="4013999"/>
            <a:ext cx="1116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Техническая документация Cummins QSK50 MCRS — спецификации двигателя.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4507199"/>
            <a:ext cx="11448000" cy="540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0000" y="4507199"/>
            <a:ext cx="54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3999" y="4597199"/>
            <a:ext cx="1116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Данные парка Komatsu 730E-DC — контрольная группа (ноль отказов ГБЦ).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5090399"/>
            <a:ext cx="11448000" cy="540000"/>
          </a:xfrm>
          <a:prstGeom prst="rect">
            <a:avLst/>
          </a:prstGeom>
          <a:solidFill>
            <a:srgbClr val="DDE8F8"/>
          </a:solidFill>
          <a:ln w="9525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0000" y="5090399"/>
            <a:ext cx="54000" cy="540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999" y="5180399"/>
            <a:ext cx="1116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Внутренние данные эксплуатации АО «Полюс Магадан» за период 2025–2026 гг.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80000"/>
            <a:ext cx="12193200" cy="54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648000"/>
            <a:ext cx="10800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96000"/>
            <a:ext cx="1080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0" i="0">
                <a:solidFill>
                  <a:srgbClr val="C8CEDD"/>
                </a:solidFill>
                <a:latin typeface="Calibri"/>
              </a:rPr>
              <a:t>Анализ отказов ГБЦ Cummins QSK50 MCRS на NTE200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232000"/>
            <a:ext cx="10728000" cy="1872000"/>
          </a:xfrm>
          <a:prstGeom prst="rect">
            <a:avLst/>
          </a:prstGeom>
          <a:solidFill>
            <a:srgbClr val="00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412000"/>
            <a:ext cx="10440000" cy="151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Корневая причина — калибровка ECM (TIB 200% + отключённая тепловая защита), а не внешние факторы. Решение — приведение калибровки к защитным параметрам 730E.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320000"/>
            <a:ext cx="10728000" cy="1620000"/>
          </a:xfrm>
          <a:prstGeom prst="rect">
            <a:avLst/>
          </a:prstGeom>
          <a:noFill/>
          <a:ln w="12700">
            <a:solidFill>
              <a:srgbClr val="C8C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4464000"/>
            <a:ext cx="10440000" cy="14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C8CEDD"/>
                </a:solidFill>
                <a:latin typeface="Calibri"/>
              </a:rPr>
              <a:t>Отчёт подготовлен: инженерно-аналитическая служба</a:t>
            </a:r>
          </a:p>
          <a:p>
            <a:pPr algn="l"/>
            <a:r>
              <a:rPr sz="1400" b="0" i="0">
                <a:solidFill>
                  <a:srgbClr val="C8CEDD"/>
                </a:solidFill>
                <a:latin typeface="Calibri"/>
              </a:rPr>
              <a:t>Объект: АО «Полюс Магадан»  •  Парк: NTE200 (Cummins QSK50 MCRS)</a:t>
            </a:r>
          </a:p>
          <a:p>
            <a:pPr algn="l"/>
            <a:r>
              <a:rPr sz="1400" b="0" i="0">
                <a:solidFill>
                  <a:srgbClr val="C8CEDD"/>
                </a:solidFill>
                <a:latin typeface="Calibri"/>
              </a:rPr>
              <a:t>Контрольная группа: Komatsu 730E-DC — ноль отказов</a:t>
            </a:r>
          </a:p>
          <a:p>
            <a:pPr algn="l"/>
            <a:r>
              <a:rPr sz="1400" b="0" i="0">
                <a:solidFill>
                  <a:srgbClr val="C8CEDD"/>
                </a:solidFill>
                <a:latin typeface="Calibri"/>
              </a:rPr>
              <a:t>Дата: июнь 2026 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1200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000" b="0" i="0">
                <a:solidFill>
                  <a:srgbClr val="C8CEDD"/>
                </a:solidFill>
                <a:latin typeface="Calibri"/>
              </a:rPr>
              <a:t>100 /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