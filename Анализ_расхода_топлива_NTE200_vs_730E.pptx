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1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36576" cy="68580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960120"/>
            <a:ext cx="2011680" cy="320040"/>
          </a:xfrm>
          <a:prstGeom prst="rect">
            <a:avLst/>
          </a:prstGeom>
          <a:solidFill>
            <a:srgbClr val="1E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058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88"/>
                </a:solidFill>
              </a:rPr>
              <a:t>ТЕХНИЧЕСКИЙ ОТЧЁТ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Анализ расхода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2996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топлива парков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88920"/>
            <a:ext cx="109728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077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NTE200  vs  Komatsu 730E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88"/>
                </a:solidFill>
              </a:rPr>
              <a:t>Март 2024 — Май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4903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</a:rPr>
              <a:t>Расчёт с учётом грузооборота (л / 100 т·км)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46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42 самосвала NTE200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66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22 самосвала Komatsu 730E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4864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Период наблюдений: 27 месяцев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0058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97316"/>
                </a:solidFill>
              </a:rPr>
              <a:t>10.57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97316"/>
                </a:solidFill>
              </a:rPr>
              <a:t>л/100т·км — NTE200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346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3B82F6"/>
                </a:solidFill>
              </a:rPr>
              <a:t>9.77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B82F6"/>
                </a:solidFill>
              </a:rPr>
              <a:t>л/100т·км — Komatsu 730E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091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Экономия 730E: 7.6%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СВОДНЫЕ ПОКАЗАТЕЛИ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Сравнение парков по ключевым метрикам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0704"/>
            <a:ext cx="13716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1430000" cy="1005840"/>
          </a:xfrm>
          <a:prstGeom prst="rect">
            <a:avLst/>
          </a:prstGeom>
          <a:solidFill>
            <a:srgbClr val="0D2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07008"/>
            <a:ext cx="114300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C55E"/>
                </a:solidFill>
              </a:rPr>
              <a:t>ЛУЧШИЙ ПАРК ПО ТОПЛИВНОЙ ЭФФЕКТИВНОСТИ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Komatsu 730E  —  экономичнее на  7.6%  по сравнению с NTE200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2651760" cy="10058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54864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487168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РАСХОД NTE200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670048"/>
            <a:ext cx="24688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7316"/>
                </a:solidFill>
              </a:rPr>
              <a:t>10.57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108960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</a:rPr>
              <a:t>л / 100 т·км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3552" y="2423160"/>
            <a:ext cx="2651760" cy="10058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3552" y="2423160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487168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РАСХОД 730E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670048"/>
            <a:ext cx="24688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9.77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08960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</a:rPr>
              <a:t>л / 100 т·км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2423160"/>
            <a:ext cx="2651760" cy="10058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2423160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487168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ЭКОНОМИЯ 730E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670048"/>
            <a:ext cx="24688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C55E"/>
                </a:solidFill>
              </a:rPr>
              <a:t>7.6%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108960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</a:rPr>
              <a:t>в пересчёте на т·км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89136" y="2423160"/>
            <a:ext cx="2651760" cy="10058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89136" y="2423160"/>
            <a:ext cx="54864" cy="100584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8863" y="2487168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ПАРКИ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3" y="2670048"/>
            <a:ext cx="24688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88888"/>
                </a:solidFill>
              </a:rPr>
              <a:t>42 / 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3" y="3108960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</a:rPr>
              <a:t>самосвалов NTE200 / 730E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39312"/>
            <a:ext cx="2651760" cy="10058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639312"/>
            <a:ext cx="54864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3703320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СКОРОСТЬ NTE200 (груж.)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3886200"/>
            <a:ext cx="24688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7316"/>
                </a:solidFill>
              </a:rPr>
              <a:t>16.53 км/ч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4325112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</a:rPr>
              <a:t>средняя под нагрузкой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73552" y="3639312"/>
            <a:ext cx="2651760" cy="10058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73552" y="3639312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3703320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СКОРОСТЬ 730E (груж.)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3886200"/>
            <a:ext cx="24688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16.07 км/ч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325112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</a:rPr>
              <a:t>средняя под нагрузкой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1344" y="3639312"/>
            <a:ext cx="2651760" cy="10058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81344" y="3639312"/>
            <a:ext cx="54864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3703320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ТОПЛИВО NTE200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3886200"/>
            <a:ext cx="24688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7316"/>
                </a:solidFill>
              </a:rPr>
              <a:t>66.04 млн 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4325112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</a:rPr>
              <a:t>625.0 млн т·км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89136" y="3639312"/>
            <a:ext cx="2651760" cy="10058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89136" y="3639312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98863" y="3703320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ТОПЛИВО 730E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98863" y="3886200"/>
            <a:ext cx="24688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</a:rPr>
              <a:t>48.15 млн 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98863" y="4325112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</a:rPr>
              <a:t>493.0 млн т·км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48280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Средняя загрузка: NTE200 — 183.7 т   |   730E — 184.1 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ДИНАМИКА ПО МЕСЯЦАМ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Расход л/100т·км — март 2024 / май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432"/>
            <a:ext cx="11612880" cy="4297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5577840"/>
            <a:ext cx="3474720" cy="548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623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Ср. NTE200: 10.57 л/100т·км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7959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Пик авг 2024 — малая выборка (15 машин)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5577840"/>
            <a:ext cx="3657600" cy="548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56235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Ср. 730E: 9.77 л/100т·км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5879592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Стабильный коридор 8.5–11 л/100т·км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5577840"/>
            <a:ext cx="4160520" cy="548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56235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Дек 2025: NTE200 — 8.09 л/100т·км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87959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42 машины, рекордный грузооборот — лучший месяц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РЕЙТИНГ САМОСВАЛОВ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Индивидуальный расход топлива на 100 т·км за весь период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13716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NTE200</a:t>
            </a:r>
          </a:p>
        </p:txBody>
      </p:sp>
      <p:pic>
        <p:nvPicPr>
          <p:cNvPr id="7" name="Picture 6" descr="chart_nte_tru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444752"/>
            <a:ext cx="5989320" cy="5257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1143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Komatsu 730E</a:t>
            </a:r>
          </a:p>
        </p:txBody>
      </p:sp>
      <p:pic>
        <p:nvPicPr>
          <p:cNvPr id="9" name="Picture 8" descr="chart_730_tru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44752"/>
            <a:ext cx="5806440" cy="5029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80760" y="1097280"/>
            <a:ext cx="36576" cy="557784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6537960"/>
            <a:ext cx="164592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65196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</a:rPr>
              <a:t>&lt; среднего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6537960"/>
            <a:ext cx="16459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5415" y="65196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</a:rPr>
              <a:t>&lt; +10%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6537960"/>
            <a:ext cx="164592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65196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</a:rPr>
              <a:t>&gt; +10%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ПОКОЛЕНИЯ ПАРКА NTE200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Новые машины vs старые: разрыв сокращается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13716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new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70432"/>
            <a:ext cx="6309360" cy="3657600"/>
          </a:xfrm>
          <a:prstGeom prst="rect">
            <a:avLst/>
          </a:prstGeom>
        </p:spPr>
      </p:pic>
      <p:pic>
        <p:nvPicPr>
          <p:cNvPr id="7" name="Picture 6" descr="chart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170432"/>
            <a:ext cx="548640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4983480"/>
            <a:ext cx="2606040" cy="162763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4983480"/>
            <a:ext cx="26060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074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NTE200 старые
(№43–72)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46811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7316"/>
                </a:solidFill>
              </a:rPr>
              <a:t>10.92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080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</a:rPr>
              <a:t>л / 100 т·км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4983480"/>
            <a:ext cx="2606040" cy="162763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4983480"/>
            <a:ext cx="26060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5074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NTE200 новые
(№73–89)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46811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</a:rPr>
              <a:t>9.37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6080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</a:rPr>
              <a:t>л / 100 т·км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983480"/>
            <a:ext cx="2606040" cy="162763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4983480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5074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Komatsu 730E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46811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9.77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6080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</a:rPr>
              <a:t>л / 100 т·км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solidFill>
            <a:srgbClr val="0D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5624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2C55E"/>
                </a:solidFill>
              </a:rPr>
              <a:t>  Новые NTE200 (9.37 л/100т·км) vs 730E (9.77 л/100т·км) — разрыв всего -0.4 л/100т·км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ДЕТАЛЬНЫЕ ДАННЫЕ — NTE200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Расход топлива на 100 т·км по каждому самосвалу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13716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01168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161288"/>
            <a:ext cx="2011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88"/>
                </a:solidFill>
              </a:rPr>
              <a:t>Самосвал</a:t>
            </a:r>
          </a:p>
        </p:txBody>
      </p:sp>
      <p:sp>
        <p:nvSpPr>
          <p:cNvPr id="8" name="Rectangle 7"/>
          <p:cNvSpPr/>
          <p:nvPr/>
        </p:nvSpPr>
        <p:spPr>
          <a:xfrm>
            <a:off x="2404872" y="1143000"/>
            <a:ext cx="82296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1161288"/>
            <a:ext cx="8229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88"/>
                </a:solidFill>
              </a:rPr>
              <a:t>Мес.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0984" y="1143000"/>
            <a:ext cx="109728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1161288"/>
            <a:ext cx="1097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88"/>
                </a:solidFill>
              </a:rPr>
              <a:t>л/100т·км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416" y="1143000"/>
            <a:ext cx="173736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161288"/>
            <a:ext cx="1737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88"/>
                </a:solidFill>
              </a:rPr>
              <a:t>Статус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417320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9" y="1426464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NTE200-83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04872" y="1417320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1426464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0984" y="1417320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6704" y="1426464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7.96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71416" y="1417320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1426464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636776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9" y="1645920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NTE200-81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04872" y="1636776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50592" y="1645920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00984" y="1636776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46704" y="1645920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8.35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71416" y="1636776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1645920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1856232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9" y="1865376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NTE200-82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04872" y="1856232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50592" y="1865376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00984" y="1856232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6704" y="1865376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8.5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71416" y="1856232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7136" y="1865376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075688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59" y="2084831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NTE200-88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04872" y="2075688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50592" y="2084831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00984" y="2075688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6704" y="2084831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8.62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71416" y="2075688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17136" y="2084831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2295144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59" y="2304287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NTE200-89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04872" y="2295144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50592" y="2304287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00984" y="2295144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6704" y="2304287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8.75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71416" y="2295144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17136" y="2304287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2514600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59" y="2523744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NTE200-84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04872" y="2514600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50592" y="2523744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00984" y="2514600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46704" y="2523744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8.88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71416" y="2514600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17136" y="2523744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2734056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59" y="2743200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NTE200-85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04872" y="2734056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450592" y="2743200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00984" y="2734056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46704" y="2743200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8.9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71416" y="2734056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17136" y="2743200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2953512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59" y="2962656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NTE200-87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04872" y="2953512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50592" y="2962656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00984" y="2953512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46704" y="2962656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8.94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71416" y="2953512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17136" y="2962656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3172968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59" y="3182111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NTE200-79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04872" y="3172968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450592" y="3182111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300984" y="3172968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46704" y="3182111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9.1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71416" y="3172968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17136" y="3182111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3392424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59" y="3401568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NTE200-80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404872" y="3392424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450592" y="3401568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300984" y="3392424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46704" y="3401568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9.18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471416" y="3392424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17136" y="3401568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3611880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59" y="3621024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NTE200-74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404872" y="3611880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450592" y="3621024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300984" y="3611880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346704" y="3621024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9.27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471416" y="3611880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17136" y="3621024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20040" y="3831335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65759" y="3840479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NTE200-78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04872" y="3831335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450592" y="3840479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14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300984" y="3831335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346704" y="3840479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9.35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471416" y="3831335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17136" y="3840479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20040" y="4050791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65759" y="4059935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NTE200-86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404872" y="4050791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450592" y="4059935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300984" y="4050791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346704" y="4059935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9.72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471416" y="4050791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517136" y="4059935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20040" y="4270248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65759" y="4279392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NTE200-77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404872" y="4270248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450592" y="4279392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300984" y="4270248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346704" y="4279392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9.79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471416" y="4270248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517136" y="4279392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20040" y="4489704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65759" y="4498848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NTE200-63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404872" y="4489704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450592" y="4498848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18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300984" y="4489704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346704" y="4498848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9.95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471416" y="4489704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517136" y="4498848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20040" y="4709159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65759" y="4718303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NTE200-71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404872" y="4709159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450592" y="4718303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300984" y="4709159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346704" y="4718303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10.14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471416" y="4709159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517136" y="4718303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20040" y="4928616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65759" y="4937759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NTE200-72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404872" y="4928616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450592" y="4937759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14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300984" y="4928616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346704" y="4937759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10.17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471416" y="4928616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517136" y="4937759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20040" y="5148072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65759" y="5157216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NTE200-64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404872" y="5148072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450592" y="5157216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18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300984" y="5148072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346704" y="5157216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10.19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471416" y="5148072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517136" y="5157216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20040" y="5367528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65759" y="5376672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NTE200-76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404872" y="5367528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450592" y="5376672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14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300984" y="5367528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346704" y="5376672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10.23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471416" y="5367528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517136" y="5376672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20040" y="5586983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65759" y="5596127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NTE200-75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404872" y="5586983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450592" y="5596127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14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300984" y="5586983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346704" y="5596127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10.24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471416" y="5586983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517136" y="5596127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20040" y="5806440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65759" y="5815583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NTE200-44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404872" y="5806440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450592" y="5815583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300984" y="5806440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346704" y="5815583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10.26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4471416" y="5806440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517136" y="5815583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263640" y="1143000"/>
            <a:ext cx="201168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6309359" y="1161288"/>
            <a:ext cx="2011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88"/>
                </a:solidFill>
              </a:rPr>
              <a:t>Самосвал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348472" y="1143000"/>
            <a:ext cx="82296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394192" y="1161288"/>
            <a:ext cx="8229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88"/>
                </a:solidFill>
              </a:rPr>
              <a:t>Мес.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244584" y="1143000"/>
            <a:ext cx="109728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290304" y="1161288"/>
            <a:ext cx="10972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88"/>
                </a:solidFill>
              </a:rPr>
              <a:t>л/100т·км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0415015" y="1143000"/>
            <a:ext cx="173736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0460736" y="1161288"/>
            <a:ext cx="1737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88"/>
                </a:solidFill>
              </a:rPr>
              <a:t>Статус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263640" y="1417320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309359" y="1426464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NTE200-73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8348472" y="1417320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394192" y="1426464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14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244584" y="1417320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9290304" y="1426464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10.27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0415015" y="1417320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0460736" y="1426464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263640" y="1636776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309359" y="1645920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NTE200-65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348472" y="1636776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394192" y="1645920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18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244584" y="1636776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290304" y="1645920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97316"/>
                </a:solidFill>
              </a:rPr>
              <a:t>10.29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0415015" y="1636776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0460736" y="1645920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6263640" y="1856232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6309359" y="1865376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NTE200-53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8348472" y="1856232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8394192" y="1865376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9244584" y="1856232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290304" y="1865376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10.58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0415015" y="1856232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0460736" y="1865376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6263640" y="2075688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309359" y="2084831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NTE200-43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348472" y="2075688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8394192" y="2084831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9244584" y="2075688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9290304" y="2084831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10.59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10415015" y="2075688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0460736" y="2084831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6263640" y="2295144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6309359" y="2304287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NTE200-48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348472" y="2295144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8394192" y="2304287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25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9244584" y="2295144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9290304" y="2304287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10.71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0415015" y="2295144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0460736" y="2304287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6263640" y="2514600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6309359" y="2523744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NTE200-51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348472" y="2514600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8394192" y="2523744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9244584" y="2514600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9290304" y="2523744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10.79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0415015" y="2514600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0460736" y="2523744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6263640" y="2734056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6309359" y="2743200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NTE200-49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8348472" y="2734056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8394192" y="2743200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9244584" y="2734056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9290304" y="2743200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10.82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10415015" y="2734056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0460736" y="2743200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263640" y="2953512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6309359" y="2962656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NTE200-47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8348472" y="2953512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8394192" y="2962656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9244584" y="2953512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9290304" y="2962656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10.85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10415015" y="2953512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0460736" y="2962656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6263640" y="3172968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6309359" y="3182111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NTE200-66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8348472" y="3172968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8394192" y="3182111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17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9244584" y="3172968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9290304" y="3182111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10.95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10415015" y="3172968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10460736" y="3182111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6263640" y="3392424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6309359" y="3401568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NTE200-62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8348472" y="3392424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8394192" y="3401568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24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9244584" y="3392424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9290304" y="3401568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10.97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10415015" y="3392424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10460736" y="3401568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6263640" y="3611880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309359" y="3621024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NTE200-69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8348472" y="3611880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8394192" y="3621024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17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9244584" y="3611880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9290304" y="3621024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11.03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0415015" y="3611880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10460736" y="3621024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263640" y="3831335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309359" y="3840479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NTE200-45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8348472" y="3831335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8394192" y="3840479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9244584" y="3831335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9290304" y="3840479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11.04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10415015" y="3831335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10460736" y="3840479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6263640" y="4050791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6309359" y="4059935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NTE200-67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8348472" y="4050791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8394192" y="4059935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17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9244584" y="4050791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9290304" y="4059935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11.22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415015" y="4050791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0460736" y="4059935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6263640" y="4270248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6309359" y="4279392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NTE200-70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8348472" y="4270248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8394192" y="4279392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17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9244584" y="4270248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9290304" y="4279392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11.25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10415015" y="4270248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0460736" y="4279392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6263640" y="4489704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6309359" y="4498848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NTE200-61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8348472" y="4489704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8394192" y="4498848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25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9244584" y="4489704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9290304" y="4498848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11.33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10415015" y="4489704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10460736" y="4498848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6263640" y="4709159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6309359" y="4718303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NTE200-56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348472" y="4709159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8394192" y="4718303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26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9244584" y="4709159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9290304" y="4718303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11.46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10415015" y="4709159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10460736" y="4718303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6263640" y="4928616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6309359" y="4937759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NTE200-60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48472" y="4928616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8394192" y="4937759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25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9244584" y="4928616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9290304" y="4937759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11.49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10415015" y="4928616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10460736" y="4937759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6263640" y="5148072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6309359" y="5157216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NTE200-46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8348472" y="5148072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8394192" y="5157216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244584" y="5148072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9290304" y="5157216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11.51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10415015" y="5148072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10460736" y="5157216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6263640" y="5367528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6309359" y="5376672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NTE200-58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8348472" y="5367528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8394192" y="5376672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25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9244584" y="5367528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9290304" y="5376672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11.53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10415015" y="5367528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10460736" y="5376672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6263640" y="5586983"/>
            <a:ext cx="20116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6309359" y="5596127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NTE200-68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8348472" y="5586983"/>
            <a:ext cx="8229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8394192" y="5596127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17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9244584" y="5586983"/>
            <a:ext cx="109728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9290304" y="5596127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11.59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10415015" y="5586983"/>
            <a:ext cx="1737360" cy="201168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10460736" y="5596127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6263640" y="5806440"/>
            <a:ext cx="20116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6309359" y="5815583"/>
            <a:ext cx="1956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NTE200-55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8348472" y="5806440"/>
            <a:ext cx="8229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8394192" y="5815583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26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9244584" y="5806440"/>
            <a:ext cx="109728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9290304" y="5815583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</a:rPr>
              <a:t>11.92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10415015" y="5806440"/>
            <a:ext cx="1737360" cy="201168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10460736" y="5815583"/>
            <a:ext cx="16824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</a:rPr>
              <a:t>! Выше нормы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6035040" y="1097280"/>
            <a:ext cx="36576" cy="557784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ДЕТАЛЬНЫЕ ДАННЫЕ — KOMATSU 730E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Расход топлива на 100 т·км по каждому самосвалу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28600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161288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Самосвал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9192" y="1143000"/>
            <a:ext cx="86868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1161288"/>
            <a:ext cx="868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Мес.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21024" y="1143000"/>
            <a:ext cx="123444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116128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л/100т·км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8616" y="1143000"/>
            <a:ext cx="182880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4336" y="116128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Статус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417320"/>
            <a:ext cx="22860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9" y="1453896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9192" y="1417320"/>
            <a:ext cx="86868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1453896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21024" y="1417320"/>
            <a:ext cx="123444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6744" y="1453896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B82F6"/>
                </a:solidFill>
              </a:rPr>
              <a:t>8.77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28616" y="1417320"/>
            <a:ext cx="18288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1453896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746504"/>
            <a:ext cx="22860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9" y="178308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9192" y="1746504"/>
            <a:ext cx="86868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24912" y="1783080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21024" y="1746504"/>
            <a:ext cx="123444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66744" y="1783080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B82F6"/>
                </a:solidFill>
              </a:rPr>
              <a:t>8.8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28616" y="1746504"/>
            <a:ext cx="18288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74336" y="1783080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075688"/>
            <a:ext cx="22860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9" y="2112264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9192" y="2075688"/>
            <a:ext cx="86868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24912" y="2112264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21024" y="2075688"/>
            <a:ext cx="123444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66744" y="2112264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B82F6"/>
                </a:solidFill>
              </a:rPr>
              <a:t>8.82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28616" y="2075688"/>
            <a:ext cx="18288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74336" y="2112264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404872"/>
            <a:ext cx="22860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59" y="2441448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730E-22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79192" y="2404872"/>
            <a:ext cx="86868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24912" y="2441448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21024" y="2404872"/>
            <a:ext cx="123444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66744" y="2441448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B82F6"/>
                </a:solidFill>
              </a:rPr>
              <a:t>8.86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28616" y="2404872"/>
            <a:ext cx="18288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74336" y="2441448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2734056"/>
            <a:ext cx="22860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59" y="2770632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730E-17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79192" y="2734056"/>
            <a:ext cx="86868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24912" y="2770632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21024" y="2734056"/>
            <a:ext cx="123444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66744" y="2770632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B82F6"/>
                </a:solidFill>
              </a:rPr>
              <a:t>9.05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28616" y="2734056"/>
            <a:ext cx="18288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74336" y="2770632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063239"/>
            <a:ext cx="22860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59" y="3099815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730E-38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79192" y="3063239"/>
            <a:ext cx="86868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24912" y="3099815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21024" y="3063239"/>
            <a:ext cx="123444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66744" y="3099815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B82F6"/>
                </a:solidFill>
              </a:rPr>
              <a:t>9.15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28616" y="3063239"/>
            <a:ext cx="18288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74336" y="3099815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3392424"/>
            <a:ext cx="22860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59" y="342900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730E-19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79192" y="3392424"/>
            <a:ext cx="86868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24912" y="3429000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21024" y="3392424"/>
            <a:ext cx="123444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66744" y="3429000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B82F6"/>
                </a:solidFill>
              </a:rPr>
              <a:t>9.58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28616" y="3392424"/>
            <a:ext cx="18288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74336" y="3429000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3721608"/>
            <a:ext cx="22860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59" y="3758184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730E-18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79192" y="3721608"/>
            <a:ext cx="86868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24912" y="3758184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21024" y="3721608"/>
            <a:ext cx="123444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66744" y="3758184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B82F6"/>
                </a:solidFill>
              </a:rPr>
              <a:t>9.71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28616" y="3721608"/>
            <a:ext cx="18288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74336" y="3758184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C55E"/>
                </a:solidFill>
              </a:rPr>
              <a:t>+ Лучше среднего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4050791"/>
            <a:ext cx="22860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59" y="4087368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730E-21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79192" y="4050791"/>
            <a:ext cx="86868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24912" y="4087368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21024" y="4050791"/>
            <a:ext cx="123444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66744" y="4087368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9.87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28616" y="4050791"/>
            <a:ext cx="18288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974336" y="4087368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4379976"/>
            <a:ext cx="22860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59" y="4416552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730E-13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79192" y="4379976"/>
            <a:ext cx="86868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24912" y="4416552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21024" y="4379976"/>
            <a:ext cx="123444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66744" y="4416552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9.91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928616" y="4379976"/>
            <a:ext cx="18288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74336" y="4416552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4709159"/>
            <a:ext cx="22860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59" y="4745736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730E-14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679192" y="4709159"/>
            <a:ext cx="86868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24912" y="4745736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21024" y="4709159"/>
            <a:ext cx="123444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66744" y="4745736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9.93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28616" y="4709159"/>
            <a:ext cx="18288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974336" y="4745736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263640" y="1143000"/>
            <a:ext cx="228600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09359" y="1161288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Самосвал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622792" y="1143000"/>
            <a:ext cx="86868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668512" y="1161288"/>
            <a:ext cx="868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Мес.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564624" y="1143000"/>
            <a:ext cx="123444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610344" y="1161288"/>
            <a:ext cx="12344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л/100т·км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872216" y="1143000"/>
            <a:ext cx="1828800" cy="256032"/>
          </a:xfrm>
          <a:prstGeom prst="rect">
            <a:avLst/>
          </a:prstGeom>
          <a:solidFill>
            <a:srgbClr val="1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917936" y="116128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Статус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63640" y="1417320"/>
            <a:ext cx="22860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09359" y="1453896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730E-37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622792" y="1417320"/>
            <a:ext cx="86868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668512" y="1453896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564624" y="1417320"/>
            <a:ext cx="123444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10344" y="1453896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10.01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872216" y="1417320"/>
            <a:ext cx="18288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917936" y="1453896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63640" y="1746504"/>
            <a:ext cx="22860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309359" y="178308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730E-16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622792" y="1746504"/>
            <a:ext cx="86868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668512" y="1783080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564624" y="1746504"/>
            <a:ext cx="123444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610344" y="1783080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10.02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872216" y="1746504"/>
            <a:ext cx="18288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917936" y="1783080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263640" y="2075688"/>
            <a:ext cx="22860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309359" y="2112264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730E-39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622792" y="2075688"/>
            <a:ext cx="86868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668512" y="2112264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564624" y="2075688"/>
            <a:ext cx="123444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610344" y="2112264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10.03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872216" y="2075688"/>
            <a:ext cx="18288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917936" y="2112264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263640" y="2404872"/>
            <a:ext cx="22860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309359" y="2441448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730E-26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622792" y="2404872"/>
            <a:ext cx="86868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668512" y="2441448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564624" y="2404872"/>
            <a:ext cx="123444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610344" y="2441448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10.06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872216" y="2404872"/>
            <a:ext cx="18288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917936" y="2441448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263640" y="2734056"/>
            <a:ext cx="22860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309359" y="2770632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730E-40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622792" y="2734056"/>
            <a:ext cx="86868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668512" y="2770632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564624" y="2734056"/>
            <a:ext cx="123444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610344" y="2770632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10.07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872216" y="2734056"/>
            <a:ext cx="18288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917936" y="2770632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263640" y="3063239"/>
            <a:ext cx="22860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309359" y="3099815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730E-28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622792" y="3063239"/>
            <a:ext cx="86868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668512" y="3099815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564624" y="3063239"/>
            <a:ext cx="123444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610344" y="3099815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10.09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872216" y="3063239"/>
            <a:ext cx="18288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917936" y="3099815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63640" y="3392424"/>
            <a:ext cx="22860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309359" y="3429000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730E-15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622792" y="3392424"/>
            <a:ext cx="86868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668512" y="3429000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564624" y="3392424"/>
            <a:ext cx="123444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610344" y="3429000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10.16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0872216" y="3392424"/>
            <a:ext cx="18288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917936" y="3429000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263640" y="3721608"/>
            <a:ext cx="22860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309359" y="3758184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730E-20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8622792" y="3721608"/>
            <a:ext cx="86868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668512" y="3758184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9564624" y="3721608"/>
            <a:ext cx="123444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610344" y="3758184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10.18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872216" y="3721608"/>
            <a:ext cx="18288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0917936" y="3758184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263640" y="4050791"/>
            <a:ext cx="22860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309359" y="4087368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730E-41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8622792" y="4050791"/>
            <a:ext cx="86868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8668512" y="4087368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25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9564624" y="4050791"/>
            <a:ext cx="123444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9610344" y="4087368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10.3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0872216" y="4050791"/>
            <a:ext cx="18288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0917936" y="4087368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263640" y="4379976"/>
            <a:ext cx="22860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6309359" y="4416552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730E-29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622792" y="4379976"/>
            <a:ext cx="86868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668512" y="4416552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564624" y="4379976"/>
            <a:ext cx="123444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610344" y="4416552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10.31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0872216" y="4379976"/>
            <a:ext cx="1828800" cy="301752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0917936" y="4416552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263640" y="4709159"/>
            <a:ext cx="22860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309359" y="4745736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730E-27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8622792" y="4709159"/>
            <a:ext cx="86868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668512" y="4745736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27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564624" y="4709159"/>
            <a:ext cx="123444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9610344" y="4745736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10.4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0872216" y="4709159"/>
            <a:ext cx="1828800" cy="301752"/>
          </a:xfrm>
          <a:prstGeom prst="rect">
            <a:avLst/>
          </a:prstGeom>
          <a:solidFill>
            <a:srgbClr val="1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0917936" y="4745736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= В норме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035040" y="1097280"/>
            <a:ext cx="36576" cy="557784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</a:rPr>
              <a:t>ВЫВОДЫ И РЕКОМЕНДАЦИИ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Итоги анализа и направления оптимизации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24128"/>
            <a:ext cx="13716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1430000" cy="822960"/>
          </a:xfrm>
          <a:prstGeom prst="rect">
            <a:avLst/>
          </a:prstGeom>
          <a:solidFill>
            <a:srgbClr val="0D2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14300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ЛУЧШИЙ ПАРК: Komatsu 730E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93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Расход 9.77 л/100т·км vs 10.57 л/100т·км у NTE200  —  экономия 7.6%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21408"/>
            <a:ext cx="11430000" cy="676656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21408"/>
            <a:ext cx="54864" cy="67665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3113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NTE200 в целом: 10.57 л/100т·км. Большой разброс по парку (7.96–11.92 л/100т·км). Старые машины №43–72 — основная причина превышения.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89503"/>
            <a:ext cx="11430000" cy="676656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889503"/>
            <a:ext cx="54864" cy="67665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99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730E стабильнее: коридор 8.77–10.40 л/100т·км. Все 22 самосвала проработали полные 27 месяцев без выбытия.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11430000" cy="676656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54864" cy="67665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673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Новые NTE200 (№73–89): средний расход 9.37 л/100т·км — разрыв с 730E сократился до -0.4 л/100т·км. Тренд позитивный.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25696"/>
            <a:ext cx="11430000" cy="676656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425696"/>
            <a:ext cx="54864" cy="6766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3542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Проблемные NTE200: №55, №46, №58 — расход 11.5–11.9 л/100т·км. На 15–22% выше среднего 730E. Приоритет для диагностики.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93792"/>
            <a:ext cx="11430000" cy="676656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193792"/>
            <a:ext cx="5486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Скорость под нагрузкой: NTE200 выше (16.53 vs 16.07 км/ч), загрузка практически одинакова (183.7 vs 184.1 т).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