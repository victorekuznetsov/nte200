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EF0AF"/>
                </a:solidFill>
                <a:latin typeface="Calibri"/>
              </a:rPr>
              <a:t>АО «РАЗВИТИЕ»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10698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Отказы ГБЦ и клапанов Cummins QSK50</a:t>
            </a:r>
          </a:p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на самосвалах NTE200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CFD6DA"/>
                </a:solidFill>
                <a:latin typeface="Calibri"/>
              </a:rPr>
              <a:t>Отчёт технической службы и отдела надёжности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404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Полюс Магадан · номинал 180 т · контрольная группа 730E-DC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2026 · Конфиденциально · все числа из первичных данных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РЕЗЮМЕ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Резюме: коренная причина и факторы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25880"/>
            <a:ext cx="1127455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25880"/>
            <a:ext cx="109728" cy="9144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1732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Коренная причина — системное снижение тепловой защиты в калибровке ЭБУ NTE200 (15 параметров):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TIB 200% vs 100%, отключены триггеры перегрева (масло/ОЖ/наддув/топливо), задержки derate 43–51 с, обороты 2100 vs 1990.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Усугубляющий конструктивный фактор — отсутствие наплавки Stellite на выпускном клапане (исполнение NHL).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405883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4414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Фактор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40588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28986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Калибровка ЭБУ (TIB + защиты)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337560"/>
            <a:ext cx="40588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3558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Отсутствие Stellite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94760"/>
            <a:ext cx="40588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38130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 °C (лимит 520)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251960"/>
            <a:ext cx="40588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42702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Систематическая перегрузка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709160"/>
            <a:ext cx="405883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" y="47274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Марка масла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166360"/>
            <a:ext cx="405883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5184648"/>
            <a:ext cx="396739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 (сера)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16038" y="2423160"/>
            <a:ext cx="3382365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0902" y="24414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16038" y="288036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0902" y="28986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Коренная причина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16038" y="333756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0902" y="33558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Вторичный (конструкция)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16038" y="379476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0902" y="38130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Прямое доказательство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16038" y="425196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0902" y="42702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 подтверждена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16038" y="4709160"/>
            <a:ext cx="3382365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70902" y="47274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Не дифференцирует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16038" y="5166360"/>
            <a:ext cx="3382365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0902" y="5184648"/>
            <a:ext cx="329092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Исключено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98404" y="2423160"/>
            <a:ext cx="3833347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53268" y="24414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Основание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898404" y="2880360"/>
            <a:ext cx="3833347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3268" y="28986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15 параметров 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98404" y="3337560"/>
            <a:ext cx="3833347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53268" y="33558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письма NHL/Cummins ✅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98404" y="3794760"/>
            <a:ext cx="3833347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953268" y="38130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DML #82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898404" y="4251960"/>
            <a:ext cx="3833347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53268" y="42702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10/10/20 соблюдается 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98404" y="4709160"/>
            <a:ext cx="3833347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53268" y="47274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= 730E (CI-4) ✅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98404" y="5166360"/>
            <a:ext cx="3833347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53268" y="5184648"/>
            <a:ext cx="3741907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Е5, 2–10 мг/кг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EF0AF"/>
                </a:solidFill>
                <a:latin typeface="Calibri"/>
              </a:rPr>
              <a:t>ЧАСТЬ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Техническая служба — наблюдаемые факты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ОБЪЕКТ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Парк NTE200 и статус двигателей (ECM)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NTE200: карьерный самосвал 180 т, двигатель Cummins QSK50 MCRS (V16, Tier 2, без DPF/EGR), электропривод GE. Контроль — 730E-DC.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317479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2064" y="21214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Статус по ECM (38 машин)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60320"/>
            <a:ext cx="31747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5786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Отказ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17520"/>
            <a:ext cx="31747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30358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EGT/связанные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74720"/>
            <a:ext cx="31747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493008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Норма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31747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3950207"/>
            <a:ext cx="30833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Катастрофический (#83)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31996" y="2103120"/>
            <a:ext cx="1945843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86860" y="21214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31996" y="2560320"/>
            <a:ext cx="194584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86860" y="25786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31996" y="3017520"/>
            <a:ext cx="194584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6860" y="30358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31996" y="3474720"/>
            <a:ext cx="1945843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86860" y="3493008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31996" y="3931920"/>
            <a:ext cx="1945843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86860" y="3950207"/>
            <a:ext cx="1854403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35040" y="2103120"/>
            <a:ext cx="5669280" cy="228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35040" y="2103120"/>
            <a:ext cx="109728" cy="228600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63640" y="2240280"/>
            <a:ext cx="5303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21 из 38 машин (55%) — в отказном или EGT-связанном статусе.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Прошивки ЭБУ AQ60809.07 (23) и .08 (13) сосуществуют в парке.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Макс. обороты по ECM ~2030–2060 (что согласуется с повышенным лимитом 2100 vs 1990 на 730E).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РЕМОНТЫ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Реестр отказов ГБЦ / клапанов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578437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47088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65376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#51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22576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40864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#58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98064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16352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73552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91840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49039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767327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224527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242815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#83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700015"/>
            <a:ext cx="1578437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718303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#48 / #58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175503"/>
            <a:ext cx="1578437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" y="5193791"/>
            <a:ext cx="1486997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#78 / #55 / #69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35637" y="1371600"/>
            <a:ext cx="2480401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90501" y="1389888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35637" y="1847088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90501" y="1865376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17.07.2025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35637" y="2322576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90501" y="2340864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10.08.2025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35637" y="2798064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090501" y="2816352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11.08 / 07.12.2025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35637" y="3273552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90501" y="3291840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23.11 / 17.12.2025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35637" y="3749039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90501" y="3767327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21.01.2026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35637" y="4224527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90501" y="4242815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~03.2026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035637" y="4700015"/>
            <a:ext cx="2480401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90501" y="4718303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03.2026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35637" y="5175503"/>
            <a:ext cx="2480401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90501" y="5193791"/>
            <a:ext cx="23889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05.2026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16038" y="1371600"/>
            <a:ext cx="2029419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0902" y="1389888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Наработка, ч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16038" y="1847088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0902" y="1865376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~10 783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16038" y="2322576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0902" y="2340864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~10 702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16038" y="2798064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0902" y="2816352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~12 890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16038" y="3273552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570902" y="3291840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~14 997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16038" y="3749039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0902" y="3767327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516038" y="4224527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0902" y="4242815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2 776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16038" y="4700015"/>
            <a:ext cx="2029419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0902" y="4718303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~15 126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16038" y="5175503"/>
            <a:ext cx="2029419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0902" y="5193791"/>
            <a:ext cx="193797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545458" y="1371600"/>
            <a:ext cx="5186293" cy="47548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00322" y="1389888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Операция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545458" y="1847088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00322" y="1865376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(трещина → ОЖ в масло)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545458" y="2322576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00322" y="2340864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Клапан/седло + толкатель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545458" y="2798064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600322" y="2816352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(даты расходятся)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545458" y="3273552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600322" y="3291840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45458" y="3749039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00322" y="3767327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 + форсунки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545458" y="4224527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600322" y="4242815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Замена ГБЦ (ранний, «Катастроф.»)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545458" y="4700015"/>
            <a:ext cx="5186293" cy="4754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600322" y="4718303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Повторные ремонты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545458" y="5175503"/>
            <a:ext cx="5186293" cy="47548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600322" y="5193791"/>
            <a:ext cx="5094853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Клапаны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05252"/>
                </a:solidFill>
                <a:latin typeface="Calibri"/>
              </a:rPr>
              <a:t>Всего ~11 машин / ~13 событий. Прежняя оценка «30 событий / 24+ ед.» не подтверждается.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ДИАГНОСТИКА · DML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DML — температуры выхлопа (EGT)</a:t>
            </a:r>
          </a:p>
        </p:txBody>
      </p:sp>
      <p:pic>
        <p:nvPicPr>
          <p:cNvPr id="8" name="Picture 7" descr="eg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80160"/>
            <a:ext cx="7040880" cy="277929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589520" y="1371600"/>
            <a:ext cx="4206240" cy="4206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1371600"/>
            <a:ext cx="109728" cy="42062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1508760"/>
            <a:ext cx="393192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#82, рейс с породой: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Ц2 и Ц6 = 567 °C при лимите 520 °C (+47).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Банк B горячее банка A на ~60 °C — дисбаланс корректирующей дозы (TIB).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Датчик Ц11 ≈ 98 °C (FC1531) — обрыв термопары, индикатор обгоревшего клапана.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Без нагрузки 287 °C → с нагрузкой 474 °C (рост +187).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ДИАГНОСТИКА · ECM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Ошибки ECM (Fault Codes) — флот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52144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115214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470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611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86000"/>
            <a:ext cx="115214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042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743200"/>
            <a:ext cx="115214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7614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00400"/>
            <a:ext cx="1152144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218688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1152144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675887"/>
            <a:ext cx="1060704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197/235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09344" y="1371600"/>
            <a:ext cx="1280160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64208" y="13898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Машин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09344" y="1828800"/>
            <a:ext cx="1280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664208" y="18470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09344" y="2286000"/>
            <a:ext cx="128016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64208" y="23042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46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9344" y="2743200"/>
            <a:ext cx="1280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64208" y="27614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09344" y="3200400"/>
            <a:ext cx="1280160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64208" y="3218688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09344" y="3657600"/>
            <a:ext cx="128016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664208" y="3675887"/>
            <a:ext cx="11887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18/13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89504" y="1371600"/>
            <a:ext cx="396849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44368" y="13898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Описание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89504" y="1828800"/>
            <a:ext cx="39684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44368" y="18470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Остановка горячего двигателя 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9504" y="2286000"/>
            <a:ext cx="39684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44368" y="23042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Канал J1939 — хаотичный характер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89504" y="2743200"/>
            <a:ext cx="39684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44368" y="27614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Высокая частота вращения (Red)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89504" y="3200400"/>
            <a:ext cx="396849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44368" y="3218688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Температура ОЖ высокая 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889504" y="3657600"/>
            <a:ext cx="396849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44368" y="3675887"/>
            <a:ext cx="3877056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Уровень охлаждающей жидкости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32320" y="1371600"/>
            <a:ext cx="4572000" cy="4023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132320" y="1371600"/>
            <a:ext cx="109728" cy="40233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0" y="1508760"/>
            <a:ext cx="42976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АКТИВНЫЕ неисправности: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#61 → FC 628 «Малое отклонение EGT» — маркер теплового дисбаланса.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#67 → FC 1619 «датчик EGT цилиндра» — отказ датчика.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• #51 → FC 1549/323/1557 — цепи форсунок.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361 файл INSITE, 106 кодов. «Горячий стоп» (FC611) — на 46 машинах.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ЭКСПЛУАТАЦИЯ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Топливо и масло</a:t>
            </a:r>
          </a:p>
        </p:txBody>
      </p:sp>
      <p:pic>
        <p:nvPicPr>
          <p:cNvPr id="8" name="Picture 7" descr="o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029200" cy="2794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0" y="1371600"/>
            <a:ext cx="6035040" cy="4114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0" y="1371600"/>
            <a:ext cx="109728" cy="41148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70448" y="1481328"/>
            <a:ext cx="576072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Топливо: 25+ паспортов, сера 2–10 мг/кг (Е5, в 2,4× ниже порога Cummins). Исключено.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Масло ДВС (2024–2026, 1827 проб NTE200): Газпромнефть G-Profi MSI Plus + TEBOIL Super HPD Plus, оба 15W-40 CI-4. = как на 730E → не дифференцирует.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Состояние масла отличное: TBN 9,7 (норма ≥2,5), САЖА 0,3 (низкая), окисление 0,1, Fe P95=6.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Низкая сажа ОПРОВЕРГАЕТ версию NHL про «сажа/зола → износ клапанов». Отказ ТЕРМИЧЕСКИЙ.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ЧИСТОТА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Чистота топлива (ISO 4406) — технический анализ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2743200" cy="310896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261872"/>
            <a:ext cx="26334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Cummins (бак): 18/16/13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234440"/>
            <a:ext cx="3566160" cy="310896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1261872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Вход в цилиндры: 12/9/6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1243584"/>
            <a:ext cx="45720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i="0">
                <a:solidFill>
                  <a:srgbClr val="707880"/>
                </a:solidFill>
                <a:latin typeface="Calibri"/>
              </a:rPr>
              <a:t>MCRS: 2100 бар, зазор форсунок 2–5 мкм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1691640"/>
            <a:ext cx="89976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1709928"/>
            <a:ext cx="80832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Маш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148840"/>
            <a:ext cx="89976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167128"/>
            <a:ext cx="80832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№46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606040"/>
            <a:ext cx="89976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2624328"/>
            <a:ext cx="80832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№47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063240"/>
            <a:ext cx="89976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" y="3081528"/>
            <a:ext cx="80832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№81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520440"/>
            <a:ext cx="89976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" y="3538728"/>
            <a:ext cx="80832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№82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56969" y="1691640"/>
            <a:ext cx="1499616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1833" y="1709928"/>
            <a:ext cx="140817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Бак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56969" y="2148840"/>
            <a:ext cx="149961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1833" y="2167128"/>
            <a:ext cx="140817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19/16/15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56969" y="2606040"/>
            <a:ext cx="149961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411833" y="2624328"/>
            <a:ext cx="140817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19/17/16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56969" y="3063240"/>
            <a:ext cx="1499616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11833" y="3081528"/>
            <a:ext cx="140817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20/16/15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56969" y="3520440"/>
            <a:ext cx="1499616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1833" y="3538728"/>
            <a:ext cx="1408175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21/17/15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56585" y="1691640"/>
            <a:ext cx="179953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11449" y="17099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После грубой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56585" y="2148840"/>
            <a:ext cx="179953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11449" y="21671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20/17/16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856585" y="2606040"/>
            <a:ext cx="179953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11449" y="26243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21/19/18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56585" y="3063240"/>
            <a:ext cx="179953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11449" y="30815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21/19/17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856585" y="3520440"/>
            <a:ext cx="179953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11449" y="35387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23/20/19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56124" y="1691640"/>
            <a:ext cx="1799539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10988" y="17099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После тонкой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656124" y="2148840"/>
            <a:ext cx="179953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10988" y="21671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17/13/13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656124" y="2606040"/>
            <a:ext cx="179953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10988" y="26243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19/16/14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656124" y="3063240"/>
            <a:ext cx="179953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10988" y="30815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21/18/17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656124" y="3520440"/>
            <a:ext cx="1799539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10988" y="3538728"/>
            <a:ext cx="1708099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21/16/14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55664" y="1691640"/>
            <a:ext cx="74980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10527" y="17099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vs 18/16/13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55664" y="2148840"/>
            <a:ext cx="74980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10527" y="21671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✅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55664" y="2606040"/>
            <a:ext cx="74980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10527" y="26243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55664" y="3063240"/>
            <a:ext cx="74980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10527" y="30815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55664" y="3520440"/>
            <a:ext cx="74980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510527" y="35387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05472" y="1691640"/>
            <a:ext cx="749808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260336" y="17099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vs 12/9/6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205472" y="2148840"/>
            <a:ext cx="74980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260336" y="21671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205472" y="2606040"/>
            <a:ext cx="74980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60336" y="26243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205472" y="3063240"/>
            <a:ext cx="749808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260336" y="30815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205472" y="3520440"/>
            <a:ext cx="749808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260336" y="3538728"/>
            <a:ext cx="658368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138160" y="1691640"/>
            <a:ext cx="3611880" cy="3931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138160" y="1691640"/>
            <a:ext cx="109728" cy="393192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321040" y="1810512"/>
            <a:ext cx="3291840" cy="3794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• Топливо в баке грязнее нормы Cummins на всех машинах.</a:t>
            </a:r>
          </a:p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• После фильтрации в 18/16/13 укладывается только №46; цель 12/9/6 не достигается нигде (≈32× грязнее по &gt;4 мкм).</a:t>
            </a:r>
          </a:p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• Грубый фильтр местами УХУДШАЕТ чистоту (№82: 21→23) — насыщен/деградирован.</a:t>
            </a:r>
          </a:p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• Топливо одно для NTE200 и 730E → не дифференцирует отказ, но угрожает форсункам MCRS (отказы форсунок #51/#47/#43).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594360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1" i="0">
                <a:solidFill>
                  <a:srgbClr val="E05252"/>
                </a:solidFill>
                <a:latin typeface="Calibri"/>
              </a:rPr>
              <a:t>Вывод: бортовая фильтрация недостаточна; требуется доп. фильтрация до бака (Cummins) и тонкая под 12/9/6 (Fleetguard).</a:t>
            </a:r>
          </a:p>
        </p:txBody>
      </p:sp>
      <p:sp>
        <p:nvSpPr>
          <p:cNvPr id="77" name="Rectangle 7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ТОПЛИВО · ФОРСУНКИ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Тесты форсунок (стенд CR-2) и отказы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097280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93136"/>
                </a:solidFill>
                <a:latin typeface="Calibri"/>
              </a:rPr>
              <a:t>#82 — испытаны все 16 форсунок (стенд «Поток CR-2», 03.06.2026, Cummins CRI 2867147):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91640"/>
            <a:ext cx="676656" cy="5486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46504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65960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1691640"/>
            <a:ext cx="676656" cy="5486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1746504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965960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брак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1691640"/>
            <a:ext cx="676656" cy="5486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20240" y="1746504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1965960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51760" y="1691640"/>
            <a:ext cx="676656" cy="5486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51760" y="1746504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51760" y="1965960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брак 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1691640"/>
            <a:ext cx="676656" cy="5486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0" y="1746504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1965960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брак 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0" y="1691640"/>
            <a:ext cx="676656" cy="5486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0" y="1746504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1965960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брак 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46320" y="1691640"/>
            <a:ext cx="676656" cy="5486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0" y="1746504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1965960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брак 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77840" y="1691640"/>
            <a:ext cx="676656" cy="5486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0" y="1746504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77840" y="1965960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брак 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350008"/>
            <a:ext cx="676656" cy="5486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2404872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2624328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88720" y="2350008"/>
            <a:ext cx="676656" cy="5486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88720" y="2404872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2624328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20240" y="2350008"/>
            <a:ext cx="676656" cy="5486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20240" y="2404872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20240" y="2624328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51760" y="2350008"/>
            <a:ext cx="676656" cy="5486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51760" y="2404872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51760" y="2624328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383280" y="2350008"/>
            <a:ext cx="676656" cy="5486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83280" y="2404872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83280" y="2624328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брак 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0" y="2350008"/>
            <a:ext cx="676656" cy="5486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0" y="2404872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14800" y="2624328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брак 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846320" y="2350008"/>
            <a:ext cx="676656" cy="54864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846320" y="2404872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46320" y="2624328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норма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0" y="2350008"/>
            <a:ext cx="676656" cy="54864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577840" y="2404872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77840" y="2624328"/>
            <a:ext cx="676656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Calibri"/>
              </a:rPr>
              <a:t>брак 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31546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✅ норма 7 · ❌ брак по 1 точке 5 · ❌❌ брак по 2 точкам 4  →  дефектных 9 из 16 (56%)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3611880"/>
            <a:ext cx="11247120" cy="19202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57200" y="3611880"/>
            <a:ext cx="109728" cy="192024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8368" y="3703320"/>
            <a:ext cx="1088136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Характер брака — ПЕРЕЛИВ на малой нагрузке/пилоте (точки P03/P04 выше допуска) → локальное переобогащение, вклад в рост EGT (дополнительно к TIB=200%).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Полевые отказы: #85 — износ плунжерной пары (8002 м/ч); #72 — утечка дренаж цил.5; #43 — замена форсунок. ЭБУ: #51 — FC 1549/323/1557 (цепи форсунок).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Драйвер износа — грязное топливо (хуже норм 18/16/13 и 12/9/6) для MCRS (зазоры 2–5 мкм). 730E на стенде не испытаны — прямого сравнения нет.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ФОРСУНКИ · КОРРЕЛЯЦИЯ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Корреляция: форсунки ↔ цилиндры ↔ EGT (#82)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11274552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109728" cy="1371600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71600"/>
            <a:ext cx="10881360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293136"/>
                </a:solidFill>
                <a:latin typeface="Calibri"/>
              </a:rPr>
              <a:t>Два самых горячих цилиндра Ц2 и Ц6 (567 °C, лимит 520) — это форсунки 1R и 3R,</a:t>
            </a:r>
          </a:p>
          <a:p>
            <a:pPr algn="l"/>
            <a:r>
              <a:rPr sz="1400" b="1" i="0">
                <a:solidFill>
                  <a:srgbClr val="293136"/>
                </a:solidFill>
                <a:latin typeface="Calibri"/>
              </a:rPr>
              <a:t>обе «брак(2)» с ПЕРЕЛИВОМ на P03/P04 → локальное переобогащение → рост EGT → термоудар клапана.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34640"/>
            <a:ext cx="3145536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2852928"/>
            <a:ext cx="3054096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Показатель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337560"/>
            <a:ext cx="314553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" y="3355848"/>
            <a:ext cx="3054096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Дефектных форсунок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3145536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858768"/>
            <a:ext cx="3054096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Средняя EGT (DML #82)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43400"/>
            <a:ext cx="3145536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4361688"/>
            <a:ext cx="3054096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Самые горячие цил.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2736" y="2834640"/>
            <a:ext cx="235915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0" y="2852928"/>
            <a:ext cx="226771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A-банк (L, нечёт.)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2736" y="3337560"/>
            <a:ext cx="235915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0" y="3355848"/>
            <a:ext cx="226771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3 / 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02736" y="3840480"/>
            <a:ext cx="235915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0" y="3858768"/>
            <a:ext cx="226771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~465 °C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02736" y="4343400"/>
            <a:ext cx="235915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4361688"/>
            <a:ext cx="226771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61888" y="2834640"/>
            <a:ext cx="235915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16751" y="2852928"/>
            <a:ext cx="226771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B-банк (R, чёт.)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61888" y="3337560"/>
            <a:ext cx="235915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16751" y="3355848"/>
            <a:ext cx="226771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6 / 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61888" y="3840480"/>
            <a:ext cx="235915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16751" y="3858768"/>
            <a:ext cx="226771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~525 °C (+60)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961888" y="4343400"/>
            <a:ext cx="235915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16751" y="4361688"/>
            <a:ext cx="226771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Ц2=567, Ц6=567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03920" y="2834640"/>
            <a:ext cx="3200400" cy="2011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03920" y="2834640"/>
            <a:ext cx="109728" cy="2011680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0" y="2926080"/>
            <a:ext cx="2926080" cy="1874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B-банк: и больше дефектных форсунок, и выше EGT — согласованный паттерн.</a:t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Оговорки: часть форсунок недоливает; Ц11 — датчик неисправен; 730E не испытаны.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1206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Перелив форсунок — отягчающий фактор поверх калибровки ЭБУ (TIB=200%), усиливающий дисбаланс в горячих цилиндрах.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707880"/>
                </a:solidFill>
                <a:latin typeface="Calibri"/>
              </a:rPr>
              <a:t>Карта цилиндров принята Ц(2k−1)=kL, Ц(2k)=kR (ECM144=A / ECM1=B) — требует подтверждения схемой NHL.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3EF0AF"/>
                </a:solidFill>
                <a:latin typeface="Calibri"/>
              </a:rPr>
              <a:t>ЧАСТЬ 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175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Отдел надёжности — анализ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НАГРУЗКА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Грузоподъёмность и политика 10/10/20</a:t>
            </a:r>
          </a:p>
        </p:txBody>
      </p:sp>
      <p:pic>
        <p:nvPicPr>
          <p:cNvPr id="8" name="Picture 7" descr="l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120640" cy="28448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669280" y="1463040"/>
            <a:ext cx="2450592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24144" y="1481328"/>
            <a:ext cx="235915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Метрика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0" y="1920240"/>
            <a:ext cx="2450592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24144" y="1938528"/>
            <a:ext cx="235915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FinalPayload/180 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0" y="2377440"/>
            <a:ext cx="2450592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24144" y="2395728"/>
            <a:ext cx="2359152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Родное LoadPercentage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19872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Ср.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19872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4736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99,7%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19872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4736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102,8%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38844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93708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&gt;110%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38844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3708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6,0%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38844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93708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8,2%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57816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12680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&gt;120%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57816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12680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0,01%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57816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0,10%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876788" y="1463040"/>
            <a:ext cx="918971" cy="4572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31652" y="14813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Макс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876788" y="1920240"/>
            <a:ext cx="918971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31652" y="19385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133%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876788" y="2377440"/>
            <a:ext cx="918971" cy="45720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31652" y="2395728"/>
            <a:ext cx="827531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145%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0" y="2743200"/>
            <a:ext cx="612648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669280" y="2743200"/>
            <a:ext cx="109728" cy="2743200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70448" y="2852928"/>
            <a:ext cx="5760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Вывод: парк СООТВЕТСТВУЕТ 10/10/20 (среднее ≈100%, &gt;120% практически нет).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Систематическая перегрузка как значимый фактор НЕ подтверждается.</a:t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293136"/>
                </a:solidFill>
                <a:latin typeface="Calibri"/>
              </a:rPr>
              <a:t>Прежний тезис «макс 295 т / нарушены все критерии» — ошибка (номинал брался 220 т вместо 180 т). Корректно: макс 133% ≈ 239 т.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ПРОИЗВОДИТЕЛЬНОСТЬ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Производительность парка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6304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288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65,5 млн 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697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перевезено всего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46304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46304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18288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365 069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2697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рейсов (131 файл)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46304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0" y="146304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182880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30,6 мин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69748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средний цикл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56616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56616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9319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4,32 км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8006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гружёный пробег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356616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43400" y="356616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80" y="39319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31 км/ч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48006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скорость гружёного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356616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29600" y="3566160"/>
            <a:ext cx="3657600" cy="9144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3931920"/>
            <a:ext cx="3291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293136"/>
                </a:solidFill>
                <a:latin typeface="Calibri"/>
              </a:rPr>
              <a:t>6 888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800600"/>
            <a:ext cx="3291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707880"/>
                </a:solidFill>
                <a:latin typeface="Calibri"/>
              </a:rPr>
              <a:t>рейсов/машину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АНАЛИЗ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Анализ всех отказов и возможных причин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76473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Возможная причина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928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Калибровка ЭБУ (TIB + отключённые защиты)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957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Отсутствие Stellite (NHL)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9864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Перегрузка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40156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Абразивный/зольный износ (версия NHL)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0448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Марка/класс масла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074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Топливо (сера)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103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Естественный износ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1931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6795" y="1389888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1931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6795" y="18928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🔴 Коренная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21931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76795" y="23957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🟠 Вторичный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1931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76795" y="289864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Не значима (10/10/20)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1931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6795" y="340156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Ослаблена (низкий Fe)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1931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76795" y="390448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Не дифференцирует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21931" y="438911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6795" y="44074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Исключено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1931" y="489203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6795" y="49103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🟢 Исключён (#83 при 2 776 ч)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КАЛИБРОВКА ЭБУ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15 параметров ЭБУ: NTE200 vs 730E (1/2)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8528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95681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TIB верхний предел коррекции топлива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05456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52374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Снижение оборотов по T масла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72384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090672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Триггер high T наддувочного воздуха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39312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Триггер high T ОЖ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06240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22452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Триггер high T топлива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73168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79145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Задержка снижения мощности (масло)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340096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535838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Задержка снижения мощности (ОЖ)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100%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54 °C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67020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1884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85 °C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67020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1884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68 °C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67020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1884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0 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67020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1884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0 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70949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25813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70949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25813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200%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70949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25813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70949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25813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70949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25813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70949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25813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70949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25813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51 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70949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25813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43 с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74877" y="1371600"/>
            <a:ext cx="3156874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29741" y="138988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Влияние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74877" y="1938528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29741" y="195681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переобогащение / поздний впрыск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74877" y="2505456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29741" y="252374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защиты от перегрева масла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74877" y="3072384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29741" y="3090672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тревоги перегрева наддува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74877" y="3639312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29741" y="3657600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сигнала перегрева ОЖ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74877" y="4206240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29741" y="422452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нет тревоги перегрева топлива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74877" y="4773168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29741" y="479145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полная мощность в перегреве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74877" y="5340096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29741" y="535838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43 с без снижения нагрузки</a:t>
            </a:r>
          </a:p>
        </p:txBody>
      </p:sp>
      <p:sp>
        <p:nvSpPr>
          <p:cNvPr id="72" name="Rectangle 71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КАЛИБРОВКА ЭБУ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15 параметров ЭБУ: NTE200 vs 730E (2/2)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09820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38528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95681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Макс. рабочие обороты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505456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52374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Макс. обороты (реф. 2/3)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72384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3090672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Макс. наклон регулятора (droop)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39312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Горячий стоп — момент (верх.)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06240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4224528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Горячий стоп — момент (нижн.)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773168"/>
            <a:ext cx="4509820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791456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Топливный код (карта впрыска)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340096"/>
            <a:ext cx="450982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5358384"/>
            <a:ext cx="44183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Пуск вентилятора охл. наддува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67020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1884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67020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1884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67020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1884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967020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1884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67020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1884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5509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67020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1884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4722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967020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1884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FC0BU52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67020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1884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50 °C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770949" y="1371600"/>
            <a:ext cx="1803928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25813" y="138988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70949" y="1938528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25813" y="195681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2100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70949" y="2505456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25813" y="252374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2225,8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770949" y="3072384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25813" y="3090672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20%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770949" y="3639312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25813" y="3657600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3650 Н·м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770949" y="4206240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825813" y="4224528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1850 Н·м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770949" y="4773168"/>
            <a:ext cx="1803928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825813" y="4791456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FC0WH95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70949" y="5340096"/>
            <a:ext cx="1803928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825813" y="5358384"/>
            <a:ext cx="171248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46 °C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74877" y="1371600"/>
            <a:ext cx="3156874" cy="566928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29741" y="138988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Влияние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574877" y="1938528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29741" y="195681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EGT +25–35 °C, удары клапанов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74877" y="2505456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29741" y="252374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раскрутка в отд. режимах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74877" y="3072384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29741" y="3090672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±20% колебаний оборотов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574877" y="3639312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29741" y="3657600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срабатывает раньше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74877" y="4206240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629741" y="4224528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нестабильный гистерезис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74877" y="4773168"/>
            <a:ext cx="3156874" cy="566928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629741" y="4791456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иная модель сгорания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574877" y="5340096"/>
            <a:ext cx="315687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629741" y="5358384"/>
            <a:ext cx="3065434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0" i="0">
                <a:solidFill>
                  <a:srgbClr val="293136"/>
                </a:solidFill>
                <a:latin typeface="Calibri"/>
              </a:rPr>
              <a:t>компенсация, не защита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E05252"/>
                </a:solidFill>
                <a:latin typeface="Calibri"/>
              </a:rPr>
              <a:t>Вывод: NTE200 отключает все триггеры перегрева и допускает более высокие обороты/нагрузку.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СИНТЕЗ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Аналитическое сравнение параметров, влияющих на отказ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38862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" y="134416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3736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" y="175564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TIB коррекция топлива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48840"/>
            <a:ext cx="38862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4" y="216712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Защита по T масла (derate)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56032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257860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Триггеры перегрева (ОЖ/наддув/топл)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971800"/>
            <a:ext cx="38862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" y="299008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Макс. обороты, об/мин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38328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340156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EGT пиковая (цил.), °C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794760"/>
            <a:ext cx="38862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0624" y="381304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Наплавка Stellite клапана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20624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0624" y="422452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Нагрузка (10/10/20)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617720"/>
            <a:ext cx="38862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0624" y="463600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Масло: марка / класс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02920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504748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Сажа в масле (ST)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440680"/>
            <a:ext cx="38862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0624" y="545896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TBN / износ Fe P95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852160"/>
            <a:ext cx="38862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0624" y="5870448"/>
            <a:ext cx="37947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Топливо (сера), мг/кг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60" y="132588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06824" y="13441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51960" y="17373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06824" y="17556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200%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51960" y="21488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06824" y="216712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0" y="25603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06824" y="257860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ВЫКЛ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51960" y="29718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06824" y="299008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2100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51960" y="33832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06824" y="34015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567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51960" y="37947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06824" y="38130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нет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251960" y="42062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306824" y="422452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соблюд.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51960" y="46177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306824" y="463600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15W-40 CI-4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51960" y="50292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06824" y="504748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251960" y="54406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306824" y="54589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9,7 / 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251960" y="58521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306824" y="58704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≤10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09360" y="1325880"/>
            <a:ext cx="20574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64224" y="13441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17373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64224" y="17556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100%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309360" y="214884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64224" y="216712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09360" y="256032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64224" y="257860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ВКЛ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309360" y="297180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64224" y="299008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1990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09360" y="338328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4224" y="34015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~540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379476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64224" y="38130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нет*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09360" y="420624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64224" y="422452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соблюд.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309360" y="461772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64224" y="463600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15W-40 CI-4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09360" y="502920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364224" y="504748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0,4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5440680"/>
            <a:ext cx="20574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64224" y="545896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9,5 / 16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09360" y="5852160"/>
            <a:ext cx="20574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364224" y="5870448"/>
            <a:ext cx="19659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≤10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366760" y="1325880"/>
            <a:ext cx="3429000" cy="41148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21624" y="134416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Дифференцирует отказ?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366760" y="173736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421624" y="175564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🔴 ДА — калибровка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366760" y="2148840"/>
            <a:ext cx="34290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421624" y="216712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🔴 ДА — калибровка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366760" y="256032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21624" y="257860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🔴 ДА — калибровка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366760" y="2971800"/>
            <a:ext cx="34290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421624" y="299008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🔴 ДА — калибровка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366760" y="338328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421624" y="340156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🔴 следствие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366760" y="3794760"/>
            <a:ext cx="34290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421624" y="381304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🟠 фон (конструкция)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366760" y="420624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421624" y="422452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🟢 нет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366760" y="4617720"/>
            <a:ext cx="34290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421624" y="463600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🟢 нет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366760" y="502920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421624" y="504748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🟢 нет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366760" y="5440680"/>
            <a:ext cx="3429000" cy="41148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421624" y="545896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🟢 нет (Fe ниже)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366760" y="5852160"/>
            <a:ext cx="3429000" cy="411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421624" y="5870448"/>
            <a:ext cx="3337560" cy="3931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293136"/>
                </a:solidFill>
                <a:latin typeface="Calibri"/>
              </a:rPr>
              <a:t>🟢 нет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65760" y="59893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E05252"/>
                </a:solidFill>
                <a:latin typeface="Calibri"/>
              </a:rPr>
              <a:t>Все дифференцирующие параметры (🔴) — в калибровке ЭБУ. Эксплуатация (масло/нагрузка/топливо, 🟢) — не различает парки.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ПЕРЕПИСКА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Оценка писем NHL и Cummins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201003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Тезис письма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9280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износ от зольности масла (SAPS)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9572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пыль из карьера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9864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Stellite не нужен «для rated»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40156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NHL: регулировка клапанов на 1500/5000 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0448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масло CES20078 достаточно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201003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0740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на NTE200 защита по T масла отключена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6201003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10327"/>
            <a:ext cx="6109563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Cummins: «не поставляет Stellite»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58203" y="1371600"/>
            <a:ext cx="5073548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13067" y="1389888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Вердикт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58203" y="187451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13067" y="189280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смещает на эксплуатацию (низкий Fe)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58203" y="237743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13067" y="239572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переоценка (Si подчинён)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58203" y="288035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13067" y="289864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ложный (NTE200 ≠ rated: 567 °C)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58203" y="338327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13067" y="340156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косвенное признание проблемы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58203" y="388619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13067" y="390448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уход от корня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58203" y="4389119"/>
            <a:ext cx="5073548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13067" y="440740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✅ ПОДТВЕРЖДАЕТ нашу находку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658203" y="4892039"/>
            <a:ext cx="5073548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13067" y="4910327"/>
            <a:ext cx="4982108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уход от ответственности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ОБЪЕКТИВНОСТЬ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Достоверность и пробелы данных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764731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389888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Пункт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7451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18928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Даты ремонтов #47, #48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7743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3957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Счёт ремонтов («30/24+» vs ~13)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5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" y="289864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«0 отказов 730E»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7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2064" y="340156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Цитаты Cummins 378-010/011, лимит 520 °C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8619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" y="390448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EGT 567 (#82 DML) vs 329 (#83 INSITE)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89119"/>
            <a:ext cx="6764731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" y="440740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Тоннаж 220 т / «295 т»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92039"/>
            <a:ext cx="6764731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4910327"/>
            <a:ext cx="6673291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Период проб масла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21931" y="1371600"/>
            <a:ext cx="4509820" cy="50292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76795" y="1389888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Статус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21931" y="187451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76795" y="18928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расходятся между источниками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21931" y="237743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76795" y="23957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прежняя оценка завышена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21931" y="288035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76795" y="289864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нет полного реестра ремонтов 730E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21931" y="338327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76795" y="340156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без дословного первоисточника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21931" y="388619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76795" y="390448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⚠️ разные машины/условия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221931" y="4389119"/>
            <a:ext cx="4509820" cy="502920"/>
          </a:xfrm>
          <a:prstGeom prst="rect">
            <a:avLst/>
          </a:prstGeom>
          <a:solidFill>
            <a:srgbClr val="EC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76795" y="440740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❌ исправлено на 180 т (239 т)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21931" y="4892039"/>
            <a:ext cx="450982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76795" y="4910327"/>
            <a:ext cx="4418380" cy="4846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>
                <a:solidFill>
                  <a:srgbClr val="293136"/>
                </a:solidFill>
                <a:latin typeface="Calibri"/>
              </a:rPr>
              <a:t>✅ 2024-02 — 2025-12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201168" cy="1051560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459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ДЕЙСТВИЯ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293136"/>
                </a:solidFill>
                <a:latin typeface="Calibri"/>
              </a:rPr>
              <a:t>Рекомендации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2011680" cy="310896"/>
          </a:xfrm>
          <a:prstGeom prst="rect">
            <a:avLst/>
          </a:prstGeom>
          <a:solidFill>
            <a:srgbClr val="E052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307592"/>
            <a:ext cx="19019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НЕМЕДЛЕННО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112471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Перекалибровать ЭБУ NTE200 под профиль 730E: TIB 100%, включить защиту по T масла и триггеры перегрева, убрать задержки derate, снизить max обороты до 1990.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Контрольный DML после перекалибровки — подтвердить снижение EGT.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Заменить датчики EGT с FC1531/1619 (#82, #67).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00400"/>
            <a:ext cx="2377440" cy="310896"/>
          </a:xfrm>
          <a:prstGeom prst="rect">
            <a:avLst/>
          </a:prstGeom>
          <a:solidFill>
            <a:srgbClr val="E08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3227832"/>
            <a:ext cx="226771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СРЕДНЕСРОЧНО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1188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Запрос NHL/Cummins: обоснование исключения Stellite и отключения защит; поставка клапанов с наплавкой.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Унифицировать прошивку ЭБУ (.07/.08).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Сопоставить FC611/EGT-коды с историей ремонтов.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846320"/>
            <a:ext cx="2194560" cy="310896"/>
          </a:xfrm>
          <a:prstGeom prst="rect">
            <a:avLst/>
          </a:prstGeom>
          <a:solidFill>
            <a:srgbClr val="2EA0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4873752"/>
            <a:ext cx="208483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ДОЛГОСРОЧНО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257800"/>
            <a:ext cx="112471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Мониторинг EGT и FC611 в реальном времени.</a:t>
            </a:r>
          </a:p>
          <a:p>
            <a:pPr algn="l"/>
            <a:r>
              <a:rPr sz="1300" b="0" i="0">
                <a:solidFill>
                  <a:srgbClr val="293136"/>
                </a:solidFill>
                <a:latin typeface="Calibri"/>
              </a:rPr>
              <a:t>• Устранить нарушение по паспорту топлива №246.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547104"/>
            <a:ext cx="11430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CFD6DA"/>
                </a:solidFill>
                <a:latin typeface="Calibri"/>
              </a:rPr>
              <a:t>АО Развитие   •   QSK50 / NTE200   •   Полюс Магадан   •   2026   •   Конфиденциально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31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3EF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Коренная причина — калибровка ЭБУ (TIB + отключённые защиты),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усугублённая отсутствием наплавки Stellite.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3EF0AF"/>
                </a:solidFill>
                <a:latin typeface="Calibri"/>
              </a:rPr>
              <a:t>Перегрузка и масло — не дифференцирующие факторы (подтверждено данными).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707880"/>
                </a:solidFill>
                <a:latin typeface="Calibri"/>
              </a:rPr>
              <a:t>АО «Развитие» · техническая служба + отдел надёжности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