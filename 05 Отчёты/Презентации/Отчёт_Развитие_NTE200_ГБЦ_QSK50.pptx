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788920"/>
            <a:ext cx="12191695" cy="54864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371600"/>
            <a:ext cx="106984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 i="0">
                <a:solidFill>
                  <a:srgbClr val="3EF0AF"/>
                </a:solidFill>
                <a:latin typeface="Calibri"/>
              </a:rPr>
              <a:t>АО «РАЗВИТИЕ»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965960"/>
            <a:ext cx="1069848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Calibri"/>
              </a:rPr>
              <a:t>Отказы ГБЦ и клапанов Cummins QSK50</a:t>
            </a:r>
          </a:p>
          <a:p>
            <a:pPr algn="l"/>
            <a:r>
              <a:rPr sz="3000" b="1" i="0">
                <a:solidFill>
                  <a:srgbClr val="FFFFFF"/>
                </a:solidFill>
                <a:latin typeface="Calibri"/>
              </a:rPr>
              <a:t>на самосвалах NTE200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971800"/>
            <a:ext cx="1069848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 i="0">
                <a:solidFill>
                  <a:srgbClr val="CFD6DA"/>
                </a:solidFill>
                <a:latin typeface="Calibri"/>
              </a:rPr>
              <a:t>Отчёт технической службы и отдела надёжности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3840480"/>
            <a:ext cx="106984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>
                <a:solidFill>
                  <a:srgbClr val="707880"/>
                </a:solidFill>
                <a:latin typeface="Calibri"/>
              </a:rPr>
              <a:t>Полюс Магадан · номинал 180 т · контрольная группа 730E-DC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5852160"/>
            <a:ext cx="106984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707880"/>
                </a:solidFill>
                <a:latin typeface="Calibri"/>
              </a:rPr>
              <a:t>2026 · Конфиденциально · все числа из первичных данных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201168" cy="105156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64592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707880"/>
                </a:solidFill>
                <a:latin typeface="Calibri"/>
              </a:rPr>
              <a:t>РЕЗЮМЕ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11480"/>
            <a:ext cx="112471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1" i="0">
                <a:solidFill>
                  <a:srgbClr val="293136"/>
                </a:solidFill>
                <a:latin typeface="Calibri"/>
              </a:rPr>
              <a:t>Резюме: коренная причина и факторы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325880"/>
            <a:ext cx="11274552" cy="914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325880"/>
            <a:ext cx="109728" cy="914400"/>
          </a:xfrm>
          <a:prstGeom prst="rect">
            <a:avLst/>
          </a:prstGeom>
          <a:solidFill>
            <a:srgbClr val="E052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1417320"/>
            <a:ext cx="1097280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Коренная причина — системное снижение тепловой защиты в калибровке ЭБУ NTE200 (15 параметров):</a:t>
            </a:r>
          </a:p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TIB 200% vs 100%, отключены триггеры перегрева (масло/ОЖ/наддув/топливо), задержки derate 43–51 с, обороты 2100 vs 1990.</a:t>
            </a:r>
          </a:p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Усугубляющий конструктивный фактор — отсутствие наплавки Stellite на выпускном клапане (исполнение NHL).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2423160"/>
            <a:ext cx="4058838" cy="45720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12064" y="2441448"/>
            <a:ext cx="3967398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Фактор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2880360"/>
            <a:ext cx="4058838" cy="457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12064" y="2898648"/>
            <a:ext cx="3967398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Калибровка ЭБУ (TIB + защиты)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3337560"/>
            <a:ext cx="4058838" cy="45720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12064" y="3355848"/>
            <a:ext cx="3967398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Отсутствие Stellite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3794760"/>
            <a:ext cx="4058838" cy="457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12064" y="3813048"/>
            <a:ext cx="3967398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EGT 567 °C (лимит 520)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57200" y="4251960"/>
            <a:ext cx="4058838" cy="45720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12064" y="4270248"/>
            <a:ext cx="3967398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Систематическая перегрузка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4709160"/>
            <a:ext cx="4058838" cy="457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12064" y="4727448"/>
            <a:ext cx="3967398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Марка масла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57200" y="5166360"/>
            <a:ext cx="4058838" cy="45720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12064" y="5184648"/>
            <a:ext cx="3967398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Топливо (сера)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516038" y="2423160"/>
            <a:ext cx="3382365" cy="45720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570902" y="2441448"/>
            <a:ext cx="3290925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Вердикт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516038" y="2880360"/>
            <a:ext cx="3382365" cy="457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570902" y="2898648"/>
            <a:ext cx="3290925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Коренная причина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516038" y="3337560"/>
            <a:ext cx="3382365" cy="45720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570902" y="3355848"/>
            <a:ext cx="3290925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Вторичный (конструкция)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516038" y="3794760"/>
            <a:ext cx="3382365" cy="457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570902" y="3813048"/>
            <a:ext cx="3290925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Прямое доказательство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516038" y="4251960"/>
            <a:ext cx="3382365" cy="45720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570902" y="4270248"/>
            <a:ext cx="3290925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НЕ подтверждена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516038" y="4709160"/>
            <a:ext cx="3382365" cy="457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570902" y="4727448"/>
            <a:ext cx="3290925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Не дифференцирует</a:t>
            </a:r>
          </a:p>
        </p:txBody>
      </p:sp>
      <p:sp>
        <p:nvSpPr>
          <p:cNvPr id="37" name="Rectangle 36"/>
          <p:cNvSpPr/>
          <p:nvPr/>
        </p:nvSpPr>
        <p:spPr>
          <a:xfrm>
            <a:off x="4516038" y="5166360"/>
            <a:ext cx="3382365" cy="45720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570902" y="5184648"/>
            <a:ext cx="3290925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Исключено</a:t>
            </a:r>
          </a:p>
        </p:txBody>
      </p:sp>
      <p:sp>
        <p:nvSpPr>
          <p:cNvPr id="39" name="Rectangle 38"/>
          <p:cNvSpPr/>
          <p:nvPr/>
        </p:nvSpPr>
        <p:spPr>
          <a:xfrm>
            <a:off x="7898404" y="2423160"/>
            <a:ext cx="3833347" cy="45720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7953268" y="2441448"/>
            <a:ext cx="3741907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Основание</a:t>
            </a:r>
          </a:p>
        </p:txBody>
      </p:sp>
      <p:sp>
        <p:nvSpPr>
          <p:cNvPr id="41" name="Rectangle 40"/>
          <p:cNvSpPr/>
          <p:nvPr/>
        </p:nvSpPr>
        <p:spPr>
          <a:xfrm>
            <a:off x="7898404" y="2880360"/>
            <a:ext cx="3833347" cy="457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7953268" y="2898648"/>
            <a:ext cx="3741907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15 параметров ✅</a:t>
            </a:r>
          </a:p>
        </p:txBody>
      </p:sp>
      <p:sp>
        <p:nvSpPr>
          <p:cNvPr id="43" name="Rectangle 42"/>
          <p:cNvSpPr/>
          <p:nvPr/>
        </p:nvSpPr>
        <p:spPr>
          <a:xfrm>
            <a:off x="7898404" y="3337560"/>
            <a:ext cx="3833347" cy="45720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7953268" y="3355848"/>
            <a:ext cx="3741907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письма NHL/Cummins ✅</a:t>
            </a:r>
          </a:p>
        </p:txBody>
      </p:sp>
      <p:sp>
        <p:nvSpPr>
          <p:cNvPr id="45" name="Rectangle 44"/>
          <p:cNvSpPr/>
          <p:nvPr/>
        </p:nvSpPr>
        <p:spPr>
          <a:xfrm>
            <a:off x="7898404" y="3794760"/>
            <a:ext cx="3833347" cy="457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7953268" y="3813048"/>
            <a:ext cx="3741907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DML #82</a:t>
            </a:r>
          </a:p>
        </p:txBody>
      </p:sp>
      <p:sp>
        <p:nvSpPr>
          <p:cNvPr id="47" name="Rectangle 46"/>
          <p:cNvSpPr/>
          <p:nvPr/>
        </p:nvSpPr>
        <p:spPr>
          <a:xfrm>
            <a:off x="7898404" y="4251960"/>
            <a:ext cx="3833347" cy="45720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7953268" y="4270248"/>
            <a:ext cx="3741907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10/10/20 соблюдается ✅</a:t>
            </a:r>
          </a:p>
        </p:txBody>
      </p:sp>
      <p:sp>
        <p:nvSpPr>
          <p:cNvPr id="49" name="Rectangle 48"/>
          <p:cNvSpPr/>
          <p:nvPr/>
        </p:nvSpPr>
        <p:spPr>
          <a:xfrm>
            <a:off x="7898404" y="4709160"/>
            <a:ext cx="3833347" cy="457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7953268" y="4727448"/>
            <a:ext cx="3741907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= 730E (CI-4) ✅</a:t>
            </a:r>
          </a:p>
        </p:txBody>
      </p:sp>
      <p:sp>
        <p:nvSpPr>
          <p:cNvPr id="51" name="Rectangle 50"/>
          <p:cNvSpPr/>
          <p:nvPr/>
        </p:nvSpPr>
        <p:spPr>
          <a:xfrm>
            <a:off x="7898404" y="5166360"/>
            <a:ext cx="3833347" cy="45720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7953268" y="5184648"/>
            <a:ext cx="3741907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Е5, 2–10 мг/кг</a:t>
            </a:r>
          </a:p>
        </p:txBody>
      </p:sp>
      <p:sp>
        <p:nvSpPr>
          <p:cNvPr id="53" name="Rectangle 52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365760" y="6547104"/>
            <a:ext cx="114300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CFD6DA"/>
                </a:solidFill>
                <a:latin typeface="Calibri"/>
              </a:rPr>
              <a:t>АО Развитие   •   QSK50 / NTE200   •   Полюс Магадан   •   2026   •   Конфиденциально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926080"/>
            <a:ext cx="12191695" cy="54864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377440"/>
            <a:ext cx="1069848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 i="0">
                <a:solidFill>
                  <a:srgbClr val="3EF0AF"/>
                </a:solidFill>
                <a:latin typeface="Calibri"/>
              </a:rPr>
              <a:t>ЧАСТЬ 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017520"/>
            <a:ext cx="1069848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Техническая служба — наблюдаемые факты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201168" cy="105156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64592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707880"/>
                </a:solidFill>
                <a:latin typeface="Calibri"/>
              </a:rPr>
              <a:t>ОБЪЕКТ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11480"/>
            <a:ext cx="112471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1" i="0">
                <a:solidFill>
                  <a:srgbClr val="293136"/>
                </a:solidFill>
                <a:latin typeface="Calibri"/>
              </a:rPr>
              <a:t>Парк NTE200 и статус двигателей (ECM)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280160"/>
            <a:ext cx="112471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NTE200: карьерный самосвал 180 т, двигатель Cummins QSK50 MCRS (V16, Tier 2, без DPF/EGR), электропривод GE. Контроль — 730E-DC.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2103120"/>
            <a:ext cx="3174796" cy="45720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12064" y="2121408"/>
            <a:ext cx="3083356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Статус по ECM (38 машин)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2560320"/>
            <a:ext cx="3174796" cy="457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12064" y="2578608"/>
            <a:ext cx="3083356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Отказ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3017520"/>
            <a:ext cx="3174796" cy="45720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12064" y="3035808"/>
            <a:ext cx="3083356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EGT/связанные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3474720"/>
            <a:ext cx="3174796" cy="457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12064" y="3493008"/>
            <a:ext cx="3083356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Норма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3931920"/>
            <a:ext cx="3174796" cy="45720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12064" y="3950207"/>
            <a:ext cx="3083356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Катастрофический (#83)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631996" y="2103120"/>
            <a:ext cx="1945843" cy="45720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686860" y="2121408"/>
            <a:ext cx="1854403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Машин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631996" y="2560320"/>
            <a:ext cx="1945843" cy="457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686860" y="2578608"/>
            <a:ext cx="1854403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10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631996" y="3017520"/>
            <a:ext cx="1945843" cy="45720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686860" y="3035808"/>
            <a:ext cx="1854403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10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631996" y="3474720"/>
            <a:ext cx="1945843" cy="457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686860" y="3493008"/>
            <a:ext cx="1854403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17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631996" y="3931920"/>
            <a:ext cx="1945843" cy="45720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686860" y="3950207"/>
            <a:ext cx="1854403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1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035040" y="2103120"/>
            <a:ext cx="5669280" cy="2286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6035040" y="2103120"/>
            <a:ext cx="109728" cy="2286000"/>
          </a:xfrm>
          <a:prstGeom prst="rect">
            <a:avLst/>
          </a:prstGeom>
          <a:solidFill>
            <a:srgbClr val="E08C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263640" y="2240280"/>
            <a:ext cx="5303520" cy="2103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21 из 38 машин (55%) — в отказном или EGT-связанном статусе.</a:t>
            </a:r>
          </a:p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/>
            </a:r>
          </a:p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Прошивки ЭБУ AQ60809.07 (23) и .08 (13) сосуществуют в парке.</a:t>
            </a:r>
          </a:p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/>
            </a:r>
          </a:p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Макс. обороты по ECM ~2030–2060 (что согласуется с повышенным лимитом 2100 vs 1990 на 730E).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65760" y="6547104"/>
            <a:ext cx="114300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CFD6DA"/>
                </a:solidFill>
                <a:latin typeface="Calibri"/>
              </a:rPr>
              <a:t>АО Развитие   •   QSK50 / NTE200   •   Полюс Магадан   •   2026   •   Конфиденциально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201168" cy="105156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64592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707880"/>
                </a:solidFill>
                <a:latin typeface="Calibri"/>
              </a:rPr>
              <a:t>РЕМОНТЫ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11480"/>
            <a:ext cx="112471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1" i="0">
                <a:solidFill>
                  <a:srgbClr val="293136"/>
                </a:solidFill>
                <a:latin typeface="Calibri"/>
              </a:rPr>
              <a:t>Реестр отказов ГБЦ / клапанов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371600"/>
            <a:ext cx="1578437" cy="475488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12064" y="1389888"/>
            <a:ext cx="1486997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Маш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1847088"/>
            <a:ext cx="1578437" cy="47548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12064" y="1865376"/>
            <a:ext cx="1486997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#51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2322576"/>
            <a:ext cx="1578437" cy="47548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12064" y="2340864"/>
            <a:ext cx="1486997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#58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2798064"/>
            <a:ext cx="1578437" cy="47548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12064" y="2816352"/>
            <a:ext cx="1486997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#47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3273552"/>
            <a:ext cx="1578437" cy="47548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12064" y="3291840"/>
            <a:ext cx="1486997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#48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3749039"/>
            <a:ext cx="1578437" cy="47548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12064" y="3767327"/>
            <a:ext cx="1486997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#43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4224527"/>
            <a:ext cx="1578437" cy="47548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12064" y="4242815"/>
            <a:ext cx="1486997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#83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7200" y="4700015"/>
            <a:ext cx="1578437" cy="47548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12064" y="4718303"/>
            <a:ext cx="1486997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#48 / #58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57200" y="5175503"/>
            <a:ext cx="1578437" cy="47548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12064" y="5193791"/>
            <a:ext cx="1486997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#78 / #55 / #69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035637" y="1371600"/>
            <a:ext cx="2480401" cy="475488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2090501" y="1389888"/>
            <a:ext cx="2388961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Дата</a:t>
            </a:r>
          </a:p>
        </p:txBody>
      </p:sp>
      <p:sp>
        <p:nvSpPr>
          <p:cNvPr id="28" name="Rectangle 27"/>
          <p:cNvSpPr/>
          <p:nvPr/>
        </p:nvSpPr>
        <p:spPr>
          <a:xfrm>
            <a:off x="2035637" y="1847088"/>
            <a:ext cx="2480401" cy="47548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2090501" y="1865376"/>
            <a:ext cx="2388961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17.07.2025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035637" y="2322576"/>
            <a:ext cx="2480401" cy="47548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090501" y="2340864"/>
            <a:ext cx="2388961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10.08.2025</a:t>
            </a:r>
          </a:p>
        </p:txBody>
      </p:sp>
      <p:sp>
        <p:nvSpPr>
          <p:cNvPr id="32" name="Rectangle 31"/>
          <p:cNvSpPr/>
          <p:nvPr/>
        </p:nvSpPr>
        <p:spPr>
          <a:xfrm>
            <a:off x="2035637" y="2798064"/>
            <a:ext cx="2480401" cy="47548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2090501" y="2816352"/>
            <a:ext cx="2388961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11.08 / 07.12.2025</a:t>
            </a:r>
          </a:p>
        </p:txBody>
      </p:sp>
      <p:sp>
        <p:nvSpPr>
          <p:cNvPr id="34" name="Rectangle 33"/>
          <p:cNvSpPr/>
          <p:nvPr/>
        </p:nvSpPr>
        <p:spPr>
          <a:xfrm>
            <a:off x="2035637" y="3273552"/>
            <a:ext cx="2480401" cy="47548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2090501" y="3291840"/>
            <a:ext cx="2388961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23.11 / 17.12.2025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035637" y="3749039"/>
            <a:ext cx="2480401" cy="47548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090501" y="3767327"/>
            <a:ext cx="2388961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21.01.2026</a:t>
            </a:r>
          </a:p>
        </p:txBody>
      </p:sp>
      <p:sp>
        <p:nvSpPr>
          <p:cNvPr id="38" name="Rectangle 37"/>
          <p:cNvSpPr/>
          <p:nvPr/>
        </p:nvSpPr>
        <p:spPr>
          <a:xfrm>
            <a:off x="2035637" y="4224527"/>
            <a:ext cx="2480401" cy="47548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2090501" y="4242815"/>
            <a:ext cx="2388961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~03.2026</a:t>
            </a:r>
          </a:p>
        </p:txBody>
      </p:sp>
      <p:sp>
        <p:nvSpPr>
          <p:cNvPr id="40" name="Rectangle 39"/>
          <p:cNvSpPr/>
          <p:nvPr/>
        </p:nvSpPr>
        <p:spPr>
          <a:xfrm>
            <a:off x="2035637" y="4700015"/>
            <a:ext cx="2480401" cy="47548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2090501" y="4718303"/>
            <a:ext cx="2388961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03.2026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035637" y="5175503"/>
            <a:ext cx="2480401" cy="47548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2090501" y="5193791"/>
            <a:ext cx="2388961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05.2026</a:t>
            </a:r>
          </a:p>
        </p:txBody>
      </p:sp>
      <p:sp>
        <p:nvSpPr>
          <p:cNvPr id="44" name="Rectangle 43"/>
          <p:cNvSpPr/>
          <p:nvPr/>
        </p:nvSpPr>
        <p:spPr>
          <a:xfrm>
            <a:off x="4516038" y="1371600"/>
            <a:ext cx="2029419" cy="475488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4570902" y="1389888"/>
            <a:ext cx="1937979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Наработка, ч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516038" y="1847088"/>
            <a:ext cx="2029419" cy="47548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4570902" y="1865376"/>
            <a:ext cx="1937979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~10 783</a:t>
            </a:r>
          </a:p>
        </p:txBody>
      </p:sp>
      <p:sp>
        <p:nvSpPr>
          <p:cNvPr id="48" name="Rectangle 47"/>
          <p:cNvSpPr/>
          <p:nvPr/>
        </p:nvSpPr>
        <p:spPr>
          <a:xfrm>
            <a:off x="4516038" y="2322576"/>
            <a:ext cx="2029419" cy="47548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4570902" y="2340864"/>
            <a:ext cx="1937979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~10 702</a:t>
            </a:r>
          </a:p>
        </p:txBody>
      </p:sp>
      <p:sp>
        <p:nvSpPr>
          <p:cNvPr id="50" name="Rectangle 49"/>
          <p:cNvSpPr/>
          <p:nvPr/>
        </p:nvSpPr>
        <p:spPr>
          <a:xfrm>
            <a:off x="4516038" y="2798064"/>
            <a:ext cx="2029419" cy="47548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4570902" y="2816352"/>
            <a:ext cx="1937979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~12 890</a:t>
            </a:r>
          </a:p>
        </p:txBody>
      </p:sp>
      <p:sp>
        <p:nvSpPr>
          <p:cNvPr id="52" name="Rectangle 51"/>
          <p:cNvSpPr/>
          <p:nvPr/>
        </p:nvSpPr>
        <p:spPr>
          <a:xfrm>
            <a:off x="4516038" y="3273552"/>
            <a:ext cx="2029419" cy="47548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4570902" y="3291840"/>
            <a:ext cx="1937979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~14 997</a:t>
            </a:r>
          </a:p>
        </p:txBody>
      </p:sp>
      <p:sp>
        <p:nvSpPr>
          <p:cNvPr id="54" name="Rectangle 53"/>
          <p:cNvSpPr/>
          <p:nvPr/>
        </p:nvSpPr>
        <p:spPr>
          <a:xfrm>
            <a:off x="4516038" y="3749039"/>
            <a:ext cx="2029419" cy="47548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4570902" y="3767327"/>
            <a:ext cx="1937979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—</a:t>
            </a:r>
          </a:p>
        </p:txBody>
      </p:sp>
      <p:sp>
        <p:nvSpPr>
          <p:cNvPr id="56" name="Rectangle 55"/>
          <p:cNvSpPr/>
          <p:nvPr/>
        </p:nvSpPr>
        <p:spPr>
          <a:xfrm>
            <a:off x="4516038" y="4224527"/>
            <a:ext cx="2029419" cy="47548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4570902" y="4242815"/>
            <a:ext cx="1937979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2 776</a:t>
            </a:r>
          </a:p>
        </p:txBody>
      </p:sp>
      <p:sp>
        <p:nvSpPr>
          <p:cNvPr id="58" name="Rectangle 57"/>
          <p:cNvSpPr/>
          <p:nvPr/>
        </p:nvSpPr>
        <p:spPr>
          <a:xfrm>
            <a:off x="4516038" y="4700015"/>
            <a:ext cx="2029419" cy="47548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4570902" y="4718303"/>
            <a:ext cx="1937979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~15 126</a:t>
            </a:r>
          </a:p>
        </p:txBody>
      </p:sp>
      <p:sp>
        <p:nvSpPr>
          <p:cNvPr id="60" name="Rectangle 59"/>
          <p:cNvSpPr/>
          <p:nvPr/>
        </p:nvSpPr>
        <p:spPr>
          <a:xfrm>
            <a:off x="4516038" y="5175503"/>
            <a:ext cx="2029419" cy="47548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4570902" y="5193791"/>
            <a:ext cx="1937979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—</a:t>
            </a:r>
          </a:p>
        </p:txBody>
      </p:sp>
      <p:sp>
        <p:nvSpPr>
          <p:cNvPr id="62" name="Rectangle 61"/>
          <p:cNvSpPr/>
          <p:nvPr/>
        </p:nvSpPr>
        <p:spPr>
          <a:xfrm>
            <a:off x="6545458" y="1371600"/>
            <a:ext cx="5186293" cy="475488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6600322" y="1389888"/>
            <a:ext cx="5094853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Операция</a:t>
            </a:r>
          </a:p>
        </p:txBody>
      </p:sp>
      <p:sp>
        <p:nvSpPr>
          <p:cNvPr id="64" name="Rectangle 63"/>
          <p:cNvSpPr/>
          <p:nvPr/>
        </p:nvSpPr>
        <p:spPr>
          <a:xfrm>
            <a:off x="6545458" y="1847088"/>
            <a:ext cx="5186293" cy="47548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6600322" y="1865376"/>
            <a:ext cx="5094853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Замена ГБЦ (трещина → ОЖ в масло)</a:t>
            </a:r>
          </a:p>
        </p:txBody>
      </p:sp>
      <p:sp>
        <p:nvSpPr>
          <p:cNvPr id="66" name="Rectangle 65"/>
          <p:cNvSpPr/>
          <p:nvPr/>
        </p:nvSpPr>
        <p:spPr>
          <a:xfrm>
            <a:off x="6545458" y="2322576"/>
            <a:ext cx="5186293" cy="47548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6600322" y="2340864"/>
            <a:ext cx="5094853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Клапан/седло + толкатель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545458" y="2798064"/>
            <a:ext cx="5186293" cy="47548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600322" y="2816352"/>
            <a:ext cx="5094853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Замена ГБЦ (даты расходятся)</a:t>
            </a:r>
          </a:p>
        </p:txBody>
      </p:sp>
      <p:sp>
        <p:nvSpPr>
          <p:cNvPr id="70" name="Rectangle 69"/>
          <p:cNvSpPr/>
          <p:nvPr/>
        </p:nvSpPr>
        <p:spPr>
          <a:xfrm>
            <a:off x="6545458" y="3273552"/>
            <a:ext cx="5186293" cy="47548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6600322" y="3291840"/>
            <a:ext cx="5094853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Замена ГБЦ</a:t>
            </a:r>
          </a:p>
        </p:txBody>
      </p:sp>
      <p:sp>
        <p:nvSpPr>
          <p:cNvPr id="72" name="Rectangle 71"/>
          <p:cNvSpPr/>
          <p:nvPr/>
        </p:nvSpPr>
        <p:spPr>
          <a:xfrm>
            <a:off x="6545458" y="3749039"/>
            <a:ext cx="5186293" cy="47548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6600322" y="3767327"/>
            <a:ext cx="5094853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Клапаны + форсунки</a:t>
            </a:r>
          </a:p>
        </p:txBody>
      </p:sp>
      <p:sp>
        <p:nvSpPr>
          <p:cNvPr id="74" name="Rectangle 73"/>
          <p:cNvSpPr/>
          <p:nvPr/>
        </p:nvSpPr>
        <p:spPr>
          <a:xfrm>
            <a:off x="6545458" y="4224527"/>
            <a:ext cx="5186293" cy="47548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6600322" y="4242815"/>
            <a:ext cx="5094853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Замена ГБЦ (ранний, «Катастроф.»)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545458" y="4700015"/>
            <a:ext cx="5186293" cy="47548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600322" y="4718303"/>
            <a:ext cx="5094853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Повторные ремонты</a:t>
            </a:r>
          </a:p>
        </p:txBody>
      </p:sp>
      <p:sp>
        <p:nvSpPr>
          <p:cNvPr id="78" name="Rectangle 77"/>
          <p:cNvSpPr/>
          <p:nvPr/>
        </p:nvSpPr>
        <p:spPr>
          <a:xfrm>
            <a:off x="6545458" y="5175503"/>
            <a:ext cx="5186293" cy="47548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6600322" y="5193791"/>
            <a:ext cx="5094853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Клапаны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457200" y="5806440"/>
            <a:ext cx="112471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E05252"/>
                </a:solidFill>
                <a:latin typeface="Calibri"/>
              </a:rPr>
              <a:t>Всего ~11 машин / ~13 событий. Прежняя оценка «30 событий / 24+ ед.» не подтверждается.</a:t>
            </a:r>
          </a:p>
        </p:txBody>
      </p:sp>
      <p:sp>
        <p:nvSpPr>
          <p:cNvPr id="81" name="Rectangle 80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365760" y="6547104"/>
            <a:ext cx="114300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CFD6DA"/>
                </a:solidFill>
                <a:latin typeface="Calibri"/>
              </a:rPr>
              <a:t>АО Развитие   •   QSK50 / NTE200   •   Полюс Магадан   •   2026   •   Конфиденциально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201168" cy="105156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64592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707880"/>
                </a:solidFill>
                <a:latin typeface="Calibri"/>
              </a:rPr>
              <a:t>ДИАГНОСТИКА · DML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11480"/>
            <a:ext cx="112471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1" i="0">
                <a:solidFill>
                  <a:srgbClr val="293136"/>
                </a:solidFill>
                <a:latin typeface="Calibri"/>
              </a:rPr>
              <a:t>DML — температуры выхлопа (EGT)</a:t>
            </a:r>
          </a:p>
        </p:txBody>
      </p:sp>
      <p:pic>
        <p:nvPicPr>
          <p:cNvPr id="8" name="Picture 7" descr="eg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280160"/>
            <a:ext cx="7040880" cy="2779295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7589520" y="1371600"/>
            <a:ext cx="4206240" cy="42062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589520" y="1371600"/>
            <a:ext cx="109728" cy="4206240"/>
          </a:xfrm>
          <a:prstGeom prst="rect">
            <a:avLst/>
          </a:prstGeom>
          <a:solidFill>
            <a:srgbClr val="E052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0" y="1508760"/>
            <a:ext cx="3931920" cy="4023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50" b="0" i="0">
                <a:solidFill>
                  <a:srgbClr val="293136"/>
                </a:solidFill>
                <a:latin typeface="Calibri"/>
              </a:rPr>
              <a:t>#82, рейс с породой:</a:t>
            </a:r>
          </a:p>
          <a:p>
            <a:pPr algn="l"/>
            <a:r>
              <a:rPr sz="1250" b="0" i="0">
                <a:solidFill>
                  <a:srgbClr val="293136"/>
                </a:solidFill>
                <a:latin typeface="Calibri"/>
              </a:rPr>
              <a:t/>
            </a:r>
          </a:p>
          <a:p>
            <a:pPr algn="l"/>
            <a:r>
              <a:rPr sz="1250" b="0" i="0">
                <a:solidFill>
                  <a:srgbClr val="293136"/>
                </a:solidFill>
                <a:latin typeface="Calibri"/>
              </a:rPr>
              <a:t>• Ц2 и Ц6 = 567 °C при лимите 520 °C (+47).</a:t>
            </a:r>
          </a:p>
          <a:p>
            <a:pPr algn="l"/>
            <a:r>
              <a:rPr sz="1250" b="0" i="0">
                <a:solidFill>
                  <a:srgbClr val="293136"/>
                </a:solidFill>
                <a:latin typeface="Calibri"/>
              </a:rPr>
              <a:t/>
            </a:r>
          </a:p>
          <a:p>
            <a:pPr algn="l"/>
            <a:r>
              <a:rPr sz="1250" b="0" i="0">
                <a:solidFill>
                  <a:srgbClr val="293136"/>
                </a:solidFill>
                <a:latin typeface="Calibri"/>
              </a:rPr>
              <a:t>• Банк B горячее банка A на ~60 °C — дисбаланс корректирующей дозы (TIB).</a:t>
            </a:r>
          </a:p>
          <a:p>
            <a:pPr algn="l"/>
            <a:r>
              <a:rPr sz="1250" b="0" i="0">
                <a:solidFill>
                  <a:srgbClr val="293136"/>
                </a:solidFill>
                <a:latin typeface="Calibri"/>
              </a:rPr>
              <a:t/>
            </a:r>
          </a:p>
          <a:p>
            <a:pPr algn="l"/>
            <a:r>
              <a:rPr sz="1250" b="0" i="0">
                <a:solidFill>
                  <a:srgbClr val="293136"/>
                </a:solidFill>
                <a:latin typeface="Calibri"/>
              </a:rPr>
              <a:t>• Датчик Ц11 ≈ 98 °C (FC1531) — обрыв термопары, индикатор обгоревшего клапана.</a:t>
            </a:r>
          </a:p>
          <a:p>
            <a:pPr algn="l"/>
            <a:r>
              <a:rPr sz="1250" b="0" i="0">
                <a:solidFill>
                  <a:srgbClr val="293136"/>
                </a:solidFill>
                <a:latin typeface="Calibri"/>
              </a:rPr>
              <a:t/>
            </a:r>
          </a:p>
          <a:p>
            <a:pPr algn="l"/>
            <a:r>
              <a:rPr sz="1250" b="0" i="0">
                <a:solidFill>
                  <a:srgbClr val="293136"/>
                </a:solidFill>
                <a:latin typeface="Calibri"/>
              </a:rPr>
              <a:t>• Без нагрузки 287 °C → с нагрузкой 474 °C (рост +187).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65760" y="6547104"/>
            <a:ext cx="114300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CFD6DA"/>
                </a:solidFill>
                <a:latin typeface="Calibri"/>
              </a:rPr>
              <a:t>АО Развитие   •   QSK50 / NTE200   •   Полюс Магадан   •   2026   •   Конфиденциально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201168" cy="105156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64592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707880"/>
                </a:solidFill>
                <a:latin typeface="Calibri"/>
              </a:rPr>
              <a:t>ДИАГНОСТИКА · ECM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11480"/>
            <a:ext cx="112471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1" i="0">
                <a:solidFill>
                  <a:srgbClr val="293136"/>
                </a:solidFill>
                <a:latin typeface="Calibri"/>
              </a:rPr>
              <a:t>Ошибки ECM (Fault Codes) — флот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371600"/>
            <a:ext cx="1152144" cy="45720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12064" y="1389888"/>
            <a:ext cx="1060704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FC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1828800"/>
            <a:ext cx="1152144" cy="457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12064" y="1847088"/>
            <a:ext cx="1060704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611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2286000"/>
            <a:ext cx="1152144" cy="45720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12064" y="2304288"/>
            <a:ext cx="1060704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426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2743200"/>
            <a:ext cx="1152144" cy="457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12064" y="2761488"/>
            <a:ext cx="1060704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234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3200400"/>
            <a:ext cx="1152144" cy="45720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12064" y="3218688"/>
            <a:ext cx="1060704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146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3657600"/>
            <a:ext cx="1152144" cy="457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12064" y="3675887"/>
            <a:ext cx="1060704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197/235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609344" y="1371600"/>
            <a:ext cx="1280160" cy="45720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664208" y="1389888"/>
            <a:ext cx="1188720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Машин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609344" y="1828800"/>
            <a:ext cx="1280160" cy="457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664208" y="1847088"/>
            <a:ext cx="1188720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46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609344" y="2286000"/>
            <a:ext cx="1280160" cy="45720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664208" y="2304288"/>
            <a:ext cx="1188720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46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609344" y="2743200"/>
            <a:ext cx="1280160" cy="457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664208" y="2761488"/>
            <a:ext cx="1188720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14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609344" y="3200400"/>
            <a:ext cx="1280160" cy="45720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664208" y="3218688"/>
            <a:ext cx="1188720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9</a:t>
            </a:r>
          </a:p>
        </p:txBody>
      </p:sp>
      <p:sp>
        <p:nvSpPr>
          <p:cNvPr id="30" name="Rectangle 29"/>
          <p:cNvSpPr/>
          <p:nvPr/>
        </p:nvSpPr>
        <p:spPr>
          <a:xfrm>
            <a:off x="1609344" y="3657600"/>
            <a:ext cx="1280160" cy="457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664208" y="3675887"/>
            <a:ext cx="1188720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18/13</a:t>
            </a:r>
          </a:p>
        </p:txBody>
      </p:sp>
      <p:sp>
        <p:nvSpPr>
          <p:cNvPr id="32" name="Rectangle 31"/>
          <p:cNvSpPr/>
          <p:nvPr/>
        </p:nvSpPr>
        <p:spPr>
          <a:xfrm>
            <a:off x="2889504" y="1371600"/>
            <a:ext cx="3968496" cy="45720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2944368" y="1389888"/>
            <a:ext cx="3877056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Описание</a:t>
            </a:r>
          </a:p>
        </p:txBody>
      </p:sp>
      <p:sp>
        <p:nvSpPr>
          <p:cNvPr id="34" name="Rectangle 33"/>
          <p:cNvSpPr/>
          <p:nvPr/>
        </p:nvSpPr>
        <p:spPr>
          <a:xfrm>
            <a:off x="2889504" y="1828800"/>
            <a:ext cx="3968496" cy="457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2944368" y="1847088"/>
            <a:ext cx="3877056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Остановка горячего двигателя 🌡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889504" y="2286000"/>
            <a:ext cx="3968496" cy="45720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944368" y="2304288"/>
            <a:ext cx="3877056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Канал J1939 — хаотичный характер</a:t>
            </a:r>
          </a:p>
        </p:txBody>
      </p:sp>
      <p:sp>
        <p:nvSpPr>
          <p:cNvPr id="38" name="Rectangle 37"/>
          <p:cNvSpPr/>
          <p:nvPr/>
        </p:nvSpPr>
        <p:spPr>
          <a:xfrm>
            <a:off x="2889504" y="2743200"/>
            <a:ext cx="3968496" cy="457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2944368" y="2761488"/>
            <a:ext cx="3877056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Высокая частота вращения (Red)</a:t>
            </a:r>
          </a:p>
        </p:txBody>
      </p:sp>
      <p:sp>
        <p:nvSpPr>
          <p:cNvPr id="40" name="Rectangle 39"/>
          <p:cNvSpPr/>
          <p:nvPr/>
        </p:nvSpPr>
        <p:spPr>
          <a:xfrm>
            <a:off x="2889504" y="3200400"/>
            <a:ext cx="3968496" cy="45720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2944368" y="3218688"/>
            <a:ext cx="3877056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Температура ОЖ высокая 🌡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889504" y="3657600"/>
            <a:ext cx="3968496" cy="457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2944368" y="3675887"/>
            <a:ext cx="3877056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Уровень охлаждающей жидкости</a:t>
            </a:r>
          </a:p>
        </p:txBody>
      </p:sp>
      <p:sp>
        <p:nvSpPr>
          <p:cNvPr id="44" name="Rectangle 43"/>
          <p:cNvSpPr/>
          <p:nvPr/>
        </p:nvSpPr>
        <p:spPr>
          <a:xfrm>
            <a:off x="7132320" y="1371600"/>
            <a:ext cx="4572000" cy="40233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7132320" y="1371600"/>
            <a:ext cx="109728" cy="402336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7315200" y="1508760"/>
            <a:ext cx="4297680" cy="3840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50" b="0" i="0">
                <a:solidFill>
                  <a:srgbClr val="293136"/>
                </a:solidFill>
                <a:latin typeface="Calibri"/>
              </a:rPr>
              <a:t>АКТИВНЫЕ неисправности:</a:t>
            </a:r>
          </a:p>
          <a:p>
            <a:pPr algn="l"/>
            <a:r>
              <a:rPr sz="1250" b="0" i="0">
                <a:solidFill>
                  <a:srgbClr val="293136"/>
                </a:solidFill>
                <a:latin typeface="Calibri"/>
              </a:rPr>
              <a:t/>
            </a:r>
          </a:p>
          <a:p>
            <a:pPr algn="l"/>
            <a:r>
              <a:rPr sz="1250" b="0" i="0">
                <a:solidFill>
                  <a:srgbClr val="293136"/>
                </a:solidFill>
                <a:latin typeface="Calibri"/>
              </a:rPr>
              <a:t>• #61 → FC 628 «Малое отклонение EGT» — маркер теплового дисбаланса.</a:t>
            </a:r>
          </a:p>
          <a:p>
            <a:pPr algn="l"/>
            <a:r>
              <a:rPr sz="1250" b="0" i="0">
                <a:solidFill>
                  <a:srgbClr val="293136"/>
                </a:solidFill>
                <a:latin typeface="Calibri"/>
              </a:rPr>
              <a:t/>
            </a:r>
          </a:p>
          <a:p>
            <a:pPr algn="l"/>
            <a:r>
              <a:rPr sz="1250" b="0" i="0">
                <a:solidFill>
                  <a:srgbClr val="293136"/>
                </a:solidFill>
                <a:latin typeface="Calibri"/>
              </a:rPr>
              <a:t>• #67 → FC 1619 «датчик EGT цилиндра» — отказ датчика.</a:t>
            </a:r>
          </a:p>
          <a:p>
            <a:pPr algn="l"/>
            <a:r>
              <a:rPr sz="1250" b="0" i="0">
                <a:solidFill>
                  <a:srgbClr val="293136"/>
                </a:solidFill>
                <a:latin typeface="Calibri"/>
              </a:rPr>
              <a:t/>
            </a:r>
          </a:p>
          <a:p>
            <a:pPr algn="l"/>
            <a:r>
              <a:rPr sz="1250" b="0" i="0">
                <a:solidFill>
                  <a:srgbClr val="293136"/>
                </a:solidFill>
                <a:latin typeface="Calibri"/>
              </a:rPr>
              <a:t>• #51 → FC 1549/323/1557 — цепи форсунок.</a:t>
            </a:r>
          </a:p>
          <a:p>
            <a:pPr algn="l"/>
            <a:r>
              <a:rPr sz="1250" b="0" i="0">
                <a:solidFill>
                  <a:srgbClr val="293136"/>
                </a:solidFill>
                <a:latin typeface="Calibri"/>
              </a:rPr>
              <a:t/>
            </a:r>
          </a:p>
          <a:p>
            <a:pPr algn="l"/>
            <a:r>
              <a:rPr sz="1250" b="0" i="0">
                <a:solidFill>
                  <a:srgbClr val="293136"/>
                </a:solidFill>
                <a:latin typeface="Calibri"/>
              </a:rPr>
              <a:t>361 файл INSITE, 106 кодов. «Горячий стоп» (FC611) — на 46 машинах.</a:t>
            </a:r>
          </a:p>
        </p:txBody>
      </p:sp>
      <p:sp>
        <p:nvSpPr>
          <p:cNvPr id="47" name="Rectangle 46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6547104"/>
            <a:ext cx="114300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CFD6DA"/>
                </a:solidFill>
                <a:latin typeface="Calibri"/>
              </a:rPr>
              <a:t>АО Развитие   •   QSK50 / NTE200   •   Полюс Магадан   •   2026   •   Конфиденциально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201168" cy="105156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64592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707880"/>
                </a:solidFill>
                <a:latin typeface="Calibri"/>
              </a:rPr>
              <a:t>ЭКСПЛУАТАЦИЯ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11480"/>
            <a:ext cx="112471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1" i="0">
                <a:solidFill>
                  <a:srgbClr val="293136"/>
                </a:solidFill>
                <a:latin typeface="Calibri"/>
              </a:rPr>
              <a:t>Топливо и масло</a:t>
            </a:r>
          </a:p>
        </p:txBody>
      </p:sp>
      <p:pic>
        <p:nvPicPr>
          <p:cNvPr id="8" name="Picture 7" descr="oi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371600"/>
            <a:ext cx="5029200" cy="279400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5669280" y="1371600"/>
            <a:ext cx="6035040" cy="41148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669280" y="1371600"/>
            <a:ext cx="109728" cy="4114800"/>
          </a:xfrm>
          <a:prstGeom prst="rect">
            <a:avLst/>
          </a:prstGeom>
          <a:solidFill>
            <a:srgbClr val="2EA0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870448" y="1481328"/>
            <a:ext cx="5760720" cy="3931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Топливо: 25+ паспортов, сера 2–10 мг/кг (Е5, в 2,4× ниже порога Cummins). Исключено.</a:t>
            </a:r>
          </a:p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/>
            </a:r>
          </a:p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Масло ДВС (2024–2026, 1827 проб NTE200): Газпромнефть G-Profi MSI Plus + TEBOIL Super HPD Plus, оба 15W-40 CI-4. = как на 730E → не дифференцирует.</a:t>
            </a:r>
          </a:p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/>
            </a:r>
          </a:p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Состояние масла отличное: TBN 9,7 (норма ≥2,5), САЖА 0,3 (низкая), окисление 0,1, Fe P95=6.</a:t>
            </a:r>
          </a:p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/>
            </a:r>
          </a:p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Низкая сажа ОПРОВЕРГАЕТ версию NHL про «сажа/зола → износ клапанов». Отказ ТЕРМИЧЕСКИЙ.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65760" y="6547104"/>
            <a:ext cx="114300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CFD6DA"/>
                </a:solidFill>
                <a:latin typeface="Calibri"/>
              </a:rPr>
              <a:t>АО Развитие   •   QSK50 / NTE200   •   Полюс Магадан   •   2026   •   Конфиденциально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926080"/>
            <a:ext cx="12191695" cy="54864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377440"/>
            <a:ext cx="1069848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 i="0">
                <a:solidFill>
                  <a:srgbClr val="3EF0AF"/>
                </a:solidFill>
                <a:latin typeface="Calibri"/>
              </a:rPr>
              <a:t>ЧАСТЬ II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017520"/>
            <a:ext cx="1069848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Отдел надёжности — анализ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201168" cy="105156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64592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707880"/>
                </a:solidFill>
                <a:latin typeface="Calibri"/>
              </a:rPr>
              <a:t>НАГРУЗКА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11480"/>
            <a:ext cx="112471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1" i="0">
                <a:solidFill>
                  <a:srgbClr val="293136"/>
                </a:solidFill>
                <a:latin typeface="Calibri"/>
              </a:rPr>
              <a:t>Грузоподъёмность и политика 10/10/20</a:t>
            </a:r>
          </a:p>
        </p:txBody>
      </p:sp>
      <p:pic>
        <p:nvPicPr>
          <p:cNvPr id="8" name="Picture 7" descr="l1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371600"/>
            <a:ext cx="5120640" cy="284480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5669280" y="1463040"/>
            <a:ext cx="2450592" cy="45720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724144" y="1481328"/>
            <a:ext cx="2359152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Метрика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669280" y="1920240"/>
            <a:ext cx="2450592" cy="457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724144" y="1938528"/>
            <a:ext cx="2359152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FinalPayload/180 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669280" y="2377440"/>
            <a:ext cx="2450592" cy="45720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724144" y="2395728"/>
            <a:ext cx="2359152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Родное LoadPercentage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119872" y="1463040"/>
            <a:ext cx="918971" cy="45720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174736" y="1481328"/>
            <a:ext cx="827531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Ср.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119872" y="1920240"/>
            <a:ext cx="918971" cy="457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174736" y="1938528"/>
            <a:ext cx="827531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99,7%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119872" y="2377440"/>
            <a:ext cx="918971" cy="45720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174736" y="2395728"/>
            <a:ext cx="827531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102,8%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038844" y="1463040"/>
            <a:ext cx="918971" cy="45720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093708" y="1481328"/>
            <a:ext cx="827531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&gt;110%</a:t>
            </a:r>
          </a:p>
        </p:txBody>
      </p:sp>
      <p:sp>
        <p:nvSpPr>
          <p:cNvPr id="23" name="Rectangle 22"/>
          <p:cNvSpPr/>
          <p:nvPr/>
        </p:nvSpPr>
        <p:spPr>
          <a:xfrm>
            <a:off x="9038844" y="1920240"/>
            <a:ext cx="918971" cy="457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093708" y="1938528"/>
            <a:ext cx="827531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6,0%</a:t>
            </a:r>
          </a:p>
        </p:txBody>
      </p:sp>
      <p:sp>
        <p:nvSpPr>
          <p:cNvPr id="25" name="Rectangle 24"/>
          <p:cNvSpPr/>
          <p:nvPr/>
        </p:nvSpPr>
        <p:spPr>
          <a:xfrm>
            <a:off x="9038844" y="2377440"/>
            <a:ext cx="918971" cy="45720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093708" y="2395728"/>
            <a:ext cx="827531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8,2%</a:t>
            </a:r>
          </a:p>
        </p:txBody>
      </p:sp>
      <p:sp>
        <p:nvSpPr>
          <p:cNvPr id="27" name="Rectangle 26"/>
          <p:cNvSpPr/>
          <p:nvPr/>
        </p:nvSpPr>
        <p:spPr>
          <a:xfrm>
            <a:off x="9957816" y="1463040"/>
            <a:ext cx="918971" cy="45720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0012680" y="1481328"/>
            <a:ext cx="827531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&gt;120%</a:t>
            </a:r>
          </a:p>
        </p:txBody>
      </p:sp>
      <p:sp>
        <p:nvSpPr>
          <p:cNvPr id="29" name="Rectangle 28"/>
          <p:cNvSpPr/>
          <p:nvPr/>
        </p:nvSpPr>
        <p:spPr>
          <a:xfrm>
            <a:off x="9957816" y="1920240"/>
            <a:ext cx="918971" cy="457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012680" y="1938528"/>
            <a:ext cx="827531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0,01%</a:t>
            </a:r>
          </a:p>
        </p:txBody>
      </p:sp>
      <p:sp>
        <p:nvSpPr>
          <p:cNvPr id="31" name="Rectangle 30"/>
          <p:cNvSpPr/>
          <p:nvPr/>
        </p:nvSpPr>
        <p:spPr>
          <a:xfrm>
            <a:off x="9957816" y="2377440"/>
            <a:ext cx="918971" cy="45720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0012680" y="2395728"/>
            <a:ext cx="827531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0,10%</a:t>
            </a:r>
          </a:p>
        </p:txBody>
      </p:sp>
      <p:sp>
        <p:nvSpPr>
          <p:cNvPr id="33" name="Rectangle 32"/>
          <p:cNvSpPr/>
          <p:nvPr/>
        </p:nvSpPr>
        <p:spPr>
          <a:xfrm>
            <a:off x="10876788" y="1463040"/>
            <a:ext cx="918971" cy="45720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0931652" y="1481328"/>
            <a:ext cx="827531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Макс</a:t>
            </a:r>
          </a:p>
        </p:txBody>
      </p:sp>
      <p:sp>
        <p:nvSpPr>
          <p:cNvPr id="35" name="Rectangle 34"/>
          <p:cNvSpPr/>
          <p:nvPr/>
        </p:nvSpPr>
        <p:spPr>
          <a:xfrm>
            <a:off x="10876788" y="1920240"/>
            <a:ext cx="918971" cy="457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0931652" y="1938528"/>
            <a:ext cx="827531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133%</a:t>
            </a:r>
          </a:p>
        </p:txBody>
      </p:sp>
      <p:sp>
        <p:nvSpPr>
          <p:cNvPr id="37" name="Rectangle 36"/>
          <p:cNvSpPr/>
          <p:nvPr/>
        </p:nvSpPr>
        <p:spPr>
          <a:xfrm>
            <a:off x="10876788" y="2377440"/>
            <a:ext cx="918971" cy="45720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0931652" y="2395728"/>
            <a:ext cx="827531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145%</a:t>
            </a:r>
          </a:p>
        </p:txBody>
      </p:sp>
      <p:sp>
        <p:nvSpPr>
          <p:cNvPr id="39" name="Rectangle 38"/>
          <p:cNvSpPr/>
          <p:nvPr/>
        </p:nvSpPr>
        <p:spPr>
          <a:xfrm>
            <a:off x="5669280" y="2743200"/>
            <a:ext cx="6126480" cy="2743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5669280" y="2743200"/>
            <a:ext cx="109728" cy="2743200"/>
          </a:xfrm>
          <a:prstGeom prst="rect">
            <a:avLst/>
          </a:prstGeom>
          <a:solidFill>
            <a:srgbClr val="2EA0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870448" y="2852928"/>
            <a:ext cx="5760720" cy="2560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50" b="0" i="0">
                <a:solidFill>
                  <a:srgbClr val="293136"/>
                </a:solidFill>
                <a:latin typeface="Calibri"/>
              </a:rPr>
              <a:t>Вывод: парк СООТВЕТСТВУЕТ 10/10/20 (среднее ≈100%, &gt;120% практически нет).</a:t>
            </a:r>
          </a:p>
          <a:p>
            <a:pPr algn="l"/>
            <a:r>
              <a:rPr sz="1250" b="0" i="0">
                <a:solidFill>
                  <a:srgbClr val="293136"/>
                </a:solidFill>
                <a:latin typeface="Calibri"/>
              </a:rPr>
              <a:t/>
            </a:r>
          </a:p>
          <a:p>
            <a:pPr algn="l"/>
            <a:r>
              <a:rPr sz="1250" b="0" i="0">
                <a:solidFill>
                  <a:srgbClr val="293136"/>
                </a:solidFill>
                <a:latin typeface="Calibri"/>
              </a:rPr>
              <a:t>Систематическая перегрузка как значимый фактор НЕ подтверждается.</a:t>
            </a:r>
          </a:p>
          <a:p>
            <a:pPr algn="l"/>
            <a:r>
              <a:rPr sz="1250" b="0" i="0">
                <a:solidFill>
                  <a:srgbClr val="293136"/>
                </a:solidFill>
                <a:latin typeface="Calibri"/>
              </a:rPr>
              <a:t/>
            </a:r>
          </a:p>
          <a:p>
            <a:pPr algn="l"/>
            <a:r>
              <a:rPr sz="1250" b="0" i="0">
                <a:solidFill>
                  <a:srgbClr val="293136"/>
                </a:solidFill>
                <a:latin typeface="Calibri"/>
              </a:rPr>
              <a:t>Прежний тезис «макс 295 т / нарушены все критерии» — ошибка (номинал брался 220 т вместо 180 т). Корректно: макс 133% ≈ 239 т.</a:t>
            </a:r>
          </a:p>
        </p:txBody>
      </p:sp>
      <p:sp>
        <p:nvSpPr>
          <p:cNvPr id="42" name="Rectangle 41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365760" y="6547104"/>
            <a:ext cx="114300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CFD6DA"/>
                </a:solidFill>
                <a:latin typeface="Calibri"/>
              </a:rPr>
              <a:t>АО Развитие   •   QSK50 / NTE200   •   Полюс Магадан   •   2026   •   Конфиденциально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201168" cy="105156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64592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707880"/>
                </a:solidFill>
                <a:latin typeface="Calibri"/>
              </a:rPr>
              <a:t>ПРОИЗВОДИТЕЛЬНОСТЬ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11480"/>
            <a:ext cx="112471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1" i="0">
                <a:solidFill>
                  <a:srgbClr val="293136"/>
                </a:solidFill>
                <a:latin typeface="Calibri"/>
              </a:rPr>
              <a:t>Производительность парка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463040"/>
            <a:ext cx="3657600" cy="18288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463040"/>
            <a:ext cx="3657600" cy="9144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1828800"/>
            <a:ext cx="32918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 i="0">
                <a:solidFill>
                  <a:srgbClr val="293136"/>
                </a:solidFill>
                <a:latin typeface="Calibri"/>
              </a:rPr>
              <a:t>65,5 млн 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2697480"/>
            <a:ext cx="32918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>
                <a:solidFill>
                  <a:srgbClr val="707880"/>
                </a:solidFill>
                <a:latin typeface="Calibri"/>
              </a:rPr>
              <a:t>перевезено всего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343400" y="1463040"/>
            <a:ext cx="3657600" cy="18288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343400" y="1463040"/>
            <a:ext cx="3657600" cy="9144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26280" y="1828800"/>
            <a:ext cx="32918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 i="0">
                <a:solidFill>
                  <a:srgbClr val="293136"/>
                </a:solidFill>
                <a:latin typeface="Calibri"/>
              </a:rPr>
              <a:t>365 069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26280" y="2697480"/>
            <a:ext cx="32918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>
                <a:solidFill>
                  <a:srgbClr val="707880"/>
                </a:solidFill>
                <a:latin typeface="Calibri"/>
              </a:rPr>
              <a:t>рейсов (131 файл)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229600" y="1463040"/>
            <a:ext cx="3657600" cy="18288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229600" y="1463040"/>
            <a:ext cx="3657600" cy="9144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412480" y="1828800"/>
            <a:ext cx="32918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 i="0">
                <a:solidFill>
                  <a:srgbClr val="293136"/>
                </a:solidFill>
                <a:latin typeface="Calibri"/>
              </a:rPr>
              <a:t>30,6 мин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12480" y="2697480"/>
            <a:ext cx="32918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>
                <a:solidFill>
                  <a:srgbClr val="707880"/>
                </a:solidFill>
                <a:latin typeface="Calibri"/>
              </a:rPr>
              <a:t>средний цикл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3566160"/>
            <a:ext cx="3657600" cy="18288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57200" y="3566160"/>
            <a:ext cx="3657600" cy="9144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0080" y="3931920"/>
            <a:ext cx="32918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 i="0">
                <a:solidFill>
                  <a:srgbClr val="293136"/>
                </a:solidFill>
                <a:latin typeface="Calibri"/>
              </a:rPr>
              <a:t>4,32 км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080" y="4800600"/>
            <a:ext cx="32918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>
                <a:solidFill>
                  <a:srgbClr val="707880"/>
                </a:solidFill>
                <a:latin typeface="Calibri"/>
              </a:rPr>
              <a:t>гружёный пробег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343400" y="3566160"/>
            <a:ext cx="3657600" cy="18288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4343400" y="3566160"/>
            <a:ext cx="3657600" cy="9144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526280" y="3931920"/>
            <a:ext cx="32918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 i="0">
                <a:solidFill>
                  <a:srgbClr val="293136"/>
                </a:solidFill>
                <a:latin typeface="Calibri"/>
              </a:rPr>
              <a:t>31 км/ч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26280" y="4800600"/>
            <a:ext cx="32918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>
                <a:solidFill>
                  <a:srgbClr val="707880"/>
                </a:solidFill>
                <a:latin typeface="Calibri"/>
              </a:rPr>
              <a:t>скорость гружёного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229600" y="3566160"/>
            <a:ext cx="3657600" cy="18288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8229600" y="3566160"/>
            <a:ext cx="3657600" cy="9144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412480" y="3931920"/>
            <a:ext cx="32918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 i="0">
                <a:solidFill>
                  <a:srgbClr val="293136"/>
                </a:solidFill>
                <a:latin typeface="Calibri"/>
              </a:rPr>
              <a:t>6 888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412480" y="4800600"/>
            <a:ext cx="32918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>
                <a:solidFill>
                  <a:srgbClr val="707880"/>
                </a:solidFill>
                <a:latin typeface="Calibri"/>
              </a:rPr>
              <a:t>рейсов/машину</a:t>
            </a:r>
          </a:p>
        </p:txBody>
      </p:sp>
      <p:sp>
        <p:nvSpPr>
          <p:cNvPr id="32" name="Rectangle 31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65760" y="6547104"/>
            <a:ext cx="114300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CFD6DA"/>
                </a:solidFill>
                <a:latin typeface="Calibri"/>
              </a:rPr>
              <a:t>АО Развитие   •   QSK50 / NTE200   •   Полюс Магадан   •   2026   •   Конфиденциально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201168" cy="105156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64592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707880"/>
                </a:solidFill>
                <a:latin typeface="Calibri"/>
              </a:rPr>
              <a:t>АНАЛИЗ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11480"/>
            <a:ext cx="112471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1" i="0">
                <a:solidFill>
                  <a:srgbClr val="293136"/>
                </a:solidFill>
                <a:latin typeface="Calibri"/>
              </a:rPr>
              <a:t>Анализ всех отказов и возможных причин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371600"/>
            <a:ext cx="6764731" cy="50292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12064" y="1389888"/>
            <a:ext cx="6673291" cy="4846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Возможная причина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1874519"/>
            <a:ext cx="6764731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12064" y="1892807"/>
            <a:ext cx="6673291" cy="4846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Калибровка ЭБУ (TIB + отключённые защиты)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2377439"/>
            <a:ext cx="6764731" cy="50292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12064" y="2395727"/>
            <a:ext cx="6673291" cy="4846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Отсутствие Stellite (NHL)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2880359"/>
            <a:ext cx="6764731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12064" y="2898647"/>
            <a:ext cx="6673291" cy="4846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Перегрузка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3383279"/>
            <a:ext cx="6764731" cy="50292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12064" y="3401567"/>
            <a:ext cx="6673291" cy="4846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Абразивный/зольный износ (версия NHL)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3886199"/>
            <a:ext cx="6764731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12064" y="3904487"/>
            <a:ext cx="6673291" cy="4846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Марка/класс масла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4389119"/>
            <a:ext cx="6764731" cy="50292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12064" y="4407407"/>
            <a:ext cx="6673291" cy="4846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Топливо (сера)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7200" y="4892039"/>
            <a:ext cx="6764731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12064" y="4910327"/>
            <a:ext cx="6673291" cy="4846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Естественный износ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221931" y="1371600"/>
            <a:ext cx="4509820" cy="50292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276795" y="1389888"/>
            <a:ext cx="4418380" cy="4846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Вердикт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221931" y="1874519"/>
            <a:ext cx="4509820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276795" y="1892807"/>
            <a:ext cx="4418380" cy="4846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🔴 Коренная</a:t>
            </a:r>
          </a:p>
        </p:txBody>
      </p:sp>
      <p:sp>
        <p:nvSpPr>
          <p:cNvPr id="28" name="Rectangle 27"/>
          <p:cNvSpPr/>
          <p:nvPr/>
        </p:nvSpPr>
        <p:spPr>
          <a:xfrm>
            <a:off x="7221931" y="2377439"/>
            <a:ext cx="4509820" cy="50292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276795" y="2395727"/>
            <a:ext cx="4418380" cy="4846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🟠 Вторичный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221931" y="2880359"/>
            <a:ext cx="4509820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276795" y="2898647"/>
            <a:ext cx="4418380" cy="4846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🟢 Не значима (10/10/20)</a:t>
            </a:r>
          </a:p>
        </p:txBody>
      </p:sp>
      <p:sp>
        <p:nvSpPr>
          <p:cNvPr id="32" name="Rectangle 31"/>
          <p:cNvSpPr/>
          <p:nvPr/>
        </p:nvSpPr>
        <p:spPr>
          <a:xfrm>
            <a:off x="7221931" y="3383279"/>
            <a:ext cx="4509820" cy="50292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276795" y="3401567"/>
            <a:ext cx="4418380" cy="4846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🟢 Ослаблена (низкий Fe)</a:t>
            </a:r>
          </a:p>
        </p:txBody>
      </p:sp>
      <p:sp>
        <p:nvSpPr>
          <p:cNvPr id="34" name="Rectangle 33"/>
          <p:cNvSpPr/>
          <p:nvPr/>
        </p:nvSpPr>
        <p:spPr>
          <a:xfrm>
            <a:off x="7221931" y="3886199"/>
            <a:ext cx="4509820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276795" y="3904487"/>
            <a:ext cx="4418380" cy="4846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🟢 Не дифференцирует</a:t>
            </a:r>
          </a:p>
        </p:txBody>
      </p:sp>
      <p:sp>
        <p:nvSpPr>
          <p:cNvPr id="36" name="Rectangle 35"/>
          <p:cNvSpPr/>
          <p:nvPr/>
        </p:nvSpPr>
        <p:spPr>
          <a:xfrm>
            <a:off x="7221931" y="4389119"/>
            <a:ext cx="4509820" cy="50292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276795" y="4407407"/>
            <a:ext cx="4418380" cy="4846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🟢 Исключено</a:t>
            </a:r>
          </a:p>
        </p:txBody>
      </p:sp>
      <p:sp>
        <p:nvSpPr>
          <p:cNvPr id="38" name="Rectangle 37"/>
          <p:cNvSpPr/>
          <p:nvPr/>
        </p:nvSpPr>
        <p:spPr>
          <a:xfrm>
            <a:off x="7221931" y="4892039"/>
            <a:ext cx="4509820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7276795" y="4910327"/>
            <a:ext cx="4418380" cy="4846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🟢 Исключён (#83 при 2 776 ч)</a:t>
            </a:r>
          </a:p>
        </p:txBody>
      </p:sp>
      <p:sp>
        <p:nvSpPr>
          <p:cNvPr id="40" name="Rectangle 39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6547104"/>
            <a:ext cx="114300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CFD6DA"/>
                </a:solidFill>
                <a:latin typeface="Calibri"/>
              </a:rPr>
              <a:t>АО Развитие   •   QSK50 / NTE200   •   Полюс Магадан   •   2026   •   Конфиденциально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201168" cy="105156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64592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707880"/>
                </a:solidFill>
                <a:latin typeface="Calibri"/>
              </a:rPr>
              <a:t>КАЛИБРОВКА ЭБУ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11480"/>
            <a:ext cx="112471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1" i="0">
                <a:solidFill>
                  <a:srgbClr val="293136"/>
                </a:solidFill>
                <a:latin typeface="Calibri"/>
              </a:rPr>
              <a:t>15 параметров ЭБУ: NTE200 vs 730E (1/2)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371600"/>
            <a:ext cx="4509820" cy="566928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12064" y="1389888"/>
            <a:ext cx="441838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1" i="0">
                <a:solidFill>
                  <a:srgbClr val="FFFFFF"/>
                </a:solidFill>
                <a:latin typeface="Calibri"/>
              </a:rPr>
              <a:t>Параметр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1938528"/>
            <a:ext cx="4509820" cy="5669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12064" y="1956816"/>
            <a:ext cx="441838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>TIB верхний предел коррекции топлива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2505456"/>
            <a:ext cx="4509820" cy="56692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12064" y="2523744"/>
            <a:ext cx="441838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>Снижение оборотов по T масла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3072384"/>
            <a:ext cx="4509820" cy="5669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12064" y="3090672"/>
            <a:ext cx="441838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>Триггер high T наддувочного воздуха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3639312"/>
            <a:ext cx="4509820" cy="56692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12064" y="3657600"/>
            <a:ext cx="441838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>Триггер high T ОЖ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4206240"/>
            <a:ext cx="4509820" cy="5669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12064" y="4224528"/>
            <a:ext cx="441838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>Триггер high T топлива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4773168"/>
            <a:ext cx="4509820" cy="56692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12064" y="4791456"/>
            <a:ext cx="441838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>Задержка снижения мощности (масло)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7200" y="5340096"/>
            <a:ext cx="4509820" cy="5669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12064" y="5358384"/>
            <a:ext cx="441838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>Задержка снижения мощности (ОЖ)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967020" y="1371600"/>
            <a:ext cx="1803928" cy="566928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021884" y="1389888"/>
            <a:ext cx="171248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1" i="0">
                <a:solidFill>
                  <a:srgbClr val="FFFFFF"/>
                </a:solidFill>
                <a:latin typeface="Calibri"/>
              </a:rPr>
              <a:t>730E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967020" y="1938528"/>
            <a:ext cx="1803928" cy="5669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021884" y="1956816"/>
            <a:ext cx="171248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>100%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967020" y="2505456"/>
            <a:ext cx="1803928" cy="56692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021884" y="2523744"/>
            <a:ext cx="171248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>Вкл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967020" y="3072384"/>
            <a:ext cx="1803928" cy="5669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021884" y="3090672"/>
            <a:ext cx="171248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>54 °C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967020" y="3639312"/>
            <a:ext cx="1803928" cy="56692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021884" y="3657600"/>
            <a:ext cx="171248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>85 °C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967020" y="4206240"/>
            <a:ext cx="1803928" cy="5669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021884" y="4224528"/>
            <a:ext cx="171248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>68 °C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967020" y="4773168"/>
            <a:ext cx="1803928" cy="56692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021884" y="4791456"/>
            <a:ext cx="171248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>0 с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967020" y="5340096"/>
            <a:ext cx="1803928" cy="5669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021884" y="5358384"/>
            <a:ext cx="171248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>0 с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770949" y="1371600"/>
            <a:ext cx="1803928" cy="566928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825813" y="1389888"/>
            <a:ext cx="171248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1" i="0">
                <a:solidFill>
                  <a:srgbClr val="FFFFFF"/>
                </a:solidFill>
                <a:latin typeface="Calibri"/>
              </a:rPr>
              <a:t>NTE200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770949" y="1938528"/>
            <a:ext cx="1803928" cy="5669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825813" y="1956816"/>
            <a:ext cx="171248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>200%</a:t>
            </a:r>
          </a:p>
        </p:txBody>
      </p:sp>
      <p:sp>
        <p:nvSpPr>
          <p:cNvPr id="44" name="Rectangle 43"/>
          <p:cNvSpPr/>
          <p:nvPr/>
        </p:nvSpPr>
        <p:spPr>
          <a:xfrm>
            <a:off x="6770949" y="2505456"/>
            <a:ext cx="1803928" cy="56692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825813" y="2523744"/>
            <a:ext cx="171248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>ВЫКЛ</a:t>
            </a:r>
          </a:p>
        </p:txBody>
      </p:sp>
      <p:sp>
        <p:nvSpPr>
          <p:cNvPr id="46" name="Rectangle 45"/>
          <p:cNvSpPr/>
          <p:nvPr/>
        </p:nvSpPr>
        <p:spPr>
          <a:xfrm>
            <a:off x="6770949" y="3072384"/>
            <a:ext cx="1803928" cy="5669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6825813" y="3090672"/>
            <a:ext cx="171248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>ВЫКЛ</a:t>
            </a:r>
          </a:p>
        </p:txBody>
      </p:sp>
      <p:sp>
        <p:nvSpPr>
          <p:cNvPr id="48" name="Rectangle 47"/>
          <p:cNvSpPr/>
          <p:nvPr/>
        </p:nvSpPr>
        <p:spPr>
          <a:xfrm>
            <a:off x="6770949" y="3639312"/>
            <a:ext cx="1803928" cy="56692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6825813" y="3657600"/>
            <a:ext cx="171248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>ВЫКЛ</a:t>
            </a:r>
          </a:p>
        </p:txBody>
      </p:sp>
      <p:sp>
        <p:nvSpPr>
          <p:cNvPr id="50" name="Rectangle 49"/>
          <p:cNvSpPr/>
          <p:nvPr/>
        </p:nvSpPr>
        <p:spPr>
          <a:xfrm>
            <a:off x="6770949" y="4206240"/>
            <a:ext cx="1803928" cy="5669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6825813" y="4224528"/>
            <a:ext cx="171248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>ВЫКЛ</a:t>
            </a:r>
          </a:p>
        </p:txBody>
      </p:sp>
      <p:sp>
        <p:nvSpPr>
          <p:cNvPr id="52" name="Rectangle 51"/>
          <p:cNvSpPr/>
          <p:nvPr/>
        </p:nvSpPr>
        <p:spPr>
          <a:xfrm>
            <a:off x="6770949" y="4773168"/>
            <a:ext cx="1803928" cy="56692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6825813" y="4791456"/>
            <a:ext cx="171248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>51 с</a:t>
            </a:r>
          </a:p>
        </p:txBody>
      </p:sp>
      <p:sp>
        <p:nvSpPr>
          <p:cNvPr id="54" name="Rectangle 53"/>
          <p:cNvSpPr/>
          <p:nvPr/>
        </p:nvSpPr>
        <p:spPr>
          <a:xfrm>
            <a:off x="6770949" y="5340096"/>
            <a:ext cx="1803928" cy="5669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6825813" y="5358384"/>
            <a:ext cx="171248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>43 с</a:t>
            </a:r>
          </a:p>
        </p:txBody>
      </p:sp>
      <p:sp>
        <p:nvSpPr>
          <p:cNvPr id="56" name="Rectangle 55"/>
          <p:cNvSpPr/>
          <p:nvPr/>
        </p:nvSpPr>
        <p:spPr>
          <a:xfrm>
            <a:off x="8574877" y="1371600"/>
            <a:ext cx="3156874" cy="566928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8629741" y="1389888"/>
            <a:ext cx="3065434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1" i="0">
                <a:solidFill>
                  <a:srgbClr val="FFFFFF"/>
                </a:solidFill>
                <a:latin typeface="Calibri"/>
              </a:rPr>
              <a:t>Влияние</a:t>
            </a:r>
          </a:p>
        </p:txBody>
      </p:sp>
      <p:sp>
        <p:nvSpPr>
          <p:cNvPr id="58" name="Rectangle 57"/>
          <p:cNvSpPr/>
          <p:nvPr/>
        </p:nvSpPr>
        <p:spPr>
          <a:xfrm>
            <a:off x="8574877" y="1938528"/>
            <a:ext cx="3156874" cy="5669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8629741" y="1956816"/>
            <a:ext cx="3065434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>переобогащение / поздний впрыск</a:t>
            </a:r>
          </a:p>
        </p:txBody>
      </p:sp>
      <p:sp>
        <p:nvSpPr>
          <p:cNvPr id="60" name="Rectangle 59"/>
          <p:cNvSpPr/>
          <p:nvPr/>
        </p:nvSpPr>
        <p:spPr>
          <a:xfrm>
            <a:off x="8574877" y="2505456"/>
            <a:ext cx="3156874" cy="56692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8629741" y="2523744"/>
            <a:ext cx="3065434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>нет защиты от перегрева масла</a:t>
            </a:r>
          </a:p>
        </p:txBody>
      </p:sp>
      <p:sp>
        <p:nvSpPr>
          <p:cNvPr id="62" name="Rectangle 61"/>
          <p:cNvSpPr/>
          <p:nvPr/>
        </p:nvSpPr>
        <p:spPr>
          <a:xfrm>
            <a:off x="8574877" y="3072384"/>
            <a:ext cx="3156874" cy="5669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8629741" y="3090672"/>
            <a:ext cx="3065434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>нет тревоги перегрева наддува</a:t>
            </a:r>
          </a:p>
        </p:txBody>
      </p:sp>
      <p:sp>
        <p:nvSpPr>
          <p:cNvPr id="64" name="Rectangle 63"/>
          <p:cNvSpPr/>
          <p:nvPr/>
        </p:nvSpPr>
        <p:spPr>
          <a:xfrm>
            <a:off x="8574877" y="3639312"/>
            <a:ext cx="3156874" cy="56692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8629741" y="3657600"/>
            <a:ext cx="3065434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>нет сигнала перегрева ОЖ</a:t>
            </a:r>
          </a:p>
        </p:txBody>
      </p:sp>
      <p:sp>
        <p:nvSpPr>
          <p:cNvPr id="66" name="Rectangle 65"/>
          <p:cNvSpPr/>
          <p:nvPr/>
        </p:nvSpPr>
        <p:spPr>
          <a:xfrm>
            <a:off x="8574877" y="4206240"/>
            <a:ext cx="3156874" cy="5669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8629741" y="4224528"/>
            <a:ext cx="3065434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>нет тревоги перегрева топлива</a:t>
            </a:r>
          </a:p>
        </p:txBody>
      </p:sp>
      <p:sp>
        <p:nvSpPr>
          <p:cNvPr id="68" name="Rectangle 67"/>
          <p:cNvSpPr/>
          <p:nvPr/>
        </p:nvSpPr>
        <p:spPr>
          <a:xfrm>
            <a:off x="8574877" y="4773168"/>
            <a:ext cx="3156874" cy="56692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8629741" y="4791456"/>
            <a:ext cx="3065434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>полная мощность в перегреве</a:t>
            </a:r>
          </a:p>
        </p:txBody>
      </p:sp>
      <p:sp>
        <p:nvSpPr>
          <p:cNvPr id="70" name="Rectangle 69"/>
          <p:cNvSpPr/>
          <p:nvPr/>
        </p:nvSpPr>
        <p:spPr>
          <a:xfrm>
            <a:off x="8574877" y="5340096"/>
            <a:ext cx="3156874" cy="5669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8629741" y="5358384"/>
            <a:ext cx="3065434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>43 с без снижения нагрузки</a:t>
            </a:r>
          </a:p>
        </p:txBody>
      </p:sp>
      <p:sp>
        <p:nvSpPr>
          <p:cNvPr id="72" name="Rectangle 71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365760" y="6547104"/>
            <a:ext cx="114300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CFD6DA"/>
                </a:solidFill>
                <a:latin typeface="Calibri"/>
              </a:rPr>
              <a:t>АО Развитие   •   QSK50 / NTE200   •   Полюс Магадан   •   2026   •   Конфиденциально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201168" cy="105156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64592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707880"/>
                </a:solidFill>
                <a:latin typeface="Calibri"/>
              </a:rPr>
              <a:t>КАЛИБРОВКА ЭБУ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11480"/>
            <a:ext cx="112471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1" i="0">
                <a:solidFill>
                  <a:srgbClr val="293136"/>
                </a:solidFill>
                <a:latin typeface="Calibri"/>
              </a:rPr>
              <a:t>15 параметров ЭБУ: NTE200 vs 730E (2/2)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371600"/>
            <a:ext cx="4509820" cy="566928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12064" y="1389888"/>
            <a:ext cx="441838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1" i="0">
                <a:solidFill>
                  <a:srgbClr val="FFFFFF"/>
                </a:solidFill>
                <a:latin typeface="Calibri"/>
              </a:rPr>
              <a:t>Параметр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1938528"/>
            <a:ext cx="4509820" cy="5669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12064" y="1956816"/>
            <a:ext cx="441838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>Макс. рабочие обороты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2505456"/>
            <a:ext cx="4509820" cy="56692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12064" y="2523744"/>
            <a:ext cx="441838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>Макс. обороты (реф. 2/3)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3072384"/>
            <a:ext cx="4509820" cy="5669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12064" y="3090672"/>
            <a:ext cx="441838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>Макс. наклон регулятора (droop)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3639312"/>
            <a:ext cx="4509820" cy="56692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12064" y="3657600"/>
            <a:ext cx="441838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>Горячий стоп — момент (верх.)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4206240"/>
            <a:ext cx="4509820" cy="5669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12064" y="4224528"/>
            <a:ext cx="441838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>Горячий стоп — момент (нижн.)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4773168"/>
            <a:ext cx="4509820" cy="56692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12064" y="4791456"/>
            <a:ext cx="441838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>Топливный код (карта впрыска)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7200" y="5340096"/>
            <a:ext cx="4509820" cy="5669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12064" y="5358384"/>
            <a:ext cx="441838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>Пуск вентилятора охл. наддува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967020" y="1371600"/>
            <a:ext cx="1803928" cy="566928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021884" y="1389888"/>
            <a:ext cx="171248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1" i="0">
                <a:solidFill>
                  <a:srgbClr val="FFFFFF"/>
                </a:solidFill>
                <a:latin typeface="Calibri"/>
              </a:rPr>
              <a:t>730E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967020" y="1938528"/>
            <a:ext cx="1803928" cy="5669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021884" y="1956816"/>
            <a:ext cx="171248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>1990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967020" y="2505456"/>
            <a:ext cx="1803928" cy="56692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021884" y="2523744"/>
            <a:ext cx="171248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>1990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967020" y="3072384"/>
            <a:ext cx="1803928" cy="5669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021884" y="3090672"/>
            <a:ext cx="171248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>0%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967020" y="3639312"/>
            <a:ext cx="1803928" cy="56692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021884" y="3657600"/>
            <a:ext cx="171248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>5509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967020" y="4206240"/>
            <a:ext cx="1803928" cy="5669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021884" y="4224528"/>
            <a:ext cx="171248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>4722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967020" y="4773168"/>
            <a:ext cx="1803928" cy="56692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021884" y="4791456"/>
            <a:ext cx="171248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>FC0BU52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967020" y="5340096"/>
            <a:ext cx="1803928" cy="5669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021884" y="5358384"/>
            <a:ext cx="171248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>50 °C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770949" y="1371600"/>
            <a:ext cx="1803928" cy="566928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825813" y="1389888"/>
            <a:ext cx="171248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1" i="0">
                <a:solidFill>
                  <a:srgbClr val="FFFFFF"/>
                </a:solidFill>
                <a:latin typeface="Calibri"/>
              </a:rPr>
              <a:t>NTE200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770949" y="1938528"/>
            <a:ext cx="1803928" cy="5669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825813" y="1956816"/>
            <a:ext cx="171248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>2100</a:t>
            </a:r>
          </a:p>
        </p:txBody>
      </p:sp>
      <p:sp>
        <p:nvSpPr>
          <p:cNvPr id="44" name="Rectangle 43"/>
          <p:cNvSpPr/>
          <p:nvPr/>
        </p:nvSpPr>
        <p:spPr>
          <a:xfrm>
            <a:off x="6770949" y="2505456"/>
            <a:ext cx="1803928" cy="56692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825813" y="2523744"/>
            <a:ext cx="171248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>2225,8</a:t>
            </a:r>
          </a:p>
        </p:txBody>
      </p:sp>
      <p:sp>
        <p:nvSpPr>
          <p:cNvPr id="46" name="Rectangle 45"/>
          <p:cNvSpPr/>
          <p:nvPr/>
        </p:nvSpPr>
        <p:spPr>
          <a:xfrm>
            <a:off x="6770949" y="3072384"/>
            <a:ext cx="1803928" cy="5669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6825813" y="3090672"/>
            <a:ext cx="171248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>20%</a:t>
            </a:r>
          </a:p>
        </p:txBody>
      </p:sp>
      <p:sp>
        <p:nvSpPr>
          <p:cNvPr id="48" name="Rectangle 47"/>
          <p:cNvSpPr/>
          <p:nvPr/>
        </p:nvSpPr>
        <p:spPr>
          <a:xfrm>
            <a:off x="6770949" y="3639312"/>
            <a:ext cx="1803928" cy="56692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6825813" y="3657600"/>
            <a:ext cx="171248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>3650 Н·м</a:t>
            </a:r>
          </a:p>
        </p:txBody>
      </p:sp>
      <p:sp>
        <p:nvSpPr>
          <p:cNvPr id="50" name="Rectangle 49"/>
          <p:cNvSpPr/>
          <p:nvPr/>
        </p:nvSpPr>
        <p:spPr>
          <a:xfrm>
            <a:off x="6770949" y="4206240"/>
            <a:ext cx="1803928" cy="5669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6825813" y="4224528"/>
            <a:ext cx="171248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>1850 Н·м</a:t>
            </a:r>
          </a:p>
        </p:txBody>
      </p:sp>
      <p:sp>
        <p:nvSpPr>
          <p:cNvPr id="52" name="Rectangle 51"/>
          <p:cNvSpPr/>
          <p:nvPr/>
        </p:nvSpPr>
        <p:spPr>
          <a:xfrm>
            <a:off x="6770949" y="4773168"/>
            <a:ext cx="1803928" cy="56692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6825813" y="4791456"/>
            <a:ext cx="171248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>FC0WH95</a:t>
            </a:r>
          </a:p>
        </p:txBody>
      </p:sp>
      <p:sp>
        <p:nvSpPr>
          <p:cNvPr id="54" name="Rectangle 53"/>
          <p:cNvSpPr/>
          <p:nvPr/>
        </p:nvSpPr>
        <p:spPr>
          <a:xfrm>
            <a:off x="6770949" y="5340096"/>
            <a:ext cx="1803928" cy="5669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6825813" y="5358384"/>
            <a:ext cx="171248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>46 °C</a:t>
            </a:r>
          </a:p>
        </p:txBody>
      </p:sp>
      <p:sp>
        <p:nvSpPr>
          <p:cNvPr id="56" name="Rectangle 55"/>
          <p:cNvSpPr/>
          <p:nvPr/>
        </p:nvSpPr>
        <p:spPr>
          <a:xfrm>
            <a:off x="8574877" y="1371600"/>
            <a:ext cx="3156874" cy="566928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8629741" y="1389888"/>
            <a:ext cx="3065434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1" i="0">
                <a:solidFill>
                  <a:srgbClr val="FFFFFF"/>
                </a:solidFill>
                <a:latin typeface="Calibri"/>
              </a:rPr>
              <a:t>Влияние</a:t>
            </a:r>
          </a:p>
        </p:txBody>
      </p:sp>
      <p:sp>
        <p:nvSpPr>
          <p:cNvPr id="58" name="Rectangle 57"/>
          <p:cNvSpPr/>
          <p:nvPr/>
        </p:nvSpPr>
        <p:spPr>
          <a:xfrm>
            <a:off x="8574877" y="1938528"/>
            <a:ext cx="3156874" cy="5669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8629741" y="1956816"/>
            <a:ext cx="3065434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>EGT +25–35 °C, удары клапанов</a:t>
            </a:r>
          </a:p>
        </p:txBody>
      </p:sp>
      <p:sp>
        <p:nvSpPr>
          <p:cNvPr id="60" name="Rectangle 59"/>
          <p:cNvSpPr/>
          <p:nvPr/>
        </p:nvSpPr>
        <p:spPr>
          <a:xfrm>
            <a:off x="8574877" y="2505456"/>
            <a:ext cx="3156874" cy="56692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8629741" y="2523744"/>
            <a:ext cx="3065434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>раскрутка в отд. режимах</a:t>
            </a:r>
          </a:p>
        </p:txBody>
      </p:sp>
      <p:sp>
        <p:nvSpPr>
          <p:cNvPr id="62" name="Rectangle 61"/>
          <p:cNvSpPr/>
          <p:nvPr/>
        </p:nvSpPr>
        <p:spPr>
          <a:xfrm>
            <a:off x="8574877" y="3072384"/>
            <a:ext cx="3156874" cy="5669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8629741" y="3090672"/>
            <a:ext cx="3065434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>±20% колебаний оборотов</a:t>
            </a:r>
          </a:p>
        </p:txBody>
      </p:sp>
      <p:sp>
        <p:nvSpPr>
          <p:cNvPr id="64" name="Rectangle 63"/>
          <p:cNvSpPr/>
          <p:nvPr/>
        </p:nvSpPr>
        <p:spPr>
          <a:xfrm>
            <a:off x="8574877" y="3639312"/>
            <a:ext cx="3156874" cy="56692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8629741" y="3657600"/>
            <a:ext cx="3065434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>срабатывает раньше</a:t>
            </a:r>
          </a:p>
        </p:txBody>
      </p:sp>
      <p:sp>
        <p:nvSpPr>
          <p:cNvPr id="66" name="Rectangle 65"/>
          <p:cNvSpPr/>
          <p:nvPr/>
        </p:nvSpPr>
        <p:spPr>
          <a:xfrm>
            <a:off x="8574877" y="4206240"/>
            <a:ext cx="3156874" cy="5669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8629741" y="4224528"/>
            <a:ext cx="3065434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>нестабильный гистерезис</a:t>
            </a:r>
          </a:p>
        </p:txBody>
      </p:sp>
      <p:sp>
        <p:nvSpPr>
          <p:cNvPr id="68" name="Rectangle 67"/>
          <p:cNvSpPr/>
          <p:nvPr/>
        </p:nvSpPr>
        <p:spPr>
          <a:xfrm>
            <a:off x="8574877" y="4773168"/>
            <a:ext cx="3156874" cy="56692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8629741" y="4791456"/>
            <a:ext cx="3065434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>иная модель сгорания</a:t>
            </a:r>
          </a:p>
        </p:txBody>
      </p:sp>
      <p:sp>
        <p:nvSpPr>
          <p:cNvPr id="70" name="Rectangle 69"/>
          <p:cNvSpPr/>
          <p:nvPr/>
        </p:nvSpPr>
        <p:spPr>
          <a:xfrm>
            <a:off x="8574877" y="5340096"/>
            <a:ext cx="3156874" cy="5669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8629741" y="5358384"/>
            <a:ext cx="3065434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>компенсация, не защита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457200" y="5943600"/>
            <a:ext cx="112471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 i="0">
                <a:solidFill>
                  <a:srgbClr val="E05252"/>
                </a:solidFill>
                <a:latin typeface="Calibri"/>
              </a:rPr>
              <a:t>Вывод: NTE200 отключает все триггеры перегрева и допускает более высокие обороты/нагрузку.</a:t>
            </a:r>
          </a:p>
        </p:txBody>
      </p:sp>
      <p:sp>
        <p:nvSpPr>
          <p:cNvPr id="73" name="Rectangle 72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365760" y="6547104"/>
            <a:ext cx="114300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CFD6DA"/>
                </a:solidFill>
                <a:latin typeface="Calibri"/>
              </a:rPr>
              <a:t>АО Развитие   •   QSK50 / NTE200   •   Полюс Магадан   •   2026   •   Конфиденциально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201168" cy="105156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64592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707880"/>
                </a:solidFill>
                <a:latin typeface="Calibri"/>
              </a:rPr>
              <a:t>СИНТЕЗ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11480"/>
            <a:ext cx="112471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1" i="0">
                <a:solidFill>
                  <a:srgbClr val="293136"/>
                </a:solidFill>
                <a:latin typeface="Calibri"/>
              </a:rPr>
              <a:t>Аналитическое сравнение параметров, влияющих на отказ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1325880"/>
            <a:ext cx="3886200" cy="41148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20624" y="1344168"/>
            <a:ext cx="3794760" cy="3931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Параметр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1737360"/>
            <a:ext cx="3886200" cy="4114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20624" y="1755648"/>
            <a:ext cx="3794760" cy="3931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TIB коррекция топлива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65760" y="2148840"/>
            <a:ext cx="3886200" cy="41148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20624" y="2167128"/>
            <a:ext cx="3794760" cy="3931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Защита по T масла (derate)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65760" y="2560320"/>
            <a:ext cx="3886200" cy="4114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20624" y="2578608"/>
            <a:ext cx="3794760" cy="3931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Триггеры перегрева (ОЖ/наддув/топл)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65760" y="2971800"/>
            <a:ext cx="3886200" cy="41148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20624" y="2990088"/>
            <a:ext cx="3794760" cy="3931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Макс. обороты, об/мин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3383280"/>
            <a:ext cx="3886200" cy="4114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20624" y="3401568"/>
            <a:ext cx="3794760" cy="3931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EGT пиковая (цил.), °C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65760" y="3794760"/>
            <a:ext cx="3886200" cy="41148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20624" y="3813048"/>
            <a:ext cx="3794760" cy="3931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Наплавка Stellite клапана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65760" y="4206240"/>
            <a:ext cx="3886200" cy="4114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20624" y="4224528"/>
            <a:ext cx="3794760" cy="3931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Нагрузка (10/10/20)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65760" y="4617720"/>
            <a:ext cx="3886200" cy="41148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20624" y="4636008"/>
            <a:ext cx="3794760" cy="3931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Масло: марка / класс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5029200"/>
            <a:ext cx="3886200" cy="4114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20624" y="5047488"/>
            <a:ext cx="3794760" cy="3931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Сажа в масле (ST)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65760" y="5440680"/>
            <a:ext cx="3886200" cy="41148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20624" y="5458968"/>
            <a:ext cx="3794760" cy="3931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TBN / износ Fe P95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65760" y="5852160"/>
            <a:ext cx="3886200" cy="4114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20624" y="5870448"/>
            <a:ext cx="3794760" cy="3931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Топливо (сера), мг/кг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251960" y="1325880"/>
            <a:ext cx="2057400" cy="41148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306824" y="1344168"/>
            <a:ext cx="1965960" cy="3931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NTE200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251960" y="1737360"/>
            <a:ext cx="2057400" cy="4114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306824" y="1755648"/>
            <a:ext cx="1965960" cy="3931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200%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251960" y="2148840"/>
            <a:ext cx="2057400" cy="41148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306824" y="2167128"/>
            <a:ext cx="1965960" cy="3931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ВЫКЛ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251960" y="2560320"/>
            <a:ext cx="2057400" cy="4114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306824" y="2578608"/>
            <a:ext cx="1965960" cy="3931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ВЫКЛ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251960" y="2971800"/>
            <a:ext cx="2057400" cy="41148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306824" y="2990088"/>
            <a:ext cx="1965960" cy="3931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2100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251960" y="3383280"/>
            <a:ext cx="2057400" cy="4114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306824" y="3401568"/>
            <a:ext cx="1965960" cy="3931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567</a:t>
            </a:r>
          </a:p>
        </p:txBody>
      </p:sp>
      <p:sp>
        <p:nvSpPr>
          <p:cNvPr id="44" name="Rectangle 43"/>
          <p:cNvSpPr/>
          <p:nvPr/>
        </p:nvSpPr>
        <p:spPr>
          <a:xfrm>
            <a:off x="4251960" y="3794760"/>
            <a:ext cx="2057400" cy="41148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4306824" y="3813048"/>
            <a:ext cx="1965960" cy="3931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нет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251960" y="4206240"/>
            <a:ext cx="2057400" cy="4114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4306824" y="4224528"/>
            <a:ext cx="1965960" cy="3931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соблюд.</a:t>
            </a:r>
          </a:p>
        </p:txBody>
      </p:sp>
      <p:sp>
        <p:nvSpPr>
          <p:cNvPr id="48" name="Rectangle 47"/>
          <p:cNvSpPr/>
          <p:nvPr/>
        </p:nvSpPr>
        <p:spPr>
          <a:xfrm>
            <a:off x="4251960" y="4617720"/>
            <a:ext cx="2057400" cy="41148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4306824" y="4636008"/>
            <a:ext cx="1965960" cy="3931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15W-40 CI-4</a:t>
            </a:r>
          </a:p>
        </p:txBody>
      </p:sp>
      <p:sp>
        <p:nvSpPr>
          <p:cNvPr id="50" name="Rectangle 49"/>
          <p:cNvSpPr/>
          <p:nvPr/>
        </p:nvSpPr>
        <p:spPr>
          <a:xfrm>
            <a:off x="4251960" y="5029200"/>
            <a:ext cx="2057400" cy="4114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4306824" y="5047488"/>
            <a:ext cx="1965960" cy="3931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0,3</a:t>
            </a:r>
          </a:p>
        </p:txBody>
      </p:sp>
      <p:sp>
        <p:nvSpPr>
          <p:cNvPr id="52" name="Rectangle 51"/>
          <p:cNvSpPr/>
          <p:nvPr/>
        </p:nvSpPr>
        <p:spPr>
          <a:xfrm>
            <a:off x="4251960" y="5440680"/>
            <a:ext cx="2057400" cy="41148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4306824" y="5458968"/>
            <a:ext cx="1965960" cy="3931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9,7 / 6</a:t>
            </a:r>
          </a:p>
        </p:txBody>
      </p:sp>
      <p:sp>
        <p:nvSpPr>
          <p:cNvPr id="54" name="Rectangle 53"/>
          <p:cNvSpPr/>
          <p:nvPr/>
        </p:nvSpPr>
        <p:spPr>
          <a:xfrm>
            <a:off x="4251960" y="5852160"/>
            <a:ext cx="2057400" cy="4114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4306824" y="5870448"/>
            <a:ext cx="1965960" cy="3931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≤10</a:t>
            </a:r>
          </a:p>
        </p:txBody>
      </p:sp>
      <p:sp>
        <p:nvSpPr>
          <p:cNvPr id="56" name="Rectangle 55"/>
          <p:cNvSpPr/>
          <p:nvPr/>
        </p:nvSpPr>
        <p:spPr>
          <a:xfrm>
            <a:off x="6309360" y="1325880"/>
            <a:ext cx="2057400" cy="41148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6364224" y="1344168"/>
            <a:ext cx="1965960" cy="3931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730E</a:t>
            </a:r>
          </a:p>
        </p:txBody>
      </p:sp>
      <p:sp>
        <p:nvSpPr>
          <p:cNvPr id="58" name="Rectangle 57"/>
          <p:cNvSpPr/>
          <p:nvPr/>
        </p:nvSpPr>
        <p:spPr>
          <a:xfrm>
            <a:off x="6309360" y="1737360"/>
            <a:ext cx="2057400" cy="4114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6364224" y="1755648"/>
            <a:ext cx="1965960" cy="3931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100%</a:t>
            </a:r>
          </a:p>
        </p:txBody>
      </p:sp>
      <p:sp>
        <p:nvSpPr>
          <p:cNvPr id="60" name="Rectangle 59"/>
          <p:cNvSpPr/>
          <p:nvPr/>
        </p:nvSpPr>
        <p:spPr>
          <a:xfrm>
            <a:off x="6309360" y="2148840"/>
            <a:ext cx="2057400" cy="41148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6364224" y="2167128"/>
            <a:ext cx="1965960" cy="3931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ВКЛ</a:t>
            </a:r>
          </a:p>
        </p:txBody>
      </p:sp>
      <p:sp>
        <p:nvSpPr>
          <p:cNvPr id="62" name="Rectangle 61"/>
          <p:cNvSpPr/>
          <p:nvPr/>
        </p:nvSpPr>
        <p:spPr>
          <a:xfrm>
            <a:off x="6309360" y="2560320"/>
            <a:ext cx="2057400" cy="4114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6364224" y="2578608"/>
            <a:ext cx="1965960" cy="3931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ВКЛ</a:t>
            </a:r>
          </a:p>
        </p:txBody>
      </p:sp>
      <p:sp>
        <p:nvSpPr>
          <p:cNvPr id="64" name="Rectangle 63"/>
          <p:cNvSpPr/>
          <p:nvPr/>
        </p:nvSpPr>
        <p:spPr>
          <a:xfrm>
            <a:off x="6309360" y="2971800"/>
            <a:ext cx="2057400" cy="41148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6364224" y="2990088"/>
            <a:ext cx="1965960" cy="3931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1990</a:t>
            </a:r>
          </a:p>
        </p:txBody>
      </p:sp>
      <p:sp>
        <p:nvSpPr>
          <p:cNvPr id="66" name="Rectangle 65"/>
          <p:cNvSpPr/>
          <p:nvPr/>
        </p:nvSpPr>
        <p:spPr>
          <a:xfrm>
            <a:off x="6309360" y="3383280"/>
            <a:ext cx="2057400" cy="4114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6364224" y="3401568"/>
            <a:ext cx="1965960" cy="3931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~540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3794760"/>
            <a:ext cx="2057400" cy="41148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364224" y="3813048"/>
            <a:ext cx="1965960" cy="3931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нет*</a:t>
            </a:r>
          </a:p>
        </p:txBody>
      </p:sp>
      <p:sp>
        <p:nvSpPr>
          <p:cNvPr id="70" name="Rectangle 69"/>
          <p:cNvSpPr/>
          <p:nvPr/>
        </p:nvSpPr>
        <p:spPr>
          <a:xfrm>
            <a:off x="6309360" y="4206240"/>
            <a:ext cx="2057400" cy="4114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6364224" y="4224528"/>
            <a:ext cx="1965960" cy="3931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соблюд.</a:t>
            </a:r>
          </a:p>
        </p:txBody>
      </p:sp>
      <p:sp>
        <p:nvSpPr>
          <p:cNvPr id="72" name="Rectangle 71"/>
          <p:cNvSpPr/>
          <p:nvPr/>
        </p:nvSpPr>
        <p:spPr>
          <a:xfrm>
            <a:off x="6309360" y="4617720"/>
            <a:ext cx="2057400" cy="41148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6364224" y="4636008"/>
            <a:ext cx="1965960" cy="3931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15W-40 CI-4</a:t>
            </a:r>
          </a:p>
        </p:txBody>
      </p:sp>
      <p:sp>
        <p:nvSpPr>
          <p:cNvPr id="74" name="Rectangle 73"/>
          <p:cNvSpPr/>
          <p:nvPr/>
        </p:nvSpPr>
        <p:spPr>
          <a:xfrm>
            <a:off x="6309360" y="5029200"/>
            <a:ext cx="2057400" cy="4114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6364224" y="5047488"/>
            <a:ext cx="1965960" cy="3931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0,4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5440680"/>
            <a:ext cx="2057400" cy="41148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64224" y="5458968"/>
            <a:ext cx="1965960" cy="3931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9,5 / 16</a:t>
            </a:r>
          </a:p>
        </p:txBody>
      </p:sp>
      <p:sp>
        <p:nvSpPr>
          <p:cNvPr id="78" name="Rectangle 77"/>
          <p:cNvSpPr/>
          <p:nvPr/>
        </p:nvSpPr>
        <p:spPr>
          <a:xfrm>
            <a:off x="6309360" y="5852160"/>
            <a:ext cx="2057400" cy="4114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6364224" y="5870448"/>
            <a:ext cx="1965960" cy="3931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≤10</a:t>
            </a:r>
          </a:p>
        </p:txBody>
      </p:sp>
      <p:sp>
        <p:nvSpPr>
          <p:cNvPr id="80" name="Rectangle 79"/>
          <p:cNvSpPr/>
          <p:nvPr/>
        </p:nvSpPr>
        <p:spPr>
          <a:xfrm>
            <a:off x="8366760" y="1325880"/>
            <a:ext cx="3429000" cy="41148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8421624" y="1344168"/>
            <a:ext cx="3337560" cy="3931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Дифференцирует отказ?</a:t>
            </a:r>
          </a:p>
        </p:txBody>
      </p:sp>
      <p:sp>
        <p:nvSpPr>
          <p:cNvPr id="82" name="Rectangle 81"/>
          <p:cNvSpPr/>
          <p:nvPr/>
        </p:nvSpPr>
        <p:spPr>
          <a:xfrm>
            <a:off x="8366760" y="1737360"/>
            <a:ext cx="3429000" cy="4114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8421624" y="1755648"/>
            <a:ext cx="3337560" cy="3931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🔴 ДА — калибровка</a:t>
            </a:r>
          </a:p>
        </p:txBody>
      </p:sp>
      <p:sp>
        <p:nvSpPr>
          <p:cNvPr id="84" name="Rectangle 83"/>
          <p:cNvSpPr/>
          <p:nvPr/>
        </p:nvSpPr>
        <p:spPr>
          <a:xfrm>
            <a:off x="8366760" y="2148840"/>
            <a:ext cx="3429000" cy="41148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8421624" y="2167128"/>
            <a:ext cx="3337560" cy="3931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🔴 ДА — калибровка</a:t>
            </a:r>
          </a:p>
        </p:txBody>
      </p:sp>
      <p:sp>
        <p:nvSpPr>
          <p:cNvPr id="86" name="Rectangle 85"/>
          <p:cNvSpPr/>
          <p:nvPr/>
        </p:nvSpPr>
        <p:spPr>
          <a:xfrm>
            <a:off x="8366760" y="2560320"/>
            <a:ext cx="3429000" cy="4114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8421624" y="2578608"/>
            <a:ext cx="3337560" cy="3931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🔴 ДА — калибровка</a:t>
            </a:r>
          </a:p>
        </p:txBody>
      </p:sp>
      <p:sp>
        <p:nvSpPr>
          <p:cNvPr id="88" name="Rectangle 87"/>
          <p:cNvSpPr/>
          <p:nvPr/>
        </p:nvSpPr>
        <p:spPr>
          <a:xfrm>
            <a:off x="8366760" y="2971800"/>
            <a:ext cx="3429000" cy="41148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8421624" y="2990088"/>
            <a:ext cx="3337560" cy="3931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🔴 ДА — калибровка</a:t>
            </a:r>
          </a:p>
        </p:txBody>
      </p:sp>
      <p:sp>
        <p:nvSpPr>
          <p:cNvPr id="90" name="Rectangle 89"/>
          <p:cNvSpPr/>
          <p:nvPr/>
        </p:nvSpPr>
        <p:spPr>
          <a:xfrm>
            <a:off x="8366760" y="3383280"/>
            <a:ext cx="3429000" cy="4114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8421624" y="3401568"/>
            <a:ext cx="3337560" cy="3931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🔴 следствие</a:t>
            </a:r>
          </a:p>
        </p:txBody>
      </p:sp>
      <p:sp>
        <p:nvSpPr>
          <p:cNvPr id="92" name="Rectangle 91"/>
          <p:cNvSpPr/>
          <p:nvPr/>
        </p:nvSpPr>
        <p:spPr>
          <a:xfrm>
            <a:off x="8366760" y="3794760"/>
            <a:ext cx="3429000" cy="41148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8421624" y="3813048"/>
            <a:ext cx="3337560" cy="3931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🟠 фон (конструкция)</a:t>
            </a:r>
          </a:p>
        </p:txBody>
      </p:sp>
      <p:sp>
        <p:nvSpPr>
          <p:cNvPr id="94" name="Rectangle 93"/>
          <p:cNvSpPr/>
          <p:nvPr/>
        </p:nvSpPr>
        <p:spPr>
          <a:xfrm>
            <a:off x="8366760" y="4206240"/>
            <a:ext cx="3429000" cy="4114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8421624" y="4224528"/>
            <a:ext cx="3337560" cy="3931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🟢 нет</a:t>
            </a:r>
          </a:p>
        </p:txBody>
      </p:sp>
      <p:sp>
        <p:nvSpPr>
          <p:cNvPr id="96" name="Rectangle 95"/>
          <p:cNvSpPr/>
          <p:nvPr/>
        </p:nvSpPr>
        <p:spPr>
          <a:xfrm>
            <a:off x="8366760" y="4617720"/>
            <a:ext cx="3429000" cy="41148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8421624" y="4636008"/>
            <a:ext cx="3337560" cy="3931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🟢 нет</a:t>
            </a:r>
          </a:p>
        </p:txBody>
      </p:sp>
      <p:sp>
        <p:nvSpPr>
          <p:cNvPr id="98" name="Rectangle 97"/>
          <p:cNvSpPr/>
          <p:nvPr/>
        </p:nvSpPr>
        <p:spPr>
          <a:xfrm>
            <a:off x="8366760" y="5029200"/>
            <a:ext cx="3429000" cy="4114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8421624" y="5047488"/>
            <a:ext cx="3337560" cy="3931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🟢 нет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8366760" y="5440680"/>
            <a:ext cx="3429000" cy="41148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8421624" y="5458968"/>
            <a:ext cx="3337560" cy="3931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🟢 нет (Fe ниже)</a:t>
            </a:r>
          </a:p>
        </p:txBody>
      </p:sp>
      <p:sp>
        <p:nvSpPr>
          <p:cNvPr id="102" name="Rectangle 101"/>
          <p:cNvSpPr/>
          <p:nvPr/>
        </p:nvSpPr>
        <p:spPr>
          <a:xfrm>
            <a:off x="8366760" y="5852160"/>
            <a:ext cx="3429000" cy="4114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TextBox 102"/>
          <p:cNvSpPr txBox="1"/>
          <p:nvPr/>
        </p:nvSpPr>
        <p:spPr>
          <a:xfrm>
            <a:off x="8421624" y="5870448"/>
            <a:ext cx="3337560" cy="3931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🟢 нет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365760" y="5989320"/>
            <a:ext cx="114300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E05252"/>
                </a:solidFill>
                <a:latin typeface="Calibri"/>
              </a:rPr>
              <a:t>Все дифференцирующие параметры (🔴) — в калибровке ЭБУ. Эксплуатация (масло/нагрузка/топливо, 🟢) — не различает парки.</a:t>
            </a:r>
          </a:p>
        </p:txBody>
      </p:sp>
      <p:sp>
        <p:nvSpPr>
          <p:cNvPr id="105" name="Rectangle 104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TextBox 105"/>
          <p:cNvSpPr txBox="1"/>
          <p:nvPr/>
        </p:nvSpPr>
        <p:spPr>
          <a:xfrm>
            <a:off x="365760" y="6547104"/>
            <a:ext cx="114300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CFD6DA"/>
                </a:solidFill>
                <a:latin typeface="Calibri"/>
              </a:rPr>
              <a:t>АО Развитие   •   QSK50 / NTE200   •   Полюс Магадан   •   2026   •   Конфиденциально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201168" cy="105156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64592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707880"/>
                </a:solidFill>
                <a:latin typeface="Calibri"/>
              </a:rPr>
              <a:t>ПЕРЕПИСКА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11480"/>
            <a:ext cx="112471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1" i="0">
                <a:solidFill>
                  <a:srgbClr val="293136"/>
                </a:solidFill>
                <a:latin typeface="Calibri"/>
              </a:rPr>
              <a:t>Оценка писем NHL и Cummins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371600"/>
            <a:ext cx="6201003" cy="50292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12064" y="1389888"/>
            <a:ext cx="6109563" cy="4846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Тезис письма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1874519"/>
            <a:ext cx="6201003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12064" y="1892807"/>
            <a:ext cx="6109563" cy="4846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NHL: износ от зольности масла (SAPS)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2377439"/>
            <a:ext cx="6201003" cy="50292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12064" y="2395727"/>
            <a:ext cx="6109563" cy="4846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NHL: пыль из карьера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2880359"/>
            <a:ext cx="6201003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12064" y="2898647"/>
            <a:ext cx="6109563" cy="4846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NHL: Stellite не нужен «для rated»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3383279"/>
            <a:ext cx="6201003" cy="50292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12064" y="3401567"/>
            <a:ext cx="6109563" cy="4846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NHL: регулировка клапанов на 1500/5000 ч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3886199"/>
            <a:ext cx="6201003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12064" y="3904487"/>
            <a:ext cx="6109563" cy="4846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Cummins: масло CES20078 достаточно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4389119"/>
            <a:ext cx="6201003" cy="50292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12064" y="4407407"/>
            <a:ext cx="6109563" cy="4846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Cummins: на NTE200 защита по T масла отключена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7200" y="4892039"/>
            <a:ext cx="6201003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12064" y="4910327"/>
            <a:ext cx="6109563" cy="4846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Cummins: «не поставляет Stellite»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658203" y="1371600"/>
            <a:ext cx="5073548" cy="50292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713067" y="1389888"/>
            <a:ext cx="4982108" cy="4846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Вердикт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658203" y="1874519"/>
            <a:ext cx="5073548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713067" y="1892807"/>
            <a:ext cx="4982108" cy="4846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❌ смещает на эксплуатацию (низкий Fe)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658203" y="2377439"/>
            <a:ext cx="5073548" cy="50292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713067" y="2395727"/>
            <a:ext cx="4982108" cy="4846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❌ переоценка (Si подчинён)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658203" y="2880359"/>
            <a:ext cx="5073548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713067" y="2898647"/>
            <a:ext cx="4982108" cy="4846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❌ ложный (NTE200 ≠ rated: 567 °C)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658203" y="3383279"/>
            <a:ext cx="5073548" cy="50292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713067" y="3401567"/>
            <a:ext cx="4982108" cy="4846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⚠️ косвенное признание проблемы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658203" y="3886199"/>
            <a:ext cx="5073548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713067" y="3904487"/>
            <a:ext cx="4982108" cy="4846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❌ уход от корня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658203" y="4389119"/>
            <a:ext cx="5073548" cy="50292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713067" y="4407407"/>
            <a:ext cx="4982108" cy="4846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✅ ПОДТВЕРЖДАЕТ нашу находку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658203" y="4892039"/>
            <a:ext cx="5073548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713067" y="4910327"/>
            <a:ext cx="4982108" cy="4846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❌ уход от ответственности</a:t>
            </a:r>
          </a:p>
        </p:txBody>
      </p:sp>
      <p:sp>
        <p:nvSpPr>
          <p:cNvPr id="40" name="Rectangle 39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6547104"/>
            <a:ext cx="114300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CFD6DA"/>
                </a:solidFill>
                <a:latin typeface="Calibri"/>
              </a:rPr>
              <a:t>АО Развитие   •   QSK50 / NTE200   •   Полюс Магадан   •   2026   •   Конфиденциально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201168" cy="105156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64592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707880"/>
                </a:solidFill>
                <a:latin typeface="Calibri"/>
              </a:rPr>
              <a:t>ОБЪЕКТИВНОСТЬ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11480"/>
            <a:ext cx="112471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1" i="0">
                <a:solidFill>
                  <a:srgbClr val="293136"/>
                </a:solidFill>
                <a:latin typeface="Calibri"/>
              </a:rPr>
              <a:t>Достоверность и пробелы данных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371600"/>
            <a:ext cx="6764731" cy="50292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12064" y="1389888"/>
            <a:ext cx="6673291" cy="4846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Пункт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1874519"/>
            <a:ext cx="6764731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12064" y="1892807"/>
            <a:ext cx="6673291" cy="4846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Даты ремонтов #47, #48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2377439"/>
            <a:ext cx="6764731" cy="50292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12064" y="2395727"/>
            <a:ext cx="6673291" cy="4846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Счёт ремонтов («30/24+» vs ~13)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2880359"/>
            <a:ext cx="6764731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12064" y="2898647"/>
            <a:ext cx="6673291" cy="4846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«0 отказов 730E»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3383279"/>
            <a:ext cx="6764731" cy="50292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12064" y="3401567"/>
            <a:ext cx="6673291" cy="4846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Цитаты Cummins 378-010/011, лимит 520 °C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3886199"/>
            <a:ext cx="6764731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12064" y="3904487"/>
            <a:ext cx="6673291" cy="4846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EGT 567 (#82 DML) vs 329 (#83 INSITE)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4389119"/>
            <a:ext cx="6764731" cy="50292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12064" y="4407407"/>
            <a:ext cx="6673291" cy="4846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Тоннаж 220 т / «295 т»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7200" y="4892039"/>
            <a:ext cx="6764731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12064" y="4910327"/>
            <a:ext cx="6673291" cy="4846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Период проб масла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221931" y="1371600"/>
            <a:ext cx="4509820" cy="50292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276795" y="1389888"/>
            <a:ext cx="4418380" cy="4846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Статус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221931" y="1874519"/>
            <a:ext cx="4509820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276795" y="1892807"/>
            <a:ext cx="4418380" cy="4846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❌ расходятся между источниками</a:t>
            </a:r>
          </a:p>
        </p:txBody>
      </p:sp>
      <p:sp>
        <p:nvSpPr>
          <p:cNvPr id="28" name="Rectangle 27"/>
          <p:cNvSpPr/>
          <p:nvPr/>
        </p:nvSpPr>
        <p:spPr>
          <a:xfrm>
            <a:off x="7221931" y="2377439"/>
            <a:ext cx="4509820" cy="50292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276795" y="2395727"/>
            <a:ext cx="4418380" cy="4846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❌ прежняя оценка завышена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221931" y="2880359"/>
            <a:ext cx="4509820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276795" y="2898647"/>
            <a:ext cx="4418380" cy="4846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⚠️ нет полного реестра ремонтов 730E</a:t>
            </a:r>
          </a:p>
        </p:txBody>
      </p:sp>
      <p:sp>
        <p:nvSpPr>
          <p:cNvPr id="32" name="Rectangle 31"/>
          <p:cNvSpPr/>
          <p:nvPr/>
        </p:nvSpPr>
        <p:spPr>
          <a:xfrm>
            <a:off x="7221931" y="3383279"/>
            <a:ext cx="4509820" cy="50292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276795" y="3401567"/>
            <a:ext cx="4418380" cy="4846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⚠️ без дословного первоисточника</a:t>
            </a:r>
          </a:p>
        </p:txBody>
      </p:sp>
      <p:sp>
        <p:nvSpPr>
          <p:cNvPr id="34" name="Rectangle 33"/>
          <p:cNvSpPr/>
          <p:nvPr/>
        </p:nvSpPr>
        <p:spPr>
          <a:xfrm>
            <a:off x="7221931" y="3886199"/>
            <a:ext cx="4509820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276795" y="3904487"/>
            <a:ext cx="4418380" cy="4846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⚠️ разные машины/условия</a:t>
            </a:r>
          </a:p>
        </p:txBody>
      </p:sp>
      <p:sp>
        <p:nvSpPr>
          <p:cNvPr id="36" name="Rectangle 35"/>
          <p:cNvSpPr/>
          <p:nvPr/>
        </p:nvSpPr>
        <p:spPr>
          <a:xfrm>
            <a:off x="7221931" y="4389119"/>
            <a:ext cx="4509820" cy="50292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276795" y="4407407"/>
            <a:ext cx="4418380" cy="4846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❌ исправлено на 180 т (239 т)</a:t>
            </a:r>
          </a:p>
        </p:txBody>
      </p:sp>
      <p:sp>
        <p:nvSpPr>
          <p:cNvPr id="38" name="Rectangle 37"/>
          <p:cNvSpPr/>
          <p:nvPr/>
        </p:nvSpPr>
        <p:spPr>
          <a:xfrm>
            <a:off x="7221931" y="4892039"/>
            <a:ext cx="4509820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7276795" y="4910327"/>
            <a:ext cx="4418380" cy="4846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✅ 2024-02 — 2025-12</a:t>
            </a:r>
          </a:p>
        </p:txBody>
      </p:sp>
      <p:sp>
        <p:nvSpPr>
          <p:cNvPr id="40" name="Rectangle 39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6547104"/>
            <a:ext cx="114300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CFD6DA"/>
                </a:solidFill>
                <a:latin typeface="Calibri"/>
              </a:rPr>
              <a:t>АО Развитие   •   QSK50 / NTE200   •   Полюс Магадан   •   2026   •   Конфиденциально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201168" cy="105156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64592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707880"/>
                </a:solidFill>
                <a:latin typeface="Calibri"/>
              </a:rPr>
              <a:t>ДЕЙСТВИЯ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11480"/>
            <a:ext cx="112471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1" i="0">
                <a:solidFill>
                  <a:srgbClr val="293136"/>
                </a:solidFill>
                <a:latin typeface="Calibri"/>
              </a:rPr>
              <a:t>Рекомендации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280160"/>
            <a:ext cx="2011680" cy="310896"/>
          </a:xfrm>
          <a:prstGeom prst="rect">
            <a:avLst/>
          </a:prstGeom>
          <a:solidFill>
            <a:srgbClr val="E052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30352" y="1307592"/>
            <a:ext cx="1901952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НЕМЕДЛЕННО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1691640"/>
            <a:ext cx="1124712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• Перекалибровать ЭБУ NTE200 под профиль 730E: TIB 100%, включить защиту по T масла и триггеры перегрева, убрать задержки derate, снизить max обороты до 1990.</a:t>
            </a:r>
          </a:p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• Контрольный DML после перекалибровки — подтвердить снижение EGT.</a:t>
            </a:r>
          </a:p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• Заменить датчики EGT с FC1531/1619 (#82, #67).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3200400"/>
            <a:ext cx="2377440" cy="310896"/>
          </a:xfrm>
          <a:prstGeom prst="rect">
            <a:avLst/>
          </a:prstGeom>
          <a:solidFill>
            <a:srgbClr val="E08C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30352" y="3227832"/>
            <a:ext cx="2267712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СРЕДНЕСРОЧНО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3611880"/>
            <a:ext cx="1124712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• Запрос NHL/Cummins: обоснование исключения Stellite и отключения защит; поставка клапанов с наплавкой.</a:t>
            </a:r>
          </a:p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• Унифицировать прошивку ЭБУ (.07/.08).</a:t>
            </a:r>
          </a:p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• Сопоставить FC611/EGT-коды с историей ремонтов.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4846320"/>
            <a:ext cx="2194560" cy="310896"/>
          </a:xfrm>
          <a:prstGeom prst="rect">
            <a:avLst/>
          </a:prstGeom>
          <a:solidFill>
            <a:srgbClr val="2EA0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30352" y="4873752"/>
            <a:ext cx="2084831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ДОЛГОСРОЧНО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5257800"/>
            <a:ext cx="1124712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• Мониторинг EGT и FC611 в реальном времени.</a:t>
            </a:r>
          </a:p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• Устранить нарушение по паспорту топлива №246.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65760" y="6547104"/>
            <a:ext cx="114300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CFD6DA"/>
                </a:solidFill>
                <a:latin typeface="Calibri"/>
              </a:rPr>
              <a:t>АО Развитие   •   QSK50 / NTE200   •   Полюс Магадан   •   2026   •   Конфиденциально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200400"/>
            <a:ext cx="12191695" cy="54864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468880"/>
            <a:ext cx="1069848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 i="0">
                <a:solidFill>
                  <a:srgbClr val="FFFFFF"/>
                </a:solidFill>
                <a:latin typeface="Calibri"/>
              </a:rPr>
              <a:t>Коренная причина — калибровка ЭБУ (TIB + отключённые защиты),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383280"/>
            <a:ext cx="1069848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 i="0">
                <a:solidFill>
                  <a:srgbClr val="FFFFFF"/>
                </a:solidFill>
                <a:latin typeface="Calibri"/>
              </a:rPr>
              <a:t>усугублённая отсутствием наплавки Stellite.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4389120"/>
            <a:ext cx="106984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 i="0">
                <a:solidFill>
                  <a:srgbClr val="3EF0AF"/>
                </a:solidFill>
                <a:latin typeface="Calibri"/>
              </a:rPr>
              <a:t>Перегрузка и масло — не дифференцирующие факторы (подтверждено данными).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5943600"/>
            <a:ext cx="106984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707880"/>
                </a:solidFill>
                <a:latin typeface="Calibri"/>
              </a:rPr>
              <a:t>АО «Развитие» · техническая служба + отдел надёжности · 2026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