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EF0AF"/>
                </a:solidFill>
                <a:latin typeface="Calibri"/>
              </a:rPr>
              <a:t>АО «РАЗВИТИЕ»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Отказы ГБЦ и клапанов Cummins QSK50</a:t>
            </a:r>
          </a:p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на самосвалах NTE200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CFD6DA"/>
                </a:solidFill>
                <a:latin typeface="Calibri"/>
              </a:rPr>
              <a:t>Отчёт технической службы и отдела надёжности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07880"/>
                </a:solidFill>
                <a:latin typeface="Calibri"/>
              </a:rPr>
              <a:t>Полюс Магадан · номинал 180 т · контрольная группа 730E-DC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2026 · Конфиденциально · все числа из первичных данных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РЕЗЮМЕ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Резюме: коренная причина и факторы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74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09728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Коренная причина — системное снижение тепловой защиты в калибровке ЭБУ NTE200 (15 параметров):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TIB 200% vs 100%, отключены триггеры перегрева (масло/ОЖ/наддув/топливо), задержки derate 43–51 с, обороты 2100 vs 1990.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Усугубляющий конструктивный фактор — отсутствие наплавки Stellite на выпускном клапане (исполнение NHL).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4058838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441448"/>
            <a:ext cx="396739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Фактор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40588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898648"/>
            <a:ext cx="396739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Калибровка ЭБУ (TIB + защиты)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405883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355848"/>
            <a:ext cx="396739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Отсутствие Stellite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94760"/>
            <a:ext cx="40588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3813048"/>
            <a:ext cx="396739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EGT 567 °C (лимит 520)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51960"/>
            <a:ext cx="405883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4270248"/>
            <a:ext cx="396739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Систематическая перегрузка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09160"/>
            <a:ext cx="40588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4727448"/>
            <a:ext cx="396739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Марка масла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66360"/>
            <a:ext cx="4058838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5184648"/>
            <a:ext cx="396739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Топливо (сера)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16038" y="2423160"/>
            <a:ext cx="3382365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0902" y="2441448"/>
            <a:ext cx="329092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Вердикт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16038" y="2880360"/>
            <a:ext cx="338236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0902" y="2898648"/>
            <a:ext cx="329092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Коренная причина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16038" y="3337560"/>
            <a:ext cx="3382365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0902" y="3355848"/>
            <a:ext cx="329092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Вторичный (конструкция)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6038" y="3794760"/>
            <a:ext cx="338236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0902" y="3813048"/>
            <a:ext cx="329092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Прямое доказательство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6038" y="4251960"/>
            <a:ext cx="3382365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0902" y="4270248"/>
            <a:ext cx="329092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НЕ подтверждена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16038" y="4709160"/>
            <a:ext cx="338236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0902" y="4727448"/>
            <a:ext cx="329092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Не дифференцирует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16038" y="5166360"/>
            <a:ext cx="3382365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0902" y="5184648"/>
            <a:ext cx="329092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Исключено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98404" y="2423160"/>
            <a:ext cx="3833347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3268" y="2441448"/>
            <a:ext cx="374190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Основание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98404" y="2880360"/>
            <a:ext cx="3833347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3268" y="2898648"/>
            <a:ext cx="374190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15 параметров 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98404" y="3337560"/>
            <a:ext cx="3833347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3268" y="3355848"/>
            <a:ext cx="374190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письма NHL/Cummins 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98404" y="3794760"/>
            <a:ext cx="3833347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3268" y="3813048"/>
            <a:ext cx="374190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DML #82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98404" y="4251960"/>
            <a:ext cx="3833347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3268" y="4270248"/>
            <a:ext cx="374190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10/10/20 соблюдается 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98404" y="4709160"/>
            <a:ext cx="3833347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3268" y="4727448"/>
            <a:ext cx="374190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= 730E (CI-4) 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98404" y="5166360"/>
            <a:ext cx="3833347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3268" y="5184648"/>
            <a:ext cx="374190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Е5, 2–10 мг/кг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EF0AF"/>
                </a:solidFill>
                <a:latin typeface="Calibri"/>
              </a:rPr>
              <a:t>ЧАСТЬ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Техническая служба — наблюдаемые факты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ОБЪЕКТ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Парк NTE200 и статус двигателей (ECM)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NTE200: карьерный самосвал 180 т, двигатель Cummins QSK50 MCRS (V16, Tier 2, без DPF/EGR), электропривод GE. Контроль — 730E-DC.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174796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2121408"/>
            <a:ext cx="30833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Статус по ECM (38 машин)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317479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578608"/>
            <a:ext cx="30833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Отказ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3174796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3035808"/>
            <a:ext cx="30833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EGT/связанные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317479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493008"/>
            <a:ext cx="30833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Норма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3174796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3950207"/>
            <a:ext cx="30833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Катастрофический (#83)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31996" y="2103120"/>
            <a:ext cx="1945843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6860" y="2121408"/>
            <a:ext cx="1854403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Машин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31996" y="2560320"/>
            <a:ext cx="1945843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6860" y="2578608"/>
            <a:ext cx="1854403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1996" y="3017520"/>
            <a:ext cx="1945843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6860" y="3035808"/>
            <a:ext cx="1854403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31996" y="3474720"/>
            <a:ext cx="1945843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6860" y="3493008"/>
            <a:ext cx="1854403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1996" y="3931920"/>
            <a:ext cx="1945843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86860" y="3950207"/>
            <a:ext cx="1854403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103120"/>
            <a:ext cx="5669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2103120"/>
            <a:ext cx="109728" cy="22860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240280"/>
            <a:ext cx="5303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21 из 38 машин (55%) — в отказном или EGT-связанном статусе.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Прошивки ЭБУ AQ60809.07 (23) и .08 (13) сосуществуют в парке.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Макс. обороты по ECM ~2030–2060 (что согласуется с повышенным лимитом 2100 vs 1990 на 730E).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РЕМОНТЫ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Реестр отказов ГБЦ / клапанов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578437" cy="47548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9888"/>
            <a:ext cx="148699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Маш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1578437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65376"/>
            <a:ext cx="148699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#51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22576"/>
            <a:ext cx="1578437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40864"/>
            <a:ext cx="148699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#58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98064"/>
            <a:ext cx="1578437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16352"/>
            <a:ext cx="148699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#47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73552"/>
            <a:ext cx="1578437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291840"/>
            <a:ext cx="148699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#48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578437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767327"/>
            <a:ext cx="148699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#43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24527"/>
            <a:ext cx="1578437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242815"/>
            <a:ext cx="148699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#83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00015"/>
            <a:ext cx="1578437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718303"/>
            <a:ext cx="148699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#48 / #58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75503"/>
            <a:ext cx="1578437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5193791"/>
            <a:ext cx="148699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#78 / #55 / #69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35637" y="1371600"/>
            <a:ext cx="2480401" cy="47548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90501" y="1389888"/>
            <a:ext cx="238896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Дата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35637" y="1847088"/>
            <a:ext cx="2480401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90501" y="1865376"/>
            <a:ext cx="238896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17.07.2025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35637" y="2322576"/>
            <a:ext cx="2480401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90501" y="2340864"/>
            <a:ext cx="238896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10.08.2025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35637" y="2798064"/>
            <a:ext cx="2480401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90501" y="2816352"/>
            <a:ext cx="238896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11.08 / 07.12.2025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35637" y="3273552"/>
            <a:ext cx="2480401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90501" y="3291840"/>
            <a:ext cx="238896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23.11 / 17.12.2025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35637" y="3749039"/>
            <a:ext cx="2480401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90501" y="3767327"/>
            <a:ext cx="238896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21.01.2026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35637" y="4224527"/>
            <a:ext cx="2480401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90501" y="4242815"/>
            <a:ext cx="238896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~03.2026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35637" y="4700015"/>
            <a:ext cx="2480401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90501" y="4718303"/>
            <a:ext cx="238896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03.2026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35637" y="5175503"/>
            <a:ext cx="2480401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90501" y="5193791"/>
            <a:ext cx="238896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05.2026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16038" y="1371600"/>
            <a:ext cx="2029419" cy="47548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0902" y="1389888"/>
            <a:ext cx="19379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Наработка, 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16038" y="1847088"/>
            <a:ext cx="202941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0902" y="1865376"/>
            <a:ext cx="19379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~10 783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16038" y="2322576"/>
            <a:ext cx="2029419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0902" y="2340864"/>
            <a:ext cx="19379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~10 702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16038" y="2798064"/>
            <a:ext cx="202941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0902" y="2816352"/>
            <a:ext cx="19379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~12 890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16038" y="3273552"/>
            <a:ext cx="2029419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0902" y="3291840"/>
            <a:ext cx="19379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~14 997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16038" y="3749039"/>
            <a:ext cx="202941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0902" y="3767327"/>
            <a:ext cx="19379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16038" y="4224527"/>
            <a:ext cx="2029419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0902" y="4242815"/>
            <a:ext cx="19379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2 776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16038" y="4700015"/>
            <a:ext cx="202941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0902" y="4718303"/>
            <a:ext cx="19379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~15 126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16038" y="5175503"/>
            <a:ext cx="2029419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0902" y="5193791"/>
            <a:ext cx="19379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45458" y="1371600"/>
            <a:ext cx="5186293" cy="47548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00322" y="1389888"/>
            <a:ext cx="50948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Операция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45458" y="1847088"/>
            <a:ext cx="5186293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00322" y="1865376"/>
            <a:ext cx="50948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Замена ГБЦ (трещина → ОЖ в масло)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45458" y="2322576"/>
            <a:ext cx="5186293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00322" y="2340864"/>
            <a:ext cx="50948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Клапан/седло + толкатель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45458" y="2798064"/>
            <a:ext cx="5186293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00322" y="2816352"/>
            <a:ext cx="50948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Замена ГБЦ (даты расходятся)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45458" y="3273552"/>
            <a:ext cx="5186293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00322" y="3291840"/>
            <a:ext cx="50948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Замена ГБЦ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45458" y="3749039"/>
            <a:ext cx="5186293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00322" y="3767327"/>
            <a:ext cx="50948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Клапаны + форсунки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45458" y="4224527"/>
            <a:ext cx="5186293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00322" y="4242815"/>
            <a:ext cx="50948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Замена ГБЦ (ранний, «Катастроф.»)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45458" y="4700015"/>
            <a:ext cx="5186293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00322" y="4718303"/>
            <a:ext cx="50948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Повторные ремонты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45458" y="5175503"/>
            <a:ext cx="5186293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00322" y="5193791"/>
            <a:ext cx="509485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Клапаны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5252"/>
                </a:solidFill>
                <a:latin typeface="Calibri"/>
              </a:rPr>
              <a:t>Всего ~11 машин / ~13 событий. Прежняя оценка «30 событий / 24+ ед.» не подтверждается.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ДИАГНОСТИКА · DML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DML — температуры выхлопа (EGT)</a:t>
            </a:r>
          </a:p>
        </p:txBody>
      </p:sp>
      <p:pic>
        <p:nvPicPr>
          <p:cNvPr id="8" name="Picture 7" descr="e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040880" cy="277929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89520" y="1371600"/>
            <a:ext cx="42062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371600"/>
            <a:ext cx="109728" cy="42062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508760"/>
            <a:ext cx="3931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#82, рейс с породой:</a:t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• Ц2 и Ц6 = 567 °C при лимите 520 °C (+47).</a:t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• Банк B горячее банка A на ~60 °C — дисбаланс корректирующей дозы (TIB).</a:t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• Датчик Ц11 ≈ 98 °C (FC1531) — обрыв термопары, индикатор обгоревшего клапана.</a:t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• Без нагрузки 287 °C → с нагрузкой 474 °C (рост +187).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ДИАГНОСТИКА · ECM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Ошибки ECM (Fault Codes) — флот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52144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9888"/>
            <a:ext cx="106070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15214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47088"/>
            <a:ext cx="106070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611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152144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04288"/>
            <a:ext cx="106070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115214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761488"/>
            <a:ext cx="106070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1152144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218688"/>
            <a:ext cx="106070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146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115214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675887"/>
            <a:ext cx="106070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197/235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9344" y="1371600"/>
            <a:ext cx="1280160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64208" y="1389888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Машин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9344" y="18288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4208" y="1847088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9344" y="2286000"/>
            <a:ext cx="1280160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64208" y="2304288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9344" y="27432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64208" y="2761488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9344" y="3200400"/>
            <a:ext cx="1280160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64208" y="3218688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9344" y="365760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64208" y="3675887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18/13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9504" y="1371600"/>
            <a:ext cx="3968496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44368" y="1389888"/>
            <a:ext cx="38770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Описание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9504" y="1828800"/>
            <a:ext cx="396849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44368" y="1847088"/>
            <a:ext cx="38770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Остановка горячего двигателя 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9504" y="2286000"/>
            <a:ext cx="3968496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44368" y="2304288"/>
            <a:ext cx="38770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Канал J1939 — хаотичный характер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9504" y="2743200"/>
            <a:ext cx="396849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44368" y="2761488"/>
            <a:ext cx="38770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Высокая частота вращения (Red)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9504" y="3200400"/>
            <a:ext cx="3968496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44368" y="3218688"/>
            <a:ext cx="38770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Температура ОЖ высокая 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9504" y="3657600"/>
            <a:ext cx="396849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44368" y="3675887"/>
            <a:ext cx="38770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Уровень охлаждающей жидкости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1371600"/>
            <a:ext cx="45720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2320" y="1371600"/>
            <a:ext cx="109728" cy="40233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1508760"/>
            <a:ext cx="4297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АКТИВНЫЕ неисправности:</a:t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• #61 → FC 628 «Малое отклонение EGT» — маркер теплового дисбаланса.</a:t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• #67 → FC 1619 «датчик EGT цилиндра» — отказ датчика.</a:t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• #51 → FC 1549/323/1557 — цепи форсунок.</a:t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361 файл INSITE, 106 кодов. «Горячий стоп» (FC611) — на 46 машинах.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ЭКСПЛУАТАЦИЯ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Топливо и масло</a:t>
            </a:r>
          </a:p>
        </p:txBody>
      </p:sp>
      <p:pic>
        <p:nvPicPr>
          <p:cNvPr id="8" name="Picture 7" descr="o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029200" cy="279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0" y="1371600"/>
            <a:ext cx="60350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371600"/>
            <a:ext cx="109728" cy="41148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0448" y="1481328"/>
            <a:ext cx="5760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Топливо: 25+ паспортов, сера 2–10 мг/кг (Е5, в 2,4× ниже порога Cummins). Исключено.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Масло ДВС (2024–2026, 1583 пробы NTE200): Газпромнефть G-Profi MSI Plus + TEBOIL Super HPD Plus, оба 15W-40 CI-4. = как на 730E → не дифференцирует.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Состояние масла отличное: TBN 9,5 (норма ≥2,5), САЖА 0,3 (низкая), окисление 0,1, Fe P95=5.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Низкая сажа ОПРОВЕРГАЕТ версию NHL про «сажа/зола → износ клапанов». Отказ ТЕРМИЧЕСКИЙ.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EF0AF"/>
                </a:solidFill>
                <a:latin typeface="Calibri"/>
              </a:rPr>
              <a:t>ЧАСТЬ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Отдел надёжности — анализ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НАГРУЗКА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Грузоподъёмность и политика 10/10/20</a:t>
            </a:r>
          </a:p>
        </p:txBody>
      </p:sp>
      <p:pic>
        <p:nvPicPr>
          <p:cNvPr id="8" name="Picture 7" descr="l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120640" cy="284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0" y="1463040"/>
            <a:ext cx="2450592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24144" y="1481328"/>
            <a:ext cx="23591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Метрика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920240"/>
            <a:ext cx="245059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24144" y="1938528"/>
            <a:ext cx="23591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FinalPayload/180 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377440"/>
            <a:ext cx="2450592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24144" y="2395728"/>
            <a:ext cx="23591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Родное LoadPercentage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1463040"/>
            <a:ext cx="918971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481328"/>
            <a:ext cx="8275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Ср.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1920240"/>
            <a:ext cx="918971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938528"/>
            <a:ext cx="8275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99,7%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9872" y="2377440"/>
            <a:ext cx="918971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2395728"/>
            <a:ext cx="8275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102,8%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38844" y="1463040"/>
            <a:ext cx="918971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3708" y="1481328"/>
            <a:ext cx="8275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&gt;110%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8844" y="1920240"/>
            <a:ext cx="918971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3708" y="1938528"/>
            <a:ext cx="8275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6,0%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8844" y="2377440"/>
            <a:ext cx="918971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3708" y="2395728"/>
            <a:ext cx="8275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8,2%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57816" y="1463040"/>
            <a:ext cx="918971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1481328"/>
            <a:ext cx="8275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&gt;120%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57816" y="1920240"/>
            <a:ext cx="918971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1938528"/>
            <a:ext cx="8275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0,01%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57816" y="2377440"/>
            <a:ext cx="918971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2395728"/>
            <a:ext cx="8275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0,10%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76788" y="1463040"/>
            <a:ext cx="918971" cy="4572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31652" y="1481328"/>
            <a:ext cx="8275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Макс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76788" y="1920240"/>
            <a:ext cx="918971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31652" y="1938528"/>
            <a:ext cx="8275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133%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76788" y="2377440"/>
            <a:ext cx="918971" cy="4572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31652" y="2395728"/>
            <a:ext cx="8275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145%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2743200"/>
            <a:ext cx="61264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0" y="2743200"/>
            <a:ext cx="109728" cy="27432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70448" y="2852928"/>
            <a:ext cx="5760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Вывод: парк СООТВЕТСТВУЕТ 10/10/20 (среднее ≈100%, &gt;120% практически нет).</a:t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Систематическая перегрузка как значимый фактор НЕ подтверждается.</a:t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Прежний тезис «макс 295 т / нарушены все критерии» — ошибка (номинал брался 220 т вместо 180 т). Корректно: макс 133% ≈ 239 т.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ПРОИЗВОДИТЕЛЬНОСТЬ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Производительность парка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657600" cy="914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93136"/>
                </a:solidFill>
                <a:latin typeface="Calibri"/>
              </a:rPr>
              <a:t>65,5 млн 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07880"/>
                </a:solidFill>
                <a:latin typeface="Calibri"/>
              </a:rPr>
              <a:t>перевезено всего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3657600" cy="914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2880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93136"/>
                </a:solidFill>
                <a:latin typeface="Calibri"/>
              </a:rPr>
              <a:t>365 069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974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07880"/>
                </a:solidFill>
                <a:latin typeface="Calibri"/>
              </a:rPr>
              <a:t>рейсов (131 файл)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657600" cy="914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2880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93136"/>
                </a:solidFill>
                <a:latin typeface="Calibri"/>
              </a:rPr>
              <a:t>30,6 мин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974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07880"/>
                </a:solidFill>
                <a:latin typeface="Calibri"/>
              </a:rPr>
              <a:t>средний цикл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3657600" cy="914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93136"/>
                </a:solidFill>
                <a:latin typeface="Calibri"/>
              </a:rPr>
              <a:t>4,32 км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006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07880"/>
                </a:solidFill>
                <a:latin typeface="Calibri"/>
              </a:rPr>
              <a:t>гружёный пробег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56616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566160"/>
            <a:ext cx="3657600" cy="914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93192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93136"/>
                </a:solidFill>
                <a:latin typeface="Calibri"/>
              </a:rPr>
              <a:t>31 км/ч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8006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07880"/>
                </a:solidFill>
                <a:latin typeface="Calibri"/>
              </a:rPr>
              <a:t>скорость гружёного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56616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566160"/>
            <a:ext cx="3657600" cy="914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93192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93136"/>
                </a:solidFill>
                <a:latin typeface="Calibri"/>
              </a:rPr>
              <a:t>6 888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8006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07880"/>
                </a:solidFill>
                <a:latin typeface="Calibri"/>
              </a:rPr>
              <a:t>рейсов/машину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АНАЛИЗ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Анализ всех отказов и возможных причин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764731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9888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Возможная причина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676473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9280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Калибровка ЭБУ (TIB + отключённые защиты)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676473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9572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Отсутствие Stellite (NHL)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676473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9864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Перегрузка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676473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40156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Абразивный/зольный износ (версия NHL)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676473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90448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Марка/класс масла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676473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40740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Топливо (сера)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92039"/>
            <a:ext cx="676473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91032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Естественный износ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1931" y="1371600"/>
            <a:ext cx="4509820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6795" y="1389888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Вердикт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1931" y="187451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6795" y="189280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🔴 Коренная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1931" y="2377439"/>
            <a:ext cx="450982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6795" y="239572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🟠 Вторичный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1931" y="288035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6795" y="289864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🟢 Не значима (10/10/20)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1931" y="3383279"/>
            <a:ext cx="450982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76795" y="340156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🟢 Ослаблена (низкий Fe)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1931" y="388619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6795" y="390448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🟢 Не дифференцирует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1931" y="4389119"/>
            <a:ext cx="450982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6795" y="440740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🟢 Исключено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1931" y="489203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76795" y="491032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🟢 Исключён (#83 при 2 776 ч)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КАЛИБРОВКА ЭБУ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15 параметров ЭБУ: NTE200 vs 730E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09820" cy="5669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9888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Параметр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38528"/>
            <a:ext cx="45098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56816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TIB верхний предел коррекции топлива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05456"/>
            <a:ext cx="4509820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523744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Снижение оборотов по T масла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72384"/>
            <a:ext cx="45098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090672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Триггер high T наддувочного воздуха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39312"/>
            <a:ext cx="4509820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Триггер high T ОЖ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45098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4224528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Триггер high T топлива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73168"/>
            <a:ext cx="4509820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791456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Задержка снижения мощности (масло)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40096"/>
            <a:ext cx="45098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5358384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Задержка снижения мощности (ОЖ)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7020" y="1371600"/>
            <a:ext cx="1803928" cy="5669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1884" y="1389888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730E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67020" y="1938528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1884" y="1956816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67020" y="2505456"/>
            <a:ext cx="1803928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1884" y="2523744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Вкл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67020" y="3072384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1884" y="3090672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54 °C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67020" y="3639312"/>
            <a:ext cx="1803928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1884" y="3657600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85 °C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67020" y="4206240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1884" y="4224528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68 °C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67020" y="4773168"/>
            <a:ext cx="1803928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1884" y="4791456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0 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67020" y="5340096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1884" y="5358384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0 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70949" y="1371600"/>
            <a:ext cx="1803928" cy="5669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25813" y="1389888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NTE200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70949" y="1938528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25813" y="1956816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70949" y="2505456"/>
            <a:ext cx="1803928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25813" y="2523744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ВЫКЛ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70949" y="3072384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25813" y="3090672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ВЫКЛ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70949" y="3639312"/>
            <a:ext cx="1803928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25813" y="3657600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ВЫКЛ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70949" y="4206240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25813" y="4224528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ВЫКЛ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70949" y="4773168"/>
            <a:ext cx="1803928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25813" y="4791456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51 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70949" y="5340096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25813" y="5358384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43 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74877" y="1371600"/>
            <a:ext cx="3156874" cy="5669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29741" y="1389888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Влияние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74877" y="1938528"/>
            <a:ext cx="315687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29741" y="1956816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переобогащение / поздний впрыск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74877" y="2505456"/>
            <a:ext cx="3156874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29741" y="2523744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нет защиты от перегрева масла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74877" y="3072384"/>
            <a:ext cx="315687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29741" y="3090672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нет тревоги перегрева наддува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74877" y="3639312"/>
            <a:ext cx="3156874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29741" y="3657600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нет сигнала перегрева ОЖ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74877" y="4206240"/>
            <a:ext cx="315687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29741" y="4224528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нет тревоги перегрева топлива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74877" y="4773168"/>
            <a:ext cx="3156874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29741" y="4791456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полная мощность в перегреве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74877" y="5340096"/>
            <a:ext cx="315687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29741" y="5358384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43 с без снижения нагрузки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КАЛИБРОВКА ЭБУ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15 параметров ЭБУ: NTE200 vs 730E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09820" cy="5669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9888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Параметр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38528"/>
            <a:ext cx="45098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56816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Макс. рабочие обороты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05456"/>
            <a:ext cx="4509820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523744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Макс. обороты (реф. 2/3)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72384"/>
            <a:ext cx="45098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090672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Макс. наклон регулятора (droop)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39312"/>
            <a:ext cx="4509820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Горячий стоп — момент (верх.)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45098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4224528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Горячий стоп — момент (нижн.)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73168"/>
            <a:ext cx="4509820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791456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Топливный код (карта впрыска)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40096"/>
            <a:ext cx="45098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5358384"/>
            <a:ext cx="44183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Пуск вентилятора охл. наддува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7020" y="1371600"/>
            <a:ext cx="1803928" cy="5669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1884" y="1389888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730E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67020" y="1938528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1884" y="1956816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1990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67020" y="2505456"/>
            <a:ext cx="1803928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1884" y="2523744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1990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67020" y="3072384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1884" y="3090672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67020" y="3639312"/>
            <a:ext cx="1803928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1884" y="3657600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5509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67020" y="4206240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1884" y="4224528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4722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67020" y="4773168"/>
            <a:ext cx="1803928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1884" y="4791456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FC0BU52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67020" y="5340096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1884" y="5358384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50 °C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70949" y="1371600"/>
            <a:ext cx="1803928" cy="5669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25813" y="1389888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NTE200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70949" y="1938528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25813" y="1956816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70949" y="2505456"/>
            <a:ext cx="1803928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25813" y="2523744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2225,8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70949" y="3072384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25813" y="3090672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70949" y="3639312"/>
            <a:ext cx="1803928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25813" y="3657600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3650 Н·м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70949" y="4206240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25813" y="4224528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1850 Н·м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70949" y="4773168"/>
            <a:ext cx="1803928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25813" y="4791456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FC0WH95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70949" y="5340096"/>
            <a:ext cx="1803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25813" y="5358384"/>
            <a:ext cx="171248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46 °C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74877" y="1371600"/>
            <a:ext cx="3156874" cy="56692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29741" y="1389888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Влияние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74877" y="1938528"/>
            <a:ext cx="315687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29741" y="1956816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EGT +25–35 °C, удары клапанов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74877" y="2505456"/>
            <a:ext cx="3156874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29741" y="2523744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раскрутка в отд. режимах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74877" y="3072384"/>
            <a:ext cx="315687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29741" y="3090672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±20% колебаний оборотов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74877" y="3639312"/>
            <a:ext cx="3156874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29741" y="3657600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срабатывает раньше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74877" y="4206240"/>
            <a:ext cx="315687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29741" y="4224528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нестабильный гистерезис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74877" y="4773168"/>
            <a:ext cx="3156874" cy="56692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29741" y="4791456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иная модель сгорания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74877" y="5340096"/>
            <a:ext cx="3156874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29741" y="5358384"/>
            <a:ext cx="30654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компенсация, не защита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05252"/>
                </a:solidFill>
                <a:latin typeface="Calibri"/>
              </a:rPr>
              <a:t>Вывод: NTE200 отключает все триггеры перегрева и допускает более высокие обороты/нагрузку.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ПЕРЕПИСКА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Оценка писем NHL и Cummins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201003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9888"/>
            <a:ext cx="6109563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Тезис письма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6201003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92807"/>
            <a:ext cx="6109563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NHL: износ от зольности масла (SAPS)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6201003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95727"/>
            <a:ext cx="6109563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NHL: пыль из карьера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6201003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98647"/>
            <a:ext cx="6109563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NHL: Stellite не нужен «для rated»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6201003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401567"/>
            <a:ext cx="6109563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NHL: регулировка клапанов на 1500/5000 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6201003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904487"/>
            <a:ext cx="6109563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Cummins: масло CES20078 достаточно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6201003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407407"/>
            <a:ext cx="6109563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Cummins: на NTE200 защита по T масла отключена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92039"/>
            <a:ext cx="6201003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910327"/>
            <a:ext cx="6109563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Cummins: «не поставляет Stellite»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58203" y="1371600"/>
            <a:ext cx="5073548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3067" y="1389888"/>
            <a:ext cx="4982108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Вердикт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58203" y="1874519"/>
            <a:ext cx="507354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13067" y="1892807"/>
            <a:ext cx="4982108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❌ смещает на эксплуатацию (низкий Fe)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58203" y="2377439"/>
            <a:ext cx="5073548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3067" y="2395727"/>
            <a:ext cx="4982108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❌ переоценка (Si подчинён)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8203" y="2880359"/>
            <a:ext cx="507354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3067" y="2898647"/>
            <a:ext cx="4982108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❌ ложный (NTE200 ≠ rated: 567 °C)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8203" y="3383279"/>
            <a:ext cx="5073548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3067" y="3401567"/>
            <a:ext cx="4982108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⚠️ косвенное признание проблемы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58203" y="3886199"/>
            <a:ext cx="507354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3067" y="3904487"/>
            <a:ext cx="4982108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❌ уход от корня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58203" y="4389119"/>
            <a:ext cx="5073548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3067" y="4407407"/>
            <a:ext cx="4982108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✅ ПОДТВЕРЖДАЕТ нашу находку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58203" y="4892039"/>
            <a:ext cx="5073548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13067" y="4910327"/>
            <a:ext cx="4982108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❌ уход от ответственности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ОБЪЕКТИВНОСТЬ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Достоверность и пробелы данных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764731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9888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Пункт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676473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9280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Даты ремонтов #47, #48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676473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9572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Счёт ремонтов («30/24+» vs ~13)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59"/>
            <a:ext cx="676473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9864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«0 отказов 730E»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79"/>
            <a:ext cx="676473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40156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Цитаты Cummins 378-010/011, лимит 520 °C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199"/>
            <a:ext cx="676473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90448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EGT 567 (#82 DML) vs 329 (#83 INSITE)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19"/>
            <a:ext cx="676473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40740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Тоннаж 220 т / «295 т»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92039"/>
            <a:ext cx="676473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910327"/>
            <a:ext cx="6673291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Период проб масла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1931" y="1371600"/>
            <a:ext cx="4509820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6795" y="1389888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Статус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1931" y="187451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6795" y="189280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❌ расходятся между источниками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1931" y="2377439"/>
            <a:ext cx="450982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6795" y="239572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❌ прежняя оценка завышена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1931" y="288035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6795" y="289864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⚠️ нет полного реестра ремонтов 730E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1931" y="3383279"/>
            <a:ext cx="450982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76795" y="340156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⚠️ без дословного первоисточника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1931" y="388619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6795" y="390448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⚠️ разные машины/условия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1931" y="4389119"/>
            <a:ext cx="4509820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6795" y="440740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❌ исправлено на 180 т (239 т)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1931" y="4892039"/>
            <a:ext cx="45098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76795" y="4910327"/>
            <a:ext cx="441838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✅ 2024-02 — 2025-12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ДЕЙСТВИЯ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Рекомендации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011680" cy="310896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07592"/>
            <a:ext cx="1901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НЕМЕДЛЕННО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Перекалибровать ЭБУ NTE200 под профиль 730E: TIB 100%, включить защиту по T масла и триггеры перегрева, убрать задержки derate, снизить max обороты до 1990.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Контрольный DML после перекалибровки — подтвердить снижение EGT.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Заменить датчики EGT с FC1531/1619 (#82, #67).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2377440" cy="310896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227832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СРЕДНЕСРОЧНО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11247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Запрос NHL/Cummins: обоснование исключения Stellite и отключения защит; поставка клапанов с наплавкой.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Унифицировать прошивку ЭБУ (.07/.08).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Сопоставить FC611/EGT-коды с историей ремонтов.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46320"/>
            <a:ext cx="2194560" cy="310896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873752"/>
            <a:ext cx="20848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ДОЛГОСРОЧНО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Мониторинг EGT и FC611 в реальном времени.</a:t>
            </a:r>
          </a:p>
          <a:p>
            <a:pPr algn="l"/>
            <a:r>
              <a:rPr sz="1300" b="0" i="0">
                <a:solidFill>
                  <a:srgbClr val="293136"/>
                </a:solidFill>
                <a:latin typeface="Calibri"/>
              </a:rPr>
              <a:t>• Устранить нарушение по паспорту топлива №246.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 •   QSK50 / NTE200   •   Полюс Магадан   •   2026   •   Конфиденциально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Коренная причина — калибровка ЭБУ (TIB + отключённые защиты),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усугублённая отсутствием наплавки Stellite.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EF0AF"/>
                </a:solidFill>
                <a:latin typeface="Calibri"/>
              </a:rPr>
              <a:t>Перегрузка и масло — не дифференцирующие факторы (подтверждено данными).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АО «Развитие» · техническая служба + отдел надёжности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