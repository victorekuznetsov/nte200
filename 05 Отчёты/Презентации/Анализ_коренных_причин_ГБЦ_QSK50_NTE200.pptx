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80000" cy="6858000"/>
          </a:xfrm>
          <a:prstGeom prst="rect">
            <a:avLst/>
          </a:prstGeom>
          <a:solidFill>
            <a:srgbClr val="0A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80000" y="0"/>
            <a:ext cx="4813200" cy="6858000"/>
          </a:xfrm>
          <a:prstGeom prst="rect">
            <a:avLst/>
          </a:prstGeom>
          <a:solidFill>
            <a:srgbClr val="0E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80000" y="0"/>
            <a:ext cx="90000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288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EF0AF"/>
                </a:solidFill>
              </a:rPr>
              <a:t>АО  РАЗВИТИЕ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612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C98"/>
                </a:solidFill>
              </a:rPr>
              <a:t>Отдел надёжности оборудования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260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АНАЛИЗ КОРЕННЫХ ПРИЧИН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764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РАЗРУШЕНИЯ КЛАПАННОГО УЗЛА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2268000"/>
            <a:ext cx="68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EF0AF"/>
                </a:solidFill>
              </a:rPr>
              <a:t>ДВИГАТЕЛЯ CUMMINS QSK50 MCRS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2808000"/>
            <a:ext cx="68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0"/>
                </a:solidFill>
              </a:rPr>
              <a:t>Самосвалы NTE200 | АО Полюс Магадан | 2023–2026 г.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3420000"/>
            <a:ext cx="1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</a:rPr>
              <a:t>Объект анализа: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0" y="3420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DF0"/>
                </a:solidFill>
              </a:rPr>
              <a:t>24 самосвала NTE200 (48% парка)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3726000"/>
            <a:ext cx="1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</a:rPr>
              <a:t>Двигатель: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0000" y="3726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DF0"/>
                </a:solidFill>
              </a:rPr>
              <a:t>Cummins QSK50 MCRS, V16, 1491 кВт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4032000"/>
            <a:ext cx="1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</a:rPr>
              <a:t>Источники данных: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0000" y="4032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DF0"/>
                </a:solidFill>
              </a:rPr>
              <a:t>DML, INSITE КАМСС, ОТЧЕТ ТО, ГБЦ журнал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4338000"/>
            <a:ext cx="1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</a:rPr>
              <a:t>Методология: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0000" y="4338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DF0"/>
                </a:solidFill>
              </a:rPr>
              <a:t>FTA, контрольная группа, Weibull-анализ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4644000"/>
            <a:ext cx="1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EF0AF"/>
                </a:solidFill>
              </a:rPr>
              <a:t>Документ: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60000" y="4644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DF0"/>
                </a:solidFill>
              </a:rPr>
              <a:t>ДСП — Для служебного пользования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2000" y="540000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EF0AF"/>
                </a:solidFill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2000" y="1008000"/>
            <a:ext cx="23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8EDF0"/>
                </a:solidFill>
              </a:rPr>
              <a:t>самосвала
с отказами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2000" y="1620000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EF0AF"/>
                </a:solidFill>
              </a:rPr>
              <a:t>48%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2000" y="2088000"/>
            <a:ext cx="23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8EDF0"/>
                </a:solidFill>
              </a:rPr>
              <a:t>парка
поражено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2000" y="2700000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EF0AF"/>
                </a:solidFill>
              </a:rPr>
              <a:t>140+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2000" y="3168000"/>
            <a:ext cx="23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8EDF0"/>
                </a:solidFill>
              </a:rPr>
              <a:t>ГБЦ
заменено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2000" y="3780000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EF0AF"/>
                </a:solidFill>
              </a:rPr>
              <a:t>3 615 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2000" y="4248000"/>
            <a:ext cx="23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8EDF0"/>
                </a:solidFill>
              </a:rPr>
              <a:t>доливок масла
за март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2000" y="4860000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EF0AF"/>
                </a:solidFill>
              </a:rPr>
              <a:t>4 583 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2000" y="5328000"/>
            <a:ext cx="23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8EDF0"/>
                </a:solidFill>
              </a:rPr>
              <a:t>простой парка
за март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6300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C98"/>
                </a:solidFill>
              </a:rPr>
              <a:t>Июнь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54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F0AF"/>
                </a:solidFill>
              </a:rPr>
              <a:t>АО 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" y="324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A8C98"/>
                </a:solidFill>
              </a:rPr>
              <a:t>Надёжность оборудования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000" y="43200"/>
            <a:ext cx="79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МАСШТАБ ПРОБЛЕМЫ — ПАРК NTE200, ПОЛЮС МАГАДАН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0000" y="180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C98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6688799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A8C98"/>
                </a:solidFill>
              </a:rPr>
              <a:t>Конфиденциально | АО Развитие | Июнь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0" y="6688799"/>
            <a:ext cx="55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7A8C98"/>
                </a:solidFill>
              </a:rPr>
              <a:t>QSK50 MCRS — NTE200 — Полюс Магадан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2808000" cy="1260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000" y="864000"/>
            <a:ext cx="2808000" cy="1260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000" y="864000"/>
            <a:ext cx="2808000" cy="1260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864000"/>
            <a:ext cx="2808000" cy="1260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000" y="2232000"/>
            <a:ext cx="11833200" cy="414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54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F0AF"/>
                </a:solidFill>
              </a:rPr>
              <a:t>АО 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" y="324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A8C98"/>
                </a:solidFill>
              </a:rPr>
              <a:t>Надёжность оборудования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000" y="43200"/>
            <a:ext cx="79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ХРОНОЛОГИЯ ОТКАЗОВ КУ ГБЦ — 24 ЕДИНИЦЫ NTE200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0000" y="180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C98"/>
                </a:solidFill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6688799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A8C98"/>
                </a:solidFill>
              </a:rPr>
              <a:t>Конфиденциально | АО Развитие | Июнь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0" y="6688799"/>
            <a:ext cx="55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7A8C98"/>
                </a:solidFill>
              </a:rPr>
              <a:t>QSK50 MCRS — NTE200 — Полюс Магадан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846000"/>
            <a:ext cx="11952000" cy="586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54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F0AF"/>
                </a:solidFill>
              </a:rPr>
              <a:t>АО 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" y="324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A8C98"/>
                </a:solidFill>
              </a:rPr>
              <a:t>Надёжность оборудования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000" y="43200"/>
            <a:ext cx="79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АНАЛИЗ РАСХОДА МАСЛА — МАРТ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396000"/>
            <a:ext cx="79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EF0AF"/>
                </a:solidFill>
              </a:rPr>
              <a:t>235 событий | 3 615 литров | 187 доливок ДВС | АО Полюс Магадан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180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C98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88799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A8C98"/>
                </a:solidFill>
              </a:rPr>
              <a:t>Конфиденциально | АО Развитие | Июнь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6688799"/>
            <a:ext cx="55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7A8C98"/>
                </a:solidFill>
              </a:rPr>
              <a:t>QSK50 MCRS — NTE200 — Полюс Магадан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11833200" cy="4140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5040000"/>
            <a:ext cx="11833200" cy="162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54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F0AF"/>
                </a:solidFill>
              </a:rPr>
              <a:t>АО 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" y="324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A8C98"/>
                </a:solidFill>
              </a:rPr>
              <a:t>Надёжность оборудования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000" y="43200"/>
            <a:ext cx="79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КОРРЕЛЯЦИЯ: ДОЛИВКИ МАСЛА vs ОТКАЗЫ ГБЦ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396000"/>
            <a:ext cx="79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EF0AF"/>
                </a:solidFill>
              </a:rPr>
              <a:t>Чем выше расход масла → тем вероятнее прогар клапана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180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C98"/>
                </a:solidFill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88799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A8C98"/>
                </a:solidFill>
              </a:rPr>
              <a:t>Конфиденциально | АО Развитие | Июнь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6688799"/>
            <a:ext cx="55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7A8C98"/>
                </a:solidFill>
              </a:rPr>
              <a:t>QSK50 MCRS — NTE200 — Полюс Магадан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11833200" cy="583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54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F0AF"/>
                </a:solidFill>
              </a:rPr>
              <a:t>АО 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" y="324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A8C98"/>
                </a:solidFill>
              </a:rPr>
              <a:t>Надёжность оборудования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000" y="43200"/>
            <a:ext cx="79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АНАЛИЗ ПРОСТОЕВ ПАРКА NTE200 — МАРТ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396000"/>
            <a:ext cx="79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EF0AF"/>
                </a:solidFill>
              </a:rPr>
              <a:t>Суммарный простой: 4583 ч | 1 004 события ТО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180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C98"/>
                </a:solidFill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88799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A8C98"/>
                </a:solidFill>
              </a:rPr>
              <a:t>Конфиденциально | АО Развитие | Июнь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6688799"/>
            <a:ext cx="55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7A8C98"/>
                </a:solidFill>
              </a:rPr>
              <a:t>QSK50 MCRS — NTE200 — Полюс Магадан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11833200" cy="3960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4896000"/>
            <a:ext cx="11833200" cy="172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0000" y="6516000"/>
            <a:ext cx="11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A8C98"/>
                </a:solidFill>
              </a:rPr>
              <a:t>* КТГ — коэффициент технической готовности. При фонде 36 500 маш-часов/месяц потери 4,3% = прямые убытки добычи.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54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F0AF"/>
                </a:solidFill>
              </a:rPr>
              <a:t>АО 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" y="324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A8C98"/>
                </a:solidFill>
              </a:rPr>
              <a:t>Надёжность оборудования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000" y="43200"/>
            <a:ext cx="79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DML ДАННЫЕ — ТЕМПЕРАТУРА ОГ ПО ЦИЛИНДРАМ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396000"/>
            <a:ext cx="79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EF0AF"/>
                </a:solidFill>
              </a:rPr>
              <a:t>NTE200 №82 | ESN 33238517 | 1411 точек | 02.06.2026 (23 мин записи)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180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C98"/>
                </a:solidFill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88799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A8C98"/>
                </a:solidFill>
              </a:rPr>
              <a:t>Конфиденциально | АО Развитие | Июнь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6688799"/>
            <a:ext cx="55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7A8C98"/>
                </a:solidFill>
              </a:rPr>
              <a:t>QSK50 MCRS — NTE200 — Полюс Магадан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11833200" cy="583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0000" y="6516000"/>
            <a:ext cx="11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A8C98"/>
                </a:solidFill>
              </a:rPr>
              <a:t>Разброс EGT: 567–471 = 96°C. Норма QSK50 MCRS: ≤30°C. Цилиндры 2 и 2 — горячайшие. NTE200 №82 (ESN 33238517), запись 02.06.2026, 23 мин.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54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F0AF"/>
                </a:solidFill>
              </a:rPr>
              <a:t>АО 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" y="324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A8C98"/>
                </a:solidFill>
              </a:rPr>
              <a:t>Надёжность оборудования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000" y="43200"/>
            <a:ext cx="79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DML ДАННЫЕ — ОБОРОТЫ И НАГРУЗКА ДВИГАТЕЛЯ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396000"/>
            <a:ext cx="79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EF0AF"/>
                </a:solidFill>
              </a:rPr>
              <a:t>NTE200 №82 | ESN 33238517 | Калибровка AQ60809.08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180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C98"/>
                </a:solidFill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88799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A8C98"/>
                </a:solidFill>
              </a:rPr>
              <a:t>Конфиденциально | АО Развитие | Июнь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6688799"/>
            <a:ext cx="55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7A8C98"/>
                </a:solidFill>
              </a:rPr>
              <a:t>QSK50 MCRS — NTE200 — Полюс Магадан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11833200" cy="558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0000" y="6516000"/>
            <a:ext cx="11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EF0AF"/>
                </a:solidFill>
              </a:rPr>
              <a:t>RPM: среднее 1822  |  макс. 1929 (лимит NTE200: 2100)  |  0.0% времени выше 1990 RPM  |  Нагрузка: среднее 88%  |  81% времени при нагрузке &gt;90%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54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F0AF"/>
                </a:solidFill>
              </a:rPr>
              <a:t>АО 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" y="324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A8C98"/>
                </a:solidFill>
              </a:rPr>
              <a:t>Надёжность оборудования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000" y="43200"/>
            <a:ext cx="79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СРАВНЕНИЕ КАЛИБРОВОК ECM — 15 КРИТИЧЕСКИХ ПАРАМЕТРОВ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396000"/>
            <a:ext cx="79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EF0AF"/>
                </a:solidFill>
              </a:rPr>
              <a:t>NTE200 (AQ60809.08) vs 730E-DC (AQ60217.28) | Источник: Cummins Calterm Compare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180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C98"/>
                </a:solidFill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88799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A8C98"/>
                </a:solidFill>
              </a:rPr>
              <a:t>Конфиденциально | АО Развитие | Июнь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6688799"/>
            <a:ext cx="55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7A8C98"/>
                </a:solidFill>
              </a:rPr>
              <a:t>QSK50 MCRS — NTE200 — Полюс Магадан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846000"/>
            <a:ext cx="11952000" cy="586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54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F0AF"/>
                </a:solidFill>
              </a:rPr>
              <a:t>АО 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" y="324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A8C98"/>
                </a:solidFill>
              </a:rPr>
              <a:t>Надёжность оборудования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000" y="43200"/>
            <a:ext cx="79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КОНТРОЛЬНАЯ ГРУППА: 730E-DC vs NTE200 — ОДИН ДВИГАТЕЛЬ, РАЗНЫЕ РЕЗУЛЬТАТЫ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396000"/>
            <a:ext cx="79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EF0AF"/>
                </a:solidFill>
              </a:rPr>
              <a:t>Метод исключения внешних факторов | Единственное системное различие — калибровка ECM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180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C98"/>
                </a:solidFill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88799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A8C98"/>
                </a:solidFill>
              </a:rPr>
              <a:t>Конфиденциально | АО Развитие | Июнь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6688799"/>
            <a:ext cx="55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7A8C98"/>
                </a:solidFill>
              </a:rPr>
              <a:t>QSK50 MCRS — NTE200 — Полюс Магадан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11833200" cy="583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54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F0AF"/>
                </a:solidFill>
              </a:rPr>
              <a:t>АО 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" y="324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A8C98"/>
                </a:solidFill>
              </a:rPr>
              <a:t>Надёжность оборудования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000" y="43200"/>
            <a:ext cx="79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РАЗБОР ОТЧЁТА CCEC LAB MS&amp;T2026033 — 10 АРГУМЕНТОВ ОПРОВЕРЖЕНИЯ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396000"/>
            <a:ext cx="79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EF0AF"/>
                </a:solidFill>
              </a:rPr>
              <a:t>ESN 33232926 | 15 126 м/ч | Tao Lang | 10.03.2026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180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C98"/>
                </a:solidFill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88799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A8C98"/>
                </a:solidFill>
              </a:rPr>
              <a:t>Конфиденциально | АО Развитие | Июнь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6688799"/>
            <a:ext cx="55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7A8C98"/>
                </a:solidFill>
              </a:rPr>
              <a:t>QSK50 MCRS — NTE200 — Полюс Магадан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846000"/>
            <a:ext cx="11952000" cy="586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54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F0AF"/>
                </a:solidFill>
              </a:rPr>
              <a:t>АО 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" y="324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A8C98"/>
                </a:solidFill>
              </a:rPr>
              <a:t>Надёжность оборудования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000" y="43200"/>
            <a:ext cx="79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МЕХАНИЗМ ОТКАЗА: TIB=200% + MAX RPM=2100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396000"/>
            <a:ext cx="79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EF0AF"/>
                </a:solidFill>
              </a:rPr>
              <a:t>Комплексный тепловой анализ | Цепочка причинно-следственных связей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180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C98"/>
                </a:solidFill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88799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A8C98"/>
                </a:solidFill>
              </a:rPr>
              <a:t>Конфиденциально | АО Развитие | Июнь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6688799"/>
            <a:ext cx="55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7A8C98"/>
                </a:solidFill>
              </a:rPr>
              <a:t>QSK50 MCRS — NTE200 — Полюс Магадан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11833200" cy="583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54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F0AF"/>
                </a:solidFill>
              </a:rPr>
              <a:t>АО 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" y="324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A8C98"/>
                </a:solidFill>
              </a:rPr>
              <a:t>Надёжность оборудования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000" y="43200"/>
            <a:ext cx="79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ДЕРЕВО ПРИЧИН ОТКАЗА — FAULT TREE ANALYSIS (FTA)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396000"/>
            <a:ext cx="79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EF0AF"/>
                </a:solidFill>
              </a:rPr>
              <a:t>Уровень 1: доказанные причины | Уровень 2: механизмы | Уровень 3: первопричины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180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C98"/>
                </a:solidFill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88799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A8C98"/>
                </a:solidFill>
              </a:rPr>
              <a:t>Конфиденциально | АО Развитие | Июнь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6688799"/>
            <a:ext cx="55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7A8C98"/>
                </a:solidFill>
              </a:rPr>
              <a:t>QSK50 MCRS — NTE200 — Полюс Магадан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846000"/>
            <a:ext cx="11952000" cy="586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6000"/>
            <a:ext cx="121932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" y="54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F0AF"/>
                </a:solidFill>
              </a:rPr>
              <a:t>АО 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" y="324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A8C98"/>
                </a:solidFill>
              </a:rPr>
              <a:t>Надёжность оборудования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000" y="43200"/>
            <a:ext cx="79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ВЫВОДЫ И ПЛАН МЕРОПРИЯТИЙ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396000"/>
            <a:ext cx="79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EF0AF"/>
                </a:solidFill>
              </a:rPr>
              <a:t>8 ключевых выводов | 16 мероприятий | Горизонт: 0-12 месяцев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0" y="180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C98"/>
                </a:solidFill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1A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6688799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A8C98"/>
                </a:solidFill>
              </a:rPr>
              <a:t>Конфиденциально | АО Развитие | Июнь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6688799"/>
            <a:ext cx="55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7A8C98"/>
                </a:solidFill>
              </a:rPr>
              <a:t>QSK50 MCRS — NTE200 — Полюс Магадан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11833200" cy="583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