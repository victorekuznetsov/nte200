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2160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222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0000" y="540000"/>
            <a:ext cx="11108952" cy="1368000"/>
          </a:xfrm>
          <a:prstGeom prst="rect">
            <a:avLst/>
          </a:prstGeom>
          <a:solidFill>
            <a:srgbClr val="35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648000"/>
            <a:ext cx="10748952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Анализ ECM-калибровок QSK50 MCRS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1152000"/>
            <a:ext cx="10748952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EF0AF"/>
                </a:solidFill>
                <a:latin typeface="Calibri"/>
              </a:rPr>
              <a:t>NTE200 vs 730E-DC: Подтверждение данными INSITE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1980000"/>
            <a:ext cx="10748952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07880"/>
                </a:solidFill>
                <a:latin typeface="Calibri"/>
              </a:rPr>
              <a:t>Данные Calterm Compare + INSITE КАМСС (май 2026) | АО Развитие | Полюс Магадан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000" y="1872000"/>
            <a:ext cx="4320000" cy="288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0000" y="2304000"/>
            <a:ext cx="1368000" cy="198000"/>
          </a:xfrm>
          <a:prstGeom prst="rect">
            <a:avLst/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4000" y="23112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93136"/>
                </a:solidFill>
                <a:latin typeface="Calibri"/>
              </a:rPr>
              <a:t>QSK50 MCRS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96000" y="2304000"/>
            <a:ext cx="1368000" cy="1980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50000" y="23112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93136"/>
                </a:solidFill>
                <a:latin typeface="Calibri"/>
              </a:rPr>
              <a:t>INSITE КАМСС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72000" y="2304000"/>
            <a:ext cx="1368000" cy="198000"/>
          </a:xfrm>
          <a:prstGeom prst="rect">
            <a:avLst/>
          </a:prstGeom>
          <a:solidFill>
            <a:srgbClr val="E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26000" y="23112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93136"/>
                </a:solidFill>
                <a:latin typeface="Calibri"/>
              </a:rPr>
              <a:t>Полюс Магадан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48000" y="2304000"/>
            <a:ext cx="1368000" cy="198000"/>
          </a:xfrm>
          <a:prstGeom prst="rect">
            <a:avLst/>
          </a:prstGeom>
          <a:solidFill>
            <a:srgbClr val="707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02000" y="23112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93136"/>
                </a:solidFill>
                <a:latin typeface="Calibri"/>
              </a:rPr>
              <a:t>Май 2026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78000"/>
            <a:ext cx="12188952" cy="180000"/>
          </a:xfrm>
          <a:prstGeom prst="rect">
            <a:avLst/>
          </a:prstGeom>
          <a:solidFill>
            <a:srgbClr val="35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0000" y="6685200"/>
            <a:ext cx="10748952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07880"/>
                </a:solidFill>
                <a:latin typeface="Calibri"/>
              </a:rPr>
              <a:t>АО Развитие  ·  Анализ отказов клапанов  ·  Конфиденциально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8952" y="432000"/>
            <a:ext cx="4500000" cy="198000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7508952" y="432000"/>
            <a:ext cx="4500000" cy="1980000"/>
          </a:xfrm>
          <a:prstGeom prst="rect">
            <a:avLst/>
          </a:prstGeom>
          <a:solidFill>
            <a:srgbClr val="293136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03999"/>
          </a:xfrm>
          <a:prstGeom prst="rect">
            <a:avLst/>
          </a:prstGeom>
          <a:solidFill>
            <a:srgbClr val="35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90000"/>
            <a:ext cx="11468952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EF0AF"/>
                </a:solidFill>
                <a:latin typeface="Calibri"/>
              </a:rPr>
              <a:t>МЕТАДАННЫЕ МАШИН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540000"/>
            <a:ext cx="11468952" cy="144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0000" y="648000"/>
            <a:ext cx="5464476" cy="2051993"/>
          </a:xfrm>
          <a:prstGeom prst="rect">
            <a:avLst/>
          </a:prstGeom>
          <a:solidFill>
            <a:srgbClr val="35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0000" y="648000"/>
            <a:ext cx="90000" cy="2051993"/>
          </a:xfrm>
          <a:prstGeom prst="rect">
            <a:avLst/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4000" y="684000"/>
            <a:ext cx="5248476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EC9F0"/>
                </a:solidFill>
                <a:latin typeface="Calibri"/>
              </a:rPr>
              <a:t>◆ 730E ш18 — Референсная машина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000" y="918000"/>
            <a:ext cx="16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7880"/>
                </a:solidFill>
                <a:latin typeface="Calibri"/>
              </a:rPr>
              <a:t>ECM калибровка: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88000" y="918000"/>
            <a:ext cx="3664476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EC9F0"/>
                </a:solidFill>
                <a:latin typeface="Calibri"/>
              </a:rPr>
              <a:t>AQ60217.28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4000" y="1162800"/>
            <a:ext cx="16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7880"/>
                </a:solidFill>
                <a:latin typeface="Calibri"/>
              </a:rPr>
              <a:t>Fuel Code: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88000" y="1162800"/>
            <a:ext cx="3664476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EF0AF"/>
                </a:solidFill>
                <a:latin typeface="Calibri"/>
              </a:rPr>
              <a:t>FC0BU52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000" y="1407600"/>
            <a:ext cx="16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7880"/>
                </a:solidFill>
                <a:latin typeface="Calibri"/>
              </a:rPr>
              <a:t>Наработка ECM: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88000" y="1407600"/>
            <a:ext cx="3664476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~35 127 м/ч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000" y="1652400"/>
            <a:ext cx="16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7880"/>
                </a:solidFill>
                <a:latin typeface="Calibri"/>
              </a:rPr>
              <a:t>OEM производитель: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88000" y="1652400"/>
            <a:ext cx="3664476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KOMATSU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4000" y="1897200"/>
            <a:ext cx="16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7880"/>
                </a:solidFill>
                <a:latin typeface="Calibri"/>
              </a:rPr>
              <a:t>Модель: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88000" y="1897200"/>
            <a:ext cx="3664476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730E-DC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4000" y="2142000"/>
            <a:ext cx="16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7880"/>
                </a:solidFill>
                <a:latin typeface="Calibri"/>
              </a:rPr>
              <a:t>ID модуля: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88000" y="2142000"/>
            <a:ext cx="3664476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07880"/>
                </a:solidFill>
                <a:latin typeface="Calibri"/>
              </a:rPr>
              <a:t>33223470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000" y="2386800"/>
            <a:ext cx="16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7880"/>
                </a:solidFill>
                <a:latin typeface="Calibri"/>
              </a:rPr>
              <a:t>Снимок ECM: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8000" y="2386800"/>
            <a:ext cx="3664476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07880"/>
                </a:solidFill>
                <a:latin typeface="Calibri"/>
              </a:rPr>
              <a:t>20.05.2026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64476" y="648000"/>
            <a:ext cx="5464476" cy="2051993"/>
          </a:xfrm>
          <a:prstGeom prst="rect">
            <a:avLst/>
          </a:prstGeom>
          <a:solidFill>
            <a:srgbClr val="35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64476" y="648000"/>
            <a:ext cx="90000" cy="2051993"/>
          </a:xfrm>
          <a:prstGeom prst="rect">
            <a:avLst/>
          </a:prstGeom>
          <a:solidFill>
            <a:srgbClr val="E0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08476" y="684000"/>
            <a:ext cx="5248476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5252"/>
                </a:solidFill>
                <a:latin typeface="Calibri"/>
              </a:rPr>
              <a:t>⚠ NTE200 ш85 — Проблемная машина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08476" y="918000"/>
            <a:ext cx="16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7880"/>
                </a:solidFill>
                <a:latin typeface="Calibri"/>
              </a:rPr>
              <a:t>ECM калибровка: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76" y="918000"/>
            <a:ext cx="3664476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05252"/>
                </a:solidFill>
                <a:latin typeface="Calibri"/>
              </a:rPr>
              <a:t>AQ60809.08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08476" y="1162800"/>
            <a:ext cx="16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7880"/>
                </a:solidFill>
                <a:latin typeface="Calibri"/>
              </a:rPr>
              <a:t>Fuel Code: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76" y="1162800"/>
            <a:ext cx="3664476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05252"/>
                </a:solidFill>
                <a:latin typeface="Calibri"/>
              </a:rPr>
              <a:t>FC0WH95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08476" y="1407600"/>
            <a:ext cx="16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7880"/>
                </a:solidFill>
                <a:latin typeface="Calibri"/>
              </a:rPr>
              <a:t>Наработка ECM: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76" y="1407600"/>
            <a:ext cx="3664476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~4 015 м/ч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08476" y="1652400"/>
            <a:ext cx="16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7880"/>
                </a:solidFill>
                <a:latin typeface="Calibri"/>
              </a:rPr>
              <a:t>OEM производитель: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92476" y="1652400"/>
            <a:ext cx="3664476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NHL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08476" y="1897200"/>
            <a:ext cx="16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7880"/>
                </a:solidFill>
                <a:latin typeface="Calibri"/>
              </a:rPr>
              <a:t>Модель: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2476" y="1897200"/>
            <a:ext cx="3664476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QSKTA50-CE (NTE200)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08476" y="2142000"/>
            <a:ext cx="16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7880"/>
                </a:solidFill>
                <a:latin typeface="Calibri"/>
              </a:rPr>
              <a:t>ID модуля: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92476" y="2142000"/>
            <a:ext cx="3664476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07880"/>
                </a:solidFill>
                <a:latin typeface="Calibri"/>
              </a:rPr>
              <a:t>33238503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08476" y="2386800"/>
            <a:ext cx="16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7880"/>
                </a:solidFill>
                <a:latin typeface="Calibri"/>
              </a:rPr>
              <a:t>Снимок ECM: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92476" y="2386800"/>
            <a:ext cx="3664476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07880"/>
                </a:solidFill>
                <a:latin typeface="Calibri"/>
              </a:rPr>
              <a:t>19.05.2026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0000" y="2843993"/>
            <a:ext cx="5464476" cy="576000"/>
          </a:xfrm>
          <a:prstGeom prst="rect">
            <a:avLst/>
          </a:prstGeom>
          <a:solidFill>
            <a:srgbClr val="3A4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0000" y="2843993"/>
            <a:ext cx="90000" cy="576000"/>
          </a:xfrm>
          <a:prstGeom prst="rect">
            <a:avLst/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4000" y="2879993"/>
            <a:ext cx="5248476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EC9F0"/>
                </a:solidFill>
                <a:latin typeface="Calibri"/>
              </a:rPr>
              <a:t>Коды неисправностей 730E ш18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4000" y="3041993"/>
            <a:ext cx="5248476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07880"/>
                </a:solidFill>
                <a:latin typeface="Calibri"/>
              </a:rPr>
              <a:t>FC418 (вода в топливе) × 2  ·  FC1542 × 3  ·  FC245 × 2  ·  FC1117 × 1
Наработка: 35 281 ч ECM | Снимок: 20.05.2026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64476" y="2843993"/>
            <a:ext cx="5464476" cy="576000"/>
          </a:xfrm>
          <a:prstGeom prst="rect">
            <a:avLst/>
          </a:prstGeom>
          <a:solidFill>
            <a:srgbClr val="3A4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364476" y="2843993"/>
            <a:ext cx="90000" cy="576000"/>
          </a:xfrm>
          <a:prstGeom prst="rect">
            <a:avLst/>
          </a:prstGeom>
          <a:solidFill>
            <a:srgbClr val="E0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08476" y="2879993"/>
            <a:ext cx="5248476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5252"/>
                </a:solidFill>
                <a:latin typeface="Calibri"/>
              </a:rPr>
              <a:t>Коды неисправностей NTE200 ш85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08476" y="3041993"/>
            <a:ext cx="5248476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07880"/>
                </a:solidFill>
                <a:latin typeface="Calibri"/>
              </a:rPr>
              <a:t>FC611 горячий остановы × 18  ·  FC1518 × 9
Наработка: 4 015 ч ECM | Снимок: 19.05.2026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696000"/>
            <a:ext cx="12188952" cy="162000"/>
          </a:xfrm>
          <a:prstGeom prst="rect">
            <a:avLst/>
          </a:prstGeom>
          <a:solidFill>
            <a:srgbClr val="35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0000" y="6703200"/>
            <a:ext cx="11468952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707880"/>
                </a:solidFill>
                <a:latin typeface="Calibri"/>
              </a:rPr>
              <a:t>АО Развитие  ·  QSK50 MCRS  ·  Анализ отказов клапанов  ·  Полюс Магадан  · 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5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432000" cy="68580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648000"/>
            <a:ext cx="11108952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3EF0AF"/>
                </a:solidFill>
                <a:latin typeface="Calibri"/>
              </a:rPr>
              <a:t>ЧАСТЬ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152000"/>
            <a:ext cx="11108952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Calibri"/>
              </a:rPr>
              <a:t>Данные предыдущего анализа</a:t>
            </a:r>
          </a:p>
        </p:txBody>
      </p:sp>
      <p:sp>
        <p:nvSpPr>
          <p:cNvPr id="7" name="Rectangle 6"/>
          <p:cNvSpPr/>
          <p:nvPr/>
        </p:nvSpPr>
        <p:spPr>
          <a:xfrm>
            <a:off x="720000" y="1764000"/>
            <a:ext cx="10748952" cy="21600"/>
          </a:xfrm>
          <a:prstGeom prst="rect">
            <a:avLst/>
          </a:prstGeom>
          <a:solidFill>
            <a:srgbClr val="707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00" y="1835999"/>
            <a:ext cx="10748952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07880"/>
                </a:solidFill>
                <a:latin typeface="Calibri"/>
              </a:rPr>
              <a:t>Источник: ECM_对比_NTE200_730E_中文.xlsx  —  Калибровочные параметры ECM из предыдущего анализа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48952" y="900000"/>
            <a:ext cx="90000" cy="900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892952" y="900000"/>
            <a:ext cx="90000" cy="90000"/>
          </a:xfrm>
          <a:prstGeom prst="rect">
            <a:avLst/>
          </a:prstGeom>
          <a:solidFill>
            <a:srgbClr val="35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036952" y="900000"/>
            <a:ext cx="90000" cy="900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80952" y="900000"/>
            <a:ext cx="90000" cy="90000"/>
          </a:xfrm>
          <a:prstGeom prst="rect">
            <a:avLst/>
          </a:prstGeom>
          <a:solidFill>
            <a:srgbClr val="35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324952" y="900000"/>
            <a:ext cx="90000" cy="900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68952" y="900000"/>
            <a:ext cx="90000" cy="90000"/>
          </a:xfrm>
          <a:prstGeom prst="rect">
            <a:avLst/>
          </a:prstGeom>
          <a:solidFill>
            <a:srgbClr val="35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612952" y="900000"/>
            <a:ext cx="90000" cy="900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756952" y="900000"/>
            <a:ext cx="90000" cy="90000"/>
          </a:xfrm>
          <a:prstGeom prst="rect">
            <a:avLst/>
          </a:prstGeom>
          <a:solidFill>
            <a:srgbClr val="35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468000"/>
          </a:xfrm>
          <a:prstGeom prst="rect">
            <a:avLst/>
          </a:prstGeom>
          <a:solidFill>
            <a:srgbClr val="35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72000"/>
            <a:ext cx="11468952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ПРЕДЫДУЩИЙ АНАЛИЗ: Критические параметры ECM  (13 параметров)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306000"/>
            <a:ext cx="11468952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7880"/>
                </a:solidFill>
                <a:latin typeface="Calibri"/>
              </a:rPr>
              <a:t>Источник: ECM_对比_NTE200_730E_中文.xlsx | Сравнение калибровок 730E vs NTE200</a:t>
            </a:r>
          </a:p>
        </p:txBody>
      </p:sp>
      <p:sp>
        <p:nvSpPr>
          <p:cNvPr id="8" name="Rectangle 7"/>
          <p:cNvSpPr/>
          <p:nvPr/>
        </p:nvSpPr>
        <p:spPr>
          <a:xfrm>
            <a:off x="216000" y="522000"/>
            <a:ext cx="11756952" cy="180000"/>
          </a:xfrm>
          <a:prstGeom prst="rect">
            <a:avLst/>
          </a:prstGeom>
          <a:solidFill>
            <a:srgbClr val="222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2000" y="540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EF0AF"/>
                </a:solidFill>
                <a:latin typeface="Calibri"/>
              </a:rPr>
              <a:t>Параметр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999" y="540000"/>
            <a:ext cx="1007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EF0AF"/>
                </a:solidFill>
                <a:latin typeface="Calibri"/>
              </a:rPr>
              <a:t>730E-DC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0000" y="540000"/>
            <a:ext cx="827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EF0AF"/>
                </a:solidFill>
                <a:latin typeface="Calibri"/>
              </a:rPr>
              <a:t>NTE200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7999" y="540000"/>
            <a:ext cx="68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EF0AF"/>
                </a:solidFill>
                <a:latin typeface="Calibri"/>
              </a:rPr>
              <a:t>Риск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12000" y="540000"/>
            <a:ext cx="187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EF0AF"/>
                </a:solidFill>
                <a:latin typeface="Calibri"/>
              </a:rPr>
              <a:t>Эффект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6000" y="709200"/>
            <a:ext cx="11756952" cy="162000"/>
          </a:xfrm>
          <a:prstGeom prst="rect">
            <a:avLst/>
          </a:prstGeom>
          <a:solidFill>
            <a:srgbClr val="35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6000" y="709200"/>
            <a:ext cx="79200" cy="162000"/>
          </a:xfrm>
          <a:prstGeom prst="rect">
            <a:avLst/>
          </a:prstGeom>
          <a:solidFill>
            <a:srgbClr val="D4C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000" y="723600"/>
            <a:ext cx="1368000" cy="16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Fuel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55999" y="723600"/>
            <a:ext cx="1007999" cy="16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EF0AF"/>
                </a:solidFill>
                <a:latin typeface="Calibri"/>
              </a:rPr>
              <a:t>FC0BU52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64000" y="723600"/>
            <a:ext cx="827999" cy="16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D4C94A"/>
                </a:solidFill>
                <a:latin typeface="Calibri"/>
              </a:rPr>
              <a:t>FC0WH95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1999" y="723600"/>
            <a:ext cx="684000" cy="16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D4C94A"/>
                </a:solidFill>
                <a:latin typeface="Calibri"/>
              </a:rPr>
              <a:t>ПРЕДУПРЕЖДЕНИЕ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76000" y="723600"/>
            <a:ext cx="1872000" cy="16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07880"/>
                </a:solidFill>
                <a:latin typeface="Calibri"/>
              </a:rPr>
              <a:t>Разная карта впрыска/горения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6000" y="878400"/>
            <a:ext cx="11756952" cy="162000"/>
          </a:xfrm>
          <a:prstGeom prst="rect">
            <a:avLst/>
          </a:prstGeom>
          <a:solidFill>
            <a:srgbClr val="303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16000" y="878400"/>
            <a:ext cx="79200" cy="162000"/>
          </a:xfrm>
          <a:prstGeom prst="rect">
            <a:avLst/>
          </a:prstGeom>
          <a:solidFill>
            <a:srgbClr val="E0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4000" y="892800"/>
            <a:ext cx="1368000" cy="16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C_EPD_OT_RPM_Drt_En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55999" y="892800"/>
            <a:ext cx="1007999" cy="16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EF0AF"/>
                </a:solidFill>
                <a:latin typeface="Calibri"/>
              </a:rPr>
              <a:t>ВКЛ (1)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64000" y="892800"/>
            <a:ext cx="827999" cy="16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05252"/>
                </a:solidFill>
                <a:latin typeface="Calibri"/>
              </a:rPr>
              <a:t>ОТКЛ (0)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91999" y="892800"/>
            <a:ext cx="684000" cy="16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05252"/>
                </a:solidFill>
                <a:latin typeface="Calibri"/>
              </a:rPr>
              <a:t>КРИТИЧНО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76000" y="892800"/>
            <a:ext cx="1872000" cy="16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07880"/>
                </a:solidFill>
                <a:latin typeface="Calibri"/>
              </a:rPr>
              <a:t>Нет авт. снижения об/мин при перегреве масла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6000" y="1047600"/>
            <a:ext cx="11756952" cy="162000"/>
          </a:xfrm>
          <a:prstGeom prst="rect">
            <a:avLst/>
          </a:prstGeom>
          <a:solidFill>
            <a:srgbClr val="35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16000" y="1047600"/>
            <a:ext cx="79200" cy="162000"/>
          </a:xfrm>
          <a:prstGeom prst="rect">
            <a:avLst/>
          </a:prstGeom>
          <a:solidFill>
            <a:srgbClr val="E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4000" y="1062000"/>
            <a:ext cx="1368000" cy="16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C_EPD_CP_TB_Time_To_Max_Trq_Brt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55999" y="1062000"/>
            <a:ext cx="1007999" cy="16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EF0AF"/>
                </a:solidFill>
                <a:latin typeface="Calibri"/>
              </a:rPr>
              <a:t>0 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64000" y="1062000"/>
            <a:ext cx="827999" cy="16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05252"/>
                </a:solidFill>
                <a:latin typeface="Calibri"/>
              </a:rPr>
              <a:t>51 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91999" y="1062000"/>
            <a:ext cx="684000" cy="16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08C2E"/>
                </a:solidFill>
                <a:latin typeface="Calibri"/>
              </a:rPr>
              <a:t>ВЫСОКИЙ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76000" y="1062000"/>
            <a:ext cx="1872000" cy="16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07880"/>
                </a:solidFill>
                <a:latin typeface="Calibri"/>
              </a:rPr>
              <a:t>При давл. масла↓: 51 с работы на полной мощности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6000" y="1216800"/>
            <a:ext cx="11756952" cy="162000"/>
          </a:xfrm>
          <a:prstGeom prst="rect">
            <a:avLst/>
          </a:prstGeom>
          <a:solidFill>
            <a:srgbClr val="303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16000" y="1216800"/>
            <a:ext cx="79200" cy="162000"/>
          </a:xfrm>
          <a:prstGeom prst="rect">
            <a:avLst/>
          </a:prstGeom>
          <a:solidFill>
            <a:srgbClr val="E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4000" y="1231200"/>
            <a:ext cx="1368000" cy="16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C_EPD_CT_TB_Time_To_Max_Trq_Drt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55999" y="1231200"/>
            <a:ext cx="1007999" cy="16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EF0AF"/>
                </a:solidFill>
                <a:latin typeface="Calibri"/>
              </a:rPr>
              <a:t>0 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64000" y="1231200"/>
            <a:ext cx="827999" cy="16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05252"/>
                </a:solidFill>
                <a:latin typeface="Calibri"/>
              </a:rPr>
              <a:t>43 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91999" y="1231200"/>
            <a:ext cx="684000" cy="16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08C2E"/>
                </a:solidFill>
                <a:latin typeface="Calibri"/>
              </a:rPr>
              <a:t>ВЫСОКИЙ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76000" y="1231200"/>
            <a:ext cx="1872000" cy="16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07880"/>
                </a:solidFill>
                <a:latin typeface="Calibri"/>
              </a:rPr>
              <a:t>При перегреве ОЖ: 43 с до снижения нагрузки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6000" y="1386000"/>
            <a:ext cx="11756952" cy="162000"/>
          </a:xfrm>
          <a:prstGeom prst="rect">
            <a:avLst/>
          </a:prstGeom>
          <a:solidFill>
            <a:srgbClr val="35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16000" y="1386000"/>
            <a:ext cx="79200" cy="162000"/>
          </a:xfrm>
          <a:prstGeom prst="rect">
            <a:avLst/>
          </a:prstGeom>
          <a:solidFill>
            <a:srgbClr val="E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4000" y="1400400"/>
            <a:ext cx="1368000" cy="16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C_ABS_Max_Acctr_Speed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55999" y="1400400"/>
            <a:ext cx="1007999" cy="16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EF0AF"/>
                </a:solidFill>
                <a:latin typeface="Calibri"/>
              </a:rPr>
              <a:t>1990 RPM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64000" y="1400400"/>
            <a:ext cx="827999" cy="16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05252"/>
                </a:solidFill>
                <a:latin typeface="Calibri"/>
              </a:rPr>
              <a:t>2100 RPM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91999" y="1400400"/>
            <a:ext cx="684000" cy="16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08C2E"/>
                </a:solidFill>
                <a:latin typeface="Calibri"/>
              </a:rPr>
              <a:t>ВЫСОКИЙ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76000" y="1400400"/>
            <a:ext cx="1872000" cy="16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07880"/>
                </a:solidFill>
                <a:latin typeface="Calibri"/>
              </a:rPr>
              <a:t>+110 RPM → EGT выше ~25–35°C, выше ударная нагрузка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16000" y="1555200"/>
            <a:ext cx="11756952" cy="162000"/>
          </a:xfrm>
          <a:prstGeom prst="rect">
            <a:avLst/>
          </a:prstGeom>
          <a:solidFill>
            <a:srgbClr val="303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16000" y="1555200"/>
            <a:ext cx="79200" cy="162000"/>
          </a:xfrm>
          <a:prstGeom prst="rect">
            <a:avLst/>
          </a:prstGeom>
          <a:solidFill>
            <a:srgbClr val="D4C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4000" y="1569600"/>
            <a:ext cx="1368000" cy="16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C_ABS_DroopMax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655999" y="1569600"/>
            <a:ext cx="1007999" cy="16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EF0AF"/>
                </a:solidFill>
                <a:latin typeface="Calibri"/>
              </a:rPr>
              <a:t>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664000" y="1569600"/>
            <a:ext cx="827999" cy="16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D4C94A"/>
                </a:solidFill>
                <a:latin typeface="Calibri"/>
              </a:rPr>
              <a:t>20%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91999" y="1569600"/>
            <a:ext cx="684000" cy="16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D4C94A"/>
                </a:solidFill>
                <a:latin typeface="Calibri"/>
              </a:rPr>
              <a:t>ПРЕДУПРЕЖДЕНИЕ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76000" y="1569600"/>
            <a:ext cx="1872000" cy="16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07880"/>
                </a:solidFill>
                <a:latin typeface="Calibri"/>
              </a:rPr>
              <a:t>NTE200 допускает флуктуацию об/мин ±20%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16000" y="1724400"/>
            <a:ext cx="11756952" cy="162000"/>
          </a:xfrm>
          <a:prstGeom prst="rect">
            <a:avLst/>
          </a:prstGeom>
          <a:solidFill>
            <a:srgbClr val="35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16000" y="1724400"/>
            <a:ext cx="79200" cy="162000"/>
          </a:xfrm>
          <a:prstGeom prst="rect">
            <a:avLst/>
          </a:prstGeom>
          <a:solidFill>
            <a:srgbClr val="E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4000" y="1738800"/>
            <a:ext cx="1368000" cy="16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C_HSST_Net_Torque_High_Thd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655999" y="1738800"/>
            <a:ext cx="1007999" cy="16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EF0AF"/>
                </a:solidFill>
                <a:latin typeface="Calibri"/>
              </a:rPr>
              <a:t>5509 Н·м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664000" y="1738800"/>
            <a:ext cx="827999" cy="16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05252"/>
                </a:solidFill>
                <a:latin typeface="Calibri"/>
              </a:rPr>
              <a:t>3650 Н·м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491999" y="1738800"/>
            <a:ext cx="684000" cy="16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08C2E"/>
                </a:solidFill>
                <a:latin typeface="Calibri"/>
              </a:rPr>
              <a:t>ВЫСОКИЙ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76000" y="1738800"/>
            <a:ext cx="1872000" cy="16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07880"/>
                </a:solidFill>
                <a:latin typeface="Calibri"/>
              </a:rPr>
              <a:t>NTE200 горячая остановка при меньшем крутящем моменте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16000" y="1893600"/>
            <a:ext cx="11756952" cy="162000"/>
          </a:xfrm>
          <a:prstGeom prst="rect">
            <a:avLst/>
          </a:prstGeom>
          <a:solidFill>
            <a:srgbClr val="303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16000" y="1893600"/>
            <a:ext cx="79200" cy="162000"/>
          </a:xfrm>
          <a:prstGeom prst="rect">
            <a:avLst/>
          </a:prstGeom>
          <a:solidFill>
            <a:srgbClr val="E0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24000" y="1908000"/>
            <a:ext cx="1368000" cy="16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C_HSST_Net_Torque_Low_Thd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655999" y="1908000"/>
            <a:ext cx="1007999" cy="16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EF0AF"/>
                </a:solidFill>
                <a:latin typeface="Calibri"/>
              </a:rPr>
              <a:t>4722 Н·м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664000" y="1908000"/>
            <a:ext cx="827999" cy="16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05252"/>
                </a:solidFill>
                <a:latin typeface="Calibri"/>
              </a:rPr>
              <a:t>1850 Н·м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491999" y="1908000"/>
            <a:ext cx="684000" cy="16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05252"/>
                </a:solidFill>
                <a:latin typeface="Calibri"/>
              </a:rPr>
              <a:t>КРИТИЧНО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76000" y="1908000"/>
            <a:ext cx="1872000" cy="16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07880"/>
                </a:solidFill>
                <a:latin typeface="Calibri"/>
              </a:rPr>
              <a:t>Нижний порог в 2.5× ниже — нестабильный гистерезис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16000" y="2062800"/>
            <a:ext cx="11756952" cy="162000"/>
          </a:xfrm>
          <a:prstGeom prst="rect">
            <a:avLst/>
          </a:prstGeom>
          <a:solidFill>
            <a:srgbClr val="35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16000" y="2062800"/>
            <a:ext cx="79200" cy="162000"/>
          </a:xfrm>
          <a:prstGeom prst="rect">
            <a:avLst/>
          </a:prstGeom>
          <a:solidFill>
            <a:srgbClr val="E0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24000" y="2077200"/>
            <a:ext cx="1368000" cy="16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C_TIB_Fuel_Adjust_Upper_Limit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655999" y="2077200"/>
            <a:ext cx="1007999" cy="16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EF0AF"/>
                </a:solidFill>
                <a:latin typeface="Calibri"/>
              </a:rPr>
              <a:t>100%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664000" y="2077200"/>
            <a:ext cx="827999" cy="16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05252"/>
                </a:solidFill>
                <a:latin typeface="Calibri"/>
              </a:rPr>
              <a:t>200%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491999" y="2077200"/>
            <a:ext cx="684000" cy="16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05252"/>
                </a:solidFill>
                <a:latin typeface="Calibri"/>
              </a:rPr>
              <a:t>КРИТИЧНО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176000" y="2077200"/>
            <a:ext cx="1872000" cy="16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07880"/>
                </a:solidFill>
                <a:latin typeface="Calibri"/>
              </a:rPr>
              <a:t>NTE200: двойная коррекция впрыска → перегрев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16000" y="2232000"/>
            <a:ext cx="11756952" cy="162000"/>
          </a:xfrm>
          <a:prstGeom prst="rect">
            <a:avLst/>
          </a:prstGeom>
          <a:solidFill>
            <a:srgbClr val="303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16000" y="2232000"/>
            <a:ext cx="79200" cy="162000"/>
          </a:xfrm>
          <a:prstGeom prst="rect">
            <a:avLst/>
          </a:prstGeom>
          <a:solidFill>
            <a:srgbClr val="E0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24000" y="2246400"/>
            <a:ext cx="1368000" cy="16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C_DO_01_A_High_Threshold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655999" y="2246400"/>
            <a:ext cx="1007999" cy="16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EF0AF"/>
                </a:solidFill>
                <a:latin typeface="Calibri"/>
              </a:rPr>
              <a:t>54°C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664000" y="2246400"/>
            <a:ext cx="827999" cy="16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05252"/>
                </a:solidFill>
                <a:latin typeface="Calibri"/>
              </a:rPr>
              <a:t>ОТКЛ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491999" y="2246400"/>
            <a:ext cx="684000" cy="16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05252"/>
                </a:solidFill>
                <a:latin typeface="Calibri"/>
              </a:rPr>
              <a:t>КРИТИЧНО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176000" y="2246400"/>
            <a:ext cx="1872000" cy="16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07880"/>
                </a:solidFill>
                <a:latin typeface="Calibri"/>
              </a:rPr>
              <a:t>Нет сигнала о перегреве воздуха на NTE200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16000" y="2401200"/>
            <a:ext cx="11756952" cy="162000"/>
          </a:xfrm>
          <a:prstGeom prst="rect">
            <a:avLst/>
          </a:prstGeom>
          <a:solidFill>
            <a:srgbClr val="35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216000" y="2401200"/>
            <a:ext cx="79200" cy="162000"/>
          </a:xfrm>
          <a:prstGeom prst="rect">
            <a:avLst/>
          </a:prstGeom>
          <a:solidFill>
            <a:srgbClr val="E0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24000" y="2415600"/>
            <a:ext cx="1368000" cy="16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C_DO_07_A_High_Threshold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655999" y="2415600"/>
            <a:ext cx="1007999" cy="16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EF0AF"/>
                </a:solidFill>
                <a:latin typeface="Calibri"/>
              </a:rPr>
              <a:t>85°C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664000" y="2415600"/>
            <a:ext cx="827999" cy="16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05252"/>
                </a:solidFill>
                <a:latin typeface="Calibri"/>
              </a:rPr>
              <a:t>ОТКЛ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491999" y="2415600"/>
            <a:ext cx="684000" cy="16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05252"/>
                </a:solidFill>
                <a:latin typeface="Calibri"/>
              </a:rPr>
              <a:t>КРИТИЧНО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176000" y="2415600"/>
            <a:ext cx="1872000" cy="16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07880"/>
                </a:solidFill>
                <a:latin typeface="Calibri"/>
              </a:rPr>
              <a:t>Нет внешнего сигнала перегрева ОЖ на NTE200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16000" y="2570400"/>
            <a:ext cx="11756952" cy="162000"/>
          </a:xfrm>
          <a:prstGeom prst="rect">
            <a:avLst/>
          </a:prstGeom>
          <a:solidFill>
            <a:srgbClr val="303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216000" y="2570400"/>
            <a:ext cx="79200" cy="162000"/>
          </a:xfrm>
          <a:prstGeom prst="rect">
            <a:avLst/>
          </a:prstGeom>
          <a:solidFill>
            <a:srgbClr val="E0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24000" y="2584800"/>
            <a:ext cx="1368000" cy="16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C_DO_08_A_High_Threshold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655999" y="2584800"/>
            <a:ext cx="1007999" cy="16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EF0AF"/>
                </a:solidFill>
                <a:latin typeface="Calibri"/>
              </a:rPr>
              <a:t>68°C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664000" y="2584800"/>
            <a:ext cx="827999" cy="16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05252"/>
                </a:solidFill>
                <a:latin typeface="Calibri"/>
              </a:rPr>
              <a:t>ОТКЛ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491999" y="2584800"/>
            <a:ext cx="684000" cy="16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05252"/>
                </a:solidFill>
                <a:latin typeface="Calibri"/>
              </a:rPr>
              <a:t>КРИТИЧНО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176000" y="2584800"/>
            <a:ext cx="1872000" cy="16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07880"/>
                </a:solidFill>
                <a:latin typeface="Calibri"/>
              </a:rPr>
              <a:t>Нет сигнала перегрева топлива на NTE200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16000" y="2739600"/>
            <a:ext cx="11756952" cy="162000"/>
          </a:xfrm>
          <a:prstGeom prst="rect">
            <a:avLst/>
          </a:prstGeom>
          <a:solidFill>
            <a:srgbClr val="35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216000" y="2739600"/>
            <a:ext cx="79200" cy="162000"/>
          </a:xfrm>
          <a:prstGeom prst="rect">
            <a:avLst/>
          </a:prstGeom>
          <a:solidFill>
            <a:srgbClr val="E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24000" y="2754000"/>
            <a:ext cx="1368000" cy="16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T_ABS_MaxRef_2/3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655999" y="2754000"/>
            <a:ext cx="1007999" cy="16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EF0AF"/>
                </a:solidFill>
                <a:latin typeface="Calibri"/>
              </a:rPr>
              <a:t>1990 RPM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664000" y="2754000"/>
            <a:ext cx="827999" cy="16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05252"/>
                </a:solidFill>
                <a:latin typeface="Calibri"/>
              </a:rPr>
              <a:t>2225.8 RPM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491999" y="2754000"/>
            <a:ext cx="684000" cy="16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08C2E"/>
                </a:solidFill>
                <a:latin typeface="Calibri"/>
              </a:rPr>
              <a:t>ВЫСОКИЙ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176000" y="2754000"/>
            <a:ext cx="1872000" cy="16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07880"/>
                </a:solidFill>
                <a:latin typeface="Calibri"/>
              </a:rPr>
              <a:t>В отд. режимах NTE200 разгоняется до 2226 RPM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0" y="6714000"/>
            <a:ext cx="12188952" cy="144000"/>
          </a:xfrm>
          <a:prstGeom prst="rect">
            <a:avLst/>
          </a:prstGeom>
          <a:solidFill>
            <a:srgbClr val="35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60000" y="6721200"/>
            <a:ext cx="11468952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07880"/>
                </a:solidFill>
                <a:latin typeface="Calibri"/>
              </a:rPr>
              <a:t>АО Развитие  ·  QSK50 MCRS  ·  Анализ отказов клапанов  ·  Полюс Магадан  ·  2026  ·  Конфиденциально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5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432000" cy="68580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648000"/>
            <a:ext cx="11108952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3EF0AF"/>
                </a:solidFill>
                <a:latin typeface="Calibri"/>
              </a:rPr>
              <a:t>ЧАСТЬ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152000"/>
            <a:ext cx="11108952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Calibri"/>
              </a:rPr>
              <a:t>Новые данные из INSITE КАМСС</a:t>
            </a:r>
          </a:p>
        </p:txBody>
      </p:sp>
      <p:sp>
        <p:nvSpPr>
          <p:cNvPr id="7" name="Rectangle 6"/>
          <p:cNvSpPr/>
          <p:nvPr/>
        </p:nvSpPr>
        <p:spPr>
          <a:xfrm>
            <a:off x="720000" y="1764000"/>
            <a:ext cx="10748952" cy="21600"/>
          </a:xfrm>
          <a:prstGeom prst="rect">
            <a:avLst/>
          </a:prstGeom>
          <a:solidFill>
            <a:srgbClr val="707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00" y="1835999"/>
            <a:ext cx="10748952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07880"/>
                </a:solidFill>
                <a:latin typeface="Calibri"/>
              </a:rPr>
              <a:t>Источник: Calterm Calibration Compare Report + ECM Image Analyzer (май 2026)
AQ60217.28 (730E ш18)  vs  AQ60809.08 (NTE200 ш85)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8952" y="540000"/>
            <a:ext cx="3600000" cy="1908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228952" y="540000"/>
            <a:ext cx="3600000" cy="1908000"/>
          </a:xfrm>
          <a:prstGeom prst="rect">
            <a:avLst/>
          </a:prstGeom>
          <a:solidFill>
            <a:srgbClr val="1E252A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468000"/>
          </a:xfrm>
          <a:prstGeom prst="rect">
            <a:avLst/>
          </a:prstGeom>
          <a:solidFill>
            <a:srgbClr val="35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72000"/>
            <a:ext cx="11468952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ПОДТВЕРЖДЁННЫЕ ФАКТЫ  |  КАМСС + INSITE (май 2026)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306000"/>
            <a:ext cx="11468952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7880"/>
                </a:solidFill>
                <a:latin typeface="Calibri"/>
              </a:rPr>
              <a:t>Левая колонка: подтверждено Calterm Compare Report  ·  Правая: новые находки КАМСС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522000"/>
            <a:ext cx="5554476" cy="1980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532800"/>
            <a:ext cx="5410476" cy="17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93136"/>
                </a:solidFill>
                <a:latin typeface="Calibri"/>
              </a:rPr>
              <a:t>Подтверждено Calterm Compare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46475" y="522000"/>
            <a:ext cx="5554476" cy="198000"/>
          </a:xfrm>
          <a:prstGeom prst="rect">
            <a:avLst/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8475" y="532800"/>
            <a:ext cx="5410476" cy="17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93136"/>
                </a:solidFill>
                <a:latin typeface="Calibri"/>
              </a:rPr>
              <a:t>Новые находки КАМСС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00" y="756000"/>
            <a:ext cx="5554476" cy="378000"/>
          </a:xfrm>
          <a:prstGeom prst="rect">
            <a:avLst/>
          </a:prstGeom>
          <a:solidFill>
            <a:srgbClr val="35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8000" y="756000"/>
            <a:ext cx="72000" cy="3780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3999" y="777600"/>
            <a:ext cx="5374476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EF0AF"/>
                </a:solidFill>
                <a:latin typeface="Calibri"/>
              </a:rPr>
              <a:t>Fuel Code FC0BU52 vs FC0WH95  ✓ Подтверждено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3999" y="936000"/>
            <a:ext cx="5374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7880"/>
                </a:solidFill>
                <a:latin typeface="Calibri"/>
              </a:rPr>
              <a:t>Подтверждено: разные карты впрыска. Влияние: температура сгорания, EGT.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000" y="1198800"/>
            <a:ext cx="5554476" cy="378000"/>
          </a:xfrm>
          <a:prstGeom prst="rect">
            <a:avLst/>
          </a:prstGeom>
          <a:solidFill>
            <a:srgbClr val="35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8000" y="1198800"/>
            <a:ext cx="72000" cy="3780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3999" y="1220400"/>
            <a:ext cx="5374476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EF0AF"/>
                </a:solidFill>
                <a:latin typeface="Calibri"/>
              </a:rPr>
              <a:t>DO_Option: 6765 (730E) vs 61042 (NTE200)  ✓ Подтверждено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3999" y="1378800"/>
            <a:ext cx="5374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7880"/>
                </a:solidFill>
                <a:latin typeface="Calibri"/>
              </a:rPr>
              <a:t>Разная конфигурация цифровых выходов подтверждена. DO01/07/08 отключены.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8000" y="1641600"/>
            <a:ext cx="5554476" cy="378000"/>
          </a:xfrm>
          <a:prstGeom prst="rect">
            <a:avLst/>
          </a:prstGeom>
          <a:solidFill>
            <a:srgbClr val="35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8000" y="1641600"/>
            <a:ext cx="72000" cy="3780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3999" y="1663200"/>
            <a:ext cx="5374476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EF0AF"/>
                </a:solidFill>
                <a:latin typeface="Calibri"/>
              </a:rPr>
              <a:t>SC_Option: 60621 (730E) vs 61878 (NTE200)  ✓ Подтверждено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3999" y="1821600"/>
            <a:ext cx="5374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7880"/>
                </a:solidFill>
                <a:latin typeface="Calibri"/>
              </a:rPr>
              <a:t>Разные системные опции подтверждены. Иная конфигурация системы.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8000" y="2084400"/>
            <a:ext cx="5554476" cy="378000"/>
          </a:xfrm>
          <a:prstGeom prst="rect">
            <a:avLst/>
          </a:prstGeom>
          <a:solidFill>
            <a:srgbClr val="35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8000" y="2084400"/>
            <a:ext cx="72000" cy="3780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3999" y="2106000"/>
            <a:ext cx="5374476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EF0AF"/>
                </a:solidFill>
                <a:latin typeface="Calibri"/>
              </a:rPr>
              <a:t>Calterm Compare Report от 25.05.2026  ✓ Подтверждено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3999" y="2264400"/>
            <a:ext cx="5374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7880"/>
                </a:solidFill>
                <a:latin typeface="Calibri"/>
              </a:rPr>
              <a:t>Содержит прямое сравнение AQ60217.28 vs AQ60809.08. Использован как основа.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46475" y="756000"/>
            <a:ext cx="5554476" cy="378000"/>
          </a:xfrm>
          <a:prstGeom prst="rect">
            <a:avLst/>
          </a:prstGeom>
          <a:solidFill>
            <a:srgbClr val="35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46475" y="756000"/>
            <a:ext cx="72000" cy="378000"/>
          </a:xfrm>
          <a:prstGeom prst="rect">
            <a:avLst/>
          </a:prstGeom>
          <a:solidFill>
            <a:srgbClr val="E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72474" y="777600"/>
            <a:ext cx="5374476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08C2E"/>
                </a:solidFill>
                <a:latin typeface="Calibri"/>
              </a:rPr>
              <a:t>FC556: порог картерных газов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2474" y="936000"/>
            <a:ext cx="5374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08C2E"/>
                </a:solidFill>
                <a:latin typeface="Calibri"/>
              </a:rPr>
              <a:t>730E = 10 кПа  vs  NTE200 = 5 кПа
Порог вдвое ниже — раньше реакция ECM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46475" y="1198800"/>
            <a:ext cx="5554476" cy="378000"/>
          </a:xfrm>
          <a:prstGeom prst="rect">
            <a:avLst/>
          </a:prstGeom>
          <a:solidFill>
            <a:srgbClr val="35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46475" y="1198800"/>
            <a:ext cx="72000" cy="378000"/>
          </a:xfrm>
          <a:prstGeom prst="rect">
            <a:avLst/>
          </a:prstGeom>
          <a:solidFill>
            <a:srgbClr val="E0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72474" y="1220400"/>
            <a:ext cx="5374476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05252"/>
                </a:solidFill>
                <a:latin typeface="Calibri"/>
              </a:rPr>
              <a:t>Заброс оборотов (FC0 Overspeed)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2474" y="1378800"/>
            <a:ext cx="5374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05252"/>
                </a:solidFill>
                <a:latin typeface="Calibri"/>
              </a:rPr>
              <a:t>730E = 2250 RPM  vs  NTE200 = 2020 RPM
Зазор безопасности NTE200 = 80 RPM (730E = 260 RPM)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46475" y="1641600"/>
            <a:ext cx="5554476" cy="378000"/>
          </a:xfrm>
          <a:prstGeom prst="rect">
            <a:avLst/>
          </a:prstGeom>
          <a:solidFill>
            <a:srgbClr val="35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46475" y="1641600"/>
            <a:ext cx="72000" cy="378000"/>
          </a:xfrm>
          <a:prstGeom prst="rect">
            <a:avLst/>
          </a:prstGeom>
          <a:solidFill>
            <a:srgbClr val="E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72474" y="1663200"/>
            <a:ext cx="5374476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08C2E"/>
                </a:solidFill>
                <a:latin typeface="Calibri"/>
              </a:rPr>
              <a:t>FC4642 / FC1852: Вода в топливе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2474" y="1821600"/>
            <a:ext cx="5374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08C2E"/>
                </a:solidFill>
                <a:latin typeface="Calibri"/>
              </a:rPr>
              <a:t>Задержка 17 мин до снижения оборотов — только NTE200
Риск работы на загрязнённом топливе без немедленной реакции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46475" y="2084400"/>
            <a:ext cx="5554476" cy="378000"/>
          </a:xfrm>
          <a:prstGeom prst="rect">
            <a:avLst/>
          </a:prstGeom>
          <a:solidFill>
            <a:srgbClr val="35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46475" y="2084400"/>
            <a:ext cx="72000" cy="378000"/>
          </a:xfrm>
          <a:prstGeom prst="rect">
            <a:avLst/>
          </a:prstGeom>
          <a:solidFill>
            <a:srgbClr val="E0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72474" y="2106000"/>
            <a:ext cx="5374476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05252"/>
                </a:solidFill>
                <a:latin typeface="Calibri"/>
              </a:rPr>
              <a:t>FC611 горячие остановы NTE200 ш85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72474" y="2264400"/>
            <a:ext cx="5374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05252"/>
                </a:solidFill>
                <a:latin typeface="Calibri"/>
              </a:rPr>
              <a:t>FC611 = 18 горячих останова | FC1518 = 9 событий
При наработке всего ~4 015 м/ч — высокая частота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6475" y="2563200"/>
            <a:ext cx="5554476" cy="4078800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0" y="6714000"/>
            <a:ext cx="12188952" cy="144000"/>
          </a:xfrm>
          <a:prstGeom prst="rect">
            <a:avLst/>
          </a:prstGeom>
          <a:solidFill>
            <a:srgbClr val="35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0000" y="6721200"/>
            <a:ext cx="11468952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07880"/>
                </a:solidFill>
                <a:latin typeface="Calibri"/>
              </a:rPr>
              <a:t>АО Развитие  ·  QSK50 MCRS  ·  Анализ отказов клапанов  ·  Полюс Магадан  ·  2026  ·  Конфиденциально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03999"/>
          </a:xfrm>
          <a:prstGeom prst="rect">
            <a:avLst/>
          </a:prstGeom>
          <a:solidFill>
            <a:srgbClr val="35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4800"/>
            <a:ext cx="11468952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ОДИНАКОВЫЕ НАСТРОЙКИ  —  Важное открытие из INSITE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316800"/>
            <a:ext cx="11468952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EC9F0"/>
                </a:solidFill>
                <a:latin typeface="Calibri"/>
              </a:rPr>
              <a:t>Внутренние защиты ECM: одинаковы у 730E и NTE200  ·  Отличия — в ВНЕШНЕЙ КОНФИГУРАЦИИ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558000"/>
            <a:ext cx="11612952" cy="396000"/>
          </a:xfrm>
          <a:prstGeom prst="rect">
            <a:avLst/>
          </a:prstGeom>
          <a:solidFill>
            <a:srgbClr val="1A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8000" y="558000"/>
            <a:ext cx="125999" cy="396000"/>
          </a:xfrm>
          <a:prstGeom prst="rect">
            <a:avLst/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000" y="586800"/>
            <a:ext cx="11288952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EC9F0"/>
                </a:solidFill>
                <a:latin typeface="Calibri"/>
              </a:rPr>
              <a:t>ВЫВОД: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745200"/>
            <a:ext cx="11288952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Внутренние защиты ECM (дерейт момента/оборотов) ОДИНАКОВЫ у обеих машин. Отличия касаются внешних сигналов (DO) и установочных параметров.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00" y="1007999"/>
            <a:ext cx="11612952" cy="187200"/>
          </a:xfrm>
          <a:prstGeom prst="rect">
            <a:avLst/>
          </a:prstGeom>
          <a:solidFill>
            <a:srgbClr val="1E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000" y="1029599"/>
            <a:ext cx="1800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EF0AF"/>
                </a:solidFill>
                <a:latin typeface="Calibri"/>
              </a:rPr>
              <a:t>Код неисправности / FC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24000" y="1029599"/>
            <a:ext cx="2412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EF0AF"/>
                </a:solidFill>
                <a:latin typeface="Calibri"/>
              </a:rPr>
              <a:t>Параметр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6000" y="1029599"/>
            <a:ext cx="2880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EF0AF"/>
                </a:solidFill>
                <a:latin typeface="Calibri"/>
              </a:rPr>
              <a:t>Значение 730E / NTE200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16000" y="1029599"/>
            <a:ext cx="1260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EF0AF"/>
                </a:solidFill>
                <a:latin typeface="Calibri"/>
              </a:rPr>
              <a:t>Статус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8000" y="1195199"/>
            <a:ext cx="11612952" cy="172800"/>
          </a:xfrm>
          <a:prstGeom prst="rect">
            <a:avLst/>
          </a:prstGeom>
          <a:solidFill>
            <a:srgbClr val="35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8000" y="1195199"/>
            <a:ext cx="72000" cy="172800"/>
          </a:xfrm>
          <a:prstGeom prst="rect">
            <a:avLst/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6000" y="1216799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EC9F0"/>
                </a:solidFill>
                <a:latin typeface="Calibri"/>
              </a:rPr>
              <a:t>FC146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24000" y="1216799"/>
            <a:ext cx="241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Темп. ОЖ → снижение момента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6000" y="1216799"/>
            <a:ext cx="28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EF0AF"/>
                </a:solidFill>
                <a:latin typeface="Calibri"/>
              </a:rPr>
              <a:t>100°C, задержка 5 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16000" y="1216799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EF0AF"/>
                </a:solidFill>
                <a:latin typeface="Calibri"/>
              </a:rPr>
              <a:t>ОДИНАКОВО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8000" y="1375199"/>
            <a:ext cx="11612952" cy="172800"/>
          </a:xfrm>
          <a:prstGeom prst="rect">
            <a:avLst/>
          </a:prstGeom>
          <a:solidFill>
            <a:srgbClr val="303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8000" y="1375199"/>
            <a:ext cx="72000" cy="172800"/>
          </a:xfrm>
          <a:prstGeom prst="rect">
            <a:avLst/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6000" y="1396799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EC9F0"/>
                </a:solidFill>
                <a:latin typeface="Calibri"/>
              </a:rPr>
              <a:t>FC421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24000" y="1396799"/>
            <a:ext cx="241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Температура масла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36000" y="1396799"/>
            <a:ext cx="28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EF0AF"/>
                </a:solidFill>
                <a:latin typeface="Calibri"/>
              </a:rPr>
              <a:t>121.1°C — порог защиты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16000" y="1396799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EF0AF"/>
                </a:solidFill>
                <a:latin typeface="Calibri"/>
              </a:rPr>
              <a:t>ОДИНАКОВО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8000" y="1555199"/>
            <a:ext cx="11612952" cy="172800"/>
          </a:xfrm>
          <a:prstGeom prst="rect">
            <a:avLst/>
          </a:prstGeom>
          <a:solidFill>
            <a:srgbClr val="35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8000" y="1555199"/>
            <a:ext cx="72000" cy="172800"/>
          </a:xfrm>
          <a:prstGeom prst="rect">
            <a:avLst/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6000" y="1576799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EC9F0"/>
                </a:solidFill>
                <a:latin typeface="Calibri"/>
              </a:rPr>
              <a:t>FC415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24000" y="1576799"/>
            <a:ext cx="241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Давление масла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6000" y="1576799"/>
            <a:ext cx="28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EF0AF"/>
                </a:solidFill>
                <a:latin typeface="Calibri"/>
              </a:rPr>
              <a:t>Одинаковые пороговые таблицы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16000" y="1576799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EF0AF"/>
                </a:solidFill>
                <a:latin typeface="Calibri"/>
              </a:rPr>
              <a:t>ОДИНАКОВО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8000" y="1735199"/>
            <a:ext cx="11612952" cy="172800"/>
          </a:xfrm>
          <a:prstGeom prst="rect">
            <a:avLst/>
          </a:prstGeom>
          <a:solidFill>
            <a:srgbClr val="303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88000" y="1735199"/>
            <a:ext cx="72000" cy="172800"/>
          </a:xfrm>
          <a:prstGeom prst="rect">
            <a:avLst/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6000" y="1756799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EC9F0"/>
                </a:solidFill>
                <a:latin typeface="Calibri"/>
              </a:rPr>
              <a:t>FC235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24000" y="1756799"/>
            <a:ext cx="241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Уровень ОЖ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36000" y="1756799"/>
            <a:ext cx="28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EF0AF"/>
                </a:solidFill>
                <a:latin typeface="Calibri"/>
              </a:rPr>
              <a:t>Невысокий, задержка 30 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16000" y="1756799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EF0AF"/>
                </a:solidFill>
                <a:latin typeface="Calibri"/>
              </a:rPr>
              <a:t>ОДИНАКОВО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88000" y="1915199"/>
            <a:ext cx="11612952" cy="172800"/>
          </a:xfrm>
          <a:prstGeom prst="rect">
            <a:avLst/>
          </a:prstGeom>
          <a:solidFill>
            <a:srgbClr val="35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88000" y="1915199"/>
            <a:ext cx="72000" cy="172800"/>
          </a:xfrm>
          <a:prstGeom prst="rect">
            <a:avLst/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6000" y="1936799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EC9F0"/>
                </a:solidFill>
                <a:latin typeface="Calibri"/>
              </a:rPr>
              <a:t>FC155–FC165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24000" y="1936799"/>
            <a:ext cx="241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Температура впускного воздуха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36000" y="1936799"/>
            <a:ext cx="28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EF0AF"/>
                </a:solidFill>
                <a:latin typeface="Calibri"/>
              </a:rPr>
              <a:t>93.3°C — порог защиты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16000" y="1936799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EF0AF"/>
                </a:solidFill>
                <a:latin typeface="Calibri"/>
              </a:rPr>
              <a:t>ОДИНАКОВО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88000" y="2095199"/>
            <a:ext cx="11612952" cy="172800"/>
          </a:xfrm>
          <a:prstGeom prst="rect">
            <a:avLst/>
          </a:prstGeom>
          <a:solidFill>
            <a:srgbClr val="303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88000" y="2095199"/>
            <a:ext cx="72000" cy="172800"/>
          </a:xfrm>
          <a:prstGeom prst="rect">
            <a:avLst/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96000" y="2116799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EC9F0"/>
                </a:solidFill>
                <a:latin typeface="Calibri"/>
              </a:rPr>
              <a:t>FC228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24000" y="2116799"/>
            <a:ext cx="241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Давление ОЖ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36000" y="2116799"/>
            <a:ext cx="28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EF0AF"/>
                </a:solidFill>
                <a:latin typeface="Calibri"/>
              </a:rPr>
              <a:t>Одинаковые пороговые таблицы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16000" y="2116799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EF0AF"/>
                </a:solidFill>
                <a:latin typeface="Calibri"/>
              </a:rPr>
              <a:t>ОДИНАКОВО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88000" y="2275199"/>
            <a:ext cx="11612952" cy="172800"/>
          </a:xfrm>
          <a:prstGeom prst="rect">
            <a:avLst/>
          </a:prstGeom>
          <a:solidFill>
            <a:srgbClr val="35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88000" y="2275199"/>
            <a:ext cx="72000" cy="172800"/>
          </a:xfrm>
          <a:prstGeom prst="rect">
            <a:avLst/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96000" y="2296799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EC9F0"/>
                </a:solidFill>
                <a:latin typeface="Calibri"/>
              </a:rPr>
              <a:t>FC151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124000" y="2296799"/>
            <a:ext cx="241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Темп. ОЖ → снижение оборотов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36000" y="2296799"/>
            <a:ext cx="28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EF0AF"/>
                </a:solidFill>
                <a:latin typeface="Calibri"/>
              </a:rPr>
              <a:t>110°C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16000" y="2296799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EF0AF"/>
                </a:solidFill>
                <a:latin typeface="Calibri"/>
              </a:rPr>
              <a:t>ОДИНАКОВО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714000"/>
            <a:ext cx="12188952" cy="144000"/>
          </a:xfrm>
          <a:prstGeom prst="rect">
            <a:avLst/>
          </a:prstGeom>
          <a:solidFill>
            <a:srgbClr val="35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0000" y="6721200"/>
            <a:ext cx="11468952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07880"/>
                </a:solidFill>
                <a:latin typeface="Calibri"/>
              </a:rPr>
              <a:t>АО Развитие  ·  QSK50 MCRS  ·  Анализ отказов клапанов  ·  Полюс Магадан  ·  2026  ·  Конфиденциально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5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432000" cy="6858000"/>
          </a:xfrm>
          <a:prstGeom prst="rect">
            <a:avLst/>
          </a:prstGeom>
          <a:solidFill>
            <a:srgbClr val="E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648000"/>
            <a:ext cx="11108952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E08C2E"/>
                </a:solidFill>
                <a:latin typeface="Calibri"/>
              </a:rPr>
              <a:t>ЧАСТЬ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152000"/>
            <a:ext cx="11108952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Calibri"/>
              </a:rPr>
              <a:t>Сравнение с предыдущим анализом</a:t>
            </a:r>
          </a:p>
        </p:txBody>
      </p:sp>
      <p:sp>
        <p:nvSpPr>
          <p:cNvPr id="7" name="Rectangle 6"/>
          <p:cNvSpPr/>
          <p:nvPr/>
        </p:nvSpPr>
        <p:spPr>
          <a:xfrm>
            <a:off x="720000" y="1764000"/>
            <a:ext cx="10748952" cy="21600"/>
          </a:xfrm>
          <a:prstGeom prst="rect">
            <a:avLst/>
          </a:prstGeom>
          <a:solidFill>
            <a:srgbClr val="707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00" y="1835999"/>
            <a:ext cx="10748952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07880"/>
                </a:solidFill>
                <a:latin typeface="Calibri"/>
              </a:rPr>
              <a:t>Что подтверждено  ·  Что изменилось  ·  Что новое
Источник: ECM_对比 + Calterm Compare + INSITE КАМСС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468000"/>
          </a:xfrm>
          <a:prstGeom prst="rect">
            <a:avLst/>
          </a:prstGeom>
          <a:solidFill>
            <a:srgbClr val="35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72000"/>
            <a:ext cx="11468952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СРАВНЕНИЕ: Предыдущий анализ vs КАМСС / INSITE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306000"/>
            <a:ext cx="11468952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7880"/>
                </a:solidFill>
                <a:latin typeface="Calibri"/>
              </a:rPr>
              <a:t>Цвет статуса: Зелёный = Подтверждено  ·  Синий = Новое одинаково  ·  Оранжевый = Новое различие  ·  Жёлтый = Требует проверки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511200"/>
            <a:ext cx="11612952" cy="187200"/>
          </a:xfrm>
          <a:prstGeom prst="rect">
            <a:avLst/>
          </a:prstGeom>
          <a:solidFill>
            <a:srgbClr val="1E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000" y="532800"/>
            <a:ext cx="1692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EF0AF"/>
                </a:solidFill>
                <a:latin typeface="Calibri"/>
              </a:rPr>
              <a:t>Параметр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6000" y="532800"/>
            <a:ext cx="1980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EF0AF"/>
                </a:solidFill>
                <a:latin typeface="Calibri"/>
              </a:rPr>
              <a:t>Предыдущий анализ (ECM_对比)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96000" y="532800"/>
            <a:ext cx="2700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EF0AF"/>
                </a:solidFill>
                <a:latin typeface="Calibri"/>
              </a:rPr>
              <a:t>КАМСС / INSITE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6000" y="532800"/>
            <a:ext cx="1800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EF0AF"/>
                </a:solidFill>
                <a:latin typeface="Calibri"/>
              </a:rPr>
              <a:t>Статус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8000" y="698400"/>
            <a:ext cx="11612952" cy="216000"/>
          </a:xfrm>
          <a:prstGeom prst="rect">
            <a:avLst/>
          </a:prstGeom>
          <a:solidFill>
            <a:srgbClr val="35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8000" y="698400"/>
            <a:ext cx="72000" cy="2160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6000" y="712800"/>
            <a:ext cx="1692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Fuel 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6000" y="712800"/>
            <a:ext cx="1980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07880"/>
                </a:solidFill>
                <a:latin typeface="Calibri"/>
              </a:rPr>
              <a:t>FC0BU52 vs FC0WH95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96000" y="712800"/>
            <a:ext cx="2700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FC0BU52 vs FC0WH95
Прямое совпадение из Calterm Compare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96000" y="712800"/>
            <a:ext cx="1800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EF0AF"/>
                </a:solidFill>
                <a:latin typeface="Calibri"/>
              </a:rPr>
              <a:t>✓ Подтверждено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8000" y="921600"/>
            <a:ext cx="11612952" cy="216000"/>
          </a:xfrm>
          <a:prstGeom prst="rect">
            <a:avLst/>
          </a:prstGeom>
          <a:solidFill>
            <a:srgbClr val="303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8000" y="921600"/>
            <a:ext cx="72000" cy="2160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6000" y="936000"/>
            <a:ext cx="1692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C_EPD_OT_RPM_Drt_En
(откл. на NTE200)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6000" y="936000"/>
            <a:ext cx="1980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07880"/>
                </a:solidFill>
                <a:latin typeface="Calibri"/>
              </a:rPr>
              <a:t>ВКЛ(1) 730E vs ОТКЛ(0) NTE200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96000" y="936000"/>
            <a:ext cx="2700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Подтверждается разницей DO_Option
6765→61042: цифровые выходы изменены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96000" y="936000"/>
            <a:ext cx="1800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EF0AF"/>
                </a:solidFill>
                <a:latin typeface="Calibri"/>
              </a:rPr>
              <a:t>✓ Подтверждено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8000" y="1144800"/>
            <a:ext cx="11612952" cy="216000"/>
          </a:xfrm>
          <a:prstGeom prst="rect">
            <a:avLst/>
          </a:prstGeom>
          <a:solidFill>
            <a:srgbClr val="35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8000" y="1144800"/>
            <a:ext cx="72000" cy="216000"/>
          </a:xfrm>
          <a:prstGeom prst="rect">
            <a:avLst/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6000" y="1159200"/>
            <a:ext cx="1692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Внутренние пороги дерейта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6000" y="1159200"/>
            <a:ext cx="1980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07880"/>
                </a:solidFill>
                <a:latin typeface="Calibri"/>
              </a:rPr>
              <a:t>Не сравнивались в предыдущем анализе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96000" y="1159200"/>
            <a:ext cx="2700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FC146/421/415/235/155-165 ОДИНАКОВЫ
у 730E и NTE200 — важное открытие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96000" y="1159200"/>
            <a:ext cx="1800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EC9F0"/>
                </a:solidFill>
                <a:latin typeface="Calibri"/>
              </a:rPr>
              <a:t>★ Новое: одинаково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8000" y="1368000"/>
            <a:ext cx="11612952" cy="216000"/>
          </a:xfrm>
          <a:prstGeom prst="rect">
            <a:avLst/>
          </a:prstGeom>
          <a:solidFill>
            <a:srgbClr val="303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88000" y="1368000"/>
            <a:ext cx="72000" cy="2160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6000" y="1382400"/>
            <a:ext cx="1692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Внешние цифровые выходы DO
(DO01/07/08)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6000" y="1382400"/>
            <a:ext cx="1980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07880"/>
                </a:solidFill>
                <a:latin typeface="Calibri"/>
              </a:rPr>
              <a:t>DO_01/07/08 отключены на NTE200
C_DO_0x_A_High_Threshold = ОТКЛ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96000" y="1382400"/>
            <a:ext cx="2700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DO_Option 61042 (NTE200) vs 6765 (730E)
Подтверждает отключение внешних сигналов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96000" y="1382400"/>
            <a:ext cx="1800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EF0AF"/>
                </a:solidFill>
                <a:latin typeface="Calibri"/>
              </a:rPr>
              <a:t>✓ Подтверждено +
уточнено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8000" y="1591200"/>
            <a:ext cx="11612952" cy="216000"/>
          </a:xfrm>
          <a:prstGeom prst="rect">
            <a:avLst/>
          </a:prstGeom>
          <a:solidFill>
            <a:srgbClr val="35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88000" y="1591200"/>
            <a:ext cx="72000" cy="216000"/>
          </a:xfrm>
          <a:prstGeom prst="rect">
            <a:avLst/>
          </a:prstGeom>
          <a:solidFill>
            <a:srgbClr val="E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6000" y="1605600"/>
            <a:ext cx="1692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FC556
Картерные газы порог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16000" y="1605600"/>
            <a:ext cx="1980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07880"/>
                </a:solidFill>
                <a:latin typeface="Calibri"/>
              </a:rPr>
              <a:t>Данных не было в предыдущем анализе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96000" y="1605600"/>
            <a:ext cx="2700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730E = 10 кПа  vs  NTE200 = 5 кПа
Порог NTE200 вдвое ниже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96000" y="1605600"/>
            <a:ext cx="1800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08C2E"/>
                </a:solidFill>
                <a:latin typeface="Calibri"/>
              </a:rPr>
              <a:t>★ Новое различие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8000" y="1814400"/>
            <a:ext cx="11612952" cy="216000"/>
          </a:xfrm>
          <a:prstGeom prst="rect">
            <a:avLst/>
          </a:prstGeom>
          <a:solidFill>
            <a:srgbClr val="303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88000" y="1814400"/>
            <a:ext cx="72000" cy="216000"/>
          </a:xfrm>
          <a:prstGeom prst="rect">
            <a:avLst/>
          </a:prstGeom>
          <a:solidFill>
            <a:srgbClr val="E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96000" y="1828800"/>
            <a:ext cx="1692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Заброс оборотов
FC0 Overspeed threshold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16000" y="1828800"/>
            <a:ext cx="1980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07880"/>
                </a:solidFill>
                <a:latin typeface="Calibri"/>
              </a:rPr>
              <a:t>Данных не было в предыдущем анализе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96000" y="1828800"/>
            <a:ext cx="2700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730E = 2250 RPM  vs  NTE200 = 2020 RPM
Зазор безопасности 80 RPM (vs 260 RPM)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96000" y="1828800"/>
            <a:ext cx="1800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08C2E"/>
                </a:solidFill>
                <a:latin typeface="Calibri"/>
              </a:rPr>
              <a:t>★ Новое различие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88000" y="2037600"/>
            <a:ext cx="11612952" cy="216000"/>
          </a:xfrm>
          <a:prstGeom prst="rect">
            <a:avLst/>
          </a:prstGeom>
          <a:solidFill>
            <a:srgbClr val="35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88000" y="2037600"/>
            <a:ext cx="72000" cy="216000"/>
          </a:xfrm>
          <a:prstGeom prst="rect">
            <a:avLst/>
          </a:prstGeom>
          <a:solidFill>
            <a:srgbClr val="D4C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96000" y="2052000"/>
            <a:ext cx="1692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Макс. рабочие об/мин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16000" y="2052000"/>
            <a:ext cx="1980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07880"/>
                </a:solidFill>
                <a:latin typeface="Calibri"/>
              </a:rPr>
              <a:t>1990 RPM (730E) vs 2100 RPM (NTE200)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96000" y="2052000"/>
            <a:ext cx="2700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При заборосе порог NTE200 = 2020 RPM
Между 2100 и 2020 — зазор 80 RPM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96000" y="2052000"/>
            <a:ext cx="1800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D4C94A"/>
                </a:solidFill>
                <a:latin typeface="Calibri"/>
              </a:rPr>
              <a:t>⚠ Уточнение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88000" y="2260800"/>
            <a:ext cx="11612952" cy="216000"/>
          </a:xfrm>
          <a:prstGeom prst="rect">
            <a:avLst/>
          </a:prstGeom>
          <a:solidFill>
            <a:srgbClr val="303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88000" y="2260800"/>
            <a:ext cx="72000" cy="216000"/>
          </a:xfrm>
          <a:prstGeom prst="rect">
            <a:avLst/>
          </a:prstGeom>
          <a:solidFill>
            <a:srgbClr val="D4C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96000" y="2275200"/>
            <a:ext cx="1692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TIB = 200%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16000" y="2275200"/>
            <a:ext cx="1980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07880"/>
                </a:solidFill>
                <a:latin typeface="Calibri"/>
              </a:rPr>
              <a:t>C_TIB_Fuel_Adjust_Upper_Limit = 200%
Предыдущий анализ: критично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96000" y="2275200"/>
            <a:ext cx="2700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Из Calterm Compare напрямую не видно
Требует Calterm подтверждения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96000" y="2275200"/>
            <a:ext cx="1800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D4C94A"/>
                </a:solidFill>
                <a:latin typeface="Calibri"/>
              </a:rPr>
              <a:t>⏳ Требует проверки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714000"/>
            <a:ext cx="12188952" cy="144000"/>
          </a:xfrm>
          <a:prstGeom prst="rect">
            <a:avLst/>
          </a:prstGeom>
          <a:solidFill>
            <a:srgbClr val="35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0000" y="6721200"/>
            <a:ext cx="11468952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07880"/>
                </a:solidFill>
                <a:latin typeface="Calibri"/>
              </a:rPr>
              <a:t>АО Развитие  ·  QSK50 MCRS  ·  Анализ отказов клапанов  ·  Полюс Магадан  ·  2026  ·  Конфиденциально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468000"/>
          </a:xfrm>
          <a:prstGeom prst="rect">
            <a:avLst/>
          </a:prstGeom>
          <a:solidFill>
            <a:srgbClr val="35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0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72000"/>
            <a:ext cx="11468952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КРИТИЧЕСКИЕ ОТЛИЧИЯ: ЧИСЛОВОЕ СРАВНЕНИЕ  —  730E vs NTE200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306000"/>
            <a:ext cx="11468952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7880"/>
                </a:solidFill>
                <a:latin typeface="Calibri"/>
              </a:rPr>
              <a:t>Источник: ECM_对比 + Calterm Compare Report + INSITE КАМСС (май 2026)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540000"/>
            <a:ext cx="11540952" cy="6066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714000"/>
            <a:ext cx="12188952" cy="144000"/>
          </a:xfrm>
          <a:prstGeom prst="rect">
            <a:avLst/>
          </a:prstGeom>
          <a:solidFill>
            <a:srgbClr val="35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000" y="6721200"/>
            <a:ext cx="11468952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07880"/>
                </a:solidFill>
                <a:latin typeface="Calibri"/>
              </a:rPr>
              <a:t>АО Развитие  ·  QSK50 MCRS  ·  Анализ отказов клапанов  ·  Полюс Магадан  ·  2026  ·  Конфиденциально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5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432000" cy="6858000"/>
          </a:xfrm>
          <a:prstGeom prst="rect">
            <a:avLst/>
          </a:prstGeom>
          <a:solidFill>
            <a:srgbClr val="E0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648000"/>
            <a:ext cx="11108952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E05252"/>
                </a:solidFill>
                <a:latin typeface="Calibri"/>
              </a:rPr>
              <a:t>ЧАСТЬ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152000"/>
            <a:ext cx="11108952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Calibri"/>
              </a:rPr>
              <a:t>Выводы и мероприятия</a:t>
            </a:r>
          </a:p>
        </p:txBody>
      </p:sp>
      <p:sp>
        <p:nvSpPr>
          <p:cNvPr id="7" name="Rectangle 6"/>
          <p:cNvSpPr/>
          <p:nvPr/>
        </p:nvSpPr>
        <p:spPr>
          <a:xfrm>
            <a:off x="720000" y="1764000"/>
            <a:ext cx="10748952" cy="21600"/>
          </a:xfrm>
          <a:prstGeom prst="rect">
            <a:avLst/>
          </a:prstGeom>
          <a:solidFill>
            <a:srgbClr val="707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00" y="1835999"/>
            <a:ext cx="10748952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07880"/>
                </a:solidFill>
                <a:latin typeface="Calibri"/>
              </a:rPr>
              <a:t>На основе: предыдущего анализа + данных INSITE КАМСС (май 2026)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468000"/>
          </a:xfrm>
          <a:prstGeom prst="rect">
            <a:avLst/>
          </a:prstGeom>
          <a:solidFill>
            <a:srgbClr val="35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0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72000"/>
            <a:ext cx="11468952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ВЫВОДЫ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306000"/>
            <a:ext cx="11468952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07880"/>
                </a:solidFill>
                <a:latin typeface="Calibri"/>
              </a:rPr>
              <a:t>QSK50 MCRS  ·  NTE200 vs 730E-DC  ·  Причины ускоренного износа клапанов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522000"/>
            <a:ext cx="5644476" cy="1993200"/>
          </a:xfrm>
          <a:prstGeom prst="rect">
            <a:avLst/>
          </a:prstGeom>
          <a:solidFill>
            <a:srgbClr val="35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8000" y="522000"/>
            <a:ext cx="90000" cy="1993200"/>
          </a:xfrm>
          <a:prstGeom prst="rect">
            <a:avLst/>
          </a:prstGeom>
          <a:solidFill>
            <a:srgbClr val="E0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000" y="550800"/>
            <a:ext cx="540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05252"/>
                </a:solidFill>
                <a:latin typeface="Calibri"/>
              </a:rPr>
              <a:t>КРИТИЧНО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658800"/>
            <a:ext cx="5428476" cy="17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Отключены внешние сигналы защиты DO01/07/08 и флаг EPD_OT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828000"/>
            <a:ext cx="5428476" cy="16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7880"/>
                </a:solidFill>
                <a:latin typeface="Calibri"/>
              </a:rPr>
              <a:t>Подтверждено КАМСС. Машина не получает внешних команд на дерейт от машинного контроллера. Все три цифровых выхода отключены (DO_Option 6765→61042). NTE200 "не знает" о перегреве от внешней системы.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56476" y="522000"/>
            <a:ext cx="5644476" cy="1993200"/>
          </a:xfrm>
          <a:prstGeom prst="rect">
            <a:avLst/>
          </a:prstGeom>
          <a:solidFill>
            <a:srgbClr val="35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56476" y="522000"/>
            <a:ext cx="90000" cy="1993200"/>
          </a:xfrm>
          <a:prstGeom prst="rect">
            <a:avLst/>
          </a:prstGeom>
          <a:solidFill>
            <a:srgbClr val="E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476" y="550800"/>
            <a:ext cx="540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08C2E"/>
                </a:solidFill>
                <a:latin typeface="Calibri"/>
              </a:rPr>
              <a:t>ВЫСОКИЙ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476" y="658800"/>
            <a:ext cx="5428476" cy="17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Критически малый зазор до заброса оборотов: 80 RPM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476" y="828000"/>
            <a:ext cx="5428476" cy="16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7880"/>
                </a:solidFill>
                <a:latin typeface="Calibri"/>
              </a:rPr>
              <a:t>При макс. рабочих 2100 RPM защита от заброса NTE200 = 2020 RPM. Зазор безопасности = 80 RPM (730E = 260 RPM). При нагрузочных переходах возможен пробой порога → ударная нагрузка на клапаны.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8000" y="2598000"/>
            <a:ext cx="5644476" cy="1993200"/>
          </a:xfrm>
          <a:prstGeom prst="rect">
            <a:avLst/>
          </a:prstGeom>
          <a:solidFill>
            <a:srgbClr val="35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8000" y="2598000"/>
            <a:ext cx="90000" cy="1993200"/>
          </a:xfrm>
          <a:prstGeom prst="rect">
            <a:avLst/>
          </a:prstGeom>
          <a:solidFill>
            <a:srgbClr val="E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2000" y="2626800"/>
            <a:ext cx="540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08C2E"/>
                </a:solidFill>
                <a:latin typeface="Calibri"/>
              </a:rPr>
              <a:t>ВЫСОКИЙ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000" y="2734800"/>
            <a:ext cx="5428476" cy="17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TIB=200% + Fuel Code FC0WH95 = горячее сгорание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000" y="2904000"/>
            <a:ext cx="5428476" cy="16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7880"/>
                </a:solidFill>
                <a:latin typeface="Calibri"/>
              </a:rPr>
              <a:t>Из предыдущего анализа: C_TIB_Fuel_Adjust_Upper_Limit = 200% (в 2× выше нормы) в сочетании с иным Fuel Code даёт более горячее сгорание. Подтверждено Calterm Compare Report от 25.05.2026.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56476" y="2598000"/>
            <a:ext cx="5644476" cy="1993200"/>
          </a:xfrm>
          <a:prstGeom prst="rect">
            <a:avLst/>
          </a:prstGeom>
          <a:solidFill>
            <a:srgbClr val="35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56476" y="2598000"/>
            <a:ext cx="90000" cy="1993200"/>
          </a:xfrm>
          <a:prstGeom prst="rect">
            <a:avLst/>
          </a:prstGeom>
          <a:solidFill>
            <a:srgbClr val="D4C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476" y="2626800"/>
            <a:ext cx="540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D4C94A"/>
                </a:solidFill>
                <a:latin typeface="Calibri"/>
              </a:rPr>
              <a:t>ПРЕДУПРЕЖДЕНИЕ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476" y="2734800"/>
            <a:ext cx="5428476" cy="17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Внутренние защиты ECM одинаковы — проблема в КОНФИГУРАЦИИ связи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476" y="2904000"/>
            <a:ext cx="5428476" cy="16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7880"/>
                </a:solidFill>
                <a:latin typeface="Calibri"/>
              </a:rPr>
              <a:t>Внутренние защиты ECM (пороги дерейта момента/оборотов) ОДИНАКОВЫ у 730E и NTE200 (FC146/421/415/235/155-165). Проблема — не в отсутствии внутренней защиты, а в конфигурации связи с машинным контроллером NHL.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8000" y="4674000"/>
            <a:ext cx="5644476" cy="1993200"/>
          </a:xfrm>
          <a:prstGeom prst="rect">
            <a:avLst/>
          </a:prstGeom>
          <a:solidFill>
            <a:srgbClr val="35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88000" y="4674000"/>
            <a:ext cx="90000" cy="1993200"/>
          </a:xfrm>
          <a:prstGeom prst="rect">
            <a:avLst/>
          </a:prstGeom>
          <a:solidFill>
            <a:srgbClr val="D4C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2000" y="4702800"/>
            <a:ext cx="540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D4C94A"/>
                </a:solidFill>
                <a:latin typeface="Calibri"/>
              </a:rPr>
              <a:t>ПРЕДУПРЕЖДЕНИЕ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2000" y="4810800"/>
            <a:ext cx="5428476" cy="17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FC4642: задержка 17 мин при воде в топливе (только NTE200)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2000" y="4980000"/>
            <a:ext cx="5428476" cy="16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7880"/>
                </a:solidFill>
                <a:latin typeface="Calibri"/>
              </a:rPr>
              <a:t>FC4642 / FC1852 (наличие воды в топливе): задержка 17 мин до снижения оборотов — только на NTE200. Риск продолжительной работы на загрязнённом топливе без реакции ECM.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56476" y="4674000"/>
            <a:ext cx="5644476" cy="1993200"/>
          </a:xfrm>
          <a:prstGeom prst="rect">
            <a:avLst/>
          </a:prstGeom>
          <a:solidFill>
            <a:srgbClr val="35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56476" y="4674000"/>
            <a:ext cx="90000" cy="199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476" y="4702800"/>
            <a:ext cx="540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EF0AF"/>
                </a:solidFill>
                <a:latin typeface="Calibri"/>
              </a:rPr>
              <a:t>РЕКОМЕНДАЦИЯ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476" y="4810800"/>
            <a:ext cx="5428476" cy="17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NTE200 ш85: FC611=18 горячих останов при 4015 м/ч наработки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476" y="4980000"/>
            <a:ext cx="5428476" cy="16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7880"/>
                </a:solidFill>
                <a:latin typeface="Calibri"/>
              </a:rPr>
              <a:t>FC611 = 18 горячих останова, FC1518 = 9 событий при наработке ~4 015 м/ч. Высокая частота горячих останов при малом ресурсе свидетельствует о систематической перегрузке двигателя. Требуется немедленный контроль EGT-триггеров.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714000"/>
            <a:ext cx="12188952" cy="144000"/>
          </a:xfrm>
          <a:prstGeom prst="rect">
            <a:avLst/>
          </a:prstGeom>
          <a:solidFill>
            <a:srgbClr val="35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0000" y="6721200"/>
            <a:ext cx="11468952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07880"/>
                </a:solidFill>
                <a:latin typeface="Calibri"/>
              </a:rPr>
              <a:t>АО Развитие  ·  QSK50 MCRS  ·  Анализ отказов клапанов  ·  Полюс Магадан  ·  2026  ·  Конфиденциально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468000"/>
          </a:xfrm>
          <a:prstGeom prst="rect">
            <a:avLst/>
          </a:prstGeom>
          <a:solidFill>
            <a:srgbClr val="35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72000"/>
            <a:ext cx="11468952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ПЛАН МЕРОПРИЯТИЙ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306000"/>
            <a:ext cx="11468952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07880"/>
                </a:solidFill>
                <a:latin typeface="Calibri"/>
              </a:rPr>
              <a:t>QSK50 NTE200  ·  Приоритизация по срочности и влиянию на ресурс клапанов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522000"/>
            <a:ext cx="11612952" cy="180000"/>
          </a:xfrm>
          <a:prstGeom prst="rect">
            <a:avLst/>
          </a:prstGeom>
          <a:solidFill>
            <a:srgbClr val="1E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000" y="540000"/>
            <a:ext cx="21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EF0AF"/>
                </a:solidFill>
                <a:latin typeface="Calibri"/>
              </a:rPr>
              <a:t>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00" y="540000"/>
            <a:ext cx="226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EF0AF"/>
                </a:solidFill>
                <a:latin typeface="Calibri"/>
              </a:rPr>
              <a:t>Мероприятие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98000" y="540000"/>
            <a:ext cx="151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EF0AF"/>
                </a:solidFill>
                <a:latin typeface="Calibri"/>
              </a:rPr>
              <a:t>Параметр / Код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2000" y="540000"/>
            <a:ext cx="827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EF0AF"/>
                </a:solidFill>
                <a:latin typeface="Calibri"/>
              </a:rPr>
              <a:t>Приоритет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82000" y="540000"/>
            <a:ext cx="136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EF0AF"/>
                </a:solidFill>
                <a:latin typeface="Calibri"/>
              </a:rPr>
              <a:t>Ответственный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21999" y="540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EF0AF"/>
                </a:solidFill>
                <a:latin typeface="Calibri"/>
              </a:rPr>
              <a:t>Срок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8000" y="702000"/>
            <a:ext cx="11612952" cy="212400"/>
          </a:xfrm>
          <a:prstGeom prst="rect">
            <a:avLst/>
          </a:prstGeom>
          <a:solidFill>
            <a:srgbClr val="35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8000" y="702000"/>
            <a:ext cx="79200" cy="212400"/>
          </a:xfrm>
          <a:prstGeom prst="rect">
            <a:avLst/>
          </a:prstGeom>
          <a:solidFill>
            <a:srgbClr val="E0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8800" y="730800"/>
            <a:ext cx="216000" cy="21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05252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8000" y="730800"/>
            <a:ext cx="2268000" cy="21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Включить флаг C_EPD_OT_RPM_Drt_En = 1 на всех NTE200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000" y="730800"/>
            <a:ext cx="1512000" cy="21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07880"/>
                </a:solidFill>
                <a:latin typeface="Calibri"/>
              </a:rPr>
              <a:t>EPD_OT_RPM_Drt_En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4000" y="730800"/>
            <a:ext cx="827999" cy="21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05252"/>
                </a:solidFill>
                <a:latin typeface="Calibri"/>
              </a:rPr>
              <a:t>НЕМЕДЛЕННО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64000" y="730800"/>
            <a:ext cx="1368000" cy="21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Сервис Cummins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03999" y="730800"/>
            <a:ext cx="1620000" cy="21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EF0AF"/>
                </a:solidFill>
                <a:latin typeface="Calibri"/>
              </a:rPr>
              <a:t>до след. ТО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8000" y="921600"/>
            <a:ext cx="11612952" cy="212400"/>
          </a:xfrm>
          <a:prstGeom prst="rect">
            <a:avLst/>
          </a:prstGeom>
          <a:solidFill>
            <a:srgbClr val="303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8000" y="921600"/>
            <a:ext cx="79200" cy="212400"/>
          </a:xfrm>
          <a:prstGeom prst="rect">
            <a:avLst/>
          </a:prstGeom>
          <a:solidFill>
            <a:srgbClr val="E0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8800" y="950400"/>
            <a:ext cx="216000" cy="21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05252"/>
                </a:solidFill>
                <a:latin typeface="Calibr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8000" y="950400"/>
            <a:ext cx="2268000" cy="21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Восстановить DO_Option=6765 (включить DO01/DO07/DO08)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000" y="950400"/>
            <a:ext cx="1512000" cy="21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07880"/>
                </a:solidFill>
                <a:latin typeface="Calibri"/>
              </a:rPr>
              <a:t>DO_Option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64000" y="950400"/>
            <a:ext cx="827999" cy="21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05252"/>
                </a:solidFill>
                <a:latin typeface="Calibri"/>
              </a:rPr>
              <a:t>НЕМЕДЛЕННО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64000" y="950400"/>
            <a:ext cx="1368000" cy="21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Cummins / NHL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03999" y="950400"/>
            <a:ext cx="1620000" cy="21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EF0AF"/>
                </a:solidFill>
                <a:latin typeface="Calibri"/>
              </a:rPr>
              <a:t>до след. ТО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8000" y="1141200"/>
            <a:ext cx="11612952" cy="212400"/>
          </a:xfrm>
          <a:prstGeom prst="rect">
            <a:avLst/>
          </a:prstGeom>
          <a:solidFill>
            <a:srgbClr val="35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88000" y="1141200"/>
            <a:ext cx="79200" cy="212400"/>
          </a:xfrm>
          <a:prstGeom prst="rect">
            <a:avLst/>
          </a:prstGeom>
          <a:solidFill>
            <a:srgbClr val="E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8800" y="1170000"/>
            <a:ext cx="216000" cy="21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08C2E"/>
                </a:solidFill>
                <a:latin typeface="Calibr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8000" y="1170000"/>
            <a:ext cx="2268000" cy="21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Снизить макс. об/мин до 1990 (C_ABS_Max_Acctr_Speed)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80000" y="1170000"/>
            <a:ext cx="1512000" cy="21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07880"/>
                </a:solidFill>
                <a:latin typeface="Calibri"/>
              </a:rPr>
              <a:t>C_ABS_Max_Acctr_Speed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64000" y="1170000"/>
            <a:ext cx="827999" cy="21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08C2E"/>
                </a:solidFill>
                <a:latin typeface="Calibri"/>
              </a:rPr>
              <a:t>ВЫСОКИЙ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64000" y="1170000"/>
            <a:ext cx="1368000" cy="21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Cummins / NHL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03999" y="1170000"/>
            <a:ext cx="1620000" cy="21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EF0AF"/>
                </a:solidFill>
                <a:latin typeface="Calibri"/>
              </a:rPr>
              <a:t>1 месяц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8000" y="1360800"/>
            <a:ext cx="11612952" cy="212400"/>
          </a:xfrm>
          <a:prstGeom prst="rect">
            <a:avLst/>
          </a:prstGeom>
          <a:solidFill>
            <a:srgbClr val="303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88000" y="1360800"/>
            <a:ext cx="79200" cy="212400"/>
          </a:xfrm>
          <a:prstGeom prst="rect">
            <a:avLst/>
          </a:prstGeom>
          <a:solidFill>
            <a:srgbClr val="E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8800" y="1389600"/>
            <a:ext cx="216000" cy="21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08C2E"/>
                </a:solidFill>
                <a:latin typeface="Calibr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8000" y="1389600"/>
            <a:ext cx="2268000" cy="21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Ограничить TIB лимит до 100% (C_TIB_Fuel_Adjust_Upper_Limit)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80000" y="1389600"/>
            <a:ext cx="1512000" cy="21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07880"/>
                </a:solidFill>
                <a:latin typeface="Calibri"/>
              </a:rPr>
              <a:t>C_TIB_Fuel_Adjust_Upper_Limit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64000" y="1389600"/>
            <a:ext cx="827999" cy="21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08C2E"/>
                </a:solidFill>
                <a:latin typeface="Calibri"/>
              </a:rPr>
              <a:t>ВЫСОКИЙ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64000" y="1389600"/>
            <a:ext cx="1368000" cy="21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Cummins / NHL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03999" y="1389600"/>
            <a:ext cx="1620000" cy="21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EF0AF"/>
                </a:solidFill>
                <a:latin typeface="Calibri"/>
              </a:rPr>
              <a:t>1 месяц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88000" y="1580400"/>
            <a:ext cx="11612952" cy="212400"/>
          </a:xfrm>
          <a:prstGeom prst="rect">
            <a:avLst/>
          </a:prstGeom>
          <a:solidFill>
            <a:srgbClr val="35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88000" y="1580400"/>
            <a:ext cx="79200" cy="212400"/>
          </a:xfrm>
          <a:prstGeom prst="rect">
            <a:avLst/>
          </a:prstGeom>
          <a:solidFill>
            <a:srgbClr val="E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88800" y="1609200"/>
            <a:ext cx="216000" cy="21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08C2E"/>
                </a:solidFill>
                <a:latin typeface="Calibri"/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8000" y="1609200"/>
            <a:ext cx="2268000" cy="21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Установить задержки дерейта 0 с (CT/CP_TB_Time_To_Max)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80000" y="1609200"/>
            <a:ext cx="1512000" cy="21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07880"/>
                </a:solidFill>
                <a:latin typeface="Calibri"/>
              </a:rPr>
              <a:t>C_EPD_CT/CP_TB_...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64000" y="1609200"/>
            <a:ext cx="827999" cy="21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08C2E"/>
                </a:solidFill>
                <a:latin typeface="Calibri"/>
              </a:rPr>
              <a:t>ВЫСОКИЙ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64000" y="1609200"/>
            <a:ext cx="1368000" cy="21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Cummins / NHL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03999" y="1609200"/>
            <a:ext cx="1620000" cy="21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EF0AF"/>
                </a:solidFill>
                <a:latin typeface="Calibri"/>
              </a:rPr>
              <a:t>1 месяц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88000" y="1800000"/>
            <a:ext cx="11612952" cy="212400"/>
          </a:xfrm>
          <a:prstGeom prst="rect">
            <a:avLst/>
          </a:prstGeom>
          <a:solidFill>
            <a:srgbClr val="303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88000" y="1800000"/>
            <a:ext cx="79200" cy="212400"/>
          </a:xfrm>
          <a:prstGeom prst="rect">
            <a:avLst/>
          </a:prstGeom>
          <a:solidFill>
            <a:srgbClr val="D4C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88800" y="1828800"/>
            <a:ext cx="216000" cy="21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C94A"/>
                </a:solidFill>
                <a:latin typeface="Calibri"/>
              </a:rPr>
              <a:t>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8000" y="1828800"/>
            <a:ext cx="2268000" cy="21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Проверить FC556 (5 кПа): выполнить анализ событий FC556 у NTE200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880000" y="1828800"/>
            <a:ext cx="1512000" cy="21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07880"/>
                </a:solidFill>
                <a:latin typeface="Calibri"/>
              </a:rPr>
              <a:t>FC556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64000" y="1828800"/>
            <a:ext cx="827999" cy="21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D4C94A"/>
                </a:solidFill>
                <a:latin typeface="Calibri"/>
              </a:rPr>
              <a:t>СРЕДНИЙ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64000" y="1828800"/>
            <a:ext cx="1368000" cy="21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Инженер АО Развитие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03999" y="1828800"/>
            <a:ext cx="1620000" cy="21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EF0AF"/>
                </a:solidFill>
                <a:latin typeface="Calibri"/>
              </a:rPr>
              <a:t>2 недели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88000" y="2019600"/>
            <a:ext cx="11612952" cy="212400"/>
          </a:xfrm>
          <a:prstGeom prst="rect">
            <a:avLst/>
          </a:prstGeom>
          <a:solidFill>
            <a:srgbClr val="35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88000" y="2019600"/>
            <a:ext cx="79200" cy="212400"/>
          </a:xfrm>
          <a:prstGeom prst="rect">
            <a:avLst/>
          </a:prstGeom>
          <a:solidFill>
            <a:srgbClr val="D4C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88800" y="2048400"/>
            <a:ext cx="216000" cy="21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C94A"/>
                </a:solidFill>
                <a:latin typeface="Calibri"/>
              </a:rPr>
              <a:t>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58000" y="2048400"/>
            <a:ext cx="2268000" cy="21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Calterm сравнение полного набора (TIB, HSST, DroopMax)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880000" y="2048400"/>
            <a:ext cx="1512000" cy="21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07880"/>
                </a:solidFill>
                <a:latin typeface="Calibri"/>
              </a:rPr>
              <a:t>Calterm full compare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64000" y="2048400"/>
            <a:ext cx="827999" cy="21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D4C94A"/>
                </a:solidFill>
                <a:latin typeface="Calibri"/>
              </a:rPr>
              <a:t>СРЕДНИЙ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364000" y="2048400"/>
            <a:ext cx="1368000" cy="21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Cummins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03999" y="2048400"/>
            <a:ext cx="1620000" cy="21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EF0AF"/>
                </a:solidFill>
                <a:latin typeface="Calibri"/>
              </a:rPr>
              <a:t>2 недели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88000" y="2239200"/>
            <a:ext cx="11612952" cy="212400"/>
          </a:xfrm>
          <a:prstGeom prst="rect">
            <a:avLst/>
          </a:prstGeom>
          <a:solidFill>
            <a:srgbClr val="303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88000" y="2239200"/>
            <a:ext cx="79200" cy="2124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88800" y="2268000"/>
            <a:ext cx="216000" cy="21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EF0AF"/>
                </a:solidFill>
                <a:latin typeface="Calibri"/>
              </a:rPr>
              <a:t>8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58000" y="2268000"/>
            <a:ext cx="2268000" cy="21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Контролировать FC611 (горячие остановы) ежемесячно — EGT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880000" y="2268000"/>
            <a:ext cx="1512000" cy="21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07880"/>
                </a:solidFill>
                <a:latin typeface="Calibri"/>
              </a:rPr>
              <a:t>FC611, EGT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464000" y="2268000"/>
            <a:ext cx="827999" cy="21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EF0AF"/>
                </a:solidFill>
                <a:latin typeface="Calibri"/>
              </a:rPr>
              <a:t>ТЕКУЩИЙ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364000" y="2268000"/>
            <a:ext cx="1368000" cy="21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Механики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803999" y="2268000"/>
            <a:ext cx="1620000" cy="21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EF0AF"/>
                </a:solidFill>
                <a:latin typeface="Calibri"/>
              </a:rPr>
              <a:t>Ежемесячно</a:t>
            </a:r>
          </a:p>
        </p:txBody>
      </p:sp>
      <p:sp>
        <p:nvSpPr>
          <p:cNvPr id="79" name="Rectangle 78"/>
          <p:cNvSpPr/>
          <p:nvPr/>
        </p:nvSpPr>
        <p:spPr>
          <a:xfrm>
            <a:off x="0" y="6714000"/>
            <a:ext cx="12188952" cy="144000"/>
          </a:xfrm>
          <a:prstGeom prst="rect">
            <a:avLst/>
          </a:prstGeom>
          <a:solidFill>
            <a:srgbClr val="35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60000" y="6721200"/>
            <a:ext cx="11468952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07880"/>
                </a:solidFill>
                <a:latin typeface="Calibri"/>
              </a:rPr>
              <a:t>АО Развитие  ·  QSK50 MCRS  ·  Анализ отказов клапанов  ·  Полюс Магадан  ·  2026  ·  Конфиденциально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468000"/>
          </a:xfrm>
          <a:prstGeom prst="rect">
            <a:avLst/>
          </a:prstGeom>
          <a:solidFill>
            <a:srgbClr val="35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707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4800"/>
            <a:ext cx="11468952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ИСТОЧНИКИ ДАННЫХ И МЕТОДОЛОГИЯ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00" y="496799"/>
            <a:ext cx="11612952" cy="144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8000" y="558000"/>
            <a:ext cx="5554476" cy="198000"/>
          </a:xfrm>
          <a:prstGeom prst="rect">
            <a:avLst/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586800"/>
            <a:ext cx="5410476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93136"/>
                </a:solidFill>
                <a:latin typeface="Calibri"/>
              </a:rPr>
              <a:t>ПРЕДЫДУЩИЙ АНАЛИЗ + ECM ДАННЫЕ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792000"/>
            <a:ext cx="5554476" cy="288000"/>
          </a:xfrm>
          <a:prstGeom prst="rect">
            <a:avLst/>
          </a:prstGeom>
          <a:solidFill>
            <a:srgbClr val="35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8000" y="792000"/>
            <a:ext cx="72000" cy="288000"/>
          </a:xfrm>
          <a:prstGeom prst="rect">
            <a:avLst/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3999" y="810000"/>
            <a:ext cx="5374476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Предыдущий анализ: ECM_对比_NTE200_730E_中文.xlsx
(Полюс Магадан / АО Развитие)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8000" y="1087200"/>
            <a:ext cx="5554476" cy="288000"/>
          </a:xfrm>
          <a:prstGeom prst="rect">
            <a:avLst/>
          </a:prstGeom>
          <a:solidFill>
            <a:srgbClr val="35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8000" y="1087200"/>
            <a:ext cx="72000" cy="288000"/>
          </a:xfrm>
          <a:prstGeom prst="rect">
            <a:avLst/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3999" y="1105200"/>
            <a:ext cx="5374476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ECM Image Analyzer Excel: NTE200 ш85
(33238503, AQ60809.08, 4 015 м/ч)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000" y="1382400"/>
            <a:ext cx="5554476" cy="288000"/>
          </a:xfrm>
          <a:prstGeom prst="rect">
            <a:avLst/>
          </a:prstGeom>
          <a:solidFill>
            <a:srgbClr val="35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8000" y="1382400"/>
            <a:ext cx="72000" cy="288000"/>
          </a:xfrm>
          <a:prstGeom prst="rect">
            <a:avLst/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3999" y="1400400"/>
            <a:ext cx="5374476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DML Log Files: 9 единиц 730E + 9 единиц NTE200
(май 2026)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8000" y="1677600"/>
            <a:ext cx="5554476" cy="288000"/>
          </a:xfrm>
          <a:prstGeom prst="rect">
            <a:avLst/>
          </a:prstGeom>
          <a:solidFill>
            <a:srgbClr val="35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8000" y="1677600"/>
            <a:ext cx="72000" cy="288000"/>
          </a:xfrm>
          <a:prstGeom prst="rect">
            <a:avLst/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3999" y="1695600"/>
            <a:ext cx="5374476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GIF-скриншоты INSITE КАМСС: мониторы рабочего цикла,
расход топлива, снижение крутящего момента / оборотов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46475" y="558000"/>
            <a:ext cx="5554476" cy="1980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8475" y="586800"/>
            <a:ext cx="5410476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93136"/>
                </a:solidFill>
                <a:latin typeface="Calibri"/>
              </a:rPr>
              <a:t>CALTERM + INSITE КАМСС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46475" y="792000"/>
            <a:ext cx="5554476" cy="288000"/>
          </a:xfrm>
          <a:prstGeom prst="rect">
            <a:avLst/>
          </a:prstGeom>
          <a:solidFill>
            <a:srgbClr val="35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46475" y="792000"/>
            <a:ext cx="72000" cy="2880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2474" y="810000"/>
            <a:ext cx="5374476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Calterm Calibration Compare Report:
AQ60217.28 vs AQ60809.08 (25.05.2026)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46475" y="1087200"/>
            <a:ext cx="5554476" cy="288000"/>
          </a:xfrm>
          <a:prstGeom prst="rect">
            <a:avLst/>
          </a:prstGeom>
          <a:solidFill>
            <a:srgbClr val="35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46475" y="1087200"/>
            <a:ext cx="72000" cy="2880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2474" y="1105200"/>
            <a:ext cx="5374476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ECM Image Analyzer Excel: 730E ш18
(33223470, AQ60217.28, 35 127 м/ч)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46475" y="1382400"/>
            <a:ext cx="5554476" cy="288000"/>
          </a:xfrm>
          <a:prstGeom prst="rect">
            <a:avLst/>
          </a:prstGeom>
          <a:solidFill>
            <a:srgbClr val="35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46475" y="1382400"/>
            <a:ext cx="72000" cy="2880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72474" y="1400400"/>
            <a:ext cx="5374476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INSITE ECM Snapshots КАМСС (19–20 мая 2026)
730E: 35 281 ч ECM | NTE200: 4 015 ч ECM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46475" y="1677600"/>
            <a:ext cx="5554476" cy="288000"/>
          </a:xfrm>
          <a:prstGeom prst="rect">
            <a:avLst/>
          </a:prstGeom>
          <a:solidFill>
            <a:srgbClr val="35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46475" y="1677600"/>
            <a:ext cx="72000" cy="2880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2474" y="1695600"/>
            <a:ext cx="5374476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730E ш18 = 730Е№28, AQ60217.28, 35 127 м/ч ECM
NTE200 ш85, AQ60809.08, 4 015 м/ч ECM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34000"/>
            <a:ext cx="12188952" cy="180000"/>
          </a:xfrm>
          <a:prstGeom prst="rect">
            <a:avLst/>
          </a:prstGeom>
          <a:solidFill>
            <a:srgbClr val="3A4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6534000"/>
            <a:ext cx="12188952" cy="288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0000" y="6541200"/>
            <a:ext cx="11468952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07880"/>
                </a:solidFill>
                <a:latin typeface="Calibri"/>
              </a:rPr>
              <a:t>АО Развитие  ·  QSK50 MCRS  ·  Анализ отказов клапанов  ·  Полюс Магадан  ·  2026  ·  Конфиденциально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" y="5922000"/>
            <a:ext cx="5662476" cy="57600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476" y="5922000"/>
            <a:ext cx="5662476" cy="576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432000"/>
          </a:xfrm>
          <a:prstGeom prst="rect">
            <a:avLst/>
          </a:prstGeom>
          <a:solidFill>
            <a:srgbClr val="35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4800"/>
            <a:ext cx="11468952" cy="28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INSITE КАМСС: 730E ш18 — Снижение момента и оборотов (референс)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295200"/>
            <a:ext cx="11468952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7880"/>
                </a:solidFill>
                <a:latin typeface="Calibri"/>
              </a:rPr>
              <a:t>AQ60217.28 | 35 127 м/ч ECM | Параметры защитного дерейта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" y="468000"/>
            <a:ext cx="5662476" cy="3087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76" y="468000"/>
            <a:ext cx="5662476" cy="3087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00" y="3663000"/>
            <a:ext cx="5662476" cy="3087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4476" y="3663000"/>
            <a:ext cx="5662476" cy="3087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732001"/>
            <a:ext cx="12188952" cy="125999"/>
          </a:xfrm>
          <a:prstGeom prst="rect">
            <a:avLst/>
          </a:prstGeom>
          <a:solidFill>
            <a:srgbClr val="35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00" y="6739200"/>
            <a:ext cx="11468952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07880"/>
                </a:solidFill>
                <a:latin typeface="Calibri"/>
              </a:rPr>
              <a:t>АО Развитие  ·  QSK50 MCRS  ·  Анализ отказов клапанов  ·  Полюс Магадан  · 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432000"/>
          </a:xfrm>
          <a:prstGeom prst="rect">
            <a:avLst/>
          </a:prstGeom>
          <a:solidFill>
            <a:srgbClr val="35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4800"/>
            <a:ext cx="11468952" cy="28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INSITE КАМСС: NTE200 ш85 — Снижение момента и оборотов (проблемная)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295200"/>
            <a:ext cx="11468952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7880"/>
                </a:solidFill>
                <a:latin typeface="Calibri"/>
              </a:rPr>
              <a:t>AQ60809.08 | 4 015 м/ч ECM | Параметры защитного дерейта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" y="468000"/>
            <a:ext cx="5662476" cy="3087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76" y="468000"/>
            <a:ext cx="5662476" cy="3087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00" y="3663000"/>
            <a:ext cx="5662476" cy="3087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4476" y="3663000"/>
            <a:ext cx="5662476" cy="3087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732001"/>
            <a:ext cx="12188952" cy="125999"/>
          </a:xfrm>
          <a:prstGeom prst="rect">
            <a:avLst/>
          </a:prstGeom>
          <a:solidFill>
            <a:srgbClr val="35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00" y="6739200"/>
            <a:ext cx="11468952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07880"/>
                </a:solidFill>
                <a:latin typeface="Calibri"/>
              </a:rPr>
              <a:t>АО Развитие  ·  QSK50 MCRS  ·  Анализ отказов клапанов  ·  Полюс Магадан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