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24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27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165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165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 (многофакторный)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 — МНОГОФАКТОРНЫЕ. ИНИЦИИРУЮТ: пыль/негерметичность впуска (засорённые фильтры, коррозия ОНВ) + загрязнённое топливо → износ направляющих/стержней клапанов и разброс форсунок. УСИЛИВАЕТ: калибровка ЭБУ (TIB 200%, отключённые тепловые защиты) → перегрев EGT 567°C → выгорание клапана. СОПУТСТВУЕТ: нет Stellite.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Пыль / негерметичность впуска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Загрязнение топлива → форсунки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УСИЛИВАЮЩИЙ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фильтры #69, ОНВ/ОЖ ✓ (Si низкий 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плохой, разброс P04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параметров, EGT 567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NHL/Cummins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распред. левосмещ., соблюд.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165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165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Объект анализа — двигатель QSK50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Платформа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45098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29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NTE 200 (объект)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4509820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7802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730E-DC (контроль)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67020" y="137160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1884" y="13807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92024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9293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246888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2478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6440" y="137160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1304" y="13807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6440" y="192024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1304" y="19293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246888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2478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40569" y="1371600"/>
            <a:ext cx="1691182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433" y="138074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Отказы ГБЦ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40569" y="1920240"/>
            <a:ext cx="169118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5433" y="192938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~17 событий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40569" y="2468880"/>
            <a:ext cx="1691182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95433" y="2478024"/>
            <a:ext cx="159974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57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91440" cy="16459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74903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Область анализа — только ДВС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078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— двигатель Cummins QSK50 MCRS (V16, Tier 2, без DPF/EGR) на самосвалах NTE 200. Контрольная группа — 730E-DC с ТЕМ ЖЕ двигателем QSK50. Анализ сфокусирован ИСКЛЮЧИТЕЛЬНО на ДВС и его системах (ГБЦ, клапаны, форсунки, масло ДВС, EGT, ЭБУ). Прочие модели/узлы (трансмиссия, привод, гидравлика) — вне области анализа.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165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938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091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640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47 машин NTE 200 (гар. №43–89), 2023 г.в., Cummins QSK50, привод GE. Полный реестр (PIN, гарантия) — в Obsidian.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165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165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165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165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165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165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165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165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165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165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165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165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165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165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165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Нагрузка: анализ по нормальному распределению</a:t>
            </a:r>
          </a:p>
        </p:txBody>
      </p:sp>
      <p:pic>
        <p:nvPicPr>
          <p:cNvPr id="8" name="Picture 7" descr="loa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Распределение левосмещённое (skew=−3,6), островершинное; пик ~102%, короткий правый хвост → экстремальных перегрузов почти нет.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165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Статистика нагрузки — интерпретация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99,75%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 (μ)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13,7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ст. откл. (σ)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−3,6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асимметрия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46304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93852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P99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6888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6888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560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это значит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88950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Распределение НЕ нормальное: сильная левая асимметрия (длинный хвост лёгких/частичных загрузок) при остром пике у целевого ~100–102%. Правый хвост короткий: P95=110%, P99=113%, доля &gt;120% ≈ 0,01%. ⇒ Загрузка дисциплинирована у номинала; систематическая перегрузка как первичный фактор статистически НЕ подтверждается. Перегрузка не является инициатором отказов.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165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перевезено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скорость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165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машин по доле перегруза</a:t>
            </a:r>
          </a:p>
        </p:txBody>
      </p:sp>
      <p:pic>
        <p:nvPicPr>
          <p:cNvPr id="8" name="Picture 7" descr="load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165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2843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97.2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25.9%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74.7%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106.0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75.1%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165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80.2%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5975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165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71.5%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130.7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72.4%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64.8%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165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2494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5581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76.2%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165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(41–48)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15.5%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2351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165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(49–50)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3900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165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165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165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ПЕРЕХОД ПРОИЗВОДИТЕЛЕЙ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Переход масел во времени: NTE200 vs 730E</a:t>
            </a:r>
          </a:p>
        </p:txBody>
      </p:sp>
      <p:pic>
        <p:nvPicPr>
          <p:cNvPr id="8" name="Picture 7" descr="oiltr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863840" cy="35251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28016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91440" cy="24688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13648" y="137160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NTE200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1700784"/>
            <a:ext cx="2971800" cy="19568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NTE200: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2024-02–04: Shell Rimula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2024-06–2026-01: Газпромнефть G-Profi MSI Plus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Super HPD Plus (с марта 2026 полностью)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886200"/>
            <a:ext cx="333756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886200"/>
            <a:ext cx="91440" cy="22860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3648" y="3977639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Хронология 730E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4306824"/>
            <a:ext cx="2971800" cy="17739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730E: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2025: Газпромнефть + Komatsu/Mobil (паралл.)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• ПЕРЕХОД фев-2026 → TEBOIL (тот же период)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Оба парка перешли на TEBOIL ОДНОВРЕМЕННО.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98932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EA043"/>
                </a:solidFill>
                <a:latin typeface="Calibri"/>
              </a:rPr>
              <a:t>Вывод: оба парка сменили Газпромнефть→TEBOIL (оба CI-4 15W-40) в фев–март 2026. Бренд НЕ дифференцирует: отказы NTE200 есть и до, и после перехода; 730E на тех же маслах — без отказов.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165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ПРОИЗВОДИТЕЛИ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Производители масел — сводка по паркам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Производитель / марка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56231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31720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07208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Shell Rimula 15W-40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82696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Komatsu EO15W40DH 15W-40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58183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Mobil Delvac MX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33671"/>
            <a:ext cx="5094853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Лукойл Авангард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43493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8357" y="1380744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(проб ДВС)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43493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8357" y="185623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1141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43493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8357" y="2331720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3493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8357" y="2807208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43493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8357" y="3282696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43493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98357" y="3758183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3493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98357" y="423367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3895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8759" y="1380744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 (проб ДВС)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3895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759" y="185623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23895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8759" y="2331720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≈135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23895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8759" y="2807208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3895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759" y="3282696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≈127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23895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8759" y="3758183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3895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78759" y="4233671"/>
            <a:ext cx="2388961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≈6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04296" y="1371600"/>
            <a:ext cx="1127455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59160" y="1380744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4296" y="1847088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659160" y="1856231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604296" y="2322576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59160" y="2331720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04296" y="2798064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59160" y="2807208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04296" y="3273552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659160" y="3282696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04296" y="3749039"/>
            <a:ext cx="1127455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59160" y="3758183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04296" y="4224527"/>
            <a:ext cx="1127455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59160" y="4233671"/>
            <a:ext cx="1036015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84632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84632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4937759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применявшиеся масла — один класс (API CI-4, SAE 15W-40). 730E имеет более широкий набор производителей, но отказов нет → набор/смена производителя масла не влияет на отказы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165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165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165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165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ДВС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ДВС — перцентили износа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 ДВС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 ДВС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двигателю (ДВС). P90 — внимание, P95 — критично. Износ низкий → отказ термический, не абразивный.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165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165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165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165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165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165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(41–47)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165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165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Коррекция топлива (TIB)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 vs 100% — переобогащение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165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1/15: TIB верхн. предел коррекции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удвоение корр. дозы → переобогащение.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(100%); на NTE200 — 200%,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165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2/15: Снижение оборотов по T масла (derate)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(флаг)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(флаг)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защиты от перегрева масла.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(Вкл);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165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3/15: Триггер high T наддув. воздуха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54°C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наддува.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(54°C);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165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4/15: Триггер high T ОЖ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сигнала перегрева ОЖ.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(85°C);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165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5/15: Триггер high T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68°C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топлива.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(68°C);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165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6/15: Задержка derate (масло)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полная мощность 51 с в перегреве.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51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165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7/15: Задержка derate (ОЖ)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43 с без снижения нагрузки.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43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165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8/15: Макс. рабочие обороты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EGT +25–35°C, удары клапанов.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2100,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165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9/15: Макс. обороты реф. 2/3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раскрутка в отд. режимах.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2225,8,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165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10/15: Макс. наклон регулятора (droop)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±20% колебаний оборотов.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(0%); на NTE200 — 20%,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165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11/15: Горячий стоп — момент (верх.)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срабатывает раньше.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(5509); на NTE200 — 3650,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12/15: Горячий стоп — момент (нижн.)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нестабильный гистерезис.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(4722); на NTE200 — 1850,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165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13/15: Топливный код (карта впрыска)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иная модель сгорания.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(FC0BU52); на NTE200 — FC0WH95,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165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14/15: Пуск вентилятора охл.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46°C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50°C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компенсация, не защита.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(50°C); на NTE200 — 46°C,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165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15/15: DO_Option (профиль)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61042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6765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иной калибровочный профиль.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(6765); на NTE200 — 61042,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165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165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(1–12)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19050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17923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17411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17117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17069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17331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165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15814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12065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11543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11797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11306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11046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10793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10802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10308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10284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2088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2532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165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(25–36)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10041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4516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4014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3532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3266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165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(37–38)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165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165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165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1329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56193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01329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56193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01329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56193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92511" y="4270248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47375" y="427939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92511" y="4690872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47375" y="470001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2511" y="5111496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47375" y="512064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165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165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165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165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165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165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дисбаланса корректирующей дозы (TIB).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165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Дашборд форсунок (стенд CR-2)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165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ДАШБОРД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Дашборд форсунок — сводка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форсунок испытано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73152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машины (#73/#78/#82)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8016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8016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7160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4708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критичных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8016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7160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4708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отказы на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Обзор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980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Стенд «Поток CR-2», Cummins CRI. Испытаны форсунки 3 машин NTE200 (#73, #78, #82). Главный признак — отказы на ЧАСТИЧНЫХ режимах (P04 пилот 59%, P03 малая нагрузка). Полные данные — дашборд `dashboard_injectors.html` в песочнице.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32004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8953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Состояние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434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3525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✓ Годных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32004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8097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⚠ Внимание (1 откл.)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266944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✗ Критичных (≥2)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2463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Форсунок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12463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12463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12463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3886200"/>
            <a:ext cx="160020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12664" y="38953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Доля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3434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12664" y="43525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800600"/>
            <a:ext cx="160020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12664" y="48097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257800"/>
            <a:ext cx="1600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12664" y="5266944"/>
            <a:ext cx="1508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165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ГРИД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Состояние всех форсунок (статус-грид)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#73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2588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41.7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132588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9504" y="1353312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157276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62.1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9504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54.3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210312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3008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53.7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96512" y="210312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6512" y="213055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2" y="235000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38.6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8803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#82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600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48.4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950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950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51.4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3008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9300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44.0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96512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9651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651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30.7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0016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001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001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40.8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0352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60.7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7024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0702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0702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37.5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1052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36.9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1403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403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43.7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1753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1753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1753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42.5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49.6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24544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24544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4544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28048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28048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32.8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31552" y="2880360"/>
            <a:ext cx="548640" cy="502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31552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31552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39.2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35056" y="2880360"/>
            <a:ext cx="548640" cy="5029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735056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35056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47.2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338560" y="2880360"/>
            <a:ext cx="548640" cy="502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338560" y="2907791"/>
            <a:ext cx="548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0" y="3127248"/>
            <a:ext cx="5486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27.8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206240"/>
            <a:ext cx="365760" cy="27432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400" y="4206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годна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286000" y="4206240"/>
            <a:ext cx="365760" cy="2743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0" y="42062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 откл. (внимание)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212080" y="4206240"/>
            <a:ext cx="365760" cy="2743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0" y="4206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≥2 откл. (критично)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 ячейке — позиция форсунки и подача P04 (см³). Допуск P04: 41–51 см³.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165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РЕЖИМЫ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Частота отказов по тестовым режимам</a:t>
            </a:r>
          </a:p>
        </p:txBody>
      </p:sp>
      <p:pic>
        <p:nvPicPr>
          <p:cNvPr id="8" name="Picture 7" descr="id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концентрируются на частичных режимах P03/P04 — признак износа плунжерной пары/иглы.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165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P04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Дозирование P04 по всем форсункам</a:t>
            </a:r>
          </a:p>
        </p:txBody>
      </p:sp>
      <p:pic>
        <p:nvPicPr>
          <p:cNvPr id="8" name="Picture 7" descr="id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Зелёная зона — допуск 41–51 см³; выше = перелив, ниже = недолив.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165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ТЕПЛОКАРТА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отклонений форсунок</a:t>
            </a:r>
          </a:p>
        </p:txBody>
      </p:sp>
      <p:pic>
        <p:nvPicPr>
          <p:cNvPr id="8" name="Picture 7" descr="id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223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165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ТИПЫ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Классификация отказов форсунок</a:t>
            </a:r>
          </a:p>
        </p:txBody>
      </p:sp>
      <p:pic>
        <p:nvPicPr>
          <p:cNvPr id="8" name="Picture 7" descr="id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28529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0" y="1371600"/>
            <a:ext cx="621792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87568" y="146304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А — перелив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8" y="1792224"/>
            <a:ext cx="5852159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А — ПЕРЕЛИВ: износ иглы/седла распылителя → избыток топлива на ХХ → закоксовывание, локальное переобогащение, рост EGT.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291840"/>
            <a:ext cx="62179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32918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7568" y="3383280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7568" y="3712464"/>
            <a:ext cx="5852159" cy="7680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Б — НЕДОЛИВ: износ плунжерной пары → недостаток топлива → неравномерность мощности, угроза перегрева ЦПГ.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663440"/>
            <a:ext cx="621792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4663440"/>
            <a:ext cx="91440" cy="914400"/>
          </a:xfrm>
          <a:prstGeom prst="rect">
            <a:avLst/>
          </a:prstGeom>
          <a:solidFill>
            <a:srgbClr val="4EC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87568" y="4754879"/>
            <a:ext cx="5897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Тип 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7568" y="5084064"/>
            <a:ext cx="5852159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Тип В — прецизионная пара/граничные отклонения.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165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№73 · 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Все 4 теста провалены. P03=41,5 (+38% от макс.) — перелив на ХХ, закоксовывание. P04=62,1 (+22%) — критический перелив.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P03=12,7 (-21% от мин.), P04=27,8 (-32%). Плунжерная пара полностью изношена. Угроза перегрева ЦПГ.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2R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недолив: P03=13,8 (-14% от мин.), P04=30,7 (-25%). Износ плунжерной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Критический перелив: P04=60,7 (+19%). P03=31,3 (+4%). Износ иглы/седла. Риск закоксовывания и повреждения поршней.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 — Перелив (износ иглы/се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165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Критичные форсунки — детально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P02=263,7 (+1,4%), P03=30,1 (на границе), P04=54,3 (+6%). Систематический перелив во всех режимах.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4R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P02=262,1 (+0,8%), P04=53,7 (+5%). Перелив на средней и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5252"/>
                </a:solidFill>
                <a:latin typeface="Calibri"/>
              </a:rPr>
              <a:t>Тип А+В — Прецизионный износ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165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7L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P04=32,8 (-20% от мин.). Значительный недолив на частичной нагрузке.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 (износ плунжер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4L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P04=37,5 (-9%). Недолив на частичной нагрузке.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4R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P04=36,9 (-10%). Недолив на частичной нагрузке.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Недолив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7R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P04=39,2 (-4%). Начальная стадия износа плунжера.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Начальный износ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165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АЛЕРТЫ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Прочие отклонения форсунок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1R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2763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P03=30,1 (граница), P04=51,4 (граница). Пограничное состояние — быстрый выход за допуск.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33502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А — Граница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1460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№82 · 3L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86207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P04=40,8 (чуть ниже минимума 41,0). Пограничное состояние.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56946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Граница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3R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096511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P02=261,7 (+0,7%). Незначительное превышение.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803903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В — Умеренный износ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8348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91440" cy="10972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NTE200 №78 · 6R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30952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P04=38,6 (-6%). Умеренный недолив.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503834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E08C2E"/>
                </a:solidFill>
                <a:latin typeface="Calibri"/>
              </a:rPr>
              <a:t>Тип Б — Умеренный износ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165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#73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L2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R1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84655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9519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84655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9519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27.04.2026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26.04.2026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4074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8938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4074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68938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487.0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4074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68938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43493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98357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43493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8357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43493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98357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276.1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38605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93469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38605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93469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41.7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38605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3469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62.1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04296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59160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04296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59160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04296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59160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165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#78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4074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8938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4074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8938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4074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8938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479.1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4074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8938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487.7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4074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8938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488.5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43493" y="1325880"/>
            <a:ext cx="202941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98357" y="13350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43493" y="17830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98357" y="17922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261.7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43493" y="22402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98357" y="22494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263.7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43493" y="2697480"/>
            <a:ext cx="20294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98357" y="27066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262.1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43493" y="3154680"/>
            <a:ext cx="202941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98357" y="316382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227.9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72913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27777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72913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7777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28.8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672913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7777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72913" y="26974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27777" y="27066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26.1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72913" y="31546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27777" y="31638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28.6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38605" y="1325880"/>
            <a:ext cx="146569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93469" y="13350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38605" y="17830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93469" y="17922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38605" y="22402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93469" y="22494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38605" y="2697480"/>
            <a:ext cx="146569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3469" y="27066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53.7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38605" y="3154680"/>
            <a:ext cx="146569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93469" y="3163824"/>
            <a:ext cx="137425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38.6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04296" y="1325880"/>
            <a:ext cx="112745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59160" y="13350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04296" y="17830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59160" y="17922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604296" y="22402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659160" y="22494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04296" y="2697480"/>
            <a:ext cx="112745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59160" y="27066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604296" y="3154680"/>
            <a:ext cx="112745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59160" y="3163824"/>
            <a:ext cx="10360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165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полные значения стенда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36776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45920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47672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5681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58568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26771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946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57860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8035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88950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9125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20039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02151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51129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813047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82219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23943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13308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39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44398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45735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75487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56631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06577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67527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537667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67842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68756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931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99846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30021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30935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584655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9519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84655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39519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84655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9519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84655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39519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84655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9519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84655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39519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84655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9519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84655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39519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584655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9519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584655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39519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584655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9519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84655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639519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84655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39519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84655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39519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03.06.2026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4074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68938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P01 (441–495)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14074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68938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14074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68938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469.6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14074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68938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467.9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14074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68938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4074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68938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465.3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14074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68938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485.5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14074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68938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14074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68938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14074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68938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459.8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4074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68938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14074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68938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473.9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14074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68938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475.1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14074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68938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463.9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14074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68938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462.9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4074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68938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474.3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614074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68938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456.1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43493" y="1325880"/>
            <a:ext cx="2029419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698357" y="1335024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P02 (220–260)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43493" y="1636776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698357" y="1645920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43493" y="1947672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98357" y="195681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43493" y="2258568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98357" y="226771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43493" y="256946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698357" y="257860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43493" y="288035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98357" y="288950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243.4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43493" y="319125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698357" y="320039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256.4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43493" y="3502151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98357" y="351129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43493" y="3813047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98357" y="382219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241.9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43493" y="4123943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98357" y="413308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242.1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43493" y="4434839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698357" y="444398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643493" y="4745735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98357" y="475487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250.7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43493" y="5056631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98357" y="5065775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247.9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43493" y="5367527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98357" y="5376671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239.5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643493" y="5678423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698357" y="5687567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244.1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43493" y="5989319"/>
            <a:ext cx="2029419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698357" y="5998463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248.1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43493" y="6300215"/>
            <a:ext cx="2029419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98357" y="6309359"/>
            <a:ext cx="193797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236.9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672913" y="1325880"/>
            <a:ext cx="1465691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727777" y="1335024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P03 (16–30)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672913" y="1636776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727777" y="1645920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24.8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672913" y="1947672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27777" y="195681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30.1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672913" y="2258568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727777" y="226771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22.8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672913" y="256946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727777" y="257860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13.8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672913" y="288035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727777" y="288950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19.4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672913" y="319125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727777" y="320039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7672913" y="3502151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727777" y="351129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18.7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672913" y="3813047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27777" y="382219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672913" y="4123943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727777" y="413308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672913" y="4434839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27777" y="444398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672913" y="4745735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727777" y="475487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24.4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7672913" y="5056631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727777" y="506577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72913" y="5367527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27777" y="537667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16.2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672913" y="567842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7727777" y="568756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19.2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672913" y="598931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727777" y="599846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23.7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672913" y="630021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27777" y="630935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38605" y="1325880"/>
            <a:ext cx="1465691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93469" y="1335024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P04 (41–51)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138605" y="1636776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193469" y="1645920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48.4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138605" y="1947672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193469" y="195681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51.4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9138605" y="2258568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9193469" y="226771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138605" y="256946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193469" y="257860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30.7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138605" y="288035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9193469" y="288950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40.8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9138605" y="319125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9193469" y="320039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60.7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9138605" y="3502151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193469" y="351129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37.5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138605" y="3813047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9193469" y="382219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36.9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138605" y="4123943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93469" y="413308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43.7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138605" y="4434839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193469" y="444398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42.5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138605" y="4745735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93469" y="475487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49.6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9138605" y="5056631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193469" y="5065775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138605" y="5367527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193469" y="5376671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32.8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138605" y="5678423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193469" y="5687567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39.2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138605" y="5989319"/>
            <a:ext cx="1465691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93469" y="5998463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47.2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138605" y="6300215"/>
            <a:ext cx="1465691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193469" y="6309359"/>
            <a:ext cx="137425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27.8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604296" y="1325880"/>
            <a:ext cx="112745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659160" y="1335024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604296" y="1636776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659160" y="1645920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10604296" y="1947672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10659160" y="195681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0604296" y="2258568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0659160" y="226771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0604296" y="256946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0659160" y="257860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604296" y="288035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659160" y="288950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10604296" y="319125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0659160" y="320039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0604296" y="3502151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59160" y="351129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10604296" y="3813047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0659160" y="382219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0604296" y="4123943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0659160" y="413308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0604296" y="4434839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0659160" y="444398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0604296" y="4745735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659160" y="475487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10604296" y="5056631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10659160" y="5065775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0604296" y="5367527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10659160" y="5376671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604296" y="5678423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659160" y="5687567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⚠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604296" y="5989319"/>
            <a:ext cx="112745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659160" y="5998463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10604296" y="6300215"/>
            <a:ext cx="1127455" cy="31089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10659160" y="6309359"/>
            <a:ext cx="10360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165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форсунки 1R и 3R, обе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Роль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Форсунки — отягчающий фактор поверх калибровки ЭБУ. Перелив усиливает перегрев в горячих цилиндрах; недолив даёт неравномерность.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165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КЛАПАНЫ · ЗАЗОРЫ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Зазоры клапанов — отчёты #54/#77/#87/#89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47672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14600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11274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81528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1127455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48456"/>
            <a:ext cx="10360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202941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1938528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1947672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 м/ч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505456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514600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4132 м/ч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072384"/>
            <a:ext cx="202941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081528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10399 м/ч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639312"/>
            <a:ext cx="202941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648456"/>
            <a:ext cx="19379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 м/ч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4074" y="1371600"/>
            <a:ext cx="4284329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8938" y="1380744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Зазоры / высота клапана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4074" y="1938528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8938" y="1947672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(просадка)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4074" y="2505456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8938" y="2514600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некорректные зазоры; ↑ высота 3L, 4R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14074" y="3072384"/>
            <a:ext cx="4284329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8938" y="3081528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регулировка всех; просадка 7R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4074" y="3639312"/>
            <a:ext cx="4284329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8938" y="3648456"/>
            <a:ext cx="419288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замеры зазоров/высоты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98404" y="1371600"/>
            <a:ext cx="3833347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3268" y="1380744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Втулки / стержни / сёдла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98404" y="1938528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3268" y="1947672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втулки НЕ в допуске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98404" y="2505456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3268" y="2514600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стержень повреждён; пружина 7L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98404" y="3072384"/>
            <a:ext cx="3833347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3268" y="3081528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деформ. стержень 7R; разруш. седла 7R/4R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98404" y="3639312"/>
            <a:ext cx="3833347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3268" y="3648456"/>
            <a:ext cx="3741907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выработка стержня НЕ в допуске; нагар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20624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20624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297679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выявлено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62686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Общий признак: ПРОСАДКА/увеличение высоты выпускных клапанов (рецессия седла) + износ направляющих втулок/стержней → потеря/изменение теплового зазора. Числовых таблиц зазоров в отчётах нет (качественные формулировки).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165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→ EGT → зазор клапана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Форсунка ПЕРЕЛИВ (Тип А, износ иглы/седла)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Избыток топлива → ↑ локальная EGT (до 567°C, 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Термоудар фаски + РЕЦЕССИЯ (просадка) седла клапана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↑ высота клапана → выборка теплового зазора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 Неполная посадка → прорыв газов → выгорание клапана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165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 · ВЕРДИКТ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 зазор ↔ форсунки — вердикт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4864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Связь установлена (причинно)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512064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МЕХАНИСТИЧЕСКИ — связь сильная и положительная: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неисправные форсунки (особенно ПЕРЕЛИВ) → ↑ EGT → рецессия седла/просадка клапана → потеря теплового зазора → ускоренное выгорание.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«Некорректные зазоры» и «увеличенная высота клапанов» (#87/#89) — следствие этой цепи, усиленной отключёнными защитами ЭБУ.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605272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25880"/>
            <a:ext cx="91440" cy="4114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1732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Ограничение и рекомендация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46504"/>
            <a:ext cx="5239512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СТАТИСТИЧЕСКИ (по машинам) — не доказуема на текущих данных: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форсунки на стенде: #73/#78/#82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зазоры/клапаны: #54/#77/#87/#89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ПЕРЕСЕЧЕНИЯ ПО МАШИНАМ НЕТ → числовой коэффициент не рассчитать.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РЕКОМЕНДАЦИЯ: при каждой регулировке фиксировать численно зазор/просадку по цилиндрам И снимать форсунки на стенд → парная корреляция «просадка_цил ↔ дефект_форсунки_цил».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165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165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165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7024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2592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6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2592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77456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2592" y="28346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7456" y="28437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22592" y="32918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33009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63456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18/16/13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63456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63456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63456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63456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33888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88752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12/9/6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33888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88752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33888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88752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33888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33888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8752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291840"/>
            <a:ext cx="58521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52160" y="3291840"/>
            <a:ext cx="91440" cy="2194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338328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3328" y="3712464"/>
            <a:ext cx="5486400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 Cummins (бак) 18/16/13; цель «вход в цилиндры» (Fleetguard/Горная Евразия) 12/9/6. Цель не достигается нигде; фильтр грубой очистки местами УХУДШАЕТ чистоту. Топливо одно для NTE200 и 730E → не дифференцирует, но угрожает форсункам MCRS (2–5 мкм).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165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165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Дефектация: фото эрозии рабочих фасок выпускных клапанов (тарелка/седло). Подтверждает термический характер повреждения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165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264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цилиндрам; справа — эрозия фаски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165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101 / 165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TIB=100%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102 / 165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103 / 165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104 / 165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105 / 165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Проверка гипотез (best practice)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106 / 165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ГИПОТЕЗЫ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конкурирующих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5544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Две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H1 (термическая): первична калибровка ЭБУ (TIB, отключённые защиты) → перегрев → выгорание клапанов.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H2 (контаминационная): первичны пыль (негерметичность впуска) + загрязнение топлива → абразивно-механический износ (втулки/стержни клапанов, форсунки); ЭБУ — усугубляющий усилитель.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546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Принцип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838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Метод проверки: сопоставление сигнатур отказа. Термическая → выгорание/эрозия ФАСКИ клапана, высокая EGT. Абразивная → износ НАПРАВЛЯЮЩИХ ВТУЛОК и СТЕРЖНЕЙ, повышенный Si в масле. Реальные отчёты содержат ОБА признака → проверяем вклад каждого по данным.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107 / 165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за H2: пыль и впуск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473531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Критическое засорение возд. фильтров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«Высокая запылённость карьера»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+ ОЖ на впуске 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направляющих втулок (вне допуска)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Деформация/выработка стержня клапана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Осадок/вода в топл. сепараторе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511" y="132588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7375" y="1335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92511" y="17830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7375" y="1792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2511" y="22402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47375" y="22494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92511" y="26974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7375" y="27066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Эндоскопия впуска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511" y="31546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7375" y="31638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 #54/#78/#87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92511" y="36118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7375" y="3621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2511" y="40690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7375" y="4078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отстойников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74877" y="1325880"/>
            <a:ext cx="315687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9741" y="1335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Сигнатура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4877" y="17830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9741" y="1792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пылевая среда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22402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22494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26974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27066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впуска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31546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31638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36118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3621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40690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4078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108 / 165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H2 — визуально</a:t>
            </a:r>
          </a:p>
        </p:txBody>
      </p:sp>
      <p:pic>
        <p:nvPicPr>
          <p:cNvPr id="8" name="Picture 7" descr="IMG_20260616_140405_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154680" cy="4206240"/>
          </a:xfrm>
          <a:prstGeom prst="rect">
            <a:avLst/>
          </a:prstGeom>
        </p:spPr>
      </p:pic>
      <p:pic>
        <p:nvPicPr>
          <p:cNvPr id="9" name="Picture 8" descr="IMG_20260616_140420_6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154680" cy="4206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86800" y="1371600"/>
            <a:ext cx="301752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1371600"/>
            <a:ext cx="91440" cy="4206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463040"/>
            <a:ext cx="26974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Отстойник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1792224"/>
            <a:ext cx="265176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отстойник: осадок/вода на дне колбы; вокруг — густая пыль. Подтверждает загрязнение топлива и запылённость среды (H2).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109 / 165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ПРОТИВ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Контрдоказательства против H2 (масло)</a:t>
            </a:r>
          </a:p>
        </p:txBody>
      </p:sp>
      <p:pic>
        <p:nvPicPr>
          <p:cNvPr id="8" name="Picture 7" descr="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371600"/>
            <a:ext cx="58521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37160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4630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Объективная оговорка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92224"/>
            <a:ext cx="548640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Если бы пыль массово попадала в цилиндры через впуск, в масле ДВС вырос бы кремний (Si) и железо (Fe). Факт: Si P95=4 ppm (порог ~15), лишь 0,3% проб &gt;15; Fe P95=6 ppm — НИЗКИЕ. ⇒ Массовый абразивный пылевой износ масло НЕ подтверждает. Всплески Si единичны (#88=50, #53=31) — эпизодические/локальные события, не системные.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110 / 165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ТОПЛИВО→ФОРСУНКИ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Цепь: загрязнение топлива → форсунки</a:t>
            </a:r>
          </a:p>
        </p:txBody>
      </p:sp>
      <p:pic>
        <p:nvPicPr>
          <p:cNvPr id="8" name="Picture 7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8C2E"/>
                </a:solidFill>
                <a:latin typeface="Calibri"/>
              </a:rPr>
              <a:t>Грязное топливо (ISO хуже 18/16/13) → износ плунжерных пар → разброс дозирования P04 (перелив/недолив) → дисбаланс сгорания и EGT.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111 / 165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ВЕРДИКТ ПО ГИПОТЕЗАМ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проверки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Пыль/впуск (H2)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Топливо/форсунки (H2)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Калибровка ЭБУ (H1)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Конструкция (нет Stellite)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329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193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ЗА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01329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193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фильтры, ОНВ, втулки/стержни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1329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6193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ISO плохой, осадок, разброс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1329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6193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 параметров, EGT 567, коды EGT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1329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6193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признано NHL/Cummins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ПРОТИВ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Si/Fe низкие в масле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сера в норме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730E без Stellite не ломается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132588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1335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02332" y="1874519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57196" y="188366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 (локально)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02332" y="242316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7196" y="243230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332" y="297180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7196" y="29809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усиливающий амплификатор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02332" y="352044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57196" y="35295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690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069080"/>
            <a:ext cx="91440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605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Синтез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8970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Вывод: ни один фактор не объясняет отказ в одиночку. Это МНОГОФАКТОРНАЯ ЦЕПЬ: контаминация (пыль+топливо) инициирует износ направляющих/стержней/форсунок, а калибровка ЭБУ (отключённые защиты + TIB) усиливает тепловую нагрузку и доводит клапан до выгорания.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112 / 165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FMEA — режимы и причины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833347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 отказа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Выгорание фаски вып. клапана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направл. втулки/стержня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4378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Разброс дозирования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59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4670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Просадка/негерметичн. седла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4962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/ ОЖ на впуске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1325880"/>
            <a:ext cx="3382365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1335024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1828800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183794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EGT&gt;520 (ЭБУ/форсунки)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0547" y="2331720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5411" y="234086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 (пыль/впуск)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0547" y="283463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5411" y="284378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0547" y="3337559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5411" y="334670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Термоудар + износ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0547" y="384047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5411" y="384962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тракта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2913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777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2913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7777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2913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777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762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248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762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248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762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248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762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4248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762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248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762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248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0233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719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0233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719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0233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719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0233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719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0233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5719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0233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5719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704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7190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RPN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1704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7190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71704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7190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71704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7190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704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7190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1704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7190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07880"/>
                </a:solidFill>
                <a:latin typeface="Calibri"/>
              </a:rPr>
              <a:t>S — тяжесть, O — частота, D — обнаруживаемость, RPN = S×O×D (приоритет риска).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113 / 165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5-WHY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5 Почему (5-Why)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разрушилась ГБЦ? — Выгорела/просела фаска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выгорел клапан? — Хронически высокая EGT (до 567°C) + сниженная стойкость.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высокая EGT? — Отключены тепловые защиты ЭБУ (TIB 200%, derate/триггеры) + разброс форсунок.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196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разброс форсунок и износ направляющих? — Загрязнённое топливо и пыль (негерметичность впуска, засорённые фильтры).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загрязнение? — Запылённость карьера + недостаточная фильтрация/герметичность + калибровка, не снижающая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114 / 165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связей факторов</a:t>
            </a:r>
          </a:p>
        </p:txBody>
      </p:sp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00047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371600"/>
            <a:ext cx="5120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4630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Чтение матрицы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92224"/>
            <a:ext cx="4754879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Качественная матрица связей: сильнее всего связаны EGT↔TIB↔перелив форсунок (термокластер). Si (пыль) слабо связан с EGT, но связан с чистотой топлива. Подтверждает: термический кластер (ЭБУ/форсунки) — главный усилитель; пыль — отдельный, более слабый по маслу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115 / 165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116 / 165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многофакторная цепь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СРЕДА: запылённость карьера + засорённые возд. фильтры + негерметичность впуска (коррозия ОНВ, ОЖ) + грязное топливо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ИНИЦИАЦИЯ: износ направляющих втулок/стержней клапанов + разброс дозирования форсунок (перелив/недолив)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УСИЛЕНИЕ (ЭБУ): TIB 200% + отключённые защиты перегрева → нагрузка не снижается → ↑ EGT, дисбаланс банков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ПЕРЕГРЕВ: EGT до 567°C (лимит 520); термоудар фаски клапана (стойкость снижена — 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ОТКАЗ: выгорание/просадка клапана и седла →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117 / 165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выгорание/просадка клапана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перегрев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УСИЛЕНИЕ ЭБУ: TIB 200%, защиты ОТКЛ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разброс форсунок (топливо)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износ втулок/стержней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пыль / негерметичн. впуска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стойкость фаски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запылённость, фильтры (#69)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пыль;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негерметичн. впуска (ОНВ/ОЖ),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калибровка ЭБУ (защиты ОТКЛ),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118 / 165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 200% vs 100%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ECM/письмо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119 / 165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32918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 (многофакторная)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Отказы ГБЦ QSK50 на NTE200 имеют МНОГОФАКТОРНУЮ природу (цепь причин), а не единственную причину.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ИНИЦИИРУЮЩИЕ факторы (эксплуатация/контаминация): запылённость и засорение воздушных фильтров, негерметичность впускного тракта (коррозия ОНВ, следы ОЖ), загрязнённое топливо — вызывают абразивно-механический износ направляющих втулок/стержней клапанов и разброс дозирования форсунок.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УСИЛИВАЮЩИЙ (амплифицирующий) фактор: калибровка ЭБУ — TIB 200% и ОТКЛЮЧЁННЫЕ тепловые защиты (триггеры перегрева, derate) не снижают нагрузку при перегреве, доводя EGT до 567°C и термоудар клапана.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СОПУТСТВУЮЩИЙ: отсутствие наплавки Stellite снижает стойкость фаски.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1274552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91440" cy="96012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92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Достоверность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21224"/>
            <a:ext cx="10908792" cy="448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Оговорка по данным: масляные маркеры пыли (Si) и износа (Fe) НИЗКИЕ — массовый абразивный пылевой износ через масло не подтверждён; вклад пыли локальный/эпизодический. Сера топлива и систематическая перегрузка (10/10/20) — исключены.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120 / 165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121 / 165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NHLT0ABAРPB100078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33232776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2024-02-22 → 2025-02-21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EE22090283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18859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1.94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21.01.2026: Клапаны+форсунки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122 / 165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NHLT0ABAVPB100085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33239899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2024-02-04 → 2025-02-03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EE25032335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11.08.2025: Замена ГБЦ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123 / 165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33232926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2024-02-07 → 2025-02-06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EE22120768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0.16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17.12.2025: Замена ГБЦ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31.03.2026: Повтор. ремонт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124 / 165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NHLT0ABAJPB100083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2024-03-28 → 2025-03-27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17583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17.07.2025: Замена ГБЦ (трещина→ОЖ в масло)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125 / 165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33232947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2024-04-09 → 2025-04-08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EE22120153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17582 ч  ·  Макс. об/мин: 2045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126 / 165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NHLT0ABAKPB100096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33230198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2024-04-12 → 2025-04-11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1.32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127 / 165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NHLT0ABAPPB100095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33229431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2024-04-30 → 2025-04-29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EE22120396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16852 ч  ·  Макс. об/мин: 2029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10.08.2025: Толкатель/клапан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16.03.2026: Клапан ГБЦ (повтор)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128 / 165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NHLT0ABAEPB100092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33229400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2024-05-11 → 2025-05-10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129 / 165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NHLT0ABATRB100101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33230473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2025-01-08 → 2026-01-07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11343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2.71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130 / 165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NHLT0ABAPRB100097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33230485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2025-01-09 → 2026-01-08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10543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131 / 165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NHLT0ABAVRB100106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33232655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2025-02-09 → 2026-02-08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10802 ч  ·  Макс. об/мин: 2031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132 / 165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NHLT0ABAKRB100103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33232794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2025-03-03 → 2026-03-02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10075 ч  ·  Макс. об/мин: 2039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16.06.2026: Втулка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133 / 165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NHLT0ABAJRB100104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33232834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2025-03-08 → 2026-03-07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9306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134 / 165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NHLT0ABACSB100126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33238517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2025-11-22 → 2027-11-21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EE24070822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4014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0.76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135 / 165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NHLT0ABAVSB100127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33238542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2025-11-25 → 2027-11-24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EE24040806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Катастроф.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3767 ч  ·  Макс. об/мин: 2012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0.91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~03.2026: Замена ГБЦ (ранний)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136 / 165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NHLT0ABAASB100128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33238516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2025-12-22 → 2027-12-21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3775 ч  ·  Макс. об/мин: 2054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137 / 165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33238503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2025-12-02 → 2027-12-01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EE24040081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3774 ч  ·  Макс. об/мин: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138 / 165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NHLT0ABAASB100131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2025-12-09 → 2027-12-08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EE24070646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3778 ч  ·  Макс. об/мин: 2058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139 / 165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NHLT0ABALSB100132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33238554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2025-12-27 → 2027-12-26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3266 ч  ·  Макс. об/мин: 2041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1.14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140 / 165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NHLT0ABAHSB100133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2025-12-18 → 2027-12-17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EE24070237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3508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1.78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141 / 165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142 / 165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в топливной рампе (CR)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рабочее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 бар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система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стабильно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разброс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Рампа в норме — проблема не в давлении, а в дозировании форсунок.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143 / 165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МАСЛО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&gt;241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мин. норма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Давление масла в норме во всех режимах.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144 / 165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НАДДУВ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~110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нагрузки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Наддув в норме; перегрев — следствие калибровки, не турбонаддува.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145 / 165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ТОПЛИВО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Расход топлива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нагрузка с породой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породы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ср. об/мин 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Высокая нагрузка повышает базовую EGT; TIB добавляет пульсации.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146 / 165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147 / 165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TBN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Минимальный TBN (старение масла)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везде высоко выше предела 2,5 — масло не деградировало.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148 / 165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перевезённой массе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млн 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2.71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100.9%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102.4%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105.2%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101.6%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Лидеры по тоннажу при средней нагрузке ≈100% — режим в пределах 10/10/20.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149 / 165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150 / 165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96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151 / 165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979737"/>
          </a:xfrm>
          <a:prstGeom prst="rect">
            <a:avLst/>
          </a:prstGeom>
        </p:spPr>
      </p:pic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89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152 / 165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264778"/>
          </a:xfrm>
          <a:prstGeom prst="rect">
            <a:avLst/>
          </a:prstGeom>
        </p:spPr>
      </p:pic>
      <p:pic>
        <p:nvPicPr>
          <p:cNvPr id="9" name="Picture 8" descr="image1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7167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153 / 165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963202"/>
          </a:xfrm>
          <a:prstGeom prst="rect">
            <a:avLst/>
          </a:prstGeom>
        </p:spPr>
      </p:pic>
      <p:pic>
        <p:nvPicPr>
          <p:cNvPr id="9" name="Picture 8" descr="image1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4367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154 / 165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Методика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Этапы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 Сбор первичных данных (Весовая, ECM, DML, масло, топливо, стенд форсунок, KAMSS, парк).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 Перепроверка из первоисточников (пересчёт нагрузки от 180 т; парсинг ECM/масла/форсунок).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 Сравнение NTE200 vs контрольной группы 730E (паритет условий).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 Проверка гипотез «за/против»; исключение недифференцирующих факторов.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 Формулировка коренной причины и плана действий.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Принцип: каждое число — из первичных данных; неподтверждённое помечается отдельно.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155 / 165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СЛОВАРЬ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Словарь и обозначения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Термины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 — температура отработавших газов · TIB — компенсация теплового дисбаланса (Thermal Imbalance Balance) · MCRS — модульная система Common Rail · derate — снижение мощности/оборотов защитой · DO_Option — профиль опций ЭБУ · ISO 4406 — класс чистоты (частицы &gt;4/6/14 мкм) · TBN — щелочное число · CI-4/CES 20078 — класс моторного масла · A/B банк — ряды цилиндров (нечёт./чёт.) · P03/P04 — тест-планы стенда (малая нагрузка/пилот).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156 / 165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157 / 165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TIB 100%,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158 / 165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159 / 165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160 / 165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161 / 165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ДОРОЖНАЯ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Дорожная карта внедрения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5252"/>
                </a:solidFill>
                <a:latin typeface="Calibri"/>
              </a:rPr>
              <a:t>0–1 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пилотных машин + контрольный DML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1–3 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3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всего парка, замена датчиков EGT/форсунок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3–6 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5760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Нормализация фильтрации топлива, запрос Stellite у NHL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91440" cy="868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0915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6–12 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70915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Мониторинг EGT/FC611, верификация снижения отказов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162 / 165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КОНТАКТЫ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Ответственные стороны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Оператор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Подрядчик 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двигателя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техники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топлива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380744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Организация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8836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Полюс Магадан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38658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ООО «Горная Евразия»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88950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/ CCEC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39242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NHL (North Hauler)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89534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МИЦ ГСМ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3982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Дорингтест / ООО «Авиатек»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163 / 165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164 / 165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Отказ — многофакторная цепь: контаминация (пыль/впуск + топливо)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инициирует износ, калибровка ЭБУ усиливает перегрев до выгорания клапана.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сера топлива — исключены. Масляные маркеры пыли (Si) низкие — вклад пыли локальный.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165 / 165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