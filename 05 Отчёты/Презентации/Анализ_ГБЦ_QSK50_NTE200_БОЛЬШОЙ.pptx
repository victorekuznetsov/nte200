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3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15.jpg"/><Relationship Id="rId4" Type="http://schemas.openxmlformats.org/officeDocument/2006/relationships/image" Target="../media/image27.jpg"/><Relationship Id="rId5" Type="http://schemas.openxmlformats.org/officeDocument/2006/relationships/image" Target="../media/image22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двигателей Cummins QSK50 —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FD6DA"/>
                </a:solidFill>
                <a:latin typeface="Calibri"/>
              </a:rPr>
              <a:t>Глубокий технический анализ · Полюс Магадан · контрольная группа 730E-DC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только факты из первичных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 / 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НАВИГАЦИЯ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Парк и реестр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Двигатель и режим отказа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Статистика отказов ГБЦ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Нагрузка и производительность (10/10/20)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Анализ масла (бренды, показатели, узлы)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6. Калибровка ECM (15 параметров)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7. Ошибки ECM (Fault Codes)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8. Телеметрия DML (EGT)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9. Форсунки и корреляция по цилиндрам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10. Топливо и чистота (ISO 4406)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11. Обследование KAMSS (3 ед.)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12. Контрольная группа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13. Опровержение версий NHL/CCEC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14. Коренная причина (RCA, FTA)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8017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98017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0990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15. Выводы, действия, дорожная карта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 / 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отличий ЭБУ vs 730E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(лимит 520)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отказов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3172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2316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Главный вывод (многофакторный)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5234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 — МНОГОФАКТОРНЫЕ. ИНИЦИИРУЮТ: пыль/негерметичность впуска (засорённые фильтры, коррозия ОНВ) + загрязнённое топливо → износ направляющих/стержней клапанов и разброс форсунок. УСИЛИВАЕТ: калибровка ЭБУ (TIB 200%, отключённые тепловые защиты) → перегрев EGT 567°C → выгорание клапана. СОПУТСТВУЕТ: нет Stellite.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4509820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1246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09651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Пыль / негерметичность впуска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71416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480559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Загрязнение топлива → форсунки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55464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64607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9512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248655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59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63270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Перегрузка (10/10/20)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7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3703320"/>
            <a:ext cx="281863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371246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4087368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409651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4471416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4480559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67020" y="4855464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1884" y="4864607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УСИЛИВАЮЩИЙ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67020" y="5239512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1884" y="5248655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67020" y="5623559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884" y="563270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значима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7020" y="6007607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1884" y="601675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85658" y="3703320"/>
            <a:ext cx="3946093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522" y="371246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85658" y="4087368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40522" y="409651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фильтры #69, ОНВ/ОЖ ✓ (Si низкий 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5658" y="4471416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0522" y="4480559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плохой, разброс P04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85658" y="4855464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0522" y="4864607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параметров, EGT 567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85658" y="5239512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522" y="5248655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NHL/Cummins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85658" y="5623559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40522" y="563270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распред. левосмещ., соблюд.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85658" y="6007607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40522" y="601675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 /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Парк и реестр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Объект анализа — двигатель QSK50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Платформа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45098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29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NTE 200 (объект)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450982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7802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730E-DC (контроль)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67020" y="137160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1884" y="13807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Кол-во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7020" y="192024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1884" y="19293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67020" y="246888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1884" y="2478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6440" y="137160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1304" y="13807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6440" y="192024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1304" y="19293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6440" y="246888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1304" y="2478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0569" y="1371600"/>
            <a:ext cx="1691182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433" y="138074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Отказы ГБЦ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569" y="1920240"/>
            <a:ext cx="169118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5433" y="192938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~17 событий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40569" y="2468880"/>
            <a:ext cx="1691182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5433" y="247802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657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657600"/>
            <a:ext cx="91440" cy="16459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74903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Область анализа — только ДВС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078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Объект — двигатель Cummins QSK50 MCRS (V16, Tier 2, без DPF/EGR) на самосвалах NTE 200. Контрольная группа — 730E-DC с ТЕМ ЖЕ двигателем QSK50. Анализ сфокусирован ИСКЛЮЧИТЕЛЬНО на ДВС и его системах (ГБЦ, клапаны, форсунки, масло ДВС, EGT, ЭБУ). Прочие модели/узлы (трансмиссия, привод, гидравлика) — вне области анализа.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 /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47 машин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206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206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206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206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4519" y="1280160"/>
            <a:ext cx="283464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9384" y="128930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149504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29384" y="150418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4519" y="170992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29384" y="171907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33232758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4519" y="192481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929384" y="193395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33232759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74519" y="2139695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29384" y="214883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33232853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4519" y="2354579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929384" y="236372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74519" y="2569463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929384" y="257860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74519" y="2784347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929384" y="279349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33232946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4519" y="2999231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929384" y="300837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874519" y="3214115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929384" y="322325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74519" y="3428999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929384" y="343814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74519" y="364388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929384" y="365302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74519" y="385876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929384" y="386791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4519" y="407365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29384" y="408279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74519" y="4288536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929384" y="429767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33229401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74519" y="4503420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929384" y="451256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33230197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74519" y="4718304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29384" y="472744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874519" y="4933188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929384" y="494233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33230182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4519" y="5148072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29384" y="515721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33230472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874519" y="5362956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929384" y="5372100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33229400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74519" y="5577840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29384" y="558698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33230183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74519" y="5792724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929384" y="580186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33231740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874519" y="6007608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929384" y="601675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33231760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4519" y="6222492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29384" y="623163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33233617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70916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6402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0916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6402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0916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6402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70916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6402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70916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6402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70916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76402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70916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76402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0916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6402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70916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76402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0916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6402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70916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76402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70916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6402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70916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6402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70916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76402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70916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76402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70916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76402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70916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76402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70916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76402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70916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76402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70916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6402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70916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76402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70916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76402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70916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6402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70916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76402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30936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36422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0936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6422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30936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36422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30936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6422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30936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36422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30936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36422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0936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6422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30936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6422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30936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6422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0936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6422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30936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36422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30936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36422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0936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36422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30936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36422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30936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36422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30936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36422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0936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6422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30936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6422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30936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6422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30936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36422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630936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36422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30936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636422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30936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36422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30936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36422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6309360" y="643737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364224" y="644652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726680" y="1280160"/>
            <a:ext cx="283464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781544" y="128930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680" y="149504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81544" y="150418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33230459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680" y="170992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81544" y="171907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33230473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7726680" y="192481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781544" y="193395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33231741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726680" y="2139695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81544" y="214883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7726680" y="2354579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81544" y="236372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33230210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726680" y="2569463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781544" y="257860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33232708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726680" y="2784347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781544" y="279349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33232655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7726680" y="2999231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781544" y="300837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33233618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726680" y="3214115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781544" y="322325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33230474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726680" y="3428999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781544" y="343814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33232793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7726680" y="364388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781544" y="365302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33232777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7726680" y="385876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7781544" y="386791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7726680" y="407365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7781544" y="408279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726680" y="4288536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781544" y="429767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33236259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726680" y="4503420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81544" y="451256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33236246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726680" y="4718304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81544" y="472744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33236214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726680" y="4933188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781544" y="494233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33238517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7726680" y="5148072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781544" y="515721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726680" y="5362956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7781544" y="5372100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33238516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7726680" y="5577840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7781544" y="558698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33238503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7726680" y="5792724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781544" y="580186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33238551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7726680" y="6007608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7781544" y="601675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7726680" y="6222492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781544" y="623163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33238554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726680" y="6437376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781544" y="6446520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056132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061618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056132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1061618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1056132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1061618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1056132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061618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1056132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1061618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1056132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1061618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056132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061618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056132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061618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56132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61618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56132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61618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56132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61618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1056132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1061618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1056132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1061618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1056132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1061618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6132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61618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1056132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061618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1056132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1061618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1056132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1061618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056132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1061618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1056132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061618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056132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61618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1056132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061618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56132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61618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56132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61618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561320" y="643737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616184" y="644652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707880"/>
                </a:solidFill>
                <a:latin typeface="Calibri"/>
              </a:rPr>
              <a:t>47 машин NTE 200 (гар. №43–89), 2023 г.в., Cummins QSK50, привод GE. Полный реестр (PIN, гарантия) — в Obsidian.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 /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Двигатель и режим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 /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ДВИГАТЕЛЬ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3891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Характеристики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V16, рабочий объём 50 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MCRS (Modular Common Rail), до 2100 бар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Tier 2 — без DPF/EGR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2 банка по 8 цилиндров (A — нечётные, B — чётные)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ЭБУ: каналы ECM0/ECM1/ECM144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Привод самосвала — электрический GE (AC)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3891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Режим отказа: выгорание/эрозия тарелок и сёдел ВЫПУСКНЫХ клапанов → потеря герметичности → разрушение ГБЦ. Сопутствует: зольно-сажевые отложения, просадка клапанов, износ направляющих втулок, повышенный расход масла.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 /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Функция ГБЦ и путь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Перегрев (высокая EGT) → термоудар тарелки выпускного клапана → микротрещины/эрозия рабочей фаски → прорыв горячих газов → локальный перегрев седла → потеря компрессии и герметичности → разрушение ГБЦ.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Стадия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Тепловой дисбаланс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Эрозия клапана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Отложения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39565" y="2926080"/>
            <a:ext cx="450982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4429" y="29352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Признак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39565" y="333756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4429" y="334670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(лимит 520)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39565" y="374904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429" y="375818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банк B +60°C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9565" y="416052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94429" y="416966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тарелок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39565" y="457200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4429" y="458114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нагар на клапанах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9565" y="498348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94429" y="49926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ГБЦ/клапанов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9386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250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9386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4250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9386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4250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DML/ECM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9386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250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KAMSS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49386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4250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9386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4250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реестр ремонтов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 / 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 /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Ключевые показатели отказов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затронутых машин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повторные (#48,#58)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ранний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0972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08792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— на машинах разной наработки (от 2776 до 18245 м/ч), что исключает простой возрастной износ как причину. Ранний отказ #83 при 2776 м/ч — индикатор системной (калибровочной/конструктивной) проблемы.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 / 100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Хронология ремонтов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209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 / 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17.12.2025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4270248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427939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4690872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470001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5111496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512064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13.05.2026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~12890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~14997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39565" y="4270248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4429" y="427939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39565" y="4690872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94429" y="470001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39565" y="5111496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429" y="512064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(трещина→ОЖ в масло)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Толкатель/клапан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Клапаны+форсунки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 ГБЦ (повтор)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68984" y="4270248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23848" y="427939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68984" y="4690872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23848" y="470001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Повтор. ремонт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68984" y="5111496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3848" y="512064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 / 100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25.05.2026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16.06.2026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18.06.2026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 / 100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ВЕЙБУЛЛ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Накопление отказов по наработке</a:t>
            </a:r>
          </a:p>
        </p:txBody>
      </p:sp>
      <p:pic>
        <p:nvPicPr>
          <p:cNvPr id="8" name="Picture 7" descr="we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при разной наработке → не возрастной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 / 100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ТЕПЛОВАЯ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/ EGT по цилиндрам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 и Ц6 = 567°C (+47 над лимитом).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 / 100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БАНКИ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 A против Банка B</a:t>
            </a:r>
          </a:p>
        </p:txBody>
      </p:sp>
      <p:pic>
        <p:nvPicPr>
          <p:cNvPr id="8" name="Picture 7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B-банк горячее и с бо́льшим числом дефектных форсунок.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 / 100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Нагрузка и производительность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 / 100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0848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48672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48672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03536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26496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26496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26496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585216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2743200"/>
            <a:ext cx="91440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28346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3163824"/>
            <a:ext cx="5486400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Парк СООТВЕТСТВУЕТ 10/10/20 (среднее ≈100%, &gt;120% практически нет). Систематическая перегрузка как значимый фактор НЕ подтверждается. Прежний тезис «295 т» — ошибка (номинал 220 вместо 180). Корректно: макс 133% ≈ 239 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 / 100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Нагрузка: анализ по нормальному распределению</a:t>
            </a:r>
          </a:p>
        </p:txBody>
      </p:sp>
      <p:pic>
        <p:nvPicPr>
          <p:cNvPr id="8" name="Picture 7" descr="load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μ=99,75%; σ=13,7; асимметрия −3,6; P95=110%, P99=113%, доля &gt;120% ≈ 0,01%. Загрузка дисциплинирована у номинала → систематическая перегрузка НЕ является инициатором отказов.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 /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21 / 100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БРЕНДЫ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Масла ДВС: бренды и тип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6619" y="1371600"/>
            <a:ext cx="518629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1483" y="1380744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Бренд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6619" y="187451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483" y="188366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6619" y="2377439"/>
            <a:ext cx="518629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1483" y="238658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6619" y="288035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1483" y="288950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+ Komatsu/Mobil/Лукойл 15W-40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2913" y="1371600"/>
            <a:ext cx="180392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7777" y="1380744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2913" y="187451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7777" y="188366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2913" y="2377439"/>
            <a:ext cx="180392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7777" y="238658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2913" y="288035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7777" y="288950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6841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1705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6841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1705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6841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1705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 по брендам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Двигатели NTE200 и 730E работают на одинаковых маслах (преимущественно Газпромнефть G-Profi MSI Plus 15W-40, класс API CI-4). ⇒ Марка/тип масла НЕ дифференцирует парки.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22 / 100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ПЕРЕХОД ПРОИЗВОДИТЕЛЕЙ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Переход масел во времени: NTE200 vs 730E</a:t>
            </a:r>
          </a:p>
        </p:txBody>
      </p:sp>
      <p:pic>
        <p:nvPicPr>
          <p:cNvPr id="8" name="Picture 7" descr="oil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863840" cy="35251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28016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91440" cy="24688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1371600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NTE200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1700784"/>
            <a:ext cx="2971800" cy="19568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2024-02–04: Shell Rimula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2024-06–2026-01: Газпромнефть G-Profi MSI Plus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Super HPD Plus (с марта 2026 полностью)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886200"/>
            <a:ext cx="33375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3886200"/>
            <a:ext cx="91440" cy="22860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3977639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730E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4306824"/>
            <a:ext cx="2971800" cy="1773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730E: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2025: Газпромнефть + Komatsu/Mobil (паралл.)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(тот же период)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Оба парка перешли на TEBOIL ОДНОВРЕМЕННО.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8932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EA043"/>
                </a:solidFill>
                <a:latin typeface="Calibri"/>
              </a:rPr>
              <a:t>Вывод: оба парка сменили Газпромнефть→TEBOIL (оба CI-4 15W-40) в фев–март 2026. Бренд НЕ дифференцирует: отказы NTE200 есть и до, и после перехода; 730E на тех же маслах — без отказов.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23 /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Технические показатели масла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TBN (щёлочное)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Сажа (ST)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Окисление (OXI)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V100, cSt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Вода/топливо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Fe P95, ppm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2272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07408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8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62272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07408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62272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4144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24144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79008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≥2,5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24144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79008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24144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79008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низкое 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4144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79008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12,5–16,3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24144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79008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24144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79008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1371600"/>
            <a:ext cx="448056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3760" y="1371600"/>
            <a:ext cx="91440" cy="3931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1463040"/>
            <a:ext cx="4160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Ключевой вывод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1792224"/>
            <a:ext cx="41148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Масло в отличном состоянии: высокий TBN, низкая сажа (0,3), нет окисления/разбавления. НИЗКАЯ САЖА опровергает версию NHL про зольный/сажевый абразивный износ клапанов. Отказ — термический.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24 / 100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Износ Fe в масле ДВС: NTE200 vs 730E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Fe на NTE200 ниже, чем на 730E → отказ не абразивный.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25 / 100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37.0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26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27 / 100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Калибровка ECM (15 параметров)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28 /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Сравнение ЭБУ NTE200 vs 730E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 параметров калибровки отличаются. NTE200 ОТКЛЮЧАЕТ все триггеры перегрева и допускает более высокие обороты/нагрузку. Подтверждено письмом Cummins.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523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95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Коррекция топлива (TIB)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667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239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Обороты/регулятор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5811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Горячий стоп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3293" y="2743200"/>
            <a:ext cx="732845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8157" y="27523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vs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3293" y="32004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8157" y="32095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 vs 100% — переобогащение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3293" y="36576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8157" y="36667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ОТКЛ vs Вкл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3293" y="41148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8157" y="41239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2100/20% vs 1990/0%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3293" y="45720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8157" y="45811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ниже пороги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29 / 100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15 параметров ЭБУ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4572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37943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847087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0008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359151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871215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74136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3383279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89534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98264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4407408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10328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919472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22392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5431536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1325880"/>
            <a:ext cx="2971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133502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1837943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1847087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TIB верхн. предел коррекции топлива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350008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2359151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Снижение оборотов по T масла (derate)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2862072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2871215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Триггер high T наддув. воздуха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374136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" y="3383279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3886200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389534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398264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4407408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Задержка derate (масло)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4910328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4919472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Задержка derate (ОЖ)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5422392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5431536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96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947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96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100%%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947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96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Вкл флаг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96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54°C °C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947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96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85°C °C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96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68°C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947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96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 с 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947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96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 с 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94760" y="5422392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49624" y="5431536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1990 об/мин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06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355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06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355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200%%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06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55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флаг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806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355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°C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806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355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°C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06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355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°C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806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355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51 с с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806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355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43 с с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80660" y="5422392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35524" y="5431536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2100 об/мин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1325880"/>
            <a:ext cx="4114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1424" y="133502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Влияние на 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66560" y="1837943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21424" y="1847087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удвоение корр. дозы → переобогащение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2350008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21424" y="2359151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862072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21424" y="2871215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766560" y="3374136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21424" y="3383279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66560" y="3886200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21424" y="389534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66560" y="4398264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21424" y="4407408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полная мощность 51 с в перегреве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0" y="4910328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21424" y="4919472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5422392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821424" y="5431536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EGT +25–35°C, удары клапанов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881360" y="1325880"/>
            <a:ext cx="9144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936224" y="133502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81360" y="1837943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936224" y="184708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81360" y="2350008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36224" y="2359151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881360" y="2862072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936224" y="2871215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881360" y="3374136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936224" y="3383279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881360" y="3886200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936224" y="389534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881360" y="4398264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936224" y="44074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881360" y="4910328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936224" y="4919472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881360" y="5422392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936224" y="54315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30 / 100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15 параметров ЭБУ (9–15)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4572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37943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847087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0008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359151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871215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74136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3383279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89534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98264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4407408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10328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919472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1325880"/>
            <a:ext cx="2971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133502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1837943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1847087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Макс. обороты реф. 2/3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350008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2359151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862072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2871215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374136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3383279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886200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" y="389534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4398264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4407408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910328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4919472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DO_Option (профиль)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947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96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947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96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1990 об/мин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96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0%%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947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96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5509 Н·м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947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96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4722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96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FC0BU52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947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96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50°C °C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96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6765 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806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355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06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355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2225,8 об/мин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06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55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20%%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06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355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06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355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06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55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FC0WH95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806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355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46°C °C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806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355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61042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1325880"/>
            <a:ext cx="4114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21424" y="133502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Влияние на отказ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1837943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21424" y="1847087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350008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21424" y="2359151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66560" y="2862072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21424" y="2871215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3374136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1424" y="3383279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66560" y="3886200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21424" y="389534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398264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21424" y="4407408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4910328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21424" y="4919472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иной калибровочный профиль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881360" y="1325880"/>
            <a:ext cx="9144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936224" y="133502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881360" y="1837943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936224" y="184708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881360" y="2350008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936224" y="2359151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881360" y="2862072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936224" y="2871215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881360" y="3374136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936224" y="3383279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881360" y="3886200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936224" y="389534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81360" y="4398264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936224" y="44074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81360" y="4910328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36224" y="4919472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31 / 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двигателей по данным ECM</a:t>
            </a:r>
          </a:p>
        </p:txBody>
      </p:sp>
      <p:pic>
        <p:nvPicPr>
          <p:cNvPr id="8" name="Picture 7" descr="ecm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73350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21 из 38 машин (55%) — в отказном/EGT-статусе.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32 / 100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Ошибки ECM (Fault Codes)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33 / 100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ОШИБКИ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по числу машин</a:t>
            </a:r>
          </a:p>
        </p:txBody>
      </p:sp>
      <p:pic>
        <p:nvPicPr>
          <p:cNvPr id="8" name="Picture 7" descr="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34 / 100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(Fault Codes) — весь перечень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9448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0362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6309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7223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3169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4083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0030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40944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6890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67804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3751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94665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2265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0611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1525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47472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48386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4332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75246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01193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02107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8053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28967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54914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55828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2262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1774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2688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8635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09549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5495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36409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1325880"/>
            <a:ext cx="1691182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133502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159448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160362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186309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187223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213169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214083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240030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240944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266890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267804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293751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294665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320611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321525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347472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348386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374332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375246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10146" y="401193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65010" y="402107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10146" y="428053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865010" y="428967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10146" y="454914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65010" y="455828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10146" y="481774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65010" y="482688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10146" y="508635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65010" y="509549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10146" y="535495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65010" y="536409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1329" y="1325880"/>
            <a:ext cx="1691182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56193" y="133502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01329" y="159448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56193" y="160362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01329" y="186309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56193" y="187223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01329" y="213169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56193" y="214083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501329" y="240030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56193" y="240944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01329" y="266890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56193" y="267804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501329" y="293751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556193" y="294665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01329" y="320611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56193" y="321525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01329" y="347472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56193" y="348386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01329" y="374332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56193" y="375246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501329" y="401193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556193" y="402107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501329" y="428053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56193" y="428967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01329" y="454914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556193" y="455828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501329" y="481774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556193" y="482688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501329" y="508635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556193" y="509549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01329" y="535495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56193" y="536409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192511" y="1325880"/>
            <a:ext cx="6539240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47375" y="133502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192511" y="159448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247375" y="160362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Остановка горячего двигателя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192511" y="186309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247375" y="187223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Канал J1939 — хаотичный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511" y="213169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247375" y="214083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Пропадание питания при пуске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192511" y="240030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47375" y="240944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Модули — неисправности средн. уровня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192511" y="266890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247375" y="267804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Уровень ОЖ ниже нормы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192511" y="293751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47375" y="294665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Цепь подкач. топл. насоса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192511" y="320611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247375" y="321525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Высокая частота вращения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192511" y="347472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247375" y="348386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Модули — неисправности низ. уровня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192511" y="374332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247375" y="375246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Низкий уровень ОЖ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192511" y="401193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247375" y="402107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Напряжение АКБ 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92511" y="428053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247375" y="428967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Температура ОЖ высокая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192511" y="454914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247375" y="455828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Давление топл. насоса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192511" y="481774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247375" y="482688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Малое отклонение EGT (#61)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192511" y="508635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247375" y="509549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Датчик EGT цилиндра (#67)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192511" y="535495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247375" y="536409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Цепь форсунки (#51)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35 / 100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АКТИВНЫЕ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Активные ошибки и связь с отказом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Активные / ключевые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#61 → FC 628 «Малое отклонение EGT» (тепловой дисбаланс)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#67 → FC 1619 «датчик EGT цилиндра» (отказ датчика)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#51 → FC 1549/323/1557 «цепи форсунок»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FC 611 «остановка горячего двигателя» — на 46 машинах (массовые тепловые события).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EGT-дисбаланса и «горячего стопа» по флоту — независимое подтверждение хронического перегрева, согласуются с DML (567°C) и KAMSS (коды 2137/2138 EGT цил.14/16).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36 / 100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Телеметрия DML (EGT)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37 / 100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методика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Лог-файлы движения (INSITE): EGT по 16 цилиндрам (A=ECM144 нечёт., B=ECM1 чёт.), обороты, давления (рампа/масло/наддув), T масла/ОЖ. Машина #82 — с породой и без; есть лог после ремонта.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0266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4838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Без породы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410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 породой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9826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583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070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583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70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583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070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583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070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074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561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Ср. EGT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074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561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287°C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074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61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474°C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074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561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85658" y="301752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0522" y="30266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Примечание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85658" y="34747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0522" y="34838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5658" y="393192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0522" y="39410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рост +187°C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5658" y="43891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0522" y="439826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Ц2, Ц6 (&gt;520)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38 / 100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EGT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EGT по цилиндрам (#82)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Ц2/Ц6 = 567°C; датчик Ц11 неисправен (~98°C, FC1531).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39 / 100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Банковая асимметрия и давления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+60°C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банк B горячее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об/мин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T масла (с породой)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Асимметрия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Банк B (чётные цилиндры) систематически горячее банка A на ~60°C — признак дисбаланса корректирующей дозы (TIB). Совпадает с зоной самых дефектных форсунок (B-банк 6/8) и самых горячих цилиндров (Ц2, Ц6).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40 / 100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Дашборд форсунок (стенд CR-2)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41 / 100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ДАШБОРД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Дашборд форсунок — сводка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форсунок испытано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73152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машины (#73/#78/#82)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8016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критичных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8016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7160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4708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отказы на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Обзор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980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Стенд «Поток CR-2», Cummins CRI. Испытаны форсунки 3 машин NTE200 (#73, #78, #82). Главный признак — отказы на ЧАСТИЧНЫХ режимах (P04 пилот 59%, P03 малая нагрузка). Полные данные — дашборд `dashboard_injectors.html` в песочнице.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32004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8953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Состояние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434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3525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✓ Годных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3200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8097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⚠ Внимание (1 откл.)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2669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✗ Критичных (≥2)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2463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Форсунок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12463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12463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12463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12664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Доля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12664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12664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12664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42 / 100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ГРИД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Состояние всех форсунок (статус-грид)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#73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2588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41.7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132588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4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9504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54.3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93008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53.7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96512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6512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2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38.6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8803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950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950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51.4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3008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300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44.0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96512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651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30.7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0016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0001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001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40.8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60.7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7024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0702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0702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37.5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1052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052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36.9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14032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1753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1753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1753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42.5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49.6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24544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2454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454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804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2804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804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32.8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31552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3155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3155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39.2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3505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73505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3505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33856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3856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27.8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206240"/>
            <a:ext cx="365760" cy="2743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400" y="4206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годна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4206240"/>
            <a:ext cx="365760" cy="2743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0" y="42062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откл. (внимание)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12080" y="4206240"/>
            <a:ext cx="365760" cy="2743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0" y="4206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≥2 откл. (критично)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 ячейке — позиция форсунки и подача P04 (см³). Допуск P04: 41–51 см³.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43 / 100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РЕЖИМЫ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Частота отказов по тестовым режимам</a:t>
            </a:r>
          </a:p>
        </p:txBody>
      </p:sp>
      <p:pic>
        <p:nvPicPr>
          <p:cNvPr id="8" name="Picture 7" descr="id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концентрируются на частичных режимах P03/P04 — признак износа плунжерной пары/иглы.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44 / 100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P04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Дозирование P04 по всем форсункам</a:t>
            </a:r>
          </a:p>
        </p:txBody>
      </p:sp>
      <p:pic>
        <p:nvPicPr>
          <p:cNvPr id="8" name="Picture 7" descr="id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Зелёная зона — допуск 41–51 см³; выше = перелив, ниже = недолив.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45 / 100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ТЕПЛОКАРТА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отклонений форсунок</a:t>
            </a:r>
          </a:p>
        </p:txBody>
      </p:sp>
      <p:pic>
        <p:nvPicPr>
          <p:cNvPr id="8" name="Picture 7" descr="id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223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46 / 100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ТИПЫ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Классификация отказов форсунок</a:t>
            </a:r>
          </a:p>
        </p:txBody>
      </p:sp>
      <p:pic>
        <p:nvPicPr>
          <p:cNvPr id="8" name="Picture 7" descr="id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2852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0" y="1371600"/>
            <a:ext cx="621792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7568" y="146304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А — перелив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1792224"/>
            <a:ext cx="58521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А — ПЕРЕЛИВ: износ иглы/седла распылителя → избыток топлива на ХХ → закоксовывание, локальное переобогащение, рост EGT.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291840"/>
            <a:ext cx="62179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32918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338328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3712464"/>
            <a:ext cx="5852159" cy="7680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Б — НЕДОЛИВ: износ плунжерной пары → недостаток топлива → неравномерность мощности, угроза перегрева ЦПГ.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62179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4663440"/>
            <a:ext cx="91440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754879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5084064"/>
            <a:ext cx="5852159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В — прецизионная пара/граничные отклонения.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47 / 100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№73 · 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Все 4 теста провалены. P03=41,5 (+38% от макс.) — перелив на ХХ, закоксовывание. P04=62,1 (+22%) — критический перелив.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8R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P03=12,7 (-21% от мин.), P04=27,8 (-32%). Плунжерная пара полностью изношена. Угроза перегрева ЦПГ.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2R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P03=13,8 (-14% от мин.), P04=30,7 (-25%). Износ плунжерной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3R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перелив: P04=60,7 (+19%). P03=31,3 (+4%). Износ иглы/седла. Риск закоксовывания и повреждения поршней.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48 / 100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6L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P02=263,7 (+1,4%), P03=30,1 (на границе), P04=54,3 (+6%). Систематический перелив во всех режимах.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4R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P02=262,1 (+0,8%), P04=53,7 (+5%). Перелив на средней и частичной нагрузке.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49 / 100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Прочие отклонения форсунок (сводно)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Машина · 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7L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4L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4R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7R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1R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3L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262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5354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№78 · 3R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9926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№78 · 6R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2110" y="1325880"/>
            <a:ext cx="248040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6974" y="13350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Тип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7830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7922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Недолив (и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2402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2494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974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7066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1546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1638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Начальный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6118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6210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А — Граница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12110" y="40690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6974" y="40782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Граница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12110" y="45262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66974" y="45354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В — Умеренный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12110" y="49834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6974" y="49926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Умеренный 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511" y="1325880"/>
            <a:ext cx="653924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47375" y="13350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92511" y="17830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47375" y="17922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P04=32,8 (-20% от мин.). Значительный недолив на частичной нагрузке.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92511" y="22402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7375" y="22494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P04=37,5 (-9%). Недолив на частичной нагрузке.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2511" y="26974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7375" y="27066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P04=36,9 (-10%). Недолив на частичной нагрузке.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511" y="31546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47375" y="31638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P04=39,2 (-4%). Начальная стадия износа плунжера.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92511" y="36118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47375" y="36210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P03=30,1 (граница), P04=51,4 (граница). Пограничное состояние — быстры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92511" y="40690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7375" y="40782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P04=40,8 (чуть ниже минимума 41,0). Пограничное состояние.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2511" y="45262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47375" y="45354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P02=261,7 (+0,7%). Незначительное превышение.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92511" y="49834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47375" y="49926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P04=38,6 (-6%). Умеренный недолив.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50 / 100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#73/#78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#73 и #78 — значения стенда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93136"/>
                </a:solidFill>
                <a:latin typeface="Calibri"/>
              </a:rPr>
              <a:t>#73 (R1 критич.)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1887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93136"/>
                </a:solidFill>
                <a:latin typeface="Calibri"/>
              </a:rPr>
              <a:t>#78 (3 перелива)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L2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R1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94206" y="1508760"/>
            <a:ext cx="1247241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9070" y="1517904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4206" y="1892807"/>
            <a:ext cx="124724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9070" y="1901951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27.04.2026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4206" y="2276856"/>
            <a:ext cx="124724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9070" y="2285999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26.04.2026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6312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6312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487.0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41448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96312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503.0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48532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3396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48532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03396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532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03396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276.1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5617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0481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5617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0481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5617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0481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41.5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92624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92624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47488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41.7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2624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7488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29630" y="1508760"/>
            <a:ext cx="396849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84494" y="1517904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Ст.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29630" y="1892807"/>
            <a:ext cx="396849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84494" y="1901951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9630" y="2276856"/>
            <a:ext cx="396849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84494" y="2285999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9944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9944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2660903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9944" y="2670047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3044951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3054095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92086" y="1508760"/>
            <a:ext cx="1247241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46950" y="1517904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092086" y="1892807"/>
            <a:ext cx="124724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46950" y="1901951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92086" y="2276856"/>
            <a:ext cx="124724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46950" y="2285999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92086" y="2660903"/>
            <a:ext cx="124724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46950" y="2670047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92086" y="3044951"/>
            <a:ext cx="124724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46950" y="3054095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39328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94192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339328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94192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475.8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39328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94192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479.1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39328" y="2660903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94192" y="2670047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487.7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39328" y="3044951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94192" y="3054095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488.5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46412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01276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46412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01276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261.7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46412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301276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263.7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46412" y="2660903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01276" y="2670047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262.1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246412" y="3044951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301276" y="3054095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227.9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153497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08361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153497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208361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28.8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153497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08361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53497" y="2660903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08361" y="2670047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26.1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153497" y="3044951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08361" y="3054095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28.6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90504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45368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890504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945368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48.6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890504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945368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54.3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890504" y="2660903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945368" y="2670047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53.7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890504" y="3044951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945368" y="3054095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38.6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1627510" y="1508760"/>
            <a:ext cx="396849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82374" y="1517904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Ст.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627510" y="1892807"/>
            <a:ext cx="396849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82374" y="1901951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627510" y="2276856"/>
            <a:ext cx="396849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682374" y="2285999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27510" y="2660903"/>
            <a:ext cx="396849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682374" y="2670047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627510" y="3044951"/>
            <a:ext cx="396849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682374" y="3054095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Допуски: P01 441–495 · P02 220–260 · P03 16–30 · P04 41–51 см³.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51 / 100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полные значения стенда (все 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1848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2763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11095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3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03703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21284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96311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0545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788919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79806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81527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090671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374135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38327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66743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67588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59351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96849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51959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26110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4456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55371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37176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846320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129784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138928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22392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431536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715000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72414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8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1325880"/>
            <a:ext cx="2029419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133502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161848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162763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1911095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192023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84655" y="2203703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9519" y="221284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84655" y="2496311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39519" y="250545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84655" y="2788919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9519" y="279806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84655" y="3081527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39519" y="3090671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84655" y="3374135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39519" y="338327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84655" y="3666743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39519" y="367588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84655" y="3959351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39519" y="396849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84655" y="4251959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39519" y="426110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84655" y="454456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39519" y="455371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84655" y="4837176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39519" y="4846320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84655" y="5129784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39519" y="5138928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84655" y="5422392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39519" y="5431536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84655" y="5715000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9519" y="572414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84655" y="6007608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39519" y="601675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4074" y="1325880"/>
            <a:ext cx="2029419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68938" y="133502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14074" y="161848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68938" y="162763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14074" y="1911095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68938" y="192023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469.6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14074" y="2203703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68938" y="221284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14074" y="2496311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68938" y="250545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4074" y="2788919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68938" y="279806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465.3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14074" y="3081527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68938" y="3090671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485.5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14074" y="3374135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68938" y="338327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4074" y="3666743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68938" y="367588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14074" y="3959351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68938" y="396849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459.8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4074" y="4251959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68938" y="426110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14074" y="454456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68938" y="455371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473.9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14074" y="4837176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68938" y="4846320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475.1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14074" y="5129784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68938" y="5138928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14074" y="5422392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68938" y="5431536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462.9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4074" y="5715000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68938" y="572414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474.3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14074" y="6007608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68938" y="601675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456.1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43493" y="1325880"/>
            <a:ext cx="2029419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98357" y="133502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43493" y="161848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698357" y="162763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43493" y="1911095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98357" y="192023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43493" y="2203703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98357" y="221284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43493" y="2496311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98357" y="250545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43493" y="2788919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98357" y="279806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43493" y="3081527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98357" y="3090671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256.4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43493" y="3374135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98357" y="338327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43493" y="3666743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98357" y="367588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43493" y="3959351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98357" y="396849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242.1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43493" y="4251959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698357" y="426110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43493" y="454456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98357" y="455371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43493" y="4837176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98357" y="4846320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43493" y="5129784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98357" y="5138928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43493" y="5422392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98357" y="5431536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244.1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43493" y="5715000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98357" y="572414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43493" y="6007608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98357" y="601675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236.9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672913" y="1325880"/>
            <a:ext cx="1465691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727777" y="133502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672913" y="161848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27777" y="162763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672913" y="1911095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27777" y="192023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672913" y="2203703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27777" y="221284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672913" y="2496311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727777" y="250545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672913" y="2788919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727777" y="279806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672913" y="3081527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727777" y="3090671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672913" y="3374135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727777" y="338327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672913" y="3666743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27777" y="367588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672913" y="3959351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727777" y="396849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672913" y="4251959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27777" y="426110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672913" y="454456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727777" y="455371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672913" y="4837176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727777" y="4846320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672913" y="5129784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727777" y="5138928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672913" y="5422392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727777" y="5431536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672913" y="5715000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727777" y="572414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672913" y="6007608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27777" y="601675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38605" y="1325880"/>
            <a:ext cx="1465691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93469" y="133502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138605" y="161848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193469" y="162763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48.4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138605" y="1911095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193469" y="192023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51.4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138605" y="2203703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193469" y="221284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44.0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38605" y="2496311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193469" y="250545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138605" y="2788919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193469" y="279806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40.8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9138605" y="3081527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9193469" y="3090671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60.7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138605" y="3374135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193469" y="338327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37.5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138605" y="3666743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9193469" y="367588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36.9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138605" y="3959351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93469" y="396849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43.7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38605" y="4251959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193469" y="426110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42.5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138605" y="454456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93469" y="455371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138605" y="4837176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193469" y="4846320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47.5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138605" y="5129784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193469" y="5138928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32.8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138605" y="5422392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193469" y="5431536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39.2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138605" y="5715000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93469" y="572414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47.2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38605" y="6007608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193469" y="601675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27.8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604296" y="1325880"/>
            <a:ext cx="1127455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659160" y="133502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604296" y="161848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659160" y="162763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604296" y="1911095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659160" y="192023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0604296" y="2203703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659160" y="221284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604296" y="2496311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659160" y="250545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604296" y="2788919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59160" y="279806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10604296" y="3081527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659160" y="3090671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0604296" y="3374135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659160" y="338327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0604296" y="3666743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659160" y="367588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10604296" y="3959351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659160" y="396849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0604296" y="4251959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10659160" y="426110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0604296" y="454456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659160" y="455371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604296" y="4837176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659160" y="4846320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0604296" y="5129784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0659160" y="5138928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604296" y="5422392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659160" y="5431536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604296" y="5715000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659160" y="572414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604296" y="6007608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659160" y="601675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52 / 100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↔ цилиндр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Ключевая корреляция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6766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Два самых горячих цилиндра Ц2 и Ц6 (567°C) — форсунки 1R и 3R, обе с ПЕРЕЛИВОМ на P03/P04 → локальное переобогащение → рост EGT → термоудар клапана.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07238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066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307238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210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0782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Горячие цилиндры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9584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3/8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9584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9584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6/8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33872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~525°C (+60)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88736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69748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2697480"/>
            <a:ext cx="91440" cy="1920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278892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Роль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3118104"/>
            <a:ext cx="3017520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Форсунки — отягчающий фактор поверх калибровки ЭБУ. Перелив усиливает перегрев в горячих цилиндрах; недолив даёт неравномерность.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53 / 100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КЛАПАНЫ · ЗАЗОРЫ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Зазоры клапанов — отчёты #54/#77/#87/#89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11274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47672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1127455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14600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11274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81528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1127455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48456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2029419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1938528"/>
            <a:ext cx="202941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1947672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 м/ч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505456"/>
            <a:ext cx="202941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514600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4132 м/ч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072384"/>
            <a:ext cx="202941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081528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10399 м/ч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639312"/>
            <a:ext cx="202941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648456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 м/ч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4074" y="1371600"/>
            <a:ext cx="4284329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8938" y="1380744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Зазоры / высота клапана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4074" y="1938528"/>
            <a:ext cx="42843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8938" y="1947672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некорректные зазоры; ↑ высота (просадка)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4074" y="2505456"/>
            <a:ext cx="428432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8938" y="2514600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некорректные зазоры; ↑ высота 3L, 4R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4074" y="3072384"/>
            <a:ext cx="42843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8938" y="3081528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регулировка всех; просадка 7R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4074" y="3639312"/>
            <a:ext cx="428432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8938" y="3648456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замеры зазоров/высоты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98404" y="1371600"/>
            <a:ext cx="3833347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3268" y="1380744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Втулки / стержни / сёдла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98404" y="1938528"/>
            <a:ext cx="383334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3268" y="1947672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втулки НЕ в допуске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98404" y="2505456"/>
            <a:ext cx="3833347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3268" y="2514600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стержень повреждён; пружина 7L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98404" y="3072384"/>
            <a:ext cx="383334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3268" y="3081528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деформ. стержень 7R; разруш. седла 7R/4R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98404" y="3639312"/>
            <a:ext cx="3833347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3268" y="3648456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выработка стержня НЕ в допуске; нагар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20624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29767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выявлено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62686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Общий признак: ПРОСАДКА/увеличение высоты выпускных клапанов (рецессия седла) + износ направляющих втулок/стержней → потеря/изменение теплового зазора. По #46 есть ЧИСЛОВЫЕ замеры зазоров и высоты клапанов (KAMSS) — см. след. слайд.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54 / 100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КЛАПАНЫ · ЧИСЛА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Зазоры и высота выпускных клапанов #46 — числовые замеры (KAMSS)</a:t>
            </a:r>
          </a:p>
        </p:txBody>
      </p:sp>
      <p:pic>
        <p:nvPicPr>
          <p:cNvPr id="8" name="Picture 7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5846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448056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80560"/>
            <a:ext cx="91440" cy="15544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Интерпретация (числа, не качественно)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0118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Замеры по двигателю #46 (QSK-50 №33232853): зазор ВПУСКНЫХ клапанов в норме (0,014 во всех 16 цил.), а зазор ВЫПУСКНЫХ обнулён (0,000) на цилиндрах 3,6,7,10,12,14,15,16 — клапан НЕ садится в седло (рецессия). Высота от плоскости ГБЦ до тарелки выпускного клапана — в красной зоне (67,5–69 мм). Поражение сосредоточено на горячих цилиндрах → подтверждает рецессию седла/просадку клапана как физический механизм отказа.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55 / 100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КОРРЕЛЯЦИЯ · ВЕРДИКТ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 зазор ↔ форсунки — вердикт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4864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Связь установлена (причинно)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512064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МЕХАНИСТИЧЕСКИ — связь сильная и положительная: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неисправные форсунки (особенно ПЕРЕЛИВ) → ↑ EGT → рецессия седла/просадка клапана → потеря теплового зазора → ускоренное выгорание.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«Некорректные зазоры» и «увеличенная высота клапанов» (#87/#89) — следствие этой цепи, усиленной отключёнными защитами ЭБУ.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605272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25880"/>
            <a:ext cx="91440" cy="4114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1732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Ограничение и рекомендация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46504"/>
            <a:ext cx="5239512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СТАТИСТИЧЕСКИ (по машинам) — не доказуема на текущих данных: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форсунки на стенде: #73/#78/#82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зазоры/клапаны: #54/#77/#87/#89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ПЕРЕСЕЧЕНИЯ ПО МАШИНАМ НЕТ → числовой коэффициент не рассчитать.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РЕКОМЕНДАЦИЯ: при каждой регулировке фиксировать численно зазор/просадку по цилиндрам И снимать форсунки на стенд → парная корреляция «просадка_цил ↔ дефект_форсунки_цил».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56 / 100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Топливо и чистота (ISO 4406)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57 / 100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СЕРА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Качество топлива по сере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сера, мг/кг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среднее, мг/кг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≤10 (Е5)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011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25+ паспортов: сера в 2,4× ниже порога Cummins (15 ppm). Топливо по сере ИСКЛЮЧЕНО как причина. Нарушение: паспорт №246 (декларация ЕАЭС истекла 24.10.2025).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58 / 100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МЕТОД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ISO 4406 — методика и нормы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и как измеряли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8595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4406: класс чистоты — три числа х/х/х = коды числа частиц &gt;4 / &gt;6 / &gt;14 мкм/мл. Шкала ЛОГАРИФМИЧЕСКАЯ: +1 к коду = ×2 частиц. Дорингтест (ЛАМ Полюс Магадан) измерил по 3 раза каждую пробу в 3 точках: бак (как есть), после грубой, после тонкой очистки на машинах #46/#47/#81/#82.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80360"/>
            <a:ext cx="3833347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889503"/>
            <a:ext cx="374190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Точка отбора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29000"/>
            <a:ext cx="3833347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438144"/>
            <a:ext cx="374190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Бак / как поставлено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77639"/>
            <a:ext cx="3833347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86783"/>
            <a:ext cx="374190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Вход в ТНВД/форсунки (после тонкой)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0547" y="2880360"/>
            <a:ext cx="3156874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5411" y="2889503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Эталон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3429000"/>
            <a:ext cx="3156874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34381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Cummins, макс. в баке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3977639"/>
            <a:ext cx="3156874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3986783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Fleetguard / Горная Евразия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47422" y="2880360"/>
            <a:ext cx="1465691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2286" y="2889503"/>
            <a:ext cx="137425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Код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47422" y="3429000"/>
            <a:ext cx="1465691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2286" y="3438144"/>
            <a:ext cx="137425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18/16/13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47422" y="3977639"/>
            <a:ext cx="1465691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02286" y="3986783"/>
            <a:ext cx="137425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12/9/6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13114" y="288036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7978" y="28895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Смысл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3114" y="34290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7978" y="34381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выше — нужна доп. фильтрация ДО бака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3114" y="3977639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7978" y="398678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цель для ресурса MCRS (зазоры 2–5 мкм, 2100 бар)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84632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846320"/>
            <a:ext cx="91440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93775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Корректная база сравнения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266944"/>
            <a:ext cx="10908792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ИСПРАВЛЕНИЕ методики: бак сравниваем с 18/16/13 (как поставлено), а выход тонкого фильтра — с целью 12/9/6 (что реально идёт к форсункам). Прежде ошибочно судили выход тонкой по баковому пределу 18 и только по &gt;4 мкм.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59 / 100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СТАДИИ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по стадиям фильтрации (&gt;4 мкм)</a:t>
            </a:r>
          </a:p>
        </p:txBody>
      </p:sp>
      <p:pic>
        <p:nvPicPr>
          <p:cNvPr id="8" name="Picture 7" descr="f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6766560" cy="3195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371600"/>
            <a:ext cx="94548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1504" y="13807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828800"/>
            <a:ext cx="94548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1504" y="1837943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286000"/>
            <a:ext cx="94548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1504" y="22951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743200"/>
            <a:ext cx="94548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1504" y="27523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3200400"/>
            <a:ext cx="94548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4" y="32095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52129" y="1371600"/>
            <a:ext cx="11173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6993" y="13807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Бак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2129" y="18288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6993" y="1837943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18/16/15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2129" y="22860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06993" y="22951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18/17/15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2129" y="27432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6993" y="27523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20/16/14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52129" y="32004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6993" y="32095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21/16/15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69526" y="1371600"/>
            <a:ext cx="11173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24390" y="13807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Груб.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69526" y="18288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24390" y="1837943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20/17/16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9526" y="22860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24390" y="22951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21/19/18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69526" y="27432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390" y="27523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21/19/17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526" y="32004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4390" y="32095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23/20/19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86923" y="1371600"/>
            <a:ext cx="11173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41787" y="13807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Тонк.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86923" y="18288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41787" y="1837943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86923" y="22860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41787" y="22951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86923" y="27432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41787" y="27523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21/18/16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86923" y="32004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41787" y="32095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21/15/14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06640" y="3703320"/>
            <a:ext cx="4297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406640" y="3703320"/>
            <a:ext cx="91440" cy="19659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07808" y="3794759"/>
            <a:ext cx="3977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Грубый фильтр ухудшает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7808" y="4123944"/>
            <a:ext cx="3931920" cy="14538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АНОМАЛИЯ: после ГРУБОГО фильтра чистота ХУЖЕ, чем в баке (&gt;4 мкм код растёт у всех 4 машин, #82: 21→23 = ×4 частиц). Признак насыщения/обводнения/неверного обслуживания фильтра — он сам выделяет частицы.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60 / 100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Топливо у форсунок vs цель 12/9/6</a:t>
            </a:r>
          </a:p>
        </p:txBody>
      </p:sp>
      <p:pic>
        <p:nvPicPr>
          <p:cNvPr id="8" name="Picture 7" descr="fue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760720" cy="2720340"/>
          </a:xfrm>
          <a:prstGeom prst="rect">
            <a:avLst/>
          </a:prstGeom>
        </p:spPr>
      </p:pic>
      <p:pic>
        <p:nvPicPr>
          <p:cNvPr id="9" name="Picture 8" descr="fuelc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5760720" cy="2400300"/>
          </a:xfrm>
          <a:prstGeom prst="rect">
            <a:avLst/>
          </a:prstGeom>
        </p:spPr>
      </p:pic>
      <p:pic>
        <p:nvPicPr>
          <p:cNvPr id="10" name="Picture 9" descr="IMG_20260616_140405_3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17145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3703320"/>
            <a:ext cx="971092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3712463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087368"/>
            <a:ext cx="97109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4096511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471416"/>
            <a:ext cx="971092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4480559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855464"/>
            <a:ext cx="97109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4864607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5239512"/>
            <a:ext cx="971092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5248655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0452" y="3703320"/>
            <a:ext cx="161848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5316" y="3712463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Тонк.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0452" y="4087368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5316" y="4096511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0452" y="4471416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35316" y="4480559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80452" y="4855464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5316" y="4864607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21/18/16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80452" y="5239512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35316" y="5248655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21/15/14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98940" y="3703320"/>
            <a:ext cx="1186891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53804" y="3712463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vs 12/9/6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8940" y="4087368"/>
            <a:ext cx="118689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804" y="4096511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98940" y="4471416"/>
            <a:ext cx="118689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3804" y="4480559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98940" y="4855464"/>
            <a:ext cx="118689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53804" y="4864607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98940" y="5239512"/>
            <a:ext cx="118689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53804" y="5248655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85832" y="3703320"/>
            <a:ext cx="161848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0696" y="3712463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×над целью &gt;4мкм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85832" y="4087368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40696" y="4096511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~32×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85832" y="4471416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0696" y="4480559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~128×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85832" y="4855464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40696" y="4864607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~512×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85832" y="5239512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0696" y="5248655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~512×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486400"/>
            <a:ext cx="53949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9360" y="5486400"/>
            <a:ext cx="91440" cy="10515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0528" y="5577840"/>
            <a:ext cx="5074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0528" y="5907024"/>
            <a:ext cx="502920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Цель 12/9/6 не достигнута НИГДЕ: у форсунок частиц &gt;4 мкм в 32–512× больше цели. Фото: осадок/вода в топливном отстойнике NHL — прямое свидетельство загрязнения.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61 / 100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ИТОГ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— итог и роль в отказе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405883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Тезис (исправлено)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7"/>
            <a:ext cx="405883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01951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 в баке соответствует 18/16/13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59736"/>
            <a:ext cx="405883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68879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Бортовая фильтрация даёт 12/9/6 у форсунок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26664"/>
            <a:ext cx="405883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35808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Грубый фильтр улучшает чистоту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93592"/>
            <a:ext cx="405883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02736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 дифференцирует NTE200 vs 730E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6038" y="1325880"/>
            <a:ext cx="4735311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0902" y="1335024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6038" y="1892807"/>
            <a:ext cx="473531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0902" y="1901951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18/17/15…21/16/15 — выше по &gt;14 (и &gt;4 у #81/#82)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6038" y="2459736"/>
            <a:ext cx="473531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0902" y="2468879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лучшее #46 17/13/13; худшее #82 21/15/14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6038" y="3026664"/>
            <a:ext cx="473531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0902" y="3035808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 всех 4 машин после грубого ХУЖЕ, чем в баке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16038" y="3593592"/>
            <a:ext cx="473531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0902" y="3602736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 общее для обоих парков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51350" y="1325880"/>
            <a:ext cx="2480401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6214" y="1335024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51350" y="1892807"/>
            <a:ext cx="248040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06214" y="1901951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не соответствует у всех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1350" y="2459736"/>
            <a:ext cx="248040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06214" y="2468879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не достигнуто нигде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51350" y="3026664"/>
            <a:ext cx="248040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6214" y="3035808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ухудшает (ревизия)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51350" y="3593592"/>
            <a:ext cx="248040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06214" y="3602736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общий фактор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46634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Связь с отказом (объективно)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99262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Роль топлива: общий для парков фактор — НЕ дифференцирует отказы NTE200. Но загрязнение в 32–512× выше цели угрожает топливной системе MCRS (зазоры форсунок 2–5 мкм) → износ плунжерных пар → разброс дозирования (перелив/недолив P03/P04) → дисбаланс сгорания и EGT. ОТЯГЧАЮЩИЙ фактор по форсункам.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62 / 100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Обследование KAMSS (3 единицы)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63 / 100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обследование 3 единиц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645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INSITE-коды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Фото-отчёт KAMSS (INSITE-диагностика + дефектация). По коды неисправностей двигателей: 2138/2137 «температура EGT цилиндров 16(B8)/14(B7) выше нормы», 622 «отклонение EGT цил.3», защита: низкий уровень ОЖ (235), давление картерных газов (556).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91440" cy="1645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918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Дефектация клапанов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Дефектация #46: числовые замеры зазоров и высоты выпускных клапанов (рецессия седла, зазор 0,000 на ряде цилиндров) + проверка герметичности (% утечки). Подтверждает просадку клапана и перегрев именно B-банка — согласуется с DML и кодами ECM.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64 / 100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визуальные свидетельства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86400" cy="20633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Слева — INSITE коды EGT по цилиндрам (#46); справа — проверка герметичности цилиндров (% утечки): хуже на горячем B-банке.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65 / 100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66 / 100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730E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730E-DC — паритет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Двигатель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6,7 мг/кг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9565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4429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 15W-40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9565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4429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39565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4429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9565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94429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730E-DC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3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3067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8203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13067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8203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3067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3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067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8203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13067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76841" y="137160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1705" y="1380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Дифференц.?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76841" y="18288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1705" y="183794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6841" y="22860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31705" y="22951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27432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27523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32004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32095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36576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3666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41148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41239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93776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93776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029200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Единственные дифференцирующие факторы — в калибровке ЭБУ. При прочих равных 730E с TIB=100% и включёнными защитами — 0 отказов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67 / 100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Опровержение версий NHL /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68 / 100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Оценка аргументов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зольность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запылённость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3067" y="1380744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8836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опровергнут (низкая сажа 0,3)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238658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переоценка (Si низкий)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88950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NTE200 ≠ rated (567°C); факт признан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339242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корня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89534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ПОДТВЕРЖДАЕТ нашу находку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43982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ответственности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69 / 100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CCEC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Статистическое опровержение зольной версии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Низкий Fe и сажа → не абразивный/зольный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70 / 100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Проверка гипотез (best practice)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71 / 100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ГИПОТЕЗЫ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конкурирующих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5544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Две 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H1 (термическая): первична калибровка ЭБУ (TIB, отключённые защиты) → перегрев → выгорание клапанов.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H2 (контаминационная): первичны пыль (негерметичность впуска) + загрязнение топлива → абразивно-механический износ (втулки/стержни клапанов, форсунки); ЭБУ — усугубляющий усилитель.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546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Принцип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838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Метод проверки: сопоставление сигнатур отказа. Термическая → выгорание/эрозия ФАСКИ клапана, высокая EGT. Абразивная → износ НАПРАВЛЯЮЩИХ ВТУЛОК и СТЕРЖНЕЙ, повышенный Si в масле. Реальные отчёты содержат ОБА признака → проверяем вклад каждого по данным.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72 / 100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за H2: пыль и впуск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8803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8803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Критическое засорение возд. фильтров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8803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«Высокая запылённость карьера»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28803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Коррозия ОНВ + ОЖ на впуске 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28803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Износ направляющих втулок (вне допуска)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28803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Деформация/выработка стержня клапана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28803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Осадок/вода в топл. сепараторе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1325880"/>
            <a:ext cx="20574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92424" y="13350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17830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2424" y="17922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2240280"/>
            <a:ext cx="2057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92424" y="22494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26974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2424" y="27066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Эндоскопия впуска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3154680"/>
            <a:ext cx="2057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92424" y="31638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Техотчёты #54/#78/#87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36118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92424" y="36210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4069080"/>
            <a:ext cx="2057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92424" y="40782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Фото отстойников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94960" y="1325880"/>
            <a:ext cx="192024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9824" y="13350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Сигнатура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94960" y="17830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9824" y="17922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пылевая среда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94960" y="2240280"/>
            <a:ext cx="1920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9824" y="22494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60" y="26974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49824" y="27066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негерметичн. впуска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60" y="3154680"/>
            <a:ext cx="1920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9824" y="31638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94960" y="36118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49824" y="36210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94960" y="4069080"/>
            <a:ext cx="1920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49824" y="40782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pic>
        <p:nvPicPr>
          <p:cNvPr id="50" name="Picture 49" descr="image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325880"/>
            <a:ext cx="4206240" cy="303845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498079" y="4434840"/>
            <a:ext cx="4206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E08C2E"/>
                </a:solidFill>
                <a:latin typeface="Calibri"/>
              </a:rPr>
              <a:t>Cummins: признаки всасывания пыли — «отпескоструенный» датчик и износ кромок лопаток компрессора турбины (контроль негерметичности впуска).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73 / 100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H2 — визуально</a:t>
            </a:r>
          </a:p>
        </p:txBody>
      </p:sp>
      <p:pic>
        <p:nvPicPr>
          <p:cNvPr id="8" name="Picture 7" descr="IMG_20260616_140405_3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154680" cy="4206240"/>
          </a:xfrm>
          <a:prstGeom prst="rect">
            <a:avLst/>
          </a:prstGeom>
        </p:spPr>
      </p:pic>
      <p:pic>
        <p:nvPicPr>
          <p:cNvPr id="9" name="Picture 8" descr="IMG_20260616_140420_6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154680" cy="4206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86800" y="1371600"/>
            <a:ext cx="301752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1371600"/>
            <a:ext cx="91440" cy="4206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463040"/>
            <a:ext cx="269747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Отстойник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1792224"/>
            <a:ext cx="265176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Топливный отстойник: осадок/вода на дне колбы; вокруг — густая пыль. Подтверждает загрязнение топлива и запылённость среды (H2).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74 / 100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ПРОТИВ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Контрдоказательства против H2 (масло)</a:t>
            </a:r>
          </a:p>
        </p:txBody>
      </p:sp>
      <p:pic>
        <p:nvPicPr>
          <p:cNvPr id="8" name="Picture 7" descr="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371600"/>
            <a:ext cx="58521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37160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14630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Объективная оговорка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792224"/>
            <a:ext cx="548640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Если бы пыль массово попадала в цилиндры через впуск, в масле ДВС вырос бы кремний (Si) и железо (Fe). Факт: Si P95=4 ppm (порог ~15), лишь 0,3% проб &gt;15; Fe P95=6 ppm — НИЗКИЕ. ⇒ Массовый абразивный пылевой износ масло НЕ подтверждает. Всплески Si единичны (#88=50, #53=31) — эпизодические/локальные события, не системные.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75 / 100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ТОПЛИВО→ФОРСУНКИ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Цепь: загрязнение топлива → форсунки</a:t>
            </a:r>
          </a:p>
        </p:txBody>
      </p:sp>
      <p:pic>
        <p:nvPicPr>
          <p:cNvPr id="8" name="Picture 7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8C2E"/>
                </a:solidFill>
                <a:latin typeface="Calibri"/>
              </a:rPr>
              <a:t>Грязное топливо (ISO хуже 18/16/13) → износ плунжерных пар → разброс дозирования P04 (перелив/недолив) → дисбаланс сгорания и EGT.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76 / 100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ВЕРДИКТ ПО ГИПОТЕЗАМ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проверки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Пыль/впуск (H2)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Топливо/форсунки (H2)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Калибровка ЭБУ (H1)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Конструкция (нет Stellite)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329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193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ЗА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01329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6193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фильтры, ОНВ, втулки/стержни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1329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6193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ISO плохой, осадок, разброс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1329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6193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 параметров, EGT 567, коды EGT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1329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6193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признано NHL/Cummins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ПРОТИВ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Si/Fe низкие в масле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сера в норме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730E без Stellite не ломается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132588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1335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02332" y="1874519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57196" y="188366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 (локально)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02332" y="242316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57196" y="243230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2332" y="297180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7196" y="29809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усиливающий амплификатор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02332" y="352044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57196" y="35295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0690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069080"/>
            <a:ext cx="91440" cy="13716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605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Синтез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8970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Вывод: ни один фактор не объясняет отказ в одиночку. Это МНОГОФАКТОРНАЯ ЦЕПЬ: контаминация (пыль+топливо) инициирует износ направляющих/стержней/форсунок, а калибровка ЭБУ (отключённые защиты + TIB) усиливает тепловую нагрузку и доводит клапан до выгорания.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77 / 100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FMEA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FMEA — режимы и причины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833347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 отказа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Выгорание фаски вып. клапана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направл. втулки/стержня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4378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Разброс дозирования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59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4670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Просадка/негерметичн. седла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7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4962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/ ОЖ на впуске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1325880"/>
            <a:ext cx="3382365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1335024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1828800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183794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EGT&gt;520 (ЭБУ/форсунки)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0547" y="2331720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5411" y="234086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 (пыль/впуск)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0547" y="283463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5411" y="284378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0547" y="3337559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5411" y="334670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Термоудар + износ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0547" y="384047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5411" y="384962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тракта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72913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7777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2913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7777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72913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7777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762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4248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762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248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762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4248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762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4248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762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248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762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248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0233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719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0233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719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0233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719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0233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719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0233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5719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0233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5719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704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7190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RPN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1704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7190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71704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7190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71704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77190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1704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7190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1704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7190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07880"/>
                </a:solidFill>
                <a:latin typeface="Calibri"/>
              </a:rPr>
              <a:t>S — тяжесть, O — частота, D — обнаруживаемость, RPN = S×O×D (приоритет риска).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78 / 100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5-WHY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5 Почему (5-Why)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разрушилась ГБЦ? — Выгорела/просела фаска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выгорел клапан? — Хронически высокая EGT (до 567°C) + сниженная стойкость.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высокая EGT? — Отключены тепловые защиты ЭБУ (TIB 200%, derate/триггеры) + разброс форсунок.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196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разброс форсунок и износ направляющих? — Загрязнённое топливо и пыль (негерметичность впуска, засорённые фильтры).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загрязнение? — Запылённость карьера + недостаточная фильтрация/герметичность + калибровка, не снижающая нагрузку.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79 / 100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связей факторов</a:t>
            </a:r>
          </a:p>
        </p:txBody>
      </p:sp>
      <p:pic>
        <p:nvPicPr>
          <p:cNvPr id="8" name="Picture 7" descr="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100047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371600"/>
            <a:ext cx="5120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463040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Чтение матрицы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1792224"/>
            <a:ext cx="4754879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Качественная матрица связей: сильнее всего связаны EGT↔TIB↔перелив форсунок (термокластер). Si (пыль) слабо связан с EGT, но связан с чистотой топлива. Подтверждает: термический кластер (ЭБУ/форсунки) — главный усилитель; пыль — отдельный, более слабый по маслу канал.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80 / 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Коренная причина (RCA)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81 / 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Механизм отказа — многофакторная цепь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СРЕДА: запылённость карьера + засорённые возд. фильтры + негерметичность впуска (коррозия ОНВ, ОЖ) + грязное топливо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ИНИЦИАЦИЯ: износ направляющих втулок/стержней клапанов + разброс дозирования форсунок (перелив/недолив)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6976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УСИЛЕНИЕ (ЭБУ): TIB 200% + отключённые защиты перегрева → нагрузка не снижается → ↑ EGT, дисбаланс банков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9664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ПЕРЕГРЕВ: EGT до 567°C (лимит 520); термоудар фаски клапана (стойкость снижена — нет Stellite)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02352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ОТКАЗ: выгорание/просадка клапана и седла → потеря герметичности → 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82 / 100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Дерево отказов (FTA)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FTA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ВЕРШИНА: разрушение ГБЦ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└ выгорание/просадка клапана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перегрев (EGT&gt;520)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УСИЛЕНИЕ ЭБУ: TIB 200%, защиты ОТКЛ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разброс форсунок (топливо)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износ втулок/стержней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пыль / негерметичн. впуска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└ стойкость фаски (нет Stellite)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Исикава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Исикава (5M):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Man/Env: запылённость, фильтры (#69)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Material: топливо (чистота), пыль; масло — OK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Machine: негерметичн. впуска (ОНВ/ОЖ), нет Stellite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Method: калибровка ЭБУ (защиты ОТКЛ), дозирование форсунок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Measurement: датчики EGT (FC1531/1619)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83 / 100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ДОКАЗАТЕЛЬСТВА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 200% vs 100% + защиты ОТКЛ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 — 0 отказов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 (KAMSS/ECM)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Форсунки перелив ↔ горячие цил.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 Stellite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011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Масло/топливо/перегруз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9340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4476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9340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438911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43982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489203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49011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🟢 исключ.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1371600"/>
            <a:ext cx="3156874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1380744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187451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18836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ECM/письмо Cummins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237743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23865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DML #82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288035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288950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паритет условий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338327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339242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2137/2138/628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74877" y="388619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9741" y="389534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стенд+DML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74877" y="438911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29741" y="43982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NHL/Cummins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4877" y="489203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9741" y="49011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не дифференц.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84 / 100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коренной причины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32918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Коренная причина (многофакторная)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Отказы ГБЦ QSK50 на NTE200 имеют МНОГОФАКТОРНУЮ природу (цепь причин), а не единственную причину.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ИНИЦИИРУЮЩИЕ факторы (эксплуатация/контаминация): запылённость и засорение воздушных фильтров, негерметичность впускного тракта (коррозия ОНВ, следы ОЖ), загрязнённое топливо — вызывают абразивно-механический износ направляющих втулок/стержней клапанов и разброс дозирования форсунок.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УСИЛИВАЮЩИЙ (амплифицирующий) фактор: калибровка ЭБУ — TIB 200% и ОТКЛЮЧЁННЫЕ тепловые защиты (триггеры перегрева, derate) не снижают нагрузку при перегреве, доводя EGT до 567°C и термоудар клапана.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СОПУТСТВУЮЩИЙ: отсутствие наплавки Stellite снижает стойкость фаски.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11274552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91440" cy="96012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892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Достоверность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21224"/>
            <a:ext cx="10908792" cy="448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Оговорка по данным: масляные маркеры пыли (Si) и износа (Fe) НИЗКИЕ — массовый абразивный пылевой износ через масло не подтверждён; вклад пыли локальный/эпизодический. Сера топлива и систематическая перегрузка (10/10/20) — исключены.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85 / 100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Досье по отказавшим машинам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86 / 100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Сводное досье отказавших машин (1–11)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532120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54126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95274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96188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2587752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259689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008376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01752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3429000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343814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3849624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385876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4270248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427939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84655" y="4690872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9519" y="470001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84655" y="5111496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39519" y="512064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84655" y="5532120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9519" y="554126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84655" y="595274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39519" y="596188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65056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9920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 ЭБУ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5056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9920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65056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9920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65056" y="2587752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9920" y="259689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65056" y="3008376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9920" y="301752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5056" y="3429000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9920" y="343814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5056" y="3849624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9920" y="385876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5056" y="4270248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9920" y="427939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65056" y="4690872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9920" y="470001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65056" y="5111496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9920" y="512064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65056" y="5532120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9920" y="554126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65056" y="595274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9920" y="596188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Катастроф.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45458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00322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Fe/TBN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45458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00322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1.0/9.8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45458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00322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2.0/9.4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45458" y="2587752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00322" y="259689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2.0/9.3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45458" y="3008376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00322" y="301752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45458" y="3429000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00322" y="343814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2.0/9.8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45458" y="3849624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00322" y="385876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45458" y="4270248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00322" y="427939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1.0/9.8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45458" y="4690872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00322" y="470001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45458" y="5111496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600322" y="512064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545458" y="5532120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00322" y="554126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1.0/9.4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45458" y="595274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00322" y="596188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0.0/10.6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349386" y="1325880"/>
            <a:ext cx="157843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04250" y="133502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Нараб. ч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49386" y="1746504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04250" y="175564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18859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349386" y="2167128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404250" y="2176272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349386" y="2587752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04250" y="2596896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349386" y="3008376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04250" y="3017520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17583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349386" y="3429000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404250" y="343814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17582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49386" y="3849624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404250" y="385876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349386" y="4270248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04250" y="4279392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16852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349386" y="4690872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404250" y="4700016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10543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49386" y="5111496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404250" y="5120640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10075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49386" y="5532120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04250" y="554126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9306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349386" y="5952744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404250" y="596188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3767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Ремонты ГБЦ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2587752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259689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 соб.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3008376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301752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927823" y="3429000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982687" y="343814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27823" y="3849624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982687" y="385876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927823" y="4270248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982687" y="427939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 соб.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927823" y="4690872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982687" y="470001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927823" y="5111496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982687" y="512064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927823" y="5532120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982687" y="554126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27823" y="595274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982687" y="596188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Полные паспорта (PIN, гарантия, генератор) и помашинные хронологии — в Obsidian-реестре NTE200.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87 / 100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Сводное досье отказавших машин (12–13)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4655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9519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84655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9519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5056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9920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 ЭБУ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5056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9920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5056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920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45458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0322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Fe/TBN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5458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0322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0.0/10.4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45458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0322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1.0/10.3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49386" y="1325880"/>
            <a:ext cx="157843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4250" y="133502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Нараб. 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49386" y="1746504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04250" y="175564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3778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49386" y="2167128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250" y="2176272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3508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7823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82687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Ремонты ГБЦ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27823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2687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7823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82687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Полные паспорта (PIN, гарантия, генератор) и помашинные хронологии — в Obsidian-реестре NTE200.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88 / 100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Аналитические срезы и доп.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89 / 100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прочие параметры (рампа/масло/наддув)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Давление рампы CR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Расход/режим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39565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4429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С нагрузкой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39565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4429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~1060 бар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~380 кПа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~200 кПа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88% нагр., 1822 об/мин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593146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593146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до 2100 бар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593146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≥241 кПа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593146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593146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1325880"/>
            <a:ext cx="2254910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1335024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76841" y="1874519"/>
            <a:ext cx="225491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31705" y="1883663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✓ стабильно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76841" y="2423160"/>
            <a:ext cx="225491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31705" y="2432303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✓ норма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76841" y="2971800"/>
            <a:ext cx="225491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31705" y="2980944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✓ норма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76841" y="3520440"/>
            <a:ext cx="225491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31705" y="3529584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высокая база EGT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5720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572000"/>
            <a:ext cx="91440" cy="1188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6634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9926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Все базовые давления (рампа, масло, наддув) в норме → перегрев НЕ связан с механикой топливоподачи/наддува. Источник перегрева — калибровка (TIB, отключённые защиты) и разброс дозирования форсунок, а не давление в системе.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90 / 100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железу (Fe) в масле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Даже у лидеров Fe умеренный — износ низкий; отказ термический, не абразивный.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91 / 100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доле рейсов &gt;100%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133.0%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120.8%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118.4%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121.7%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117.6%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124.4%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127.3%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Доля &gt;100% — не нарушение 10/10/20 (зона 100–110% допускается).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92 / 100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94960" cy="3418818"/>
          </a:xfrm>
          <a:prstGeom prst="rect">
            <a:avLst/>
          </a:prstGeom>
        </p:spPr>
      </p:pic>
      <p:pic>
        <p:nvPicPr>
          <p:cNvPr id="9" name="Picture 8" descr="image1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1946742"/>
          </a:xfrm>
          <a:prstGeom prst="rect">
            <a:avLst/>
          </a:prstGeom>
        </p:spPr>
      </p:pic>
      <p:pic>
        <p:nvPicPr>
          <p:cNvPr id="10" name="Picture 9" descr="image1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0"/>
            <a:ext cx="5394960" cy="1243698"/>
          </a:xfrm>
          <a:prstGeom prst="rect">
            <a:avLst/>
          </a:prstGeom>
        </p:spPr>
      </p:pic>
      <p:pic>
        <p:nvPicPr>
          <p:cNvPr id="11" name="Picture 10" descr="image15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657600"/>
            <a:ext cx="5394960" cy="38971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клапанов/сёдел — обследование 3 единиц.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93 / 100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94 / 100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Перекалибровать ЭБУ NTE200 под профиль 730E: TIB 100%, включить защиты перегрева, убрать задержки derate, обороты 1990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88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Контрольный DML после перекалибровки — подтвердить снижение EGT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Заменить датчики EGT с FC1531/1619 (#82, #67)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Стендовая проверка/замена бракованных форсунок (перелив P03/P04)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95 / 100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🟠🟡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Средне- и долгосрочные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Запрос NHL/Cummins: обоснование исключения Stellite и отключения защит; поставка клапанов с наплавкой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Привести чистоту топлива к ≤18/16/13 (доп. фильтрация), ориентир 12/9/6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Унифицировать прошивку ЭБУ (.07/.08) по парку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Мониторинг EGT и FC611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4632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Испытать форсунки 730E на стенде для сравнения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96 / 100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ЭФФЕКТ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Ожидаемый эффект и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EGT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&lt; 520°C после калибровки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отказы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клапанов/ГБЦ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↑ ресурс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ГБЦ и форсунок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устраняет коренную причину без замены узлов. Установка клапанов со Stellite и нормализация фильтрации топлива/дозирования форсунок закрывают отягчающие факторы. Риск бездействия — продолжение массовых отказов ГБЦ в гарантийный период.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97 / 100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Продолжение отказов ГБЦ (без калибровки)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Выход из строя форсунок MCRS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 масла/ОЖ без защиты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Гарантийные претензии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Вероятность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338327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339242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88619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89534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Тяжесть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1931" y="338327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6795" y="339242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1931" y="388619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6795" y="389534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1350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06214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1350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6214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Перекалибровка ЭБУ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350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06214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Фильтрация топлива + замена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1350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6214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Включить триггеры ЭБУ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1350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6214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Документирование, запрос NHL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350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6214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Плановый график ремонта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98 / 100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02336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Данные Весовая (131 файл, 365 069 рейсов) — нагрузка/производительность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Своды анализов масла 2025+2026 (ДВС, NTE200/730E)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ECM: 15 параметров (ECM_对比), Fault Codes (361 файл INSITE)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DML #82 (INSITE логи), стенд «Поток CR-2» (форсунки)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Паспорта топлива, Дорингтест ISO 4406, Cummins требования к ДТ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KAMSS — обследование 3 единиц; письма NHL/Cummins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Реестр парка ГЕ (апрель 2026)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Стандарты: ISO 4406, ТР ТС 013/2011, ГОСТ 32511-2013, Cummins CES 20078, Cummins SB 5407411 (378-005/010/011/013).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99 / 100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Отказ — многофакторная цепь: контаминация (пыль/впуск + топливо)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инициирует износ, калибровка ЭБУ усиливает перегрев до выгорания клапана.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сера топлива — исключены. Масляные маркеры пыли (Si) низкие — вклад пыли локальный.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100 / 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