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0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24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27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image" Target="../media/image29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АО «РАЗВИТИЕ»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Анализ отказов головок блока цилиндров (ГБЦ)</a:t>
            </a:r>
          </a:p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двигателей Cummins QSK50 — NTE200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01752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CFD6DA"/>
                </a:solidFill>
                <a:latin typeface="Calibri"/>
              </a:rPr>
              <a:t>Глубокий технический анализ · Полюс Магадан · контрольная группа 730E-DC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2026 · Конфиденциально · только факты из первичных данных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 / 162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НАВИГАЦИЯ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Содержание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90472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1. Парк и реестр NTE200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371600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371600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490472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2. Двигатель и режим отказа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029967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029967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148839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3. Статистика отказов ГБЦ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2029967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2029967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148839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4. Нагрузка и производительность (10/10/20)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88336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88336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2807208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5. Анализ масла (бренды, показатели, узлы)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2688336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09360" y="2688336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2807208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6. Калибровка ECM (15 параметров)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346704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3346704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3465576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7. Ошибки ECM (Fault Codes)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3346704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09360" y="3346704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3465576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8. Телеметрия DML (EGT)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005072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005072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12394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9. Форсунки и корреляция по цилиндрам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4005072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09360" y="4005072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412394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10. Топливо и чистота (ISO 4406)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663440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4663440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4782312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11. Обследование KAMSS (3 ед.)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4663440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09360" y="4663440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92240" y="4782312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12. Контрольная группа 730E-DC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5321808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7200" y="5321808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544068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13. Опровержение версий NHL/CCEC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09360" y="5321808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309360" y="5321808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92240" y="544068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14. Коренная причина (RCA, FTA)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5980176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7200" y="5980176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6099048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15. Выводы, действия, дорожная карта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 / 162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РЕЗЮМЕ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Резюме для руководства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3444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32588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80136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отличий ЭБУ vs 730E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23444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23444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872" y="132588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567°C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180136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EGT (лимит 520)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23444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23444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132588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~17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180136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ремонтных событий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35440" y="1234440"/>
            <a:ext cx="24688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5440" y="123444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00032" y="1325880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00032" y="1801368"/>
            <a:ext cx="22402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отказов 730E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331720"/>
            <a:ext cx="11274552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2331720"/>
            <a:ext cx="91440" cy="128016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242316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Главный вывод (многофакторный)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2752344"/>
            <a:ext cx="10908792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Отказы ГБЦ — МНОГОФАКТОРНЫЕ. ИНИЦИИРУЮТ: пыль/негерметичность впуска (засорённые фильтры, коррозия ОНВ) + загрязнённое топливо → износ направляющих/стержней клапанов и разброс форсунок. УСИЛИВАЕТ: калибровка ЭБУ (TIB 200%, отключённые тепловые защиты) → перегрев EGT 567°C → выгорание клапана. СОПУТСТВУЕТ: нет Stellite.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703320"/>
            <a:ext cx="4509820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3712463"/>
            <a:ext cx="44183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Фактор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087368"/>
            <a:ext cx="45098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064" y="4096511"/>
            <a:ext cx="44183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Пыль / негерметичность впуска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471416"/>
            <a:ext cx="4509820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" y="4480559"/>
            <a:ext cx="44183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Загрязнение топлива → форсунки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855464"/>
            <a:ext cx="45098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2064" y="4864607"/>
            <a:ext cx="44183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Калибровка ЭБУ (TIB + защиты)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239512"/>
            <a:ext cx="4509820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2064" y="5248655"/>
            <a:ext cx="44183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Отсутствие Stellite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5623559"/>
            <a:ext cx="45098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2064" y="5632703"/>
            <a:ext cx="44183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Перегрузка (10/10/20)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6007607"/>
            <a:ext cx="4509820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2064" y="6016751"/>
            <a:ext cx="44183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Топливо (сера)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67020" y="3703320"/>
            <a:ext cx="2818638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1884" y="3712463"/>
            <a:ext cx="272719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Роль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67020" y="4087368"/>
            <a:ext cx="2818638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1884" y="4096511"/>
            <a:ext cx="272719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инициирующий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67020" y="4471416"/>
            <a:ext cx="2818638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1884" y="4480559"/>
            <a:ext cx="272719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инициирующий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967020" y="4855464"/>
            <a:ext cx="2818638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1884" y="4864607"/>
            <a:ext cx="272719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УСИЛИВАЮЩИЙ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67020" y="5239512"/>
            <a:ext cx="2818638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1884" y="5248655"/>
            <a:ext cx="272719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сопутствующий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967020" y="5623559"/>
            <a:ext cx="2818638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21884" y="5632703"/>
            <a:ext cx="272719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 значима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967020" y="6007607"/>
            <a:ext cx="2818638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21884" y="6016751"/>
            <a:ext cx="272719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исключено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785658" y="3703320"/>
            <a:ext cx="3946093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840522" y="3712463"/>
            <a:ext cx="3854653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Основание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785658" y="4087368"/>
            <a:ext cx="3946093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840522" y="4096511"/>
            <a:ext cx="3854653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фильтры #69, ОНВ/ОЖ ✓ (Si низкий ⚠)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785658" y="4471416"/>
            <a:ext cx="3946093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40522" y="4480559"/>
            <a:ext cx="3854653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ISO плохой, разброс P04 ✓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785658" y="4855464"/>
            <a:ext cx="3946093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40522" y="4864607"/>
            <a:ext cx="3854653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15 параметров, EGT 567 ✓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785658" y="5239512"/>
            <a:ext cx="3946093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840522" y="5248655"/>
            <a:ext cx="3854653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NHL/Cummins ✓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785658" y="5623559"/>
            <a:ext cx="3946093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840522" y="5632703"/>
            <a:ext cx="3854653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распред. левосмещ., соблюд. ✓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785658" y="6007607"/>
            <a:ext cx="3946093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840522" y="6016751"/>
            <a:ext cx="3854653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Е5, 2–10 мг/кг ✓</a:t>
            </a:r>
          </a:p>
        </p:txBody>
      </p:sp>
      <p:sp>
        <p:nvSpPr>
          <p:cNvPr id="70" name="Rectangle 6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 / 162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Парк и реестр NTE200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 / 162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ОБЪЕКТ · ДВС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Объект анализа — двигатель QSK50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4509820" cy="54864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Платформа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20240"/>
            <a:ext cx="450982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929384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NTE 200 (объект)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468880"/>
            <a:ext cx="4509820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478024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730E-DC (контроль)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67020" y="1371600"/>
            <a:ext cx="2029419" cy="54864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1884" y="1380744"/>
            <a:ext cx="19379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Кол-во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67020" y="1920240"/>
            <a:ext cx="2029419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1884" y="1929384"/>
            <a:ext cx="19379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47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67020" y="2468880"/>
            <a:ext cx="2029419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1884" y="2478024"/>
            <a:ext cx="19379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96440" y="1371600"/>
            <a:ext cx="3044129" cy="54864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1304" y="1380744"/>
            <a:ext cx="295268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Двигатель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6440" y="1920240"/>
            <a:ext cx="3044129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51304" y="1929384"/>
            <a:ext cx="295268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Cummins QSK50 MCRS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96440" y="2468880"/>
            <a:ext cx="3044129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51304" y="2478024"/>
            <a:ext cx="295268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Cummins QSK50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40569" y="1371600"/>
            <a:ext cx="1691182" cy="54864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95433" y="1380744"/>
            <a:ext cx="159974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Отказы ГБЦ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40569" y="1920240"/>
            <a:ext cx="169118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95433" y="1929384"/>
            <a:ext cx="159974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~17 событий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40569" y="2468880"/>
            <a:ext cx="1691182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95433" y="2478024"/>
            <a:ext cx="159974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657600"/>
            <a:ext cx="11274552" cy="1645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3657600"/>
            <a:ext cx="91440" cy="16459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3749039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Область анализа — только ДВС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4078224"/>
            <a:ext cx="10908792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Объект — двигатель Cummins QSK50 MCRS (V16, Tier 2, без DPF/EGR) на самосвалах NTE 200. Контрольная группа — 730E-DC с ТЕМ ЖЕ двигателем QSK50. Анализ сфокусирован ИСКЛЮЧИТЕЛЬНО на ДВС и его системах (ГБЦ, клапаны, форсунки, масло ДВС, EGT, ЭБУ). Прочие модели/узлы (трансмиссия, привод, гидравлика) — вне области анализа.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 / 162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РЕЕСТР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Реестр NTE200 — компактно (1/2)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417320" cy="32918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Гар.№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55064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664208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984248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1993391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13432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322575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642615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2651759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971799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2980943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300983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310127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630167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3639311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959351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3968495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288536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297679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617720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4626864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946904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064" y="4956048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5276088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" y="5285232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74519" y="1325880"/>
            <a:ext cx="2834640" cy="32918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929384" y="1335024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ДВС №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74519" y="1655064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29384" y="1664208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33232776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874519" y="1984248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929384" y="1993391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33232758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74519" y="2313432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929384" y="2322575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33232759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74519" y="2642615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929384" y="2651759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33232853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874519" y="2971799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929384" y="2980943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33239899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74519" y="3300983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929384" y="3310127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33232926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74519" y="3630167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929384" y="3639311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33232946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874519" y="3959351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929384" y="3968495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33232852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74519" y="4288536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929384" y="4297679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33231742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874519" y="4617720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929384" y="4626864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33232851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874519" y="4946904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929384" y="4956048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33232925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874519" y="5276088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929384" y="5285232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33232947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709160" y="1325880"/>
            <a:ext cx="1417320" cy="32918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764024" y="1335024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09160" y="1655064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764024" y="1664208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709160" y="1984248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764024" y="1993391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709160" y="2313432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764024" y="2322575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709160" y="2642615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764024" y="2651759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709160" y="2971799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764024" y="2980943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709160" y="3300983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764024" y="3310127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09160" y="3630167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764024" y="3639311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709160" y="3959351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764024" y="3968495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709160" y="4288536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764024" y="4297679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709160" y="4617720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64024" y="4626864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09160" y="4946904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764024" y="4956048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709160" y="5276088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764024" y="5285232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09360" y="1325880"/>
            <a:ext cx="1417320" cy="32918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364224" y="1335024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Гар.№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309360" y="1655064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364224" y="1664208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55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1984248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64224" y="1993391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56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309360" y="2313432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364224" y="2322575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57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309360" y="2642615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364224" y="2651759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58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309360" y="2971799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364224" y="2980943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59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309360" y="3300983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364224" y="3310127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60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309360" y="3630167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364224" y="3639311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61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309360" y="3959351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364224" y="3968495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62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4288536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64224" y="4297679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63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309360" y="4617720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364224" y="4626864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64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309360" y="4946904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364224" y="4956048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65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309360" y="5276088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364224" y="5285232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66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726680" y="1325880"/>
            <a:ext cx="2834640" cy="32918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7781544" y="1335024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ДВС №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726680" y="1655064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781544" y="1664208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33230198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7726680" y="1984248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781544" y="1993391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33229401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7726680" y="2313432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781544" y="2322575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33230197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726680" y="2642615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781544" y="2651759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33229431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7726680" y="2971799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781544" y="2980943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33230182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7726680" y="3300983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7781544" y="3310127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33230472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726680" y="3630167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781544" y="3639311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33229400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7726680" y="3959351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7781544" y="3968495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33230183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7726680" y="4288536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7781544" y="4297679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33231740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726680" y="4617720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781544" y="4626864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33231760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7726680" y="4946904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7781544" y="4956048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33233617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7726680" y="5276088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781544" y="5285232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33230459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10561320" y="1325880"/>
            <a:ext cx="1417320" cy="32918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616184" y="1335024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10561320" y="1655064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10616184" y="1664208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10561320" y="1984248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0616184" y="1993391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10561320" y="2313432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0616184" y="2322575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0561320" y="2642615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616184" y="2651759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10561320" y="2971799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0616184" y="2980943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10561320" y="3300983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0616184" y="3310127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10561320" y="3630167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10616184" y="3639311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10561320" y="3959351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10616184" y="3968495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10561320" y="4288536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10616184" y="4297679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10561320" y="4617720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10616184" y="4626864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10561320" y="4946904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10616184" y="4956048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10561320" y="5276088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0616184" y="5285232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57200" y="612648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707880"/>
                </a:solidFill>
                <a:latin typeface="Calibri"/>
              </a:rPr>
              <a:t>47 машин NTE 200 (гар. №43–89), 2023 г.в., Cummins QSK50, привод GE. Полный реестр (PIN, гарантия) — в Obsidian.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 / 162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РЕЕСТР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Реестр NTE200 — компактно (2/2)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417320" cy="32918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Гар.№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55064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664208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984248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1993391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13432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322575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642615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2651759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971799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2980943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300983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310127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630167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3639311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959351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3968495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288536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297679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617720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4626864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946904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064" y="4956048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74519" y="1325880"/>
            <a:ext cx="2834640" cy="32918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929384" y="1335024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ДВС №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74519" y="1655064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929384" y="1664208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33230473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74519" y="1984248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29384" y="1993391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33231741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874519" y="2313432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929384" y="2322575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33230485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74519" y="2642615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929384" y="2651759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33230210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74519" y="2971799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929384" y="2980943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33232708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874519" y="3300983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929384" y="3310127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33232655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74519" y="3630167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929384" y="3639311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33233618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74519" y="3959351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929384" y="3968495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33230474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874519" y="4288536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929384" y="4297679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33232793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74519" y="4617720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929384" y="4626864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33232777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874519" y="4946904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929384" y="4956048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33232794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709160" y="1325880"/>
            <a:ext cx="1417320" cy="32918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764024" y="1335024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709160" y="1655064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64024" y="1664208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709160" y="1984248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764024" y="1993391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09160" y="2313432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764024" y="2322575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709160" y="2642615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764024" y="2651759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709160" y="2971799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764024" y="2980943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709160" y="3300983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764024" y="3310127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709160" y="3630167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764024" y="3639311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709160" y="3959351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764024" y="3968495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09160" y="4288536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764024" y="4297679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709160" y="4617720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764024" y="4626864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709160" y="4946904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764024" y="4956048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309360" y="1325880"/>
            <a:ext cx="1417320" cy="32918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364224" y="1335024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Гар.№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309360" y="1655064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364224" y="1664208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78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309360" y="1984248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364224" y="1993391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79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09360" y="2313432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364224" y="2322575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309360" y="2642615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364224" y="2651759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81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71799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64224" y="2980943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82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309360" y="3300983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364224" y="3310127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83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309360" y="3630167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364224" y="3639311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84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309360" y="3959351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364224" y="3968495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85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309360" y="4288536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364224" y="4297679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86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309360" y="4617720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364224" y="4626864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87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309360" y="4946904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364224" y="4956048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88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5276088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64224" y="5285232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89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726680" y="1325880"/>
            <a:ext cx="2834640" cy="32918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781544" y="1335024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ДВС №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726680" y="1655064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781544" y="1664208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33232834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726680" y="1984248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781544" y="1993391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33236259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726680" y="2313432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7781544" y="2322575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33236246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726680" y="2642615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781544" y="2651759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33236214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7726680" y="2971799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781544" y="2980943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33238517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7726680" y="3300983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781544" y="3310127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33238542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726680" y="3630167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781544" y="3639311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33238516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7726680" y="3959351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781544" y="3968495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33238503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7726680" y="4288536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7781544" y="4297679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33238551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726680" y="4617720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781544" y="4626864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33238553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7726680" y="4946904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7781544" y="4956048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33238554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7726680" y="5276088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7781544" y="5285232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33238552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0561320" y="1325880"/>
            <a:ext cx="1417320" cy="32918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10616184" y="1335024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0561320" y="1655064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0616184" y="1664208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10561320" y="1984248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0616184" y="1993391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10561320" y="2313432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616184" y="2322575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10561320" y="2642615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10616184" y="2651759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10561320" y="2971799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0616184" y="2980943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10561320" y="3300983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0616184" y="3310127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0561320" y="3630167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616184" y="3639311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10561320" y="3959351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0616184" y="3968495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10561320" y="4288536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0616184" y="4297679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10561320" y="4617720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10616184" y="4626864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10561320" y="4946904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10616184" y="4956048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10561320" y="5276088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10616184" y="5285232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 / 162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Двигатель и режим отказа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 / 162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ДВИГАТЕЛЬ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Cummins QSK50 MCRS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486400" cy="4389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43891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Характеристики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92224"/>
            <a:ext cx="5120640" cy="38770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V16, рабочий объём 50 л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MCRS (Modular Common Rail), до 2100 бар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Tier 2 — без DPF/EGR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2 банка по 8 цилиндров (A — нечётные, B — чётные)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ЭБУ: каналы ECM0/ECM1/ECM144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Привод самосвала — электрический GE (AC)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371600"/>
            <a:ext cx="5605272" cy="4389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371600"/>
            <a:ext cx="91440" cy="43891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46304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Режим отказа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92224"/>
            <a:ext cx="5239512" cy="38770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Режим отказа: выгорание/эрозия тарелок и сёдел ВЫПУСКНЫХ клапанов → потеря герметичности → разрушение ГБЦ. Сопутствует: зольно-сажевые отложения, просадка клапанов, износ направляющих втулок, повышенный расход масла.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 / 162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МЕХАНИЗМ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Функция ГБЦ и путь отказа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13716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10908792" cy="11887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Перегрев (высокая EGT) → термоудар тарелки выпускного клапана → микротрещины/эрозия рабочей фаски → прорыв горячих газов → локальный перегрев седла → потеря компрессии и герметичности → разрушение ГБЦ.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926080"/>
            <a:ext cx="3382365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293522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Стадия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37560"/>
            <a:ext cx="338236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" y="334670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Перегрев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749040"/>
            <a:ext cx="3382365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75818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Тепловой дисбаланс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160520"/>
            <a:ext cx="338236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" y="416966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Эрозия клапана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572000"/>
            <a:ext cx="3382365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" y="458114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Отложения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983480"/>
            <a:ext cx="338236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" y="499262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Разрушение ГБЦ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39565" y="2926080"/>
            <a:ext cx="450982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94429" y="2935224"/>
            <a:ext cx="44183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Признак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39565" y="3337560"/>
            <a:ext cx="45098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94429" y="3346704"/>
            <a:ext cx="44183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EGT 567°C (лимит 520)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39565" y="3749040"/>
            <a:ext cx="450982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94429" y="3758184"/>
            <a:ext cx="44183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банк B +60°C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39565" y="4160520"/>
            <a:ext cx="45098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94429" y="4169664"/>
            <a:ext cx="44183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фото тарелок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39565" y="4572000"/>
            <a:ext cx="450982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94429" y="4581144"/>
            <a:ext cx="44183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нагар на клапанах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839565" y="4983480"/>
            <a:ext cx="45098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94429" y="4992624"/>
            <a:ext cx="44183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ГБЦ/клапанов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49386" y="2926080"/>
            <a:ext cx="3382365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04250" y="293522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Источник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49386" y="3337560"/>
            <a:ext cx="338236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04250" y="334670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DML #82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49386" y="3749040"/>
            <a:ext cx="3382365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04250" y="375818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DML/ECM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49386" y="4160520"/>
            <a:ext cx="338236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04250" y="416966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KAMSS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349386" y="4572000"/>
            <a:ext cx="3382365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04250" y="458114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техотчёты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49386" y="4983480"/>
            <a:ext cx="338236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04250" y="499262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реестр ремонтов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10 / 162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Статистика отказов ГБЦ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11 / 162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СТАТИСТИКА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Ключевые показатели отказов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3444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32588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80136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ремонтных событий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23444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23444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872" y="132588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11+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180136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затронутых машин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23444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23444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132588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180136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повторные (#48,#58)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35440" y="1234440"/>
            <a:ext cx="24688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5440" y="123444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00032" y="1325880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#83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00032" y="1801368"/>
            <a:ext cx="22402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ранний (2776 м/ч)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377440"/>
            <a:ext cx="11274552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2377440"/>
            <a:ext cx="91440" cy="109728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2468880"/>
            <a:ext cx="10908792" cy="9143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Отказы — на машинах разной наработки (от 2776 до 18245 м/ч), что исключает простой возрастной износ как причину. Ранний отказ #83 при 2776 м/ч — индикатор системной (калибровочной/конструктивной) проблемы.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12 / 162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ХРОНОЛОГИЯ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Хронология ремонтов</a:t>
            </a:r>
          </a:p>
        </p:txBody>
      </p:sp>
      <p:pic>
        <p:nvPicPr>
          <p:cNvPr id="8" name="Picture 7" descr="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252090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13 / 162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РЕМОНТЫ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Реестр ремонтов ГБЦ (1–9)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46504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55648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67128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176272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87752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596896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08376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017520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429000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438144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9624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858768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70248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279392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90872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700016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111496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5120640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584655" y="1325880"/>
            <a:ext cx="2254910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39519" y="1335024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Дата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84655" y="1746504"/>
            <a:ext cx="225491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39519" y="1755648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17.07.2025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84655" y="2167128"/>
            <a:ext cx="225491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39519" y="2176272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10.08.2025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84655" y="2587752"/>
            <a:ext cx="225491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39519" y="2596896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11.08.2025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584655" y="3008376"/>
            <a:ext cx="225491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39519" y="3017520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17.12.2025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584655" y="3429000"/>
            <a:ext cx="225491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39519" y="3438144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21.01.2026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84655" y="3849624"/>
            <a:ext cx="225491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39519" y="3858768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16.03.2026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584655" y="4270248"/>
            <a:ext cx="225491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639519" y="4279392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~03.2026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584655" y="4690872"/>
            <a:ext cx="225491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639519" y="4700016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31.03.2026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584655" y="5111496"/>
            <a:ext cx="225491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39519" y="5120640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13.05.2026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839565" y="1325880"/>
            <a:ext cx="2029419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894429" y="1335024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Наработка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39565" y="1746504"/>
            <a:ext cx="2029419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894429" y="1755648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~10783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839565" y="2167128"/>
            <a:ext cx="2029419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94429" y="2176272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~10702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839565" y="2587752"/>
            <a:ext cx="2029419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894429" y="2596896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~12890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839565" y="3008376"/>
            <a:ext cx="2029419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894429" y="3017520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~14997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839565" y="3429000"/>
            <a:ext cx="2029419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894429" y="3438144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839565" y="3849624"/>
            <a:ext cx="2029419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894429" y="3858768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839565" y="4270248"/>
            <a:ext cx="2029419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894429" y="4279392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2776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839565" y="4690872"/>
            <a:ext cx="2029419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894429" y="4700016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~15126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839565" y="5111496"/>
            <a:ext cx="2029419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894429" y="5120640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868984" y="1325880"/>
            <a:ext cx="5862767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923848" y="1335024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Операция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868984" y="1746504"/>
            <a:ext cx="586276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923848" y="1755648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 (трещина→ОЖ в масло)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868984" y="2167128"/>
            <a:ext cx="586276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923848" y="2176272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Толкатель/клапан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868984" y="2587752"/>
            <a:ext cx="586276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923848" y="2596896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868984" y="3008376"/>
            <a:ext cx="586276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923848" y="3017520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868984" y="3429000"/>
            <a:ext cx="586276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923848" y="3438144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Клапаны+форсунки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868984" y="3849624"/>
            <a:ext cx="586276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923848" y="3858768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 ГБЦ (повтор)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868984" y="4270248"/>
            <a:ext cx="586276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923848" y="4279392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 (ранний)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868984" y="4690872"/>
            <a:ext cx="586276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923848" y="4700016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Повтор. ремонт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868984" y="5111496"/>
            <a:ext cx="586276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923848" y="5120640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</a:t>
            </a:r>
          </a:p>
        </p:txBody>
      </p:sp>
      <p:sp>
        <p:nvSpPr>
          <p:cNvPr id="88" name="Rectangle 8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14 / 162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РЕМОНТЫ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Реестр ремонтов ГБЦ (10–15)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46504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55648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67128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176272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87752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596896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08376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017520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429000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438144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9624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858768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84655" y="1325880"/>
            <a:ext cx="2254910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39519" y="1335024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Дата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584655" y="1746504"/>
            <a:ext cx="225491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39519" y="1755648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20.05.2026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84655" y="2167128"/>
            <a:ext cx="225491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39519" y="2176272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25.05.2026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584655" y="2587752"/>
            <a:ext cx="225491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39519" y="2596896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12.06.2026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84655" y="3008376"/>
            <a:ext cx="225491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39519" y="3017520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12.06.2026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84655" y="3429000"/>
            <a:ext cx="225491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39519" y="3438144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16.06.2026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84655" y="3849624"/>
            <a:ext cx="225491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39519" y="3858768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18.06.2026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39565" y="1325880"/>
            <a:ext cx="2029419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94429" y="1335024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Наработка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839565" y="1746504"/>
            <a:ext cx="2029419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894429" y="1755648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39565" y="2167128"/>
            <a:ext cx="2029419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894429" y="2176272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39565" y="2587752"/>
            <a:ext cx="2029419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894429" y="2596896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18245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839565" y="3008376"/>
            <a:ext cx="2029419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94429" y="3017520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839565" y="3429000"/>
            <a:ext cx="2029419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894429" y="3438144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839565" y="3849624"/>
            <a:ext cx="2029419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894429" y="3858768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4502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868984" y="1325880"/>
            <a:ext cx="5862767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23848" y="1335024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Операция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68984" y="1746504"/>
            <a:ext cx="586276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23848" y="1755648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68984" y="2167128"/>
            <a:ext cx="586276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23848" y="2176272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68984" y="2587752"/>
            <a:ext cx="586276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23848" y="2596896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Клапаны/втулки/седла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68984" y="3008376"/>
            <a:ext cx="586276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23848" y="3017520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68984" y="3429000"/>
            <a:ext cx="586276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23848" y="3438144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Втулка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68984" y="3849624"/>
            <a:ext cx="586276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23848" y="3858768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Клапаны/втулки/седла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15 / 162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ВЕЙБУЛЛ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Накопление отказов по наработке</a:t>
            </a:r>
          </a:p>
        </p:txBody>
      </p:sp>
      <p:pic>
        <p:nvPicPr>
          <p:cNvPr id="8" name="Picture 7" descr="wei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60252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Отказы при разной наработке → не возрастной износ.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16 / 162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ТЕПЛОВАЯ КАРТА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Тепловая карта / EGT по цилиндрам</a:t>
            </a:r>
          </a:p>
        </p:txBody>
      </p:sp>
      <p:pic>
        <p:nvPicPr>
          <p:cNvPr id="8" name="Picture 7" descr="eg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29087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Ц2 и Ц6 = 567°C (+47 над лимитом).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17 / 162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БАНКИ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Банк A против Банка B</a:t>
            </a:r>
          </a:p>
        </p:txBody>
      </p:sp>
      <p:pic>
        <p:nvPicPr>
          <p:cNvPr id="8" name="Picture 7" descr="b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60252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B-банк горячее и с бо́льшим числом дефектных форсунок.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18 / 162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Нагрузка и производительность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19 / 162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Грузоподъёмность и политика 10/10/20</a:t>
            </a:r>
          </a:p>
        </p:txBody>
      </p:sp>
      <p:pic>
        <p:nvPicPr>
          <p:cNvPr id="8" name="Picture 7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212080" cy="279218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852160" y="1463040"/>
            <a:ext cx="2340864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07024" y="1472184"/>
            <a:ext cx="224942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Метрика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1920240"/>
            <a:ext cx="234086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07024" y="1929384"/>
            <a:ext cx="224942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FinalPayload/180т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0" y="2377440"/>
            <a:ext cx="234086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07024" y="2386584"/>
            <a:ext cx="224942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Родное LP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4" y="1463040"/>
            <a:ext cx="877824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14721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Ср.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93024" y="1920240"/>
            <a:ext cx="87782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7888" y="19293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99,7%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93024" y="2377440"/>
            <a:ext cx="87782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47888" y="23865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102,8%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70848" y="1463040"/>
            <a:ext cx="877824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25712" y="14721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&gt;110%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70848" y="1920240"/>
            <a:ext cx="87782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25712" y="19293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6,0%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70848" y="2377440"/>
            <a:ext cx="87782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25712" y="23865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8,2%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948672" y="1463040"/>
            <a:ext cx="877824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03536" y="14721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&gt;120%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948672" y="1920240"/>
            <a:ext cx="87782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03536" y="19293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0,01%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48672" y="2377440"/>
            <a:ext cx="87782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03536" y="23865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0,10%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826496" y="1463040"/>
            <a:ext cx="877824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881360" y="14721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Макс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826496" y="1920240"/>
            <a:ext cx="87782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881360" y="19293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133%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826496" y="2377440"/>
            <a:ext cx="87782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881360" y="23865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145%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852160" y="2743200"/>
            <a:ext cx="5852160" cy="274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852160" y="2743200"/>
            <a:ext cx="91440" cy="27432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53328" y="2834640"/>
            <a:ext cx="5532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Вывод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53328" y="3163824"/>
            <a:ext cx="5486400" cy="22311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Парк СООТВЕТСТВУЕТ 10/10/20 (среднее ≈100%, &gt;120% практически нет). Систематическая перегрузка как значимый фактор НЕ подтверждается. Прежний тезис «295 т» — ошибка (номинал 220 вместо 180). Корректно: макс 133% ≈ 239 т.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20 / 162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 · СТАТИСТИКА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Нагрузка: анализ по нормальному распределению</a:t>
            </a:r>
          </a:p>
        </p:txBody>
      </p:sp>
      <p:pic>
        <p:nvPicPr>
          <p:cNvPr id="8" name="Picture 7" descr="loadn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310265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Распределение левосмещённое (skew=−3,6), островершинное; пик ~102%, короткий правый хвост → экстремальных перегрузов почти нет.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21 / 162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 · ВЫВОД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Статистика нагрузки — интерпретация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99,75%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среднее (μ)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37160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872" y="146304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13,7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193852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ст. откл. (σ)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37160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146304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−3,6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193852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асимметрия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35440" y="1371600"/>
            <a:ext cx="24688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544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00032" y="1463040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113%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00032" y="1938528"/>
            <a:ext cx="22402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P99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46888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246888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256032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Что это значит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288950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Распределение НЕ нормальное: сильная левая асимметрия (длинный хвост лёгких/частичных загрузок) при остром пике у целевого ~100–102%. Правый хвост короткий: P95=110%, P99=113%, доля &gt;120% ≈ 0,01%. ⇒ Загрузка дисциплинирована у номинала; систематическая перегрузка как первичный фактор статистически НЕ подтверждается. Перегрузка не является инициатором отказов.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22 / 162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ПРОИЗВОДИТЕЛЬНОСТЬ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Производительность парка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65,5 млн 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перевезено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079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365 069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рейсов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941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30,6 мин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цикл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7432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7432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8346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4,32 км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" y="33101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гружёный пробег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43400" y="27432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43400" y="27432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07992" y="28346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31 км/ч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07992" y="33101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скорость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27432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0" y="27432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94192" y="28346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6 888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3101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рейсов/машину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23 / 162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Топ машин по доле перегруза</a:t>
            </a:r>
          </a:p>
        </p:txBody>
      </p:sp>
      <p:pic>
        <p:nvPicPr>
          <p:cNvPr id="8" name="Picture 7" descr="load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290873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24 / 162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 · МАШИНЫ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Нагрузка по машинам (1–8)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862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410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862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10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10425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86230" y="205740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41094" y="206654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10818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86230" y="242316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1094" y="243230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5529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86230" y="278892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41094" y="279806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2843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602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151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602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151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103.4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60243" y="205740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15107" y="206654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105.2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60243" y="242316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15107" y="243230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101.5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60243" y="278892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15107" y="279806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97.2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9940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0489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940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489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123.4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9409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04896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119.7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9409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4896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118.2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99409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04896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119.8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145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694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145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694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78.0%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1456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6943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88.1%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1456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6943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65.1%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1456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6943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25.9%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093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642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093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642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47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64224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09360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64224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49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09360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64224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298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846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3298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846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12232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329830" y="205740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84694" y="206654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922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329830" y="242316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84694" y="243230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3468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329830" y="278892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384694" y="279806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3162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8038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8587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8038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8587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101.8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803843" y="205740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858707" y="206654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98.5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803843" y="242316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858707" y="243230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104.6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803843" y="278892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858707" y="279806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102.7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9376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9925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9376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9925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121.6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93769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99256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114.3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93769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99256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117.6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93769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99256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124.1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9581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10130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9581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0130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68.9%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95816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101303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63.9%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95816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01303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85.5%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95816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101303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74.7%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25 / 162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 · МАШИНЫ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Нагрузка по машинам (9–16)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862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410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862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10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5809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86230" y="205740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41094" y="206654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8299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86230" y="242316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1094" y="243230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1483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86230" y="278892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41094" y="279806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7999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602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151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602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151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101.4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60243" y="205740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15107" y="206654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103.4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60243" y="242316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15107" y="243230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99.6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60243" y="278892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15107" y="279806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99.8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9940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0489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940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489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116.4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9409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04896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118.7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9409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4896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114.1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99409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04896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120.9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145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694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145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694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63.4%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1456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6943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79.6%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1456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6943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47.9%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1456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6943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49.9%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093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642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093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642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55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64224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56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09360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64224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57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09360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64224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298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846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3298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846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7314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329830" y="205740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84694" y="206654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6308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329830" y="242316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84694" y="243230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9011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329830" y="278892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384694" y="279806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5915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8038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8587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8038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8587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100.5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803843" y="205740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858707" y="206654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106.0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803843" y="242316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858707" y="243230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102.8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803843" y="278892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858707" y="279806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101.8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9376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9925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9376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9925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123.7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93769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99256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119.1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93769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99256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118.2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93769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99256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115.4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9581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10130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9581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0130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58.6%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95816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101303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89.3%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95816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01303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75.1%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95816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101303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67.1%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26 / 162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 · МАШИНЫ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Нагрузка по машинам (17–24)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862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410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862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10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5998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86230" y="205740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41094" y="206654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7945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86230" y="242316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1094" y="243230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3148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86230" y="278892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41094" y="279806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11563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602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151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602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151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101.9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60243" y="205740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15107" y="206654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101.6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60243" y="242316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15107" y="243230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103.9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60243" y="278892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15107" y="279806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103.7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9940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0489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940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489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115.2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9409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04896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121.7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9409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4896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127.3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99409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04896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119.0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145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694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145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694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68.5%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1456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6943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65.7%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1456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6943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82.4%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1456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6943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80.2%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093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642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093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642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64224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09360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64224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09360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64224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298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846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3298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846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10955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329830" y="205740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84694" y="206654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5975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329830" y="242316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84694" y="243230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12393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329830" y="278892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384694" y="279806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8191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8038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8587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8038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8587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102.3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803843" y="205740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858707" y="206654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100.7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803843" y="242316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858707" y="243230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102.5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803843" y="278892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858707" y="279806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102.7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9376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9925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9376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9925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119.4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93769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99256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118.4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93769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99256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117.6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93769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99256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120.2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9581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10130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9581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0130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70.9%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95816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101303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58.1%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95816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01303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72.5%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95816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101303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73.3%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27 / 162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 · МАШИНЫ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Нагрузка по машинам (25–32)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862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410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862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10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14840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86230" y="205740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41094" y="206654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5946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86230" y="242316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1094" y="243230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7561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86230" y="278892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41094" y="279806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12206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602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151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602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151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101.5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60243" y="205740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15107" y="206654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102.3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60243" y="242316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15107" y="243230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102.8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60243" y="278892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15107" y="279806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102.5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9940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0489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940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489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118.3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9409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04896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121.8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9409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4896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116.3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99409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04896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118.6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145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694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145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694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64.4%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1456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6943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71.5%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1456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6943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76.4%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1456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6943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72.8%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093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642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093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642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64224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72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09360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64224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09360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64224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298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846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3298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846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12500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329830" y="205740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84694" y="206654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8763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329830" y="242316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84694" y="243230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11052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329830" y="278892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384694" y="279806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5627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8038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8587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8038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8587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102.4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803843" y="205740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858707" y="206654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99.4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803843" y="242316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858707" y="243230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101.6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803843" y="278892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858707" y="279806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104.7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9376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9925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9376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9925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118.1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93769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99256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118.2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93769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99256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130.7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93769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99256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119.7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9581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10130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9581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0130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72.4%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95816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101303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46.0%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95816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01303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64.8%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95816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101303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84.6%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28 / 162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 · МАШИНЫ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Нагрузка по машинам (33–40)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862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410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862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10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8804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86230" y="205740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41094" y="206654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2494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86230" y="242316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1094" y="243230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7665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86230" y="278892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41094" y="279806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7822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602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151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602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151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101.3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60243" y="205740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15107" y="206654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95.8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60243" y="242316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15107" y="243230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102.8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60243" y="278892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15107" y="279806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102.9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9940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0489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940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489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117.9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9409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04896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114.2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9409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4896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116.1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99409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04896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123.7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145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694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145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694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64.0%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1456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6943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18.7%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1456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6943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74.9%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1456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6943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76.7%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093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642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093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642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79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64224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09360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64224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09360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64224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298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846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3298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846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5581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329830" y="205740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84694" y="206654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6624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329830" y="242316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84694" y="243230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5748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329830" y="278892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384694" y="279806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4012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8038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8587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8038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8587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103.1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803843" y="205740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858707" y="206654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104.0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803843" y="242316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858707" y="243230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102.2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803843" y="278892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858707" y="279806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105.0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9376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9925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9376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9925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116.7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93769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99256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119.4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93769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99256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115.3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93769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99256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121.7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9581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10130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9581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0130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76.2%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95816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101303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95816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01303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70.5%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95816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101303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85.8%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29 / 162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 · МАШИНЫ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Нагрузка по машинам (41–48)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862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410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862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10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4867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86230" y="205740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41094" y="206654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8742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86230" y="242316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1094" y="243230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8263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86230" y="278892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41094" y="279806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5591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602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151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602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151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103.9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60243" y="205740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15107" y="206654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107.2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60243" y="242316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15107" y="243230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104.5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60243" y="278892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15107" y="279806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95.5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9940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0489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940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489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117.1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9409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04896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133.0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9409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4896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124.4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99409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04896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115.4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145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694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145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694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80.8%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1456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6943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92.1%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1456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6943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84.5%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1456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6943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15.5%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093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642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093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642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87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64224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09360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64224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89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09360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64224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298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846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3298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846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18829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329830" y="205740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84694" y="206654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6016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329830" y="242316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84694" y="243230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9355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329830" y="278892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384694" y="279806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2351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8038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8587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8038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8587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100.9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803843" y="205740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858707" y="206654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105.5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803843" y="242316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858707" y="243230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105.5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803843" y="278892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858707" y="279806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46.0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9376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9925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9376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9925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122.1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93769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99256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120.8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93769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99256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118.4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93769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99256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68.6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9581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10130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9581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0130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61.3%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95816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101303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88.6%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95816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01303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87.7%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95816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101303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0.0%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30 / 162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 · МАШИНЫ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Нагрузка по машинам (49–50)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862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10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862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10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5879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602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151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602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151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46.3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940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489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940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489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68.1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145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694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145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694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0.0%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642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298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846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298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846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3900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8038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587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8038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8587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43.6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9376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925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9376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9925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73.3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9581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0130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9581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0130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0.0%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31 / 162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Анализ масла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32 / 162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БРЕНДЫ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Масла ДВС: бренды и тип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029419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Парк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202941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NTE200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202941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NTE200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202941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730E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86619" y="1371600"/>
            <a:ext cx="5186293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41483" y="1380744"/>
            <a:ext cx="509485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Бренд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86619" y="1874519"/>
            <a:ext cx="518629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41483" y="1883663"/>
            <a:ext cx="509485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Газпромнефть G-Profi MSI Plus 15W-40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86619" y="2377439"/>
            <a:ext cx="5186293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41483" y="2386583"/>
            <a:ext cx="509485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TEBOIL Super HPD Plus 15W-40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86619" y="2880359"/>
            <a:ext cx="518629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41483" y="2889503"/>
            <a:ext cx="509485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+ Komatsu/Mobil/Лукойл 15W-40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72913" y="1371600"/>
            <a:ext cx="1803928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27777" y="1380744"/>
            <a:ext cx="17124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Класс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72913" y="1874519"/>
            <a:ext cx="180392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7777" y="1883663"/>
            <a:ext cx="17124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CI-4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72913" y="2377439"/>
            <a:ext cx="1803928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27777" y="2386583"/>
            <a:ext cx="17124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CI-4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72913" y="2880359"/>
            <a:ext cx="180392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27777" y="2889503"/>
            <a:ext cx="17124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CI-4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476841" y="1371600"/>
            <a:ext cx="2254910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31705" y="1380744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Период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476841" y="1874519"/>
            <a:ext cx="225491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31705" y="1883663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2024–2026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476841" y="2377439"/>
            <a:ext cx="225491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31705" y="2386583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2024–2026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476841" y="2880359"/>
            <a:ext cx="225491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531705" y="2889503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2024–2026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840480"/>
            <a:ext cx="11274552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3840480"/>
            <a:ext cx="91440" cy="14630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393192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Вывод по брендам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4261104"/>
            <a:ext cx="10908792" cy="9509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Двигатели NTE200 и 730E работают на одинаковых маслах (преимущественно Газпромнефть G-Profi MSI Plus 15W-40, класс API CI-4). ⇒ Марка/тип масла НЕ дифференцирует парки.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33 / 162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ПЕРЕХОД ПРОИЗВОДИТЕЛЕЙ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Переход масел во времени: NTE200 vs 730E</a:t>
            </a:r>
          </a:p>
        </p:txBody>
      </p:sp>
      <p:pic>
        <p:nvPicPr>
          <p:cNvPr id="8" name="Picture 7" descr="oiltr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7863840" cy="35251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412480" y="1280160"/>
            <a:ext cx="3337560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0" y="1280160"/>
            <a:ext cx="91440" cy="246888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13648" y="1371600"/>
            <a:ext cx="30175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Хронология NTE200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13648" y="1700784"/>
            <a:ext cx="2971800" cy="19568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NTE200:</a:t>
            </a:r>
          </a:p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• 2024-02–04: Shell Rimula</a:t>
            </a:r>
          </a:p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• 2024-06–2026-01: Газпромнефть G-Profi MSI Plus</a:t>
            </a:r>
          </a:p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• ПЕРЕХОД фев-2026 → TEBOIL Super HPD Plus (с марта 2026 полностью)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0" y="3886200"/>
            <a:ext cx="3337560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0" y="3886200"/>
            <a:ext cx="91440" cy="2286000"/>
          </a:xfrm>
          <a:prstGeom prst="rect">
            <a:avLst/>
          </a:prstGeom>
          <a:solidFill>
            <a:srgbClr val="4E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13648" y="3977639"/>
            <a:ext cx="30175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Хронология 730E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13648" y="4306824"/>
            <a:ext cx="2971800" cy="1773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730E:</a:t>
            </a:r>
          </a:p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• 2025: Газпромнефть + Komatsu/Mobil (паралл.)</a:t>
            </a:r>
          </a:p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• ПЕРЕХОД фев-2026 → TEBOIL (тот же период)</a:t>
            </a:r>
          </a:p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Оба парка перешли на TEBOIL ОДНОВРЕМЕННО.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5989320"/>
            <a:ext cx="7863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2EA043"/>
                </a:solidFill>
                <a:latin typeface="Calibri"/>
              </a:rPr>
              <a:t>Вывод: оба парка сменили Газпромнефть→TEBOIL (оба CI-4 15W-40) в фев–март 2026. Бренд НЕ дифференцирует: отказы NTE200 есть и до, и после перехода; 730E на тех же маслах — без отказов.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34 / 162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ПРОИЗВОДИТЕЛИ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Производители масел — сводка по паркам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186293" cy="47548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509485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Производитель / марка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47088"/>
            <a:ext cx="5186293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56231"/>
            <a:ext cx="509485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Газпромнефть G-Profi MSI Plus 15W-40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22576"/>
            <a:ext cx="5186293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31720"/>
            <a:ext cx="509485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TEBOIL Super HPD Plus 15W-40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798064"/>
            <a:ext cx="5186293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07208"/>
            <a:ext cx="509485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Shell Rimula 15W-40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73552"/>
            <a:ext cx="5186293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282696"/>
            <a:ext cx="509485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Komatsu EO15W40DH 15W-40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5186293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758183"/>
            <a:ext cx="509485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Mobil Delvac MX 15W-40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224527"/>
            <a:ext cx="5186293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233671"/>
            <a:ext cx="509485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Лукойл Авангард 15W-40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43493" y="1371600"/>
            <a:ext cx="2480401" cy="47548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98357" y="1380744"/>
            <a:ext cx="2388961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NTE200 (проб ДВС)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43493" y="1847088"/>
            <a:ext cx="2480401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98357" y="1856231"/>
            <a:ext cx="2388961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1141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43493" y="2322576"/>
            <a:ext cx="2480401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98357" y="2331720"/>
            <a:ext cx="2388961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670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43493" y="2798064"/>
            <a:ext cx="2480401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98357" y="2807208"/>
            <a:ext cx="2388961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43493" y="3273552"/>
            <a:ext cx="2480401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98357" y="3282696"/>
            <a:ext cx="2388961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43493" y="3749039"/>
            <a:ext cx="2480401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98357" y="3758183"/>
            <a:ext cx="2388961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43493" y="4224527"/>
            <a:ext cx="2480401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98357" y="4233671"/>
            <a:ext cx="2388961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23895" y="1371600"/>
            <a:ext cx="2480401" cy="47548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78759" y="1380744"/>
            <a:ext cx="2388961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730E (проб ДВС)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23895" y="1847088"/>
            <a:ext cx="2480401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78759" y="1856231"/>
            <a:ext cx="2388961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≈420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23895" y="2322576"/>
            <a:ext cx="2480401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78759" y="2331720"/>
            <a:ext cx="2388961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≈135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23895" y="2798064"/>
            <a:ext cx="2480401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78759" y="2807208"/>
            <a:ext cx="2388961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23895" y="3273552"/>
            <a:ext cx="2480401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78759" y="3282696"/>
            <a:ext cx="2388961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≈127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123895" y="3749039"/>
            <a:ext cx="2480401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178759" y="3758183"/>
            <a:ext cx="2388961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≈31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23895" y="4224527"/>
            <a:ext cx="2480401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178759" y="4233671"/>
            <a:ext cx="2388961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≈6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604296" y="1371600"/>
            <a:ext cx="1127455" cy="47548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659160" y="1380744"/>
            <a:ext cx="1036015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Класс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604296" y="1847088"/>
            <a:ext cx="1127455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659160" y="1856231"/>
            <a:ext cx="1036015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CI-4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604296" y="2322576"/>
            <a:ext cx="1127455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659160" y="2331720"/>
            <a:ext cx="1036015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CI-4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604296" y="2798064"/>
            <a:ext cx="1127455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659160" y="2807208"/>
            <a:ext cx="1036015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CI-4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604296" y="3273552"/>
            <a:ext cx="1127455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659160" y="3282696"/>
            <a:ext cx="1036015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CI-4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604296" y="3749039"/>
            <a:ext cx="1127455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659160" y="3758183"/>
            <a:ext cx="1036015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CI-4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604296" y="4224527"/>
            <a:ext cx="1127455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659160" y="4233671"/>
            <a:ext cx="1036015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CI-4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" y="4846320"/>
            <a:ext cx="11274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7200" y="4846320"/>
            <a:ext cx="91440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8" y="4937759"/>
            <a:ext cx="1090879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Все применявшиеся масла — один класс (API CI-4, SAE 15W-40). 730E имеет более широкий набор производителей, но отказов нет → набор/смена производителя масла не влияет на отказы ГБЦ.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35 / 162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ПОКАЗАТЕЛИ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Технические показатели масла ДВС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633472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2542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Показатель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28800"/>
            <a:ext cx="263347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37943"/>
            <a:ext cx="2542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TBN (щёлочное)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86000"/>
            <a:ext cx="2633472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295144"/>
            <a:ext cx="2542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Сажа (ST)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743200"/>
            <a:ext cx="263347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752344"/>
            <a:ext cx="2542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Окисление (OXI)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00400"/>
            <a:ext cx="2633472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209544"/>
            <a:ext cx="2542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V100, cSt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57600"/>
            <a:ext cx="263347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66744"/>
            <a:ext cx="2542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Вода/топливо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114800"/>
            <a:ext cx="2633472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123944"/>
            <a:ext cx="2542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Fe P95, ppm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90672" y="1371600"/>
            <a:ext cx="1316736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45536" y="13807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NTE200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90672" y="18288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45536" y="1837943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9,7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90672" y="22860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45536" y="22951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0,3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90672" y="27432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45536" y="27523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0,1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90672" y="32004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45536" y="32095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15,3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90672" y="36576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45536" y="36667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90672" y="41148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45536" y="41239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07408" y="1371600"/>
            <a:ext cx="1316736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62272" y="13807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730E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07408" y="18288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2272" y="1837943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9,5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407408" y="22860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62272" y="22951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0,4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407408" y="27432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62272" y="27523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0,1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07408" y="32004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62272" y="32095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15,4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07408" y="36576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62272" y="36667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07408" y="41148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62272" y="41239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724144" y="1371600"/>
            <a:ext cx="1316736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79008" y="13807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Норма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724144" y="18288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79008" y="1837943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≥2,5 ✓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724144" y="22860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779008" y="22951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низкая ✓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724144" y="27432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79008" y="27523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низкое ✓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724144" y="32004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779008" y="32095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12,5–16,3 ✓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724144" y="36576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779008" y="36667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724144" y="41148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779008" y="41239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низкий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223760" y="1371600"/>
            <a:ext cx="4480560" cy="3931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223760" y="1371600"/>
            <a:ext cx="91440" cy="39319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424928" y="1463040"/>
            <a:ext cx="41605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Ключевой вывод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424928" y="1792224"/>
            <a:ext cx="4114800" cy="3419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Масло в отличном состоянии: высокий TBN, низкая сажа (0,3), нет окисления/разбавления. НИЗКАЯ САЖА опровергает версию NHL про зольный/сажевый абразивный износ клапанов. Отказ — термический.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36 / 162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ИЗНОС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Износ Fe в масле ДВС: NTE200 vs 730E</a:t>
            </a:r>
          </a:p>
        </p:txBody>
      </p:sp>
      <p:pic>
        <p:nvPicPr>
          <p:cNvPr id="8" name="Picture 7" descr="oil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60252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Fe на NTE200 ниже, чем на 730E → отказ не абразивный.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37 / 162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ДВС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NTE200: масло ДВС — перцентили износа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63347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Параметр (ppm)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Fe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9242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Pb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3982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Si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90672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45536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P50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90672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45536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90672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45536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90672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45536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90672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45536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90672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45536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90672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45536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61104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15968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61104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15968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61104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15968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61104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15968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61104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15968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3.0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61104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15968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61104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15968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3.0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31536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0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31536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0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6.0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31536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0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31536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0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31536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0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6.0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31536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86400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3.0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431536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86400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4.0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01968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56832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Max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01968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56832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27.0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601968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656832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129.0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601968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656832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8.0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01968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656832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37.0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01968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56832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9.0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01968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56832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50.0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4672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04672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1131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1827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1131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проб масла ДВС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46720" y="2468880"/>
            <a:ext cx="3657600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046720" y="2468880"/>
            <a:ext cx="91440" cy="30175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47888" y="2560320"/>
            <a:ext cx="33375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Норматив ДВС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47888" y="2889504"/>
            <a:ext cx="3291840" cy="2505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Перцентильные нормы по двигателю (ДВС). P90 — внимание, P95 — критично. Износ низкий → отказ термический, не абразивный.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38 / 162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ДВС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730E: масло ДВС — перцентили износа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63347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Параметр (ppm)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Fe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9242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Pb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3982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Si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90672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45536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P50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90672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45536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3.0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90672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45536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90672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45536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90672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45536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90672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45536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90672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45536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61104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15968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61104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15968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11.0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61104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15968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61104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15968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61104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15968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61104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15968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61104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15968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4.0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31536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0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31536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0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16.0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31536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0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31536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0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31536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0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6.0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31536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86400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431536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86400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6.0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01968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56832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Max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01968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56832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53.0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601968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656832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27.0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601968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656832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7.0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01968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656832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36.0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01968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56832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8.0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01968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56832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33.0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4672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04672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1131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715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1131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проб масла ДВС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46720" y="2468880"/>
            <a:ext cx="3657600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046720" y="2468880"/>
            <a:ext cx="91440" cy="30175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47888" y="2560320"/>
            <a:ext cx="33375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Норматив ДВС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47888" y="2889504"/>
            <a:ext cx="3291840" cy="2505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Перцентильные нормы по двигателю (ДВС). P90 — внимание, P95 — критично. Износ низкий → отказ термический, не абразивный.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39 / 162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МАШИНЫ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Масло ДВС по машинам (1–8)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90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1132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619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132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619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132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619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132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619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1132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19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60219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1508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60219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1508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60219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1508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60219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1508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1.5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60219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1508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5150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0637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45150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0637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5150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0637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45150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0637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9.9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45150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0637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0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55264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0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55264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0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255264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00400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55264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00400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255264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49293" y="1325880"/>
            <a:ext cx="213146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004157" y="133502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Масло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949293" y="169164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004157" y="170078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949293" y="205740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004157" y="206654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949293" y="242316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004157" y="243230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949293" y="278892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004157" y="279806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5508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994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5508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0994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47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5508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0994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48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35508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994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49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5508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0994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4636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0123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04636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10123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39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04636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10123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39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4636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0123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04636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10123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51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79526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85012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79526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85012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79526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85012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79526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85012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79526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85012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48654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54141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48654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54141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48654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54141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9.3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48654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54141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9.5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8654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54141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9.6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235440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290304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Сажа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9235440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290304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235440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290304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235440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290304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235440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290304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9984333" y="1325880"/>
            <a:ext cx="213146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0039197" y="133502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Масло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984333" y="169164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0039197" y="170078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984333" y="205740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0039197" y="206654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984333" y="242316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0039197" y="243230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984333" y="278892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039197" y="279806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40 / 162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МАШИНЫ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Масло ДВС по машинам (9–16)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90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1132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619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132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619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132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619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132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619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1132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19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60219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1508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60219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1508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60219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1508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60219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1508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3.0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60219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1508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5150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0637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45150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0637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5150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0637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45150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0637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45150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0637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0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55264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0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55264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0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255264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00400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55264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00400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255264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49293" y="1325880"/>
            <a:ext cx="213146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004157" y="133502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Масло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949293" y="169164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004157" y="170078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949293" y="205740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004157" y="206654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949293" y="242316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004157" y="243230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949293" y="278892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004157" y="279806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5508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994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5508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0994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55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5508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0994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56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35508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994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57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5508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0994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58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4636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0123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04636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10123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04636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10123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4636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0123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04636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10123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79526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85012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79526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85012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79526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85012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79526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85012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79526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85012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48654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54141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48654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54141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9.5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48654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54141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9.7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48654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54141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9.3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8654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54141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9.8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235440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290304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Сажа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9235440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290304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235440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290304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235440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290304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235440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290304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9984333" y="1325880"/>
            <a:ext cx="213146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0039197" y="133502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Масло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984333" y="169164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0039197" y="170078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984333" y="205740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0039197" y="206654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984333" y="242316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0039197" y="243230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984333" y="278892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039197" y="279806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41 / 162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МАШИНЫ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Масло ДВС по машинам (17–24)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60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61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90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62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1132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619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132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619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132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619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132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619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1132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19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60219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1508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60219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1508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60219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1508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60219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1508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60219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1508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5150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0637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45150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0637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5150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0637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45150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0637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45150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0637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0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55264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0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55264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0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255264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00400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55264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00400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255264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49293" y="1325880"/>
            <a:ext cx="213146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004157" y="133502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Масло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949293" y="169164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004157" y="170078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949293" y="205740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004157" y="206654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949293" y="242316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004157" y="243230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949293" y="278892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004157" y="279806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5508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994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5508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0994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63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5508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0994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64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35508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994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65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5508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0994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66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4636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0123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04636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10123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46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04636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10123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4636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0123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48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04636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10123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79526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85012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79526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85012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79526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85012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79526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85012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0.5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79526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85012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48654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54141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48654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54141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9.8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48654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54141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48654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54141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9.7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8654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54141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9.9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235440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290304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Сажа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9235440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290304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235440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290304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235440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290304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235440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290304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9984333" y="1325880"/>
            <a:ext cx="213146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0039197" y="133502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Масло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984333" y="169164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0039197" y="170078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984333" y="205740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0039197" y="206654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984333" y="242316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0039197" y="243230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984333" y="278892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039197" y="279806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42 / 162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МАШИНЫ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Масло ДВС по машинам (25–32)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67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68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69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90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70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1132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619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132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619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132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619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132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619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37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1132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19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60219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1508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60219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1508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60219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1508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60219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1508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60219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1508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5150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0637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45150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0637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5150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0637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45150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0637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45150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0637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0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55264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0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55264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0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255264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00400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55264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00400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255264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49293" y="1325880"/>
            <a:ext cx="213146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004157" y="133502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Масло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949293" y="169164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004157" y="170078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949293" y="205740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004157" y="206654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949293" y="242316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004157" y="243230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949293" y="278892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004157" y="279806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5508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994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5508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0994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71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5508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0994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72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35508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994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73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5508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0994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74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4636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0123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04636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10123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04636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10123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4636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0123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49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04636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10123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41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79526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85012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79526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85012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79526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85012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79526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85012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79526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85012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48654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54141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48654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54141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9.7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48654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54141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9.6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48654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54141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9.7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8654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54141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235440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290304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Сажа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9235440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290304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235440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290304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235440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290304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235440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290304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9984333" y="1325880"/>
            <a:ext cx="213146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0039197" y="133502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Масло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984333" y="169164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0039197" y="170078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984333" y="205740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0039197" y="206654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984333" y="242316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0039197" y="243230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984333" y="278892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039197" y="279806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43 / 162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МАШИНЫ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Масло ДВС по машинам (33–40)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75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76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77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90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78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1132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619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132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619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132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619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132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619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1132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19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60219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1508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60219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1508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60219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1508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60219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1508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60219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1508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5150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0637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45150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0637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5150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0637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45150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0637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45150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0637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0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55264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0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55264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0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255264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00400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55264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00400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255264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49293" y="1325880"/>
            <a:ext cx="213146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004157" y="133502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Масло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949293" y="169164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004157" y="170078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949293" y="205740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004157" y="206654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949293" y="242316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004157" y="243230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949293" y="278892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004157" y="279806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5508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994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5508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0994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79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5508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0994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80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35508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994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81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5508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0994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82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4636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0123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04636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10123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25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04636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10123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4636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0123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26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04636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10123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19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79526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85012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79526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85012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79526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85012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79526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85012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79526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85012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48654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54141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48654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54141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10.0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48654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54141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10.2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48654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54141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10.0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8654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54141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10.3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235440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290304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Сажа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9235440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290304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235440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290304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235440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290304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235440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290304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9984333" y="1325880"/>
            <a:ext cx="213146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0039197" y="133502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Масло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984333" y="169164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0039197" y="170078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SUPER HPD PLUS 1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984333" y="205740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0039197" y="206654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SUPER HPD PLUS 1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984333" y="242316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0039197" y="243230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SUPER HPD PLUS 1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984333" y="278892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039197" y="279806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SUPER HPD PLUS 1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44 / 162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МАШИНЫ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Масло ДВС по машинам (41–47)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83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84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85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1132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19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1132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619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132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619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132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619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23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60219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1508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60219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1508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60219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1508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60219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1508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45150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0637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5150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0637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10.6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150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0637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10.5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5150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0637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10.6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0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55264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Сажа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0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55264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00400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255264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0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255264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949293" y="1325880"/>
            <a:ext cx="213146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004157" y="133502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Масло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949293" y="169164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004157" y="170078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SUPER HPD PLUS 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949293" y="205740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004157" y="206654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SUPER HPD PLUS 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949293" y="242316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004157" y="243230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SUPER HPD PLUS 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5508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0994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5508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0994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86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5508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0994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87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5508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0994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88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5508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0994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89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4636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0123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04636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10123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19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04636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10123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18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4636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0123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04636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10123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17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79526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85012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79526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85012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79526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85012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79526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85012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79526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85012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48654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54141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48654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54141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10.3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48654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54141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10.4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48654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54141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10.2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48654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54141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10.3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235440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290304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Сажа</a:t>
            </a:r>
          </a:p>
        </p:txBody>
      </p:sp>
      <p:sp>
        <p:nvSpPr>
          <p:cNvPr id="98" name="Rectangle 97"/>
          <p:cNvSpPr/>
          <p:nvPr/>
        </p:nvSpPr>
        <p:spPr>
          <a:xfrm>
            <a:off x="9235440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290304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235440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290304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235440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9290304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9235440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290304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9984333" y="1325880"/>
            <a:ext cx="213146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039197" y="133502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Масло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984333" y="169164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0039197" y="170078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SUPER HPD PLUS 1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9984333" y="205740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0039197" y="206654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SUPER HPD PLUS 1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984333" y="242316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0039197" y="243230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SUPER HPD PLUS 1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984333" y="278892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0039197" y="279806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SUPER HPD PLUS 1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45 / 162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Калибровка ECM (15 параметров)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46 / 162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ОБЗОР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Сравнение ЭБУ NTE200 vs 730E — обзор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11887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Главное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92224"/>
            <a:ext cx="10908792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15 параметров калибровки отличаются. NTE200 ОТКЛЮЧАЕТ все триггеры перегрева и допускает более высокие обороты/нагрузку. Подтверждено письмом Cummins.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43200"/>
            <a:ext cx="3946093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752344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Группа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00400"/>
            <a:ext cx="3946093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3209544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Коррекция топлива (TIB)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657600"/>
            <a:ext cx="3946093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666744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Защиты перегрева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114800"/>
            <a:ext cx="3946093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4123944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Обороты/регулятор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572000"/>
            <a:ext cx="3946093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581144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Горячий стоп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03293" y="2743200"/>
            <a:ext cx="7328458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58157" y="2752344"/>
            <a:ext cx="723701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NTE200 vs 730E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3293" y="3200400"/>
            <a:ext cx="732845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8157" y="3209544"/>
            <a:ext cx="723701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200% vs 100% — переобогащение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03293" y="3657600"/>
            <a:ext cx="732845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58157" y="3666744"/>
            <a:ext cx="723701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все ОТКЛ vs Вкл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03293" y="4114800"/>
            <a:ext cx="732845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58157" y="4123944"/>
            <a:ext cx="723701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2100/20% vs 1990/0%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03293" y="4572000"/>
            <a:ext cx="732845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58157" y="4581144"/>
            <a:ext cx="723701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ниже пороги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47 / 162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1/15: TIB верхн. предел коррекции топлива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200%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(%)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КРИТИЧНО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удвоение корр. дозы → переобогащение.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(100%); на NTE200 — 200%,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48 / 162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2/15: Снижение оборотов по T масла (derate)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ВЫКЛ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(флаг)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Вкл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(флаг)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КРИТИЧНО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нет защиты от перегрева масла.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(Вкл); на NTE200 — ВЫКЛ,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49 / 162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3/15: Триггер high T наддув. воздуха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ВЫКЛ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(°C)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54°C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(°C)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КРИТИЧНО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нет тревоги перегрева наддува.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(54°C); на NTE200 — ВЫКЛ,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50 / 162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4/15: Триггер high T ОЖ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ВЫКЛ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(°C)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85°C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(°C)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КРИТИЧНО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нет сигнала перегрева ОЖ.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(85°C); на NTE200 — ВЫКЛ,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51 / 162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5/15: Триггер high T топлива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ВЫКЛ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(°C)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68°C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(°C)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КРИТИЧНО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нет тревоги перегрева топлива.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(68°C); на NTE200 — ВЫКЛ,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52 / 162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6/15: Задержка derate (масло)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51 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(с)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0 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(с)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КРИТИЧНО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полная мощность 51 с в перегреве.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(0 с); на NTE200 — 51 с,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53 / 162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7/15: Задержка derate (ОЖ)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43 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(с)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0 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(с)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КРИТИЧНО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43 с без снижения нагрузки.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(0 с); на NTE200 — 43 с,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54 / 162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8/15: Макс. рабочие обороты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2100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(об/мин)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1990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(об/мин)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важно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EGT +25–35°C, удары клапанов.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(1990); на NTE200 — 2100,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55 / 162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9/15: Макс. обороты реф. 2/3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2225,8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(об/мин)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1990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(об/мин)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важно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раскрутка в отд. режимах.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(1990); на NTE200 — 2225,8,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56 / 162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10/15: Макс. наклон регулятора (droop)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20%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(%)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важно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±20% колебаний оборотов.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(0%); на NTE200 — 20%,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57 / 162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11/15: Горячий стоп — момент (верх.)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3650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(Н·м)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5509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(Н·м)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важно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срабатывает раньше.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(5509); на NTE200 — 3650,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58 / 162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12/15: Горячий стоп — момент (нижн.)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1850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(Н·м)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4722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(Н·м)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важно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нестабильный гистерезис.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(4722); на NTE200 — 1850,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59 / 162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13/15: Топливный код (карта впрыска)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FC0WH95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(—)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FC0BU52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(—)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важно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иная модель сгорания.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(FC0BU52); на NTE200 — FC0WH95,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60 / 162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14/15: Пуск вентилятора охл. наддува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46°C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(°C)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50°C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(°C)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фон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компенсация, не защита.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(50°C); на NTE200 — 46°C,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61 / 162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15/15: DO_Option (профиль)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61042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(—)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6765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(—)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важно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иной калибровочный профиль.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(6765); на NTE200 — 61042,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62 / 162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СТАТУС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Статус двигателей по данным ECM</a:t>
            </a:r>
          </a:p>
        </p:txBody>
      </p:sp>
      <p:pic>
        <p:nvPicPr>
          <p:cNvPr id="8" name="Picture 7" descr="ecmst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733507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21 из 38 машин (55%) — в отказном/EGT-статусе.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63 / 162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СТАТУС МАШИН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Статус ЭБУ по машинам (1–12)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352946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28216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37360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30552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139696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32888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542032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35224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2944368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49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337560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346703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51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739896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749039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52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142232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151376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54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544568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553712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56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46904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56048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57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349240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5358384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58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751576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064" y="5760720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59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6153912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" y="6163056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60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10146" y="1325880"/>
            <a:ext cx="3156874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65010" y="1335024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Прошивка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10146" y="1728216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65010" y="1737360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810146" y="2130552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865010" y="2139696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10146" y="2532888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865010" y="2542032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10146" y="2935224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865010" y="2944368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810146" y="3337560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865010" y="3346703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10146" y="3739896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65010" y="3749039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10146" y="4142232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65010" y="4151376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AQ60809.08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810146" y="4544568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865010" y="4553712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10146" y="4946904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865010" y="4956048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810146" y="5349240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865010" y="5358384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810146" y="5751576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865010" y="5760720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810146" y="6153912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865010" y="6163056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967020" y="1325880"/>
            <a:ext cx="2931383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21884" y="1335024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Статус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967020" y="1728216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21884" y="1737360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967020" y="2130552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021884" y="2139696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967020" y="2532888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21884" y="2542032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967020" y="2935224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1884" y="2944368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EGT/связан.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67020" y="3337560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1884" y="3346703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967020" y="3739896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21884" y="3749039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967020" y="4142232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021884" y="4151376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EGT/связан.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967020" y="4544568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021884" y="4553712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EGT/связан.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967020" y="4946904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021884" y="4956048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967020" y="5349240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021884" y="5358384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967020" y="5751576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021884" y="5760720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967020" y="6153912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021884" y="6163056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EGT/связан.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898404" y="1325880"/>
            <a:ext cx="2029419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953268" y="1335024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Наработка ч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898404" y="1728216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953268" y="1737360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18859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898404" y="2130552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953268" y="2139696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17821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898404" y="2532888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953268" y="2542032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19050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898404" y="2935224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953268" y="2944368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17923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898404" y="3337560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953268" y="3346703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17583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898404" y="3739896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953268" y="3749039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17823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898404" y="4142232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953268" y="4151376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17582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898404" y="4544568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953268" y="4553712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17411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898404" y="4946904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953268" y="4956048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17117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898404" y="5349240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953268" y="5358384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16852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898404" y="5751576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953268" y="5760720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17069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898404" y="6153912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953268" y="6163056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17331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927823" y="1325880"/>
            <a:ext cx="1803928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982687" y="1335024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Макс об/мин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927823" y="1728216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982687" y="1737360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2049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927823" y="2130552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982687" y="2139696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2060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9927823" y="2532888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9982687" y="2542032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2036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927823" y="2935224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9982687" y="2944368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2038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927823" y="3337560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9982687" y="3346703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2047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927823" y="3739896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982687" y="3749039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2043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927823" y="4142232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982687" y="4151376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2045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927823" y="4544568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9982687" y="4553712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2050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9927823" y="4946904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9982687" y="4956048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2052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927823" y="5349240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982687" y="5358384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2029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9927823" y="5751576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982687" y="5760720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2043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9927823" y="6153912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9982687" y="6163056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2063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64 / 162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СТАТУС МАШИН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Статус ЭБУ по машинам (13–24)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352946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28216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37360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62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30552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139696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63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32888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542032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64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35224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2944368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65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337560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346703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66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739896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749039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67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142232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151376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69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544568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553712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70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46904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56048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71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349240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5358384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72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751576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064" y="5760720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73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6153912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" y="6163056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75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10146" y="1325880"/>
            <a:ext cx="3156874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65010" y="1335024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Прошивка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10146" y="1728216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65010" y="1737360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810146" y="2130552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865010" y="2139696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10146" y="2532888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865010" y="2542032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10146" y="2935224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865010" y="2944368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810146" y="3337560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865010" y="3346703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10146" y="3739896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65010" y="3749039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10146" y="4142232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65010" y="4151376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810146" y="4544568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865010" y="4553712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10146" y="4946904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865010" y="4956048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810146" y="5349240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865010" y="5358384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810146" y="5751576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865010" y="5760720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810146" y="6153912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865010" y="6163056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967020" y="1325880"/>
            <a:ext cx="2931383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21884" y="1335024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Статус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967020" y="1728216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21884" y="1737360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EGT/связан.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967020" y="2130552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021884" y="2139696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967020" y="2532888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21884" y="2542032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967020" y="2935224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1884" y="2944368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67020" y="3337560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1884" y="3346703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967020" y="3739896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21884" y="3749039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EGT/связан.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967020" y="4142232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021884" y="4151376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967020" y="4544568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021884" y="4553712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967020" y="4946904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021884" y="4956048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967020" y="5349240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021884" y="5358384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967020" y="5751576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021884" y="5760720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EGT/связан.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967020" y="6153912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021884" y="6163056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898404" y="1325880"/>
            <a:ext cx="2029419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953268" y="1335024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Наработка ч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898404" y="1728216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953268" y="1737360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15814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898404" y="2130552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953268" y="2139696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12065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898404" y="2532888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953268" y="2542032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11543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898404" y="2935224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953268" y="2944368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11797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898404" y="3337560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953268" y="3346703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11306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898404" y="3739896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953268" y="3749039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11343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898404" y="4142232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953268" y="4151376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10543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898404" y="4544568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953268" y="4553712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11046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898404" y="4946904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953268" y="4956048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10793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898404" y="5349240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953268" y="5358384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10802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898404" y="5751576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953268" y="5760720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10308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898404" y="6153912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953268" y="6163056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10284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927823" y="1325880"/>
            <a:ext cx="1803928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982687" y="1335024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Макс об/мин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927823" y="1728216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982687" y="1737360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2058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927823" y="2130552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982687" y="2139696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2030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9927823" y="2532888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9982687" y="2542032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2088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927823" y="2935224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9982687" y="2944368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2031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927823" y="3337560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9982687" y="3346703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2053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927823" y="3739896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982687" y="3749039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2030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927823" y="4142232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982687" y="4151376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2022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927823" y="4544568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9982687" y="4553712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2022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9927823" y="4946904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9982687" y="4956048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2041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927823" y="5349240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982687" y="5358384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2031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9927823" y="5751576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982687" y="5760720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2030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9927823" y="6153912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9982687" y="6163056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2532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65 / 162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СТАТУС МАШИН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Статус ЭБУ по машинам (25–36)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352946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28216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37360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76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30552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139696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77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32888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542032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78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35224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2944368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79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337560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346703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82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739896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749039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83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142232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151376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84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544568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553712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85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46904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56048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86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349240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5358384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87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751576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064" y="5760720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88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6153912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" y="6163056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89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10146" y="1325880"/>
            <a:ext cx="3156874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65010" y="1335024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Прошивка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10146" y="1728216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65010" y="1737360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810146" y="2130552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865010" y="2139696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10146" y="2532888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865010" y="2542032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10146" y="2935224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865010" y="2944368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810146" y="3337560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865010" y="3346703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10146" y="3739896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65010" y="3749039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10146" y="4142232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65010" y="4151376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AQ60809.08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810146" y="4544568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865010" y="4553712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10146" y="4946904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865010" y="4956048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810146" y="5349240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865010" y="5358384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810146" y="5751576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865010" y="5760720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810146" y="6153912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865010" y="6163056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967020" y="1325880"/>
            <a:ext cx="2931383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21884" y="1335024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Статус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967020" y="1728216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21884" y="1737360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967020" y="2130552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021884" y="2139696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967020" y="2532888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21884" y="2542032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967020" y="2935224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1884" y="2944368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67020" y="3337560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1884" y="3346703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967020" y="3739896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21884" y="3749039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Катастроф.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967020" y="4142232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021884" y="4151376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967020" y="4544568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021884" y="4553712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EGT/связан.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967020" y="4946904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021884" y="4956048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EGT/связан.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967020" y="5349240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021884" y="5358384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967020" y="5751576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021884" y="5760720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EGT/связан.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967020" y="6153912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021884" y="6163056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898404" y="1325880"/>
            <a:ext cx="2029419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953268" y="1335024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Наработка ч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898404" y="1728216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953268" y="1737360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10041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898404" y="2130552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953268" y="2139696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10075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898404" y="2532888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953268" y="2542032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9306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898404" y="2935224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953268" y="2944368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4516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898404" y="3337560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953268" y="3346703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4014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898404" y="3739896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953268" y="3749039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3767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898404" y="4142232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953268" y="4151376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3775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898404" y="4544568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953268" y="4553712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3774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898404" y="4946904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953268" y="4956048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3532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898404" y="5349240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953268" y="5358384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3778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898404" y="5751576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953268" y="5760720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3266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898404" y="6153912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953268" y="6163056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3508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927823" y="1325880"/>
            <a:ext cx="1803928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982687" y="1335024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Макс об/мин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927823" y="1728216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982687" y="1737360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2047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927823" y="2130552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982687" y="2139696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2039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9927823" y="2532888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9982687" y="2542032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2047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927823" y="2935224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9982687" y="2944368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2009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927823" y="3337560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9982687" y="3346703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2049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927823" y="3739896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982687" y="3749039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2012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927823" y="4142232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982687" y="4151376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2054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927823" y="4544568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9982687" y="4553712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9927823" y="4946904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9982687" y="4956048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2028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927823" y="5349240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982687" y="5358384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2058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9927823" y="5751576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982687" y="5760720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2041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9927823" y="6153912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9982687" y="6163056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2022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66 / 162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СТАТУС МАШИН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Статус ЭБУ по машинам (37–38)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352946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28216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37360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90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30552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139696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91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10146" y="1325880"/>
            <a:ext cx="3156874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65010" y="1335024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Прошивка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10146" y="1728216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65010" y="1737360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None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10146" y="2130552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65010" y="2139696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None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67020" y="1325880"/>
            <a:ext cx="2931383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1884" y="1335024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Статус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67020" y="1728216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1884" y="1737360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67020" y="2130552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1884" y="2139696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98404" y="1325880"/>
            <a:ext cx="2029419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3268" y="1335024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Наработка ч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98404" y="1728216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53268" y="1737360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None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98404" y="2130552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3268" y="2139696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None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27823" y="1325880"/>
            <a:ext cx="1803928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82687" y="1335024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Макс об/мин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927823" y="1728216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982687" y="1737360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None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927823" y="2130552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82687" y="2139696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None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67 / 162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Ошибки ECM (Fault Codes)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68 / 162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ОШИБКИ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Коды ECM по числу машин</a:t>
            </a:r>
          </a:p>
        </p:txBody>
      </p:sp>
      <p:pic>
        <p:nvPicPr>
          <p:cNvPr id="8" name="Picture 7" descr="fa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290873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69 / 162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КОДЫ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Коды ECM (1–9)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352946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46504"/>
            <a:ext cx="1352946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55648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67128"/>
            <a:ext cx="1352946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176272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87752"/>
            <a:ext cx="1352946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596896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1117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08376"/>
            <a:ext cx="1352946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017520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1518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429000"/>
            <a:ext cx="1352946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438144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197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9624"/>
            <a:ext cx="1352946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858768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2265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70248"/>
            <a:ext cx="1352946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279392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234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90872"/>
            <a:ext cx="1352946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700016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1519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111496"/>
            <a:ext cx="1352946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5120640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235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10146" y="1325880"/>
            <a:ext cx="1691182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65010" y="1335024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Машин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10146" y="1746504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65010" y="1755648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10146" y="2167128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65010" y="2176272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10146" y="2587752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65010" y="2596896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10146" y="3008376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65010" y="3017520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810146" y="3429000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865010" y="3438144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10146" y="3849624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865010" y="3858768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10146" y="4270248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865010" y="4279392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810146" y="4690872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865010" y="4700016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10146" y="5111496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65010" y="5120640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501329" y="1325880"/>
            <a:ext cx="1691182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56193" y="1335024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Lamp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501329" y="1746504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56193" y="1755648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501329" y="2167128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556193" y="2176272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501329" y="2587752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556193" y="2596896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501329" y="3008376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56193" y="3017520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Amber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501329" y="3429000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556193" y="3438144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Amber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501329" y="3849624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556193" y="3858768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Amber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501329" y="4270248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56193" y="4279392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Red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501329" y="4690872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556193" y="4700016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Maint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501329" y="5111496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556193" y="5120640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Red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192511" y="1325880"/>
            <a:ext cx="6539240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247375" y="1335024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Описание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192511" y="1746504"/>
            <a:ext cx="653924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247375" y="1755648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Остановка горячего двигателя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192511" y="2167128"/>
            <a:ext cx="653924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247375" y="2176272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Канал J1939 — хаотичный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192511" y="2587752"/>
            <a:ext cx="653924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247375" y="2596896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Пропадание питания при пуске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192511" y="3008376"/>
            <a:ext cx="653924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247375" y="3017520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Модули — неисправности средн. уровня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192511" y="3429000"/>
            <a:ext cx="653924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247375" y="3438144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Уровень ОЖ ниже нормы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192511" y="3849624"/>
            <a:ext cx="653924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247375" y="3858768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Цепь подкач. топл. насоса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192511" y="4270248"/>
            <a:ext cx="653924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247375" y="4279392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Высокая частота вращения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192511" y="4690872"/>
            <a:ext cx="653924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247375" y="4700016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Модули — неисправности низ. уровня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192511" y="5111496"/>
            <a:ext cx="653924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247375" y="5120640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Низкий уровень ОЖ</a:t>
            </a:r>
          </a:p>
        </p:txBody>
      </p:sp>
      <p:sp>
        <p:nvSpPr>
          <p:cNvPr id="88" name="Rectangle 8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70 / 162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КОДЫ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Коды ECM (10–15)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352946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46504"/>
            <a:ext cx="1352946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55648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442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67128"/>
            <a:ext cx="1352946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176272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146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87752"/>
            <a:ext cx="1352946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596896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2262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08376"/>
            <a:ext cx="1352946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017520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628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429000"/>
            <a:ext cx="1352946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438144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1619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9624"/>
            <a:ext cx="1352946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858768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1549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10146" y="1325880"/>
            <a:ext cx="1691182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65010" y="1335024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Машин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10146" y="1746504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65010" y="1755648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10146" y="2167128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65010" y="2176272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10146" y="2587752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65010" y="2596896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10146" y="3008376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65010" y="3017520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10146" y="3429000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65010" y="3438144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10146" y="3849624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65010" y="3858768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01329" y="1325880"/>
            <a:ext cx="1691182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56193" y="1335024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Lamp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501329" y="1746504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56193" y="1755648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Amber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501329" y="2167128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56193" y="2176272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Amber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501329" y="2587752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556193" y="2596896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Maint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501329" y="3008376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56193" y="3017520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Active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501329" y="3429000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556193" y="3438144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Active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501329" y="3849624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56193" y="3858768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Active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192511" y="1325880"/>
            <a:ext cx="6539240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247375" y="1335024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Описание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192511" y="1746504"/>
            <a:ext cx="653924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247375" y="1755648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Напряжение АКБ 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192511" y="2167128"/>
            <a:ext cx="653924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247375" y="2176272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Температура ОЖ высокая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192511" y="2587752"/>
            <a:ext cx="653924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247375" y="2596896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Давление топл. насоса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192511" y="3008376"/>
            <a:ext cx="653924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247375" y="3017520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Малое отклонение EGT (#61)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192511" y="3429000"/>
            <a:ext cx="653924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247375" y="3438144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Датчик EGT цилиндра (#67)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192511" y="3849624"/>
            <a:ext cx="653924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247375" y="3858768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Цепь форсунки (#51)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71 / 162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АКТИВНЫЕ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Активные ошибки и связь с отказом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18288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Активные / ключевые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92224"/>
            <a:ext cx="1090879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#61 → FC 628 «Малое отклонение EGT» (тепловой дисбаланс)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#67 → FC 1619 «датчик EGT цилиндра» (отказ датчика)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#51 → FC 1549/323/1557 «цепи форсунок»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FC 611 «остановка горячего двигателя» — на 46 машинах (массовые тепловые события).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383280"/>
            <a:ext cx="11274552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383280"/>
            <a:ext cx="91440" cy="13716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474720"/>
            <a:ext cx="10908792" cy="11887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Коды EGT-дисбаланса и «горячего стопа» по флоту — независимое подтверждение хронического перегрева, согласуются с DML (567°C) и KAMSS (коды 2137/2138 EGT цил.14/16).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72 / 162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Телеметрия DML (EGT)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73 / 162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DML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DML — методика и режимы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14630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10908792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Лог-файлы движения (INSITE): EGT по 16 цилиндрам (A=ECM144 нечёт., B=ECM1 чёт.), обороты, давления (рампа/масло/наддув), T масла/ОЖ. Машина #82 — с породой и без; есть лог после ремонта.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017520"/>
            <a:ext cx="2818638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3026663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Режим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74720"/>
            <a:ext cx="28186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" y="3483863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Без породы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931920"/>
            <a:ext cx="28186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941063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 породой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89120"/>
            <a:ext cx="28186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" y="439826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Горячие цил.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75838" y="3017520"/>
            <a:ext cx="2254910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0702" y="3026663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75838" y="3474720"/>
            <a:ext cx="225491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30702" y="3483863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21%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75838" y="3931920"/>
            <a:ext cx="225491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30702" y="3941063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88%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75838" y="4389120"/>
            <a:ext cx="225491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30702" y="439826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30748" y="3017520"/>
            <a:ext cx="2254910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85612" y="3026663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Ср. EGT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530748" y="3474720"/>
            <a:ext cx="225491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85612" y="3483863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287°C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530748" y="3931920"/>
            <a:ext cx="225491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85612" y="3941063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474°C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30748" y="4389120"/>
            <a:ext cx="225491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85612" y="439826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567°C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85658" y="3017520"/>
            <a:ext cx="3946093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40522" y="3026663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Примечание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85658" y="3474720"/>
            <a:ext cx="3946093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40522" y="3483863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85658" y="3931920"/>
            <a:ext cx="3946093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40522" y="3941063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рост +187°C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85658" y="4389120"/>
            <a:ext cx="3946093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40522" y="4398264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Ц2, Ц6 (&gt;520)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74 / 162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DML · EGT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EGT по цилиндрам (#82)</a:t>
            </a:r>
          </a:p>
        </p:txBody>
      </p:sp>
      <p:pic>
        <p:nvPicPr>
          <p:cNvPr id="8" name="Picture 7" descr="eg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29087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Ц2/Ц6 = 567°C; датчик Ц11 неисправен (~98°C, FC1531).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75 / 162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DML · ПАРАМЕТРЫ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Банковая асимметрия и давления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+60°C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банк B горячее 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1929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макс. об/мин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110°C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T масла (с породой)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Асимметрия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Банк B (чётные цилиндры) систематически горячее банка A на ~60°C — признак дисбаланса корректирующей дозы (TIB). Совпадает с зоной самых дефектных форсунок (B-банк 6/8) и самых горячих цилиндров (Ц2, Ц6).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76 / 162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Дашборд форсунок (стенд CR-2)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77 / 162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ДАШБОРД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Дашборд форсунок — сводка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37160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84708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форсунок испытано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28016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280160"/>
            <a:ext cx="73152" cy="914400"/>
          </a:xfrm>
          <a:prstGeom prst="rect">
            <a:avLst/>
          </a:prstGeom>
          <a:solidFill>
            <a:srgbClr val="4E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872" y="137160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184708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машины (#73/#78/#82)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28016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28016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137160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184708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критичных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35440" y="1280160"/>
            <a:ext cx="24688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5440" y="128016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00032" y="1371600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59%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00032" y="1847088"/>
            <a:ext cx="22402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отказы на P04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377440"/>
            <a:ext cx="11274552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2377440"/>
            <a:ext cx="91440" cy="13716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24688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Обзор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2798064"/>
            <a:ext cx="10908792" cy="8595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Стенд «Поток CR-2», Cummins CRI. Испытаны форсунки 3 машин NTE200 (#73, #78, #82). Главный признак — отказы на ЧАСТИЧНЫХ режимах (P04 пилот 59%, P03 малая нагрузка). Полные данные — дашборд `dashboard_injectors.html` в песочнице.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886200"/>
            <a:ext cx="3200400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3895344"/>
            <a:ext cx="3108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Состояние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343400"/>
            <a:ext cx="32004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064" y="4352544"/>
            <a:ext cx="3108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✓ Годных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800600"/>
            <a:ext cx="320040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" y="4809744"/>
            <a:ext cx="3108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⚠ Внимание (1 откл.)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257800"/>
            <a:ext cx="32004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2064" y="5266944"/>
            <a:ext cx="3108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✗ Критичных (≥2)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0" y="3886200"/>
            <a:ext cx="1600200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712463" y="3895344"/>
            <a:ext cx="1508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Форсунок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0" y="4343400"/>
            <a:ext cx="16002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712463" y="4352544"/>
            <a:ext cx="1508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0" y="4800600"/>
            <a:ext cx="160020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12463" y="4809744"/>
            <a:ext cx="1508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0" y="5257800"/>
            <a:ext cx="16002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12463" y="5266944"/>
            <a:ext cx="1508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57800" y="3886200"/>
            <a:ext cx="1600200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12664" y="3895344"/>
            <a:ext cx="1508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Доля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57800" y="4343400"/>
            <a:ext cx="16002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12664" y="4352544"/>
            <a:ext cx="1508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36%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57800" y="4800600"/>
            <a:ext cx="160020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312664" y="4809744"/>
            <a:ext cx="1508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31%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57800" y="5257800"/>
            <a:ext cx="16002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12664" y="5266944"/>
            <a:ext cx="1508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31%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78 / 162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ГРИД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Состояние всех форсунок (статус-грид)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NTE200 #73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0" y="1325880"/>
            <a:ext cx="548640" cy="50292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0" y="1353312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L2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157276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41.7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04" y="1325880"/>
            <a:ext cx="548640" cy="5029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9504" y="1353312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9504" y="157276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62.1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10312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NTE200 #78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0" y="2103120"/>
            <a:ext cx="548640" cy="50292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86000" y="213055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235000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48.6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89504" y="2103120"/>
            <a:ext cx="548640" cy="5029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89504" y="213055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6L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9504" y="235000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54.3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93008" y="2103120"/>
            <a:ext cx="548640" cy="5029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93008" y="213055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4R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35000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53.7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96512" y="2103120"/>
            <a:ext cx="548640" cy="50292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96512" y="213055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6R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96512" y="235000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38.6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88036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NTE200 #82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86000" y="2880360"/>
            <a:ext cx="548640" cy="50292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86000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86000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48.4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9504" y="2880360"/>
            <a:ext cx="548640" cy="5029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89504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89504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51.4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93008" y="2880360"/>
            <a:ext cx="548640" cy="50292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93008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93008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44.0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96512" y="2880360"/>
            <a:ext cx="548640" cy="5029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096512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96512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30.7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700016" y="2880360"/>
            <a:ext cx="548640" cy="50292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00016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00016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40.8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303520" y="2880360"/>
            <a:ext cx="548640" cy="5029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03520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03520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60.7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07024" y="2880360"/>
            <a:ext cx="548640" cy="50292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07024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4L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07024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37.5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10528" y="2880360"/>
            <a:ext cx="548640" cy="50292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10528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4R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10528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36.9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114032" y="2880360"/>
            <a:ext cx="548640" cy="50292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114032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5L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14032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43.7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717536" y="2880360"/>
            <a:ext cx="548640" cy="50292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17536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5R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17536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42.5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21040" y="2880360"/>
            <a:ext cx="548640" cy="50292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21040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6L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49.6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924544" y="2880360"/>
            <a:ext cx="548640" cy="50292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924544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6R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924544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47.5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528048" y="2880360"/>
            <a:ext cx="548640" cy="50292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528048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7L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528048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32.8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131552" y="2880360"/>
            <a:ext cx="548640" cy="50292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131552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7R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131552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39.2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735056" y="2880360"/>
            <a:ext cx="548640" cy="50292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735056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8L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735056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47.2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1338560" y="2880360"/>
            <a:ext cx="548640" cy="5029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338560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8R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338560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27.8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57200" y="4206240"/>
            <a:ext cx="365760" cy="27432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14400" y="420624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годна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286000" y="4206240"/>
            <a:ext cx="365760" cy="27432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743200" y="420624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 откл. (внимание)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212080" y="4206240"/>
            <a:ext cx="365760" cy="2743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669280" y="42062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≥2 откл. (критично)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7200" y="47548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В ячейке — позиция форсунки и подача P04 (см³). Допуск P04: 41–51 см³.</a:t>
            </a:r>
          </a:p>
        </p:txBody>
      </p:sp>
      <p:sp>
        <p:nvSpPr>
          <p:cNvPr id="84" name="Rectangle 8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79 / 162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РЕЖИМЫ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Частота отказов по тестовым режимам</a:t>
            </a:r>
          </a:p>
        </p:txBody>
      </p:sp>
      <p:pic>
        <p:nvPicPr>
          <p:cNvPr id="8" name="Picture 7" descr="idm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60252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Отказы концентрируются на частичных режимах P03/P04 — признак износа плунжерной пары/иглы.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80 / 162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P04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Дозирование P04 по всем форсункам</a:t>
            </a:r>
          </a:p>
        </p:txBody>
      </p:sp>
      <p:pic>
        <p:nvPicPr>
          <p:cNvPr id="8" name="Picture 7" descr="idp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310265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Зелёная зона — допуск 41–51 см³; выше = перелив, ниже = недолив.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81 / 162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ТЕПЛОКАРТА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Тепловая карта отклонений форсунок</a:t>
            </a:r>
          </a:p>
        </p:txBody>
      </p:sp>
      <p:pic>
        <p:nvPicPr>
          <p:cNvPr id="8" name="Picture 7" descr="idh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407223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82 / 162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ТИПЫ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Классификация отказов форсунок</a:t>
            </a:r>
          </a:p>
        </p:txBody>
      </p:sp>
      <p:pic>
        <p:nvPicPr>
          <p:cNvPr id="8" name="Picture 7" descr="idt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4754880" cy="285292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0" y="1371600"/>
            <a:ext cx="621792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0" y="1371600"/>
            <a:ext cx="91440" cy="18288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87568" y="1463040"/>
            <a:ext cx="5897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Тип А — перелив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87568" y="1792224"/>
            <a:ext cx="5852159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Тип А — ПЕРЕЛИВ: износ иглы/седла распылителя → избыток топлива на ХХ → закоксовывание, локальное переобогащение, рост EGT.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0" y="3291840"/>
            <a:ext cx="62179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3291840"/>
            <a:ext cx="91440" cy="128016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87568" y="3383280"/>
            <a:ext cx="5897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Тип Б — недолив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87568" y="3712464"/>
            <a:ext cx="5852159" cy="7680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Тип Б — НЕДОЛИВ: износ плунжерной пары → недостаток топлива → неравномерность мощности, угроза перегрева ЦПГ.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4663440"/>
            <a:ext cx="621792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0" y="4663440"/>
            <a:ext cx="91440" cy="914400"/>
          </a:xfrm>
          <a:prstGeom prst="rect">
            <a:avLst/>
          </a:prstGeom>
          <a:solidFill>
            <a:srgbClr val="4E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87568" y="4754879"/>
            <a:ext cx="5897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Тип 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87568" y="5084064"/>
            <a:ext cx="5852159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Тип В — прецизионная пара/граничные отклонения.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83 / 162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АЛЕРТЫ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Критичные форсунки — детально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11274552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0972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33502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NTE200 №73 · R1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27631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Все 4 теста провалены. P03=41,5 (+38% от макс.) — перелив на ХХ, закоксовывание. P04=62,1 (+22%) — критический перелив.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133502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E05252"/>
                </a:solidFill>
                <a:latin typeface="Calibri"/>
              </a:rPr>
              <a:t>Тип А — Перелив (износ иглы/се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14600"/>
            <a:ext cx="11274552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514600"/>
            <a:ext cx="91440" cy="10972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56946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NTE200 №82 · 8R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862072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Критический недолив: P03=12,7 (-21% от мин.), P04=27,8 (-32%). Плунжерная пара полностью изношена. Угроза перегрева ЦПГ.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256946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E05252"/>
                </a:solidFill>
                <a:latin typeface="Calibri"/>
              </a:rPr>
              <a:t>Тип Б — Недолив (износ плунжер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1274552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749039"/>
            <a:ext cx="91440" cy="10972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03903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NTE200 №82 · 2R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096511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Критический недолив: P03=13,8 (-14% от мин.), P04=30,7 (-25%). Износ плунжерной пары.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79" y="3803903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E05252"/>
                </a:solidFill>
                <a:latin typeface="Calibri"/>
              </a:rPr>
              <a:t>Тип Б — Недолив (износ плунжер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83480"/>
            <a:ext cx="11274552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983480"/>
            <a:ext cx="91440" cy="10972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03834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NTE200 №82 · 3R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330952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Критический перелив: P04=60,7 (+19%). P03=31,3 (+4%). Износ иглы/седла. Риск закоксовывания и повреждения поршней.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79" y="503834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E05252"/>
                </a:solidFill>
                <a:latin typeface="Calibri"/>
              </a:rPr>
              <a:t>Тип А — Перелив (износ иглы/се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84 / 162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АЛЕРТЫ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Критичные форсунки — детально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11274552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0972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33502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NTE200 №78 · 6L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27631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P02=263,7 (+1,4%), P03=30,1 (на границе), P04=54,3 (+6%). Систематический перелив во всех режимах.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133502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E05252"/>
                </a:solidFill>
                <a:latin typeface="Calibri"/>
              </a:rPr>
              <a:t>Тип А+В — Прецизионный износ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14600"/>
            <a:ext cx="11274552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514600"/>
            <a:ext cx="91440" cy="10972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56946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NTE200 №78 · 4R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862072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P02=262,1 (+0,8%), P04=53,7 (+5%). Перелив на средней и частичной нагрузке.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256946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E05252"/>
                </a:solidFill>
                <a:latin typeface="Calibri"/>
              </a:rPr>
              <a:t>Тип А+В — Прецизионный износ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85 / 162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АЛЕРТЫ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Прочие отклонения форсунок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11274552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09728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33502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NTE200 №82 · 7L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27631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P04=32,8 (-20% от мин.). Значительный недолив на частичной нагрузке.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133502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E08C2E"/>
                </a:solidFill>
                <a:latin typeface="Calibri"/>
              </a:rPr>
              <a:t>Тип Б — Недолив (износ плунжер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14600"/>
            <a:ext cx="11274552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514600"/>
            <a:ext cx="91440" cy="109728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56946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NTE200 №82 · 4L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862072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P04=37,5 (-9%). Недолив на частичной нагрузке.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256946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E08C2E"/>
                </a:solidFill>
                <a:latin typeface="Calibri"/>
              </a:rPr>
              <a:t>Тип Б — Недолив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1274552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749039"/>
            <a:ext cx="91440" cy="109728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03903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NTE200 №82 · 4R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096511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P04=36,9 (-10%). Недолив на частичной нагрузке.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79" y="3803903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E08C2E"/>
                </a:solidFill>
                <a:latin typeface="Calibri"/>
              </a:rPr>
              <a:t>Тип Б — Недолив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83480"/>
            <a:ext cx="11274552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983480"/>
            <a:ext cx="91440" cy="109728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03834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NTE200 №82 · 7R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330952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P04=39,2 (-4%). Начальная стадия износа плунжера.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79" y="503834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E08C2E"/>
                </a:solidFill>
                <a:latin typeface="Calibri"/>
              </a:rPr>
              <a:t>Тип Б — Начальный износ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86 / 162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АЛЕРТЫ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Прочие отклонения форсунок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11274552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09728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33502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NTE200 №82 · 1R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27631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P03=30,1 (граница), P04=51,4 (граница). Пограничное состояние — быстрый выход за допуск.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133502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E08C2E"/>
                </a:solidFill>
                <a:latin typeface="Calibri"/>
              </a:rPr>
              <a:t>Тип А — Граница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14600"/>
            <a:ext cx="11274552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514600"/>
            <a:ext cx="91440" cy="109728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56946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NTE200 №82 · 3L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862072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P04=40,8 (чуть ниже минимума 41,0). Пограничное состояние.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256946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E08C2E"/>
                </a:solidFill>
                <a:latin typeface="Calibri"/>
              </a:rPr>
              <a:t>Тип Б — Граница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1274552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749039"/>
            <a:ext cx="91440" cy="109728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03903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NTE200 №78 · 3R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096511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P02=261,7 (+0,7%). Незначительное превышение.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79" y="3803903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E08C2E"/>
                </a:solidFill>
                <a:latin typeface="Calibri"/>
              </a:rPr>
              <a:t>Тип В — Умеренный износ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83480"/>
            <a:ext cx="11274552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983480"/>
            <a:ext cx="91440" cy="109728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03834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NTE200 №78 · 6R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330952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P04=38,6 (-6%). Умеренный недолив.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79" y="503834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E08C2E"/>
                </a:solidFill>
                <a:latin typeface="Calibri"/>
              </a:rPr>
              <a:t>Тип Б — Умеренный износ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87 / 162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#73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Форсунки #73 — полные значения стенда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03601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Поз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83080"/>
            <a:ext cx="112745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92224"/>
            <a:ext cx="103601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L2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40280"/>
            <a:ext cx="112745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249424"/>
            <a:ext cx="103601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R1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84655" y="1325880"/>
            <a:ext cx="2029419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39519" y="133502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Дата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84655" y="1783080"/>
            <a:ext cx="2029419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39519" y="179222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27.04.2026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84655" y="2240280"/>
            <a:ext cx="2029419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39519" y="224942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26.04.2026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14074" y="1325880"/>
            <a:ext cx="2029419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68938" y="133502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P01 (441–495)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14074" y="1783080"/>
            <a:ext cx="2029419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68938" y="179222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487.0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14074" y="2240280"/>
            <a:ext cx="2029419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68938" y="224942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503.0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43493" y="1325880"/>
            <a:ext cx="2029419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98357" y="133502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P02 (220–260)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43493" y="1783080"/>
            <a:ext cx="2029419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98357" y="179222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260.0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43493" y="2240280"/>
            <a:ext cx="2029419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98357" y="224942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276.1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72913" y="1325880"/>
            <a:ext cx="1465691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27777" y="1335024"/>
            <a:ext cx="137425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P03 (16–30)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72913" y="1783080"/>
            <a:ext cx="1465691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27777" y="1792224"/>
            <a:ext cx="137425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22.6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672913" y="2240280"/>
            <a:ext cx="1465691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27777" y="2249424"/>
            <a:ext cx="137425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41.5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38605" y="1325880"/>
            <a:ext cx="1465691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93469" y="1335024"/>
            <a:ext cx="137425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P04 (41–51)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38605" y="1783080"/>
            <a:ext cx="1465691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3469" y="1792224"/>
            <a:ext cx="137425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41.7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38605" y="2240280"/>
            <a:ext cx="1465691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93469" y="2249424"/>
            <a:ext cx="137425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62.1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604296" y="1325880"/>
            <a:ext cx="1127455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659160" y="1335024"/>
            <a:ext cx="103601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Статус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604296" y="1783080"/>
            <a:ext cx="112745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659160" y="1792224"/>
            <a:ext cx="103601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✓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604296" y="2240280"/>
            <a:ext cx="112745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659160" y="2249424"/>
            <a:ext cx="103601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88 / 162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#78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Форсунки #78 — полные значения стенда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03601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Поз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83080"/>
            <a:ext cx="112745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92224"/>
            <a:ext cx="103601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40280"/>
            <a:ext cx="112745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249424"/>
            <a:ext cx="103601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97480"/>
            <a:ext cx="112745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706624"/>
            <a:ext cx="103601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154680"/>
            <a:ext cx="112745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163824"/>
            <a:ext cx="103601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84655" y="1325880"/>
            <a:ext cx="2029419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39519" y="133502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Дата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84655" y="1783080"/>
            <a:ext cx="2029419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39519" y="179222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22.05.2026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84655" y="2240280"/>
            <a:ext cx="2029419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39519" y="224942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22.05.2026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584655" y="2697480"/>
            <a:ext cx="2029419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39519" y="270662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22.05.2026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84655" y="3154680"/>
            <a:ext cx="2029419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39519" y="316382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22.05.2026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14074" y="1325880"/>
            <a:ext cx="2029419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68938" y="133502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P01 (441–495)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14074" y="1783080"/>
            <a:ext cx="2029419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68938" y="179222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475.8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14074" y="2240280"/>
            <a:ext cx="2029419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68938" y="224942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479.1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14074" y="2697480"/>
            <a:ext cx="2029419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68938" y="270662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487.7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14074" y="3154680"/>
            <a:ext cx="2029419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68938" y="316382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488.5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43493" y="1325880"/>
            <a:ext cx="2029419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98357" y="133502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P02 (220–260)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43493" y="1783080"/>
            <a:ext cx="2029419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98357" y="179222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261.7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43493" y="2240280"/>
            <a:ext cx="2029419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98357" y="224942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263.7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43493" y="2697480"/>
            <a:ext cx="2029419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698357" y="270662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262.1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43493" y="3154680"/>
            <a:ext cx="2029419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98357" y="316382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227.9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672913" y="1325880"/>
            <a:ext cx="1465691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727777" y="1335024"/>
            <a:ext cx="137425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P03 (16–30)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672913" y="1783080"/>
            <a:ext cx="1465691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27777" y="1792224"/>
            <a:ext cx="137425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28.8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672913" y="2240280"/>
            <a:ext cx="1465691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27777" y="2249424"/>
            <a:ext cx="137425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30.1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672913" y="2697480"/>
            <a:ext cx="1465691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727777" y="2706624"/>
            <a:ext cx="137425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26.1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672913" y="3154680"/>
            <a:ext cx="1465691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27777" y="3163824"/>
            <a:ext cx="137425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28.6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138605" y="1325880"/>
            <a:ext cx="1465691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93469" y="1335024"/>
            <a:ext cx="137425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P04 (41–51)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138605" y="1783080"/>
            <a:ext cx="1465691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193469" y="1792224"/>
            <a:ext cx="137425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48.6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38605" y="2240280"/>
            <a:ext cx="1465691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193469" y="2249424"/>
            <a:ext cx="137425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54.3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138605" y="2697480"/>
            <a:ext cx="1465691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93469" y="2706624"/>
            <a:ext cx="137425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53.7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138605" y="3154680"/>
            <a:ext cx="1465691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193469" y="3163824"/>
            <a:ext cx="137425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38.6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604296" y="1325880"/>
            <a:ext cx="1127455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659160" y="1335024"/>
            <a:ext cx="103601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Статус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0604296" y="1783080"/>
            <a:ext cx="112745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659160" y="1792224"/>
            <a:ext cx="103601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⚠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604296" y="2240280"/>
            <a:ext cx="112745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659160" y="2249424"/>
            <a:ext cx="103601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604296" y="2697480"/>
            <a:ext cx="112745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659160" y="2706624"/>
            <a:ext cx="103601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604296" y="3154680"/>
            <a:ext cx="112745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659160" y="3163824"/>
            <a:ext cx="103601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⚠</a:t>
            </a:r>
          </a:p>
        </p:txBody>
      </p:sp>
      <p:sp>
        <p:nvSpPr>
          <p:cNvPr id="78" name="Rectangle 7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89 / 162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#82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Форсунки #82 — полные значения стенда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Поз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36776"/>
            <a:ext cx="1127455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645920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947672"/>
            <a:ext cx="1127455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1956815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258568"/>
            <a:ext cx="1127455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267711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569463"/>
            <a:ext cx="1127455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2578607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880359"/>
            <a:ext cx="1127455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2889503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191255"/>
            <a:ext cx="1127455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200399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502151"/>
            <a:ext cx="1127455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3511295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813047"/>
            <a:ext cx="1127455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3822191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123943"/>
            <a:ext cx="1127455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133087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434839"/>
            <a:ext cx="1127455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4443983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745735"/>
            <a:ext cx="1127455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064" y="4754879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5056631"/>
            <a:ext cx="1127455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" y="5065775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367527"/>
            <a:ext cx="1127455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2064" y="5376671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678423"/>
            <a:ext cx="1127455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2064" y="5687567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5989319"/>
            <a:ext cx="1127455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2064" y="5998463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6300215"/>
            <a:ext cx="1127455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2064" y="6309359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584655" y="1325880"/>
            <a:ext cx="2029419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639519" y="1335024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Дата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584655" y="1636776"/>
            <a:ext cx="2029419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639519" y="1645920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584655" y="1947672"/>
            <a:ext cx="2029419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39519" y="1956815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584655" y="2258568"/>
            <a:ext cx="2029419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639519" y="2267711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584655" y="2569463"/>
            <a:ext cx="2029419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639519" y="2578607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584655" y="2880359"/>
            <a:ext cx="2029419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39519" y="2889503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584655" y="3191255"/>
            <a:ext cx="2029419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639519" y="3200399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584655" y="3502151"/>
            <a:ext cx="2029419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639519" y="3511295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584655" y="3813047"/>
            <a:ext cx="2029419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639519" y="3822191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584655" y="4123943"/>
            <a:ext cx="2029419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639519" y="4133087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584655" y="4434839"/>
            <a:ext cx="2029419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39519" y="4443983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584655" y="4745735"/>
            <a:ext cx="2029419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639519" y="4754879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584655" y="5056631"/>
            <a:ext cx="2029419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639519" y="5065775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584655" y="5367527"/>
            <a:ext cx="2029419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39519" y="5376671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584655" y="5678423"/>
            <a:ext cx="2029419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639519" y="5687567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584655" y="5989319"/>
            <a:ext cx="2029419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639519" y="5998463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584655" y="6300215"/>
            <a:ext cx="2029419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39519" y="6309359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14074" y="1325880"/>
            <a:ext cx="2029419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668938" y="1335024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P01 (441–495)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14074" y="1636776"/>
            <a:ext cx="2029419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68938" y="1645920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467.4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614074" y="1947672"/>
            <a:ext cx="2029419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668938" y="1956815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469.6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614074" y="2258568"/>
            <a:ext cx="2029419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668938" y="2267711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467.9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614074" y="2569463"/>
            <a:ext cx="2029419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668938" y="2578607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464.0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614074" y="2880359"/>
            <a:ext cx="2029419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668938" y="2889503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465.3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14074" y="3191255"/>
            <a:ext cx="2029419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68938" y="3200399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485.5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614074" y="3502151"/>
            <a:ext cx="2029419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668938" y="3511295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463.3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614074" y="3813047"/>
            <a:ext cx="2029419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668938" y="3822191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463.9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614074" y="4123943"/>
            <a:ext cx="2029419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668938" y="4133087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459.8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14074" y="4434839"/>
            <a:ext cx="2029419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68938" y="4443983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471.7</a:t>
            </a:r>
          </a:p>
        </p:txBody>
      </p:sp>
      <p:sp>
        <p:nvSpPr>
          <p:cNvPr id="98" name="Rectangle 97"/>
          <p:cNvSpPr/>
          <p:nvPr/>
        </p:nvSpPr>
        <p:spPr>
          <a:xfrm>
            <a:off x="3614074" y="4745735"/>
            <a:ext cx="2029419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668938" y="4754879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473.9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3614074" y="5056631"/>
            <a:ext cx="2029419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668938" y="5065775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475.1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614074" y="5367527"/>
            <a:ext cx="2029419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668938" y="5376671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463.9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614074" y="5678423"/>
            <a:ext cx="2029419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668938" y="5687567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462.9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614074" y="5989319"/>
            <a:ext cx="2029419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668938" y="5998463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474.3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614074" y="6300215"/>
            <a:ext cx="2029419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668938" y="6309359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456.1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43493" y="1325880"/>
            <a:ext cx="2029419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698357" y="1335024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P02 (220–260)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43493" y="1636776"/>
            <a:ext cx="2029419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698357" y="1645920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248.2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643493" y="1947672"/>
            <a:ext cx="2029419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698357" y="1956815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250.5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43493" y="2258568"/>
            <a:ext cx="2029419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698357" y="2267711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243.1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643493" y="2569463"/>
            <a:ext cx="2029419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698357" y="2578607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239.9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643493" y="2880359"/>
            <a:ext cx="2029419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698357" y="2889503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243.4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43493" y="3191255"/>
            <a:ext cx="2029419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698357" y="3200399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256.4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643493" y="3502151"/>
            <a:ext cx="2029419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698357" y="3511295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241.3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43493" y="3813047"/>
            <a:ext cx="2029419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698357" y="3822191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241.9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643493" y="4123943"/>
            <a:ext cx="2029419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698357" y="4133087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242.1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643493" y="4434839"/>
            <a:ext cx="2029419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698357" y="4443983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247.2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5643493" y="4745735"/>
            <a:ext cx="2029419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698357" y="4754879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250.7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5643493" y="5056631"/>
            <a:ext cx="2029419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5698357" y="5065775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247.9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43493" y="5367527"/>
            <a:ext cx="2029419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698357" y="5376671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239.5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5643493" y="5678423"/>
            <a:ext cx="2029419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5698357" y="5687567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244.1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643493" y="5989319"/>
            <a:ext cx="2029419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698357" y="5998463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248.1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643493" y="6300215"/>
            <a:ext cx="2029419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698357" y="6309359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236.9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672913" y="1325880"/>
            <a:ext cx="1465691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727777" y="1335024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P03 (16–30)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7672913" y="1636776"/>
            <a:ext cx="1465691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7727777" y="1645920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24.8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672913" y="1947672"/>
            <a:ext cx="1465691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7727777" y="1956815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30.1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672913" y="2258568"/>
            <a:ext cx="1465691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727777" y="2267711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22.8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7672913" y="2569463"/>
            <a:ext cx="1465691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7727777" y="2578607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13.8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7672913" y="2880359"/>
            <a:ext cx="1465691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7727777" y="2889503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19.4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7672913" y="3191255"/>
            <a:ext cx="1465691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7727777" y="3200399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31.3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672913" y="3502151"/>
            <a:ext cx="1465691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7727777" y="3511295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18.7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7672913" y="3813047"/>
            <a:ext cx="1465691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7727777" y="3822191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17.7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7672913" y="4123943"/>
            <a:ext cx="1465691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7727777" y="4133087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24.0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7672913" y="4434839"/>
            <a:ext cx="1465691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7727777" y="4443983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20.0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7672913" y="4745735"/>
            <a:ext cx="1465691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7727777" y="4754879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24.4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7672913" y="5056631"/>
            <a:ext cx="1465691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7727777" y="5065775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23.9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7672913" y="5367527"/>
            <a:ext cx="1465691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7727777" y="5376671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16.2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7672913" y="5678423"/>
            <a:ext cx="1465691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7727777" y="5687567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19.2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7672913" y="5989319"/>
            <a:ext cx="1465691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7727777" y="5998463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23.7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7672913" y="6300215"/>
            <a:ext cx="1465691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7727777" y="6309359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12.7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9138605" y="1325880"/>
            <a:ext cx="1465691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9193469" y="1335024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P04 (41–51)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9138605" y="1636776"/>
            <a:ext cx="1465691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9193469" y="1645920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48.4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138605" y="1947672"/>
            <a:ext cx="1465691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193469" y="1956815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51.4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9138605" y="2258568"/>
            <a:ext cx="1465691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9193469" y="2267711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44.0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9138605" y="2569463"/>
            <a:ext cx="1465691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9193469" y="2578607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30.7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9138605" y="2880359"/>
            <a:ext cx="1465691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9193469" y="2889503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40.8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9138605" y="3191255"/>
            <a:ext cx="1465691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9193469" y="3200399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60.7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9138605" y="3502151"/>
            <a:ext cx="1465691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9193469" y="3511295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37.5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9138605" y="3813047"/>
            <a:ext cx="1465691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9193469" y="3822191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36.9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9138605" y="4123943"/>
            <a:ext cx="1465691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9193469" y="4133087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43.7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9138605" y="4434839"/>
            <a:ext cx="1465691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9193469" y="4443983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42.5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9138605" y="4745735"/>
            <a:ext cx="1465691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9193469" y="4754879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49.6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9138605" y="5056631"/>
            <a:ext cx="1465691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9193469" y="5065775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47.5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9138605" y="5367527"/>
            <a:ext cx="1465691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9193469" y="5376671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32.8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9138605" y="5678423"/>
            <a:ext cx="1465691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9193469" y="5687567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39.2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9138605" y="5989319"/>
            <a:ext cx="1465691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9193469" y="5998463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47.2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9138605" y="6300215"/>
            <a:ext cx="1465691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9193469" y="6309359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27.8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10604296" y="1325880"/>
            <a:ext cx="112745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10659160" y="1335024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Статус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0604296" y="1636776"/>
            <a:ext cx="1127455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10659160" y="1645920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✓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10604296" y="1947672"/>
            <a:ext cx="1127455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10659160" y="1956815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218" name="Rectangle 217"/>
          <p:cNvSpPr/>
          <p:nvPr/>
        </p:nvSpPr>
        <p:spPr>
          <a:xfrm>
            <a:off x="10604296" y="2258568"/>
            <a:ext cx="1127455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10659160" y="2267711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✓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10604296" y="2569463"/>
            <a:ext cx="1127455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10659160" y="2578607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10604296" y="2880359"/>
            <a:ext cx="1127455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10659160" y="2889503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⚠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10604296" y="3191255"/>
            <a:ext cx="1127455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10659160" y="3200399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10604296" y="3502151"/>
            <a:ext cx="1127455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10659160" y="3511295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⚠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10604296" y="3813047"/>
            <a:ext cx="1127455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10659160" y="3822191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⚠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10604296" y="4123943"/>
            <a:ext cx="1127455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10659160" y="4133087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✓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10604296" y="4434839"/>
            <a:ext cx="1127455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10659160" y="4443983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✓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10604296" y="4745735"/>
            <a:ext cx="1127455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10659160" y="4754879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✓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10604296" y="5056631"/>
            <a:ext cx="1127455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10659160" y="5065775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✓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10604296" y="5367527"/>
            <a:ext cx="1127455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10659160" y="5376671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⚠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10604296" y="5678423"/>
            <a:ext cx="1127455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10659160" y="5687567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⚠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604296" y="5989319"/>
            <a:ext cx="1127455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659160" y="5998463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✓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10604296" y="6300215"/>
            <a:ext cx="1127455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10659160" y="6309359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90 / 162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КОРРЕЛЯЦИЯ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Корреляция: форсунка ↔ цилиндр ↔ EGT (#82)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2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91440" cy="11887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1732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Ключевая корреляция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46504"/>
            <a:ext cx="10908792" cy="67665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Два самых горячих цилиндра Ц2 и Ц6 (567°C) — форсунки 1R и 3R, обе с ПЕРЕЛИВОМ на P03/P04 → локальное переобогащение → рост EGT → термоудар клапана.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697480"/>
            <a:ext cx="3072384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706624"/>
            <a:ext cx="298094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Показатель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154680"/>
            <a:ext cx="307238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3163824"/>
            <a:ext cx="298094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Дефектных форсунок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611880"/>
            <a:ext cx="307238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621024"/>
            <a:ext cx="298094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Средняя EGT (DML)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069080"/>
            <a:ext cx="307238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4078224"/>
            <a:ext cx="298094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Горячие цилиндры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29584" y="2697480"/>
            <a:ext cx="2304288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84448" y="2706624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A-банк (L)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29584" y="3154680"/>
            <a:ext cx="230428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84448" y="3163824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3/8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29584" y="3611880"/>
            <a:ext cx="230428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448" y="3621024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~465°C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29584" y="4069080"/>
            <a:ext cx="230428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84448" y="4078224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33872" y="2697480"/>
            <a:ext cx="2304288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88736" y="2706624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B-банк (R)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33872" y="3154680"/>
            <a:ext cx="230428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88736" y="3163824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6/8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833872" y="3611880"/>
            <a:ext cx="230428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88736" y="3621024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~525°C (+60)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33872" y="4069080"/>
            <a:ext cx="230428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88736" y="4078224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Ц2=567, Ц6=567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321040" y="2697480"/>
            <a:ext cx="3383280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321040" y="2697480"/>
            <a:ext cx="91440" cy="192024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22208" y="2788920"/>
            <a:ext cx="3063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Роль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22208" y="3118104"/>
            <a:ext cx="3017520" cy="1408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Форсунки — отягчающий фактор поверх калибровки ЭБУ. Перелив усиливает перегрев в горячих цилиндрах; недолив даёт неравномерность.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91 / 162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Топливо и чистота (ISO 4406)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92 / 162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ТОПЛИВО · СЕРА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Качество топлива по сере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2–10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сера, мг/кг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6,7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среднее, мг/кг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≤10 (Е5)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класс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011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01168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Сера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4996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25+ паспортов: сера в 2,4× ниже порога Cummins (15 ppm). Топливо по сере ИСКЛЮЧЕНО как причина. Нарушение: паспорт №246 (декларация ЕАЭС истекла 24.10.2025).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93 / 162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ТОПЛИВО · ЧИСТОТА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Чистота топлива ISO 4406</a:t>
            </a:r>
          </a:p>
        </p:txBody>
      </p:sp>
      <p:pic>
        <p:nvPicPr>
          <p:cNvPr id="8" name="Picture 7" descr="fu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212080" cy="279218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852160" y="1463040"/>
            <a:ext cx="1170432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07024" y="14721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1920240"/>
            <a:ext cx="117043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07024" y="19293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0" y="2377440"/>
            <a:ext cx="1170432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07024" y="23865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52160" y="2834640"/>
            <a:ext cx="117043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07024" y="28437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0" y="3291840"/>
            <a:ext cx="1170432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07024" y="33009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22592" y="1463040"/>
            <a:ext cx="2340864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77456" y="1472184"/>
            <a:ext cx="224942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После тонкой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22592" y="1920240"/>
            <a:ext cx="234086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77456" y="1929384"/>
            <a:ext cx="224942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17/13/13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22592" y="2377440"/>
            <a:ext cx="234086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77456" y="2386584"/>
            <a:ext cx="224942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19/16/14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22592" y="2834640"/>
            <a:ext cx="234086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77456" y="2843784"/>
            <a:ext cx="224942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21/18/17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22592" y="3291840"/>
            <a:ext cx="234086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77456" y="3300984"/>
            <a:ext cx="224942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21/16/14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363456" y="1463040"/>
            <a:ext cx="1170432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0" y="14721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18/16/13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63456" y="1920240"/>
            <a:ext cx="117043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18320" y="19293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363456" y="2377440"/>
            <a:ext cx="1170432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18320" y="23865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363456" y="2834640"/>
            <a:ext cx="117043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18320" y="28437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363456" y="3291840"/>
            <a:ext cx="1170432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18320" y="33009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533888" y="1463040"/>
            <a:ext cx="1170432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88752" y="14721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12/9/6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533888" y="1920240"/>
            <a:ext cx="117043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88752" y="19293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533888" y="2377440"/>
            <a:ext cx="1170432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588752" y="23865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533888" y="2834640"/>
            <a:ext cx="117043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588752" y="28437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533888" y="3291840"/>
            <a:ext cx="1170432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588752" y="33009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52160" y="3291840"/>
            <a:ext cx="5852160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852160" y="3291840"/>
            <a:ext cx="91440" cy="219456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53328" y="3383280"/>
            <a:ext cx="5532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53328" y="3712464"/>
            <a:ext cx="5486400" cy="16824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Норма Cummins (бак) 18/16/13; цель «вход в цилиндры» (Fleetguard/Горная Евразия) 12/9/6. Цель не достигается нигде; фильтр грубой очистки местами УХУДШАЕТ чистоту. Топливо одно для NTE200 и 730E → не дифференцирует, но угрожает форсункам MCRS (2–5 мкм).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94 / 162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Обследование KAMSS (3 единицы)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95 / 162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KAMSS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KAMSS — обследование 3 единиц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1645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16459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INSITE-коды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92224"/>
            <a:ext cx="10908792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Фото-отчёт KAMSS (INSITE-диагностика + дефектация). По коды неисправностей двигателей: 2138/2137 «температура EGT цилиндров 16(B8)/14(B7) выше нормы», 622 «отклонение EGT цил.3», защита: низкий уровень ОЖ (235), давление картерных газов (556).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00400"/>
            <a:ext cx="11274552" cy="1645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200400"/>
            <a:ext cx="91440" cy="164592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29184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Дефектация клапанов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621024"/>
            <a:ext cx="10908792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Дефектация: фото эрозии рабочих фасок выпускных клапанов (тарелка/седло). Подтверждает термический характер повреждения и перегрев именно B-банка — согласуется с DML и кодами ECM.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96 / 162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KAMSS · ФОТО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KAMSS — визуальные свидетельства</a:t>
            </a:r>
          </a:p>
        </p:txBody>
      </p:sp>
      <p:pic>
        <p:nvPicPr>
          <p:cNvPr id="8" name="Picture 7" descr="image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86400" cy="3476764"/>
          </a:xfrm>
          <a:prstGeom prst="rect">
            <a:avLst/>
          </a:prstGeom>
        </p:spPr>
      </p:pic>
      <p:pic>
        <p:nvPicPr>
          <p:cNvPr id="9" name="Picture 8" descr="image13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486400" cy="126477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293136"/>
                </a:solidFill>
                <a:latin typeface="Calibri"/>
              </a:rPr>
              <a:t>Слева — INSITE коды EGT по цилиндрам; справа — эрозия фаски выпускного клапана.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97 / 162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Контрольная группа 730E-DC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98 / 162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730E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730E-DC — паритет условий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382365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Фактор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28800"/>
            <a:ext cx="338236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37943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Двигатель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86000"/>
            <a:ext cx="338236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29514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Топливо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743200"/>
            <a:ext cx="338236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75234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Масло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00400"/>
            <a:ext cx="338236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20954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TIB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57600"/>
            <a:ext cx="338236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6674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Защиты перегрева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114800"/>
            <a:ext cx="338236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12394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Отказы ГБЦ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39565" y="1371600"/>
            <a:ext cx="2818638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94429" y="13807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NTE200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39565" y="1828800"/>
            <a:ext cx="28186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94429" y="1837943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QSK50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39565" y="2286000"/>
            <a:ext cx="28186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94429" y="22951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Е5, 6,7 мг/кг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39565" y="2743200"/>
            <a:ext cx="28186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94429" y="27523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CI-4 15W-40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39565" y="3200400"/>
            <a:ext cx="28186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94429" y="32095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39565" y="3657600"/>
            <a:ext cx="28186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94429" y="36667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ОТКЛ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39565" y="4114800"/>
            <a:ext cx="28186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94429" y="41239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58203" y="1371600"/>
            <a:ext cx="2818638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13067" y="13807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730E-DC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658203" y="1828800"/>
            <a:ext cx="28186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13067" y="1837943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QSK50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58203" y="2286000"/>
            <a:ext cx="28186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13067" y="22951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 же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58203" y="2743200"/>
            <a:ext cx="28186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13067" y="27523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 же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658203" y="3200400"/>
            <a:ext cx="28186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13067" y="32095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658203" y="3657600"/>
            <a:ext cx="28186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713067" y="36667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Вкл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658203" y="4114800"/>
            <a:ext cx="28186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713067" y="41239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476841" y="1371600"/>
            <a:ext cx="2254910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531705" y="138074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Дифференц.?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476841" y="1828800"/>
            <a:ext cx="225491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531705" y="1837943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нет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476841" y="2286000"/>
            <a:ext cx="225491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531705" y="229514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нет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476841" y="2743200"/>
            <a:ext cx="225491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531705" y="275234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нет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476841" y="3200400"/>
            <a:ext cx="225491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531705" y="320954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ДА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476841" y="3657600"/>
            <a:ext cx="225491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531705" y="366674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476841" y="4114800"/>
            <a:ext cx="225491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531705" y="412394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ДА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" y="4937760"/>
            <a:ext cx="11274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7200" y="4937760"/>
            <a:ext cx="91440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8" y="5029200"/>
            <a:ext cx="1090879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Единственные дифференцирующие факторы — в калибровке ЭБУ. При прочих равных 730E с TIB=100% и включёнными защитами — 0 отказов ГБЦ.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99 / 162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Опровержение версий NHL / CCEC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100 / 162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ПЕРЕПИСКА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Оценка аргументов NHL и Cummins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6201003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61095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Тезис письма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620100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61095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NHL: зольность масла (SAPS)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6201003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61095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NHL: запылённость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620100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61095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NHL: Stellite не нужен «для rated»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6201003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92423"/>
            <a:ext cx="61095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Cummins: масло CES20078 достаточно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620100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3"/>
            <a:ext cx="61095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Cummins: на NTE200 защита по T масла ОТКЛ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6201003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398263"/>
            <a:ext cx="61095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Cummins: «не поставляет Stellite»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58203" y="1371600"/>
            <a:ext cx="5073548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13067" y="1380744"/>
            <a:ext cx="49821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Вердикт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58203" y="1874519"/>
            <a:ext cx="507354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13067" y="1883663"/>
            <a:ext cx="49821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 опровергнут (низкая сажа 0,3)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58203" y="2377439"/>
            <a:ext cx="5073548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13067" y="2386583"/>
            <a:ext cx="49821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 переоценка (Si низкий)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58203" y="2880359"/>
            <a:ext cx="507354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13067" y="2889503"/>
            <a:ext cx="49821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 NTE200 ≠ rated (567°C); факт признан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58203" y="3383279"/>
            <a:ext cx="5073548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13067" y="3392423"/>
            <a:ext cx="49821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 уход от корня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58203" y="3886199"/>
            <a:ext cx="507354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13067" y="3895343"/>
            <a:ext cx="49821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 ПОДТВЕРЖДАЕТ нашу находку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58203" y="4389119"/>
            <a:ext cx="5073548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13067" y="4398263"/>
            <a:ext cx="49821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 уход от ответственности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101 / 162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CCEC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Статистическое опровержение зольной версии</a:t>
            </a:r>
          </a:p>
        </p:txBody>
      </p:sp>
      <p:pic>
        <p:nvPicPr>
          <p:cNvPr id="8" name="Picture 7" descr="oil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60252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Низкий Fe и сажа → не абразивный/зольный износ.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102 / 162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13.5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Проверка гипотез (best practice)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103 / 162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ГИПОТЕЗЫ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Формулировка конкурирующих гипотез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2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91440" cy="155448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1732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Две гипотезы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46504"/>
            <a:ext cx="10908792" cy="10424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H1 (термическая): первична калибровка ЭБУ (TIB, отключённые защиты) → перегрев → выгорание клапанов.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H2 (контаминационная): первичны пыль (негерметичность впуска) + загрязнение топлива → абразивно-механический износ (втулки/стержни клапанов, форсунки); ЭБУ — усугубляющий усилитель.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063240"/>
            <a:ext cx="11274552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063240"/>
            <a:ext cx="91440" cy="13716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1546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Принцип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483864"/>
            <a:ext cx="10908792" cy="8595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Метод проверки: сопоставление сигнатур отказа. Термическая → выгорание/эрозия ФАСКИ клапана, высокая EGT. Абразивная → износ НАПРАВЛЯЮЩИХ ВТУЛОК и СТЕРЖНЕЙ, повышенный Si в масле. Реальные отчёты содержат ОБА признака → проверяем вклад каждого по данным.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104 / 162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H2 · 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Доказательства за H2: пыль и впуск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4735311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464387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Доказательство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83080"/>
            <a:ext cx="4735311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92224"/>
            <a:ext cx="464387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Критическое засорение возд. фильтров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40280"/>
            <a:ext cx="4735311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249424"/>
            <a:ext cx="464387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«Высокая запылённость карьера»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97480"/>
            <a:ext cx="4735311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706624"/>
            <a:ext cx="464387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Коррозия ОНВ + ОЖ на впуске ГБЦ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154680"/>
            <a:ext cx="4735311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163824"/>
            <a:ext cx="464387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Износ направляющих втулок (вне допуска)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11880"/>
            <a:ext cx="4735311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21024"/>
            <a:ext cx="464387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Деформация/выработка стержня клапана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069080"/>
            <a:ext cx="4735311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078224"/>
            <a:ext cx="464387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Осадок/вода в топл. сепараторе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92511" y="1325880"/>
            <a:ext cx="3382365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47375" y="133502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Источник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92511" y="1783080"/>
            <a:ext cx="338236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47375" y="179222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Техотчёт #69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92511" y="2240280"/>
            <a:ext cx="338236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47375" y="224942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Техотчёт #69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92511" y="2697480"/>
            <a:ext cx="338236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47375" y="270662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Эндоскопия впуска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92511" y="3154680"/>
            <a:ext cx="338236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47375" y="316382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Техотчёты #54/#78/#87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92511" y="3611880"/>
            <a:ext cx="338236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47375" y="362102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Техотчёты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92511" y="4069080"/>
            <a:ext cx="338236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47375" y="407822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Фото отстойников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574877" y="1325880"/>
            <a:ext cx="3156874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29741" y="1335024"/>
            <a:ext cx="306543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Сигнатура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574877" y="1783080"/>
            <a:ext cx="315687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29741" y="1792224"/>
            <a:ext cx="306543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пылевая среда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574877" y="2240280"/>
            <a:ext cx="315687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29741" y="2249424"/>
            <a:ext cx="306543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среда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574877" y="2697480"/>
            <a:ext cx="315687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29741" y="2706624"/>
            <a:ext cx="306543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негерметичн. впуска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574877" y="3154680"/>
            <a:ext cx="315687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29741" y="3163824"/>
            <a:ext cx="306543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абразив/механика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74877" y="3611880"/>
            <a:ext cx="315687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29741" y="3621024"/>
            <a:ext cx="306543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абразив/механика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574877" y="4069080"/>
            <a:ext cx="315687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29741" y="4078224"/>
            <a:ext cx="306543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загрязн. топлива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105 / 162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H2 · ФОТО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Доказательства H2 — визуально</a:t>
            </a:r>
          </a:p>
        </p:txBody>
      </p:sp>
      <p:pic>
        <p:nvPicPr>
          <p:cNvPr id="8" name="Picture 7" descr="IMG_20260616_140405_3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154680" cy="4206240"/>
          </a:xfrm>
          <a:prstGeom prst="rect">
            <a:avLst/>
          </a:prstGeom>
        </p:spPr>
      </p:pic>
      <p:pic>
        <p:nvPicPr>
          <p:cNvPr id="9" name="Picture 8" descr="IMG_20260616_140420_60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371600"/>
            <a:ext cx="3154680" cy="42062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686800" y="1371600"/>
            <a:ext cx="3017520" cy="4206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0" y="1371600"/>
            <a:ext cx="91440" cy="42062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87968" y="1463040"/>
            <a:ext cx="269747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Отстойник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87968" y="1792224"/>
            <a:ext cx="2651760" cy="3694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Топливный отстойник: осадок/вода на дне колбы; вокруг — густая пыль. Подтверждает загрязнение топлива и запылённость среды (H2).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106 / 162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H2 · ПРОТИВ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Контрдоказательства против H2 (масло)</a:t>
            </a:r>
          </a:p>
        </p:txBody>
      </p:sp>
      <p:pic>
        <p:nvPicPr>
          <p:cNvPr id="8" name="Picture 7" descr="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212080" cy="279218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852160" y="1371600"/>
            <a:ext cx="5852160" cy="4114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52160" y="1371600"/>
            <a:ext cx="91440" cy="41148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53328" y="1463040"/>
            <a:ext cx="5532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Объективная оговорка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53328" y="1792224"/>
            <a:ext cx="5486400" cy="3602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Если бы пыль массово попадала в цилиндры через впуск, в масле ДВС вырос бы кремний (Si) и железо (Fe). Факт: Si P95=4 ppm (порог ~15), лишь 0,3% проб &gt;15; Fe P95=6 ppm — НИЗКИЕ. ⇒ Массовый абразивный пылевой износ масло НЕ подтверждает. Всплески Si единичны (#88=50, #53=31) — эпизодические/локальные события, не системные.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107 / 162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H2 · ТОПЛИВО→ФОРСУНКИ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Цепь: загрязнение топлива → форсунки</a:t>
            </a:r>
          </a:p>
        </p:txBody>
      </p:sp>
      <p:pic>
        <p:nvPicPr>
          <p:cNvPr id="8" name="Picture 7" descr="p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29087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8C2E"/>
                </a:solidFill>
                <a:latin typeface="Calibri"/>
              </a:rPr>
              <a:t>Грязное топливо (ISO хуже 18/16/13) → износ плунжерных пар → разброс дозирования P04 (перелив/недолив) → дисбаланс сгорания и EGT.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108 / 162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ВЕРДИКТ ПО ГИПОТЕЗАМ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Матрица проверки гипотез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3044129" cy="54864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295268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Фактор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3044129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295268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Пыль/впуск (H2)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423160"/>
            <a:ext cx="3044129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432303"/>
            <a:ext cx="295268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Топливо/форсунки (H2)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971800"/>
            <a:ext cx="3044129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980944"/>
            <a:ext cx="295268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Калибровка ЭБУ (H1)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520440"/>
            <a:ext cx="3044129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529584"/>
            <a:ext cx="295268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Конструкция (нет Stellite)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1329" y="1325880"/>
            <a:ext cx="3382365" cy="54864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56193" y="1335024"/>
            <a:ext cx="329092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Доказ. ЗА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01329" y="1874519"/>
            <a:ext cx="3382365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56193" y="1883663"/>
            <a:ext cx="329092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фильтры, ОНВ, втулки/стержни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01329" y="2423160"/>
            <a:ext cx="3382365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56193" y="2432303"/>
            <a:ext cx="329092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ISO плохой, осадок, разброс P04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01329" y="2971800"/>
            <a:ext cx="3382365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56193" y="2980944"/>
            <a:ext cx="329092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15 параметров, EGT 567, коды EGT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01329" y="3520440"/>
            <a:ext cx="3382365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56193" y="3529584"/>
            <a:ext cx="329092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признано NHL/Cummins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83694" y="1325880"/>
            <a:ext cx="2818638" cy="54864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38558" y="1335024"/>
            <a:ext cx="272719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Доказ. ПРОТИВ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83694" y="1874519"/>
            <a:ext cx="2818638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38558" y="1883663"/>
            <a:ext cx="272719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Si/Fe низкие в масле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83694" y="2423160"/>
            <a:ext cx="2818638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38558" y="2432303"/>
            <a:ext cx="272719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сера в норме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83694" y="2971800"/>
            <a:ext cx="2818638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38558" y="2980944"/>
            <a:ext cx="272719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83694" y="3520440"/>
            <a:ext cx="2818638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38558" y="3529584"/>
            <a:ext cx="272719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730E без Stellite не ломается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702332" y="1325880"/>
            <a:ext cx="2029419" cy="54864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57196" y="1335024"/>
            <a:ext cx="19379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Роль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702332" y="1874519"/>
            <a:ext cx="2029419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757196" y="1883663"/>
            <a:ext cx="19379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инициирующий (локально)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702332" y="2423160"/>
            <a:ext cx="2029419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757196" y="2432303"/>
            <a:ext cx="19379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инициирующий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702332" y="2971800"/>
            <a:ext cx="2029419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7196" y="2980944"/>
            <a:ext cx="19379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усиливающий амплификатор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702332" y="3520440"/>
            <a:ext cx="2029419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757196" y="3529584"/>
            <a:ext cx="19379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сопутствующий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069080"/>
            <a:ext cx="11274552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57200" y="4069080"/>
            <a:ext cx="91440" cy="13716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416052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Синтез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" y="4489704"/>
            <a:ext cx="10908792" cy="8595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Вывод: ни один фактор не объясняет отказ в одиночку. Это МНОГОФАКТОРНАЯ ЦЕПЬ: контаминация (пыль+топливо) инициирует износ направляющих/стержней/форсунок, а калибровка ЭБУ (отключённые защиты + TIB) усиливает тепловую нагрузку и доводит клапан до выгорания.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109 / 162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FMEA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FMEA — режимы и причины отказа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3833347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374190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Режим отказа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28800"/>
            <a:ext cx="3833347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37943"/>
            <a:ext cx="374190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Выгорание фаски вып. клапана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31720"/>
            <a:ext cx="3833347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40863"/>
            <a:ext cx="374190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Износ направл. втулки/стержня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34639"/>
            <a:ext cx="3833347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43783"/>
            <a:ext cx="374190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Разброс дозирования форсунок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37559"/>
            <a:ext cx="3833347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46703"/>
            <a:ext cx="374190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Просадка/негерметичн. седла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40479"/>
            <a:ext cx="3833347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49623"/>
            <a:ext cx="374190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Коррозия ОНВ / ОЖ на впуске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0547" y="1325880"/>
            <a:ext cx="3382365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5411" y="1335024"/>
            <a:ext cx="329092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Причина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0547" y="1828800"/>
            <a:ext cx="3382365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45411" y="1837943"/>
            <a:ext cx="329092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EGT&gt;520 (ЭБУ/форсунки)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0547" y="2331720"/>
            <a:ext cx="3382365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45411" y="2340863"/>
            <a:ext cx="329092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Абразив (пыль/впуск)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90547" y="2834639"/>
            <a:ext cx="3382365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45411" y="2843783"/>
            <a:ext cx="329092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Загрязн. топлива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90547" y="3337559"/>
            <a:ext cx="3382365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45411" y="3346703"/>
            <a:ext cx="329092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Термоудар + износ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90547" y="3840479"/>
            <a:ext cx="3382365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45411" y="3849623"/>
            <a:ext cx="329092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Негерметичн. тракта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72913" y="1325880"/>
            <a:ext cx="1014709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27777" y="1335024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72913" y="1828800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27777" y="183794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672913" y="2331720"/>
            <a:ext cx="101470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27777" y="234086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672913" y="2834639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27777" y="284378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72913" y="3337559"/>
            <a:ext cx="101470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27777" y="334670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72913" y="3840479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27777" y="384962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87622" y="1325880"/>
            <a:ext cx="1014709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742486" y="1335024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687622" y="1828800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42486" y="183794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687622" y="2331720"/>
            <a:ext cx="101470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742486" y="234086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687622" y="2834639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742486" y="284378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687622" y="3337559"/>
            <a:ext cx="101470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42486" y="334670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687622" y="3840479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742486" y="384962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702332" y="1325880"/>
            <a:ext cx="1014709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757196" y="1335024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702332" y="1828800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757196" y="183794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702332" y="2331720"/>
            <a:ext cx="101470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757196" y="234086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702332" y="2834639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757196" y="284378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02332" y="3337559"/>
            <a:ext cx="101470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757196" y="334670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702332" y="3840479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757196" y="384962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717042" y="1325880"/>
            <a:ext cx="1014709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771906" y="1335024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RPN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0717042" y="1828800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771906" y="183794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350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717042" y="2331720"/>
            <a:ext cx="101470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771906" y="234086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288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717042" y="2834639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771906" y="284378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224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717042" y="3337559"/>
            <a:ext cx="101470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771906" y="334670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270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717042" y="3840479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771906" y="384962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144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57200" y="466344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707880"/>
                </a:solidFill>
                <a:latin typeface="Calibri"/>
              </a:rPr>
              <a:t>S — тяжесть, O — частота, D — обнаруживаемость, RPN = S×O×D (приоритет риска).</a:t>
            </a:r>
          </a:p>
        </p:txBody>
      </p:sp>
      <p:sp>
        <p:nvSpPr>
          <p:cNvPr id="81" name="Rectangle 8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110 / 162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5-WHY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5 Почему (5-Why)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0972800" cy="8046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804672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63040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Почему разрушилась ГБЦ? — Выгорела/просела фаска выпускного клапана.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31720"/>
            <a:ext cx="10972800" cy="8046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331720"/>
            <a:ext cx="91440" cy="804672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423160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Почему выгорел клапан? — Хронически высокая EGT (до 567°C) + сниженная стойкость.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91840"/>
            <a:ext cx="10972800" cy="8046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91840"/>
            <a:ext cx="91440" cy="804672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383280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Почему высокая EGT? — Отключены тепловые защиты ЭБУ (TIB 200%, derate/триггеры) + разброс форсунок.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1960"/>
            <a:ext cx="10972800" cy="8046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1960"/>
            <a:ext cx="91440" cy="804672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343400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Почему разброс форсунок и износ направляющих? — Загрязнённое топливо и пыль (негерметичность впуска, засорённые фильтры).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212080"/>
            <a:ext cx="10972800" cy="8046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5212080"/>
            <a:ext cx="91440" cy="804672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303520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Почему загрязнение? — Запылённость карьера + недостаточная фильтрация/герметичность + калибровка, не снижающая нагрузку.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111 / 162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КОРРЕЛЯЦИИ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Матрица связей факторов</a:t>
            </a:r>
          </a:p>
        </p:txBody>
      </p:sp>
      <p:pic>
        <p:nvPicPr>
          <p:cNvPr id="8" name="Picture 7" descr="cor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7100047" cy="4023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583680" y="1371600"/>
            <a:ext cx="512064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0" y="1371600"/>
            <a:ext cx="91440" cy="40233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84848" y="1463040"/>
            <a:ext cx="4800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Чтение матрицы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4848" y="1792224"/>
            <a:ext cx="4754879" cy="35112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Качественная матрица связей: сильнее всего связаны EGT↔TIB↔перелив форсунок (термокластер). Si (пыль) слабо связан с EGT, но связан с чистотой топлива. Подтверждает: термический кластер (ЭБУ/форсунки) — главный усилитель; пыль — отдельный, более слабый по маслу канал.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112 / 162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Коренная причина (RCA)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113 / 162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RCA · МЕХАНИЗМ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Механизм отказа — многофакторная цепь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097280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749808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63040"/>
            <a:ext cx="105156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1.  СРЕДА: запылённость карьера + засорённые возд. фильтры + негерметичность впуска (коррозия ОНВ, ОЖ) + грязное топливо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04288"/>
            <a:ext cx="1097280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304288"/>
            <a:ext cx="91440" cy="749808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395728"/>
            <a:ext cx="105156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2.  ИНИЦИАЦИЯ: износ направляющих втулок/стержней клапанов + разброс дозирования форсунок (перелив/недолив)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36976"/>
            <a:ext cx="1097280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36976"/>
            <a:ext cx="91440" cy="749808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328416"/>
            <a:ext cx="105156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3.  УСИЛЕНИЕ (ЭБУ): TIB 200% + отключённые защиты перегрева → нагрузка не снижается → ↑ EGT, дисбаланс банков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169664"/>
            <a:ext cx="1097280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169664"/>
            <a:ext cx="91440" cy="749808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261104"/>
            <a:ext cx="105156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4.  ПЕРЕГРЕВ: EGT до 567°C (лимит 520); термоудар фаски клапана (стойкость снижена — нет Stellite)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102352"/>
            <a:ext cx="1097280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5102352"/>
            <a:ext cx="91440" cy="749808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193792"/>
            <a:ext cx="105156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5.  ОТКАЗ: выгорание/просадка клапана и седла → потеря герметичности → разрушение ГБЦ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114 / 162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RCA · 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Дерево отказов (FTA) и факторы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486400" cy="4206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42062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FTA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92224"/>
            <a:ext cx="5120640" cy="3694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ВЕРШИНА: разрушение ГБЦ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└ выгорание/просадка клапана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   ├ перегрев (EGT&gt;520)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   │  ├ УСИЛЕНИЕ ЭБУ: TIB 200%, защиты ОТКЛ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   │  └ разброс форсунок (топливо)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   ├ износ втулок/стержней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   │  └ пыль / негерметичн. впуска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   └ стойкость фаски (нет Stellite)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371600"/>
            <a:ext cx="5605272" cy="4206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371600"/>
            <a:ext cx="91440" cy="42062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46304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Исикава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92224"/>
            <a:ext cx="5239512" cy="3694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Исикава (5M):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• Man/Env: запылённость, фильтры (#69)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• Material: топливо (чистота), пыль; масло — OK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• Machine: негерметичн. впуска (ОНВ/ОЖ), нет Stellite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• Method: калибровка ЭБУ (защиты ОТКЛ), дозирование форсунок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• Measurement: датчики EGT (FC1531/1619)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115 / 162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RCA · ДОКАЗАТЕЛЬСТВА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Матрица доказательств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637276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Доказательство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5637276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TIB 200% vs 100% + защиты ОТКЛ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5637276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EGT 567°C (Ц2/Ц6)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5637276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730E — 0 отказов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5637276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92423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Коды EGT (KAMSS/ECM)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5637276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3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Форсунки перелив ↔ горячие цил.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5637276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398263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Нет Stellite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92039"/>
            <a:ext cx="5637276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901183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Масло/топливо/перегруз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4476" y="1371600"/>
            <a:ext cx="2480401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49340" y="1380744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Вес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4476" y="1874519"/>
            <a:ext cx="248040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49340" y="188366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🔴 ключевое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4476" y="2377439"/>
            <a:ext cx="248040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49340" y="238658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🔴 ключевое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94476" y="2880359"/>
            <a:ext cx="248040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49340" y="288950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🔴 ключевое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4476" y="3383279"/>
            <a:ext cx="248040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49340" y="339242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🟠 важное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94476" y="3886199"/>
            <a:ext cx="248040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49340" y="389534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🟠 важное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4476" y="4389119"/>
            <a:ext cx="248040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49340" y="439826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🟠 важное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4476" y="4892039"/>
            <a:ext cx="248040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49340" y="490118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🟢 исключ.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574877" y="1371600"/>
            <a:ext cx="3156874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29741" y="1380744"/>
            <a:ext cx="306543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Статус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574877" y="1874519"/>
            <a:ext cx="3156874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29741" y="1883663"/>
            <a:ext cx="306543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 ECM/письмо Cummins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574877" y="2377439"/>
            <a:ext cx="3156874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29741" y="2386583"/>
            <a:ext cx="306543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 DML #82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74877" y="2880359"/>
            <a:ext cx="3156874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29741" y="2889503"/>
            <a:ext cx="306543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 паритет условий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574877" y="3383279"/>
            <a:ext cx="3156874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29741" y="3392423"/>
            <a:ext cx="306543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 2137/2138/628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574877" y="3886199"/>
            <a:ext cx="3156874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629741" y="3895343"/>
            <a:ext cx="306543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 стенд+DML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574877" y="4389119"/>
            <a:ext cx="3156874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29741" y="4398263"/>
            <a:ext cx="306543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 NHL/Cummins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574877" y="4892039"/>
            <a:ext cx="3156874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629741" y="4901183"/>
            <a:ext cx="306543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 не дифференц.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116 / 162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RCA · ВЫВОД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Формулировка коренной причины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32918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Коренная причина (многофакторная)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92224"/>
            <a:ext cx="10908792" cy="2779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Отказы ГБЦ QSK50 на NTE200 имеют МНОГОФАКТОРНУЮ природу (цепь причин), а не единственную причину.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ИНИЦИИРУЮЩИЕ факторы (эксплуатация/контаминация): запылённость и засорение воздушных фильтров, негерметичность впускного тракта (коррозия ОНВ, следы ОЖ), загрязнённое топливо — вызывают абразивно-механический износ направляющих втулок/стержней клапанов и разброс дозирования форсунок.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УСИЛИВАЮЩИЙ (амплифицирующий) фактор: калибровка ЭБУ — TIB 200% и ОТКЛЮЧЁННЫЕ тепловые защиты (триггеры перегрева, derate) не снижают нагрузку при перегреве, доводя EGT до 567°C и термоудар клапана.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СОПУТСТВУЮЩИЙ: отсутствие наплавки Stellite снижает стойкость фаски.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00600"/>
            <a:ext cx="11274552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4800600"/>
            <a:ext cx="91440" cy="96012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89204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Достоверность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221224"/>
            <a:ext cx="10908792" cy="4480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Оговорка по данным: масляные маркеры пыли (Si) и износа (Fe) НИЗКИЕ — массовый абразивный пылевой износ через масло не подтверждён; вклад пыли локальный/эпизодический. Сера топлива и систематическая перегрузка (10/10/20) — исключены.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117 / 162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ПРИЛОЖЕНИЕ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Досье по машинам NTE200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118 / 162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№43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NHLT0ABAРPB100078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33232776  ·  Год: 2023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2024-02-22 → 2025-02-21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EE22090283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Отказ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18859 ч  ·  Макс. об/мин: 2049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10425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103.4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123.4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78.0%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1.94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21.01.2026: Клапаны+форсунки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119 / 162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№47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NHLT0ABAVPB100085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33239899  ·  Год: 2023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2024-02-04 → 2025-02-03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EE25032335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— ч  ·  Макс. об/мин: 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12232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101.8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121.6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68.9%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2.24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11.08.2025: Замена ГБЦ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120 / 162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№48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NHLT0ABAAPB100086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33232926  ·  Год: 2023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2024-02-07 → 2025-02-06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EE22120768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— ч  ·  Макс. об/мин: 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922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98.5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114.3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63.9%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0.16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17.12.2025: Замена ГБЦ</a:t>
            </a:r>
          </a:p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31.03.2026: Повтор. ремонт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121 / 162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№51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NHLT0ABAJPB100083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33231742  ·  Год: 2023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2024-03-28 → 2025-03-27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EE22100031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Отказ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17583 ч  ·  Макс. об/мин: 2047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5809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101.4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116.4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63.4%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1.06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17.07.2025: Замена ГБЦ (трещина→ОЖ в масло)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122 / 162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№54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NHLT0ABAEPB100089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33232947  ·  Год: 2023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2024-04-09 → 2025-04-08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EE22120153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EGT/связан.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17582 ч  ·  Макс. об/мин: 2045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7999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99.8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120.9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49.9%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1.44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12.06.2026: Клапаны/втулки/седла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123 / 162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№55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NHLT0ABAKPB100096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33230198  ·  Год: 2023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2024-04-12 → 2025-04-11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EE22100047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— ч  ·  Макс. об/мин: 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7314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100.5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123.7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58.6%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1.32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13.05.2026: Клапаны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124 / 162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№58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NHLT0ABAPPB100095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33229431  ·  Год: 2023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2024-04-30 → 2025-04-29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EE22120396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Отказ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16852 ч  ·  Макс. об/мин: 2029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5915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101.8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115.4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67.1%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1.08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10.08.2025: Толкатель/клапан</a:t>
            </a:r>
          </a:p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16.03.2026: Клапан ГБЦ (повтор)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125 / 162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NHLT0ABAEPB100092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33229400  ·  Год: 2023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2024-05-11 → 2025-05-10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EE23020660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— ч  ·  Макс. об/мин: 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3148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103.9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127.3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82.4%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0.59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126 / 162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№67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NHLT0ABATRB100101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33230473  ·  Год: 2024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2025-01-08 → 2026-01-07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EE23050165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EGT/связан.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11343 ч  ·  Макс. об/мин: 2030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14840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101.5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118.3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64.4%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2.71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127 / 162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№69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NHLT0ABAPRB100097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33230485  ·  Год: 2024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2025-01-09 → 2026-01-08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EE23050157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Отказ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10543 ч  ·  Макс. об/мин: 2022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7561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102.8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116.3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76.4%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1.4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25.05.2026: Клапаны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128 / 162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№72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NHLT0ABAVRB100106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33232655  ·  Год: 2024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2025-02-09 → 2026-02-08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EE23050156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Отказ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10802 ч  ·  Макс. об/мин: 2031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8763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99.4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118.2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46.0%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1.57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129 / 162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№77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NHLT0ABAKRB100103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33232794  ·  Год: 2024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2025-03-03 → 2026-03-02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EE23050157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Норма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10075 ч  ·  Макс. об/мин: 2039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7665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102.8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116.1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74.9%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1.42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16.06.2026: Втулка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130 / 162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№78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NHLT0ABAJRB100104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33232834  ·  Год: 2024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2025-03-08 → 2026-03-07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EE23050158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Отказ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9306 ч  ·  Макс. об/мин: 2047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7822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102.9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123.7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76.7%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1.45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20.05.2026: Клапаны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131 / 162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№82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NHLT0ABACSB100126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33238517  ·  Год: 2025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2025-11-22 → 2027-11-21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EE24070822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Норма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4014 ч  ·  Макс. об/мин: 2049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4012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105.0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121.7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85.8%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0.76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10.3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SUPER HPD PLUS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132 / 162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№83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NHLT0ABAVSB100127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33238542  ·  Год: 2025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2025-11-25 → 2027-11-24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EE24040806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Катастроф.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3767 ч  ·  Макс. об/мин: 2012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4867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103.9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117.1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80.8%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0.91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10.6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SUPER HPD PLUS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~03.2026: Замена ГБЦ (ранний)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133 / 162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№84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NHLT0ABAASB100128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33238516  ·  Год: 2025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2025-12-22 → 2027-12-21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EE24070015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Норма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3775 ч  ·  Макс. об/мин: 2054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8742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107.2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133.0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92.1%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1.69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10.5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SUPER HPD PLUS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134 / 162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№85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NHLT0ABALSB100129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33238503  ·  Год: 2025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2025-12-02 → 2027-12-01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EE24040081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EGT/связан.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3774 ч  ·  Макс. об/мин: 2025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8263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104.5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124.4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84.5%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1.55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10.6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SUPER HPD PLUS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135 / 162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№87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NHLT0ABAASB100131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33238553  ·  Год: 2025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2025-12-09 → 2027-12-08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EE24070646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Норма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3778 ч  ·  Макс. об/мин: 2058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18829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100.9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122.1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61.3%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3.42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10.4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SUPER HPD PLUS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18.06.2026: Клапаны/втулки/седла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136 / 162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№88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NHLT0ABALSB100132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33238554  ·  Год: 2025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2025-12-27 → 2027-12-26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EE24040919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EGT/связан.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3266 ч  ·  Макс. об/мин: 2041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6016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105.5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120.8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88.6%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1.14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10.2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SUPER HPD PLUS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137 / 162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№89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NHLT0ABAHSB100133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33238552  ·  Год: 2025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2025-12-18 → 2027-12-17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EE24070237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Норма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3508 ч  ·  Макс. об/мин: 2022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9355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105.5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118.4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87.7%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1.78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10.3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SUPER HPD PLUS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12.06.2026: Клапаны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138 / 162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ПРИЛОЖЕНИЕ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Аналитические срезы и доп. данные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139 / 162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DML · CR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Давление в топливной рампе (CR)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~1060 бар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рабочее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079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2100 бар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макс. система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941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стабильно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разброс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51760"/>
            <a:ext cx="11274552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51760"/>
            <a:ext cx="91440" cy="2194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74320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Вывод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72384"/>
            <a:ext cx="10908792" cy="16824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Рампа в норме — проблема не в давлении, а в дозировании форсунок.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140 / 162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DML · МАСЛО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Давление масла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~380 кПа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с нагрузкой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079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&gt;241 кПа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мин. норма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941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статус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51760"/>
            <a:ext cx="11274552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51760"/>
            <a:ext cx="91440" cy="2194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74320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Вывод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72384"/>
            <a:ext cx="10908792" cy="16824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Давление масла в норме во всех режимах.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141 / 162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DML · НАДДУВ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Давление наддува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~200 кПа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с нагрузкой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079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~110 кПа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без нагрузки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941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статус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51760"/>
            <a:ext cx="11274552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51760"/>
            <a:ext cx="91440" cy="2194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74320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Вывод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72384"/>
            <a:ext cx="10908792" cy="16824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Наддув в норме; перегрев — следствие калибровки, не турбонаддува.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142 / 162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DML · ТОПЛИВО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Расход топлива и режимы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88%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нагрузка с породой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079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21%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без породы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941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1822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ср. об/мин с нагрузкой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51760"/>
            <a:ext cx="11274552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51760"/>
            <a:ext cx="91440" cy="2194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74320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Вывод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72384"/>
            <a:ext cx="10908792" cy="16824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Высокая нагрузка повышает базовую EGT; TIB добавляет пульсации.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143 / 162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ИЗНОС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Топ по железу (Fe) в масле ДВС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146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94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146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94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3.0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146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694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146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694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146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694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146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694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694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1.5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5146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694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5146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694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46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694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5146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5694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6268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6268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268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9.6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6268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720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6268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9.8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6268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6268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9.9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720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6268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20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6268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6268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5720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6268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294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842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294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842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6294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6842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51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6294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6842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39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6294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6842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54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6294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6842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39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6294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6842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52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6294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6842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49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6294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6842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6294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6842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6294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6842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869680" y="1371600"/>
            <a:ext cx="283464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869680" y="1371600"/>
            <a:ext cx="91440" cy="402336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070848" y="1463040"/>
            <a:ext cx="24688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Даже у лидеров Fe умеренный — износ низкий; отказ термический, не абразивный.</a:t>
            </a:r>
          </a:p>
        </p:txBody>
      </p:sp>
      <p:sp>
        <p:nvSpPr>
          <p:cNvPr id="99" name="Rectangle 9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144 / 162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TBN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Минимальный TBN (старение масла)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146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94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146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94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146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694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146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694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146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694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146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694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694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5146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694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5146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694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46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694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5146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5694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6268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Сажа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6268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268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6268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720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6268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6268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6268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720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6268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20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6268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6268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5720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6268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294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842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294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842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6294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6842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6294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6842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39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6294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6842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6294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6842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39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6294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6842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41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6294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6842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6294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6842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6294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6842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41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6294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6842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869680" y="1371600"/>
            <a:ext cx="283464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869680" y="1371600"/>
            <a:ext cx="91440" cy="402336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070848" y="1463040"/>
            <a:ext cx="24688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 везде высоко выше предела 2,5 — масло не деградировало.</a:t>
            </a:r>
          </a:p>
        </p:txBody>
      </p:sp>
      <p:sp>
        <p:nvSpPr>
          <p:cNvPr id="99" name="Rectangle 9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145 / 162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Топ по перевезённой массе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146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94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млн 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146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94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3.42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146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694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2.71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146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694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146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694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2.29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146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694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2.25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694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2.24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5146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694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2.16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5146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694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2.05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46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694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2.02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5146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5694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2.02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6268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6268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18829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268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14840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6268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12500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720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6268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12393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6268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12206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6268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12232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720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6268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11563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20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6268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10818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6268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11052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5720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6268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10955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294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842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Ср%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294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842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100.9%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6294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6842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101.5%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6294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6842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102.4%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6294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6842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102.5%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6294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6842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102.5%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6294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6842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101.8%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6294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6842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103.7%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6294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6842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105.2%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6294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6842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101.6%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6294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6842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102.3%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869680" y="1371600"/>
            <a:ext cx="283464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869680" y="1371600"/>
            <a:ext cx="91440" cy="40233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070848" y="1463040"/>
            <a:ext cx="24688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Лидеры по тоннажу при средней нагрузке ≈100% — режим в пределах 10/10/20.</a:t>
            </a:r>
          </a:p>
        </p:txBody>
      </p:sp>
      <p:sp>
        <p:nvSpPr>
          <p:cNvPr id="99" name="Rectangle 9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146 / 162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Топ по доле рейсов &gt;100%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146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94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146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94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92.1%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146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694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89.3%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146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694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88.6%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146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694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88.1%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146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694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87.7%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694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85.8%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5146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694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85.5%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5146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694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84.6%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46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694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84.5%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5146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5694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82.4%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6268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6268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133.0%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268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119.1%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6268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120.8%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720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6268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119.7%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6268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118.4%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6268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121.7%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720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6268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117.6%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20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6268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119.7%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6268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124.4%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5720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6268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127.3%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294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842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294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842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8742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6294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6842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6308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6294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6842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6016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6294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6842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10818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6294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6842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9355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6294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6842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4012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6294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6842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3468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6294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6842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5627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6294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6842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8263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6294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6842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3148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869680" y="1371600"/>
            <a:ext cx="283464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869680" y="1371600"/>
            <a:ext cx="91440" cy="40233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070848" y="1463040"/>
            <a:ext cx="24688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Доля &gt;100% — не нарушение 10/10/20 (зона 100–110% допускается).</a:t>
            </a:r>
          </a:p>
        </p:txBody>
      </p:sp>
      <p:sp>
        <p:nvSpPr>
          <p:cNvPr id="99" name="Rectangle 9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147 / 162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KAMSS · ФОТО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KAMSS — материалы обследования</a:t>
            </a:r>
          </a:p>
        </p:txBody>
      </p:sp>
      <p:pic>
        <p:nvPicPr>
          <p:cNvPr id="8" name="Picture 7" descr="image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86400" cy="3476764"/>
          </a:xfrm>
          <a:prstGeom prst="rect">
            <a:avLst/>
          </a:prstGeom>
        </p:spPr>
      </p:pic>
      <p:pic>
        <p:nvPicPr>
          <p:cNvPr id="9" name="Picture 8" descr="image10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486400" cy="1968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293136"/>
                </a:solidFill>
                <a:latin typeface="Calibri"/>
              </a:rPr>
              <a:t>INSITE-диагностика (коды EGT, защита двигателя) и дефектация клапанов/ГБЦ — обследование 3 единиц.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148 / 162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KAMSS · ФОТО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KAMSS — материалы обследования</a:t>
            </a:r>
          </a:p>
        </p:txBody>
      </p:sp>
      <p:pic>
        <p:nvPicPr>
          <p:cNvPr id="8" name="Picture 7" descr="image1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86400" cy="1979737"/>
          </a:xfrm>
          <a:prstGeom prst="rect">
            <a:avLst/>
          </a:prstGeom>
        </p:spPr>
      </p:pic>
      <p:pic>
        <p:nvPicPr>
          <p:cNvPr id="9" name="Picture 8" descr="image1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486400" cy="1897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293136"/>
                </a:solidFill>
                <a:latin typeface="Calibri"/>
              </a:rPr>
              <a:t>INSITE-диагностика (коды EGT, защита двигателя) и дефектация клапанов/ГБЦ — обследование 3 единиц.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149 / 162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KAMSS · ФОТО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KAMSS — материалы обследования</a:t>
            </a:r>
          </a:p>
        </p:txBody>
      </p:sp>
      <p:pic>
        <p:nvPicPr>
          <p:cNvPr id="8" name="Picture 7" descr="image1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86400" cy="1264778"/>
          </a:xfrm>
          <a:prstGeom prst="rect">
            <a:avLst/>
          </a:prstGeom>
        </p:spPr>
      </p:pic>
      <p:pic>
        <p:nvPicPr>
          <p:cNvPr id="9" name="Picture 8" descr="image14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486400" cy="71678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293136"/>
                </a:solidFill>
                <a:latin typeface="Calibri"/>
              </a:rPr>
              <a:t>INSITE-диагностика (коды EGT, защита двигателя) и дефектация клапанов/ГБЦ — обследование 3 единиц.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150 / 162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KAMSS · ФОТО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KAMSS — материалы обследования</a:t>
            </a:r>
          </a:p>
        </p:txBody>
      </p:sp>
      <p:pic>
        <p:nvPicPr>
          <p:cNvPr id="8" name="Picture 7" descr="image15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86400" cy="3963202"/>
          </a:xfrm>
          <a:prstGeom prst="rect">
            <a:avLst/>
          </a:prstGeom>
        </p:spPr>
      </p:pic>
      <p:pic>
        <p:nvPicPr>
          <p:cNvPr id="9" name="Picture 8" descr="image16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486400" cy="24367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293136"/>
                </a:solidFill>
                <a:latin typeface="Calibri"/>
              </a:rPr>
              <a:t>INSITE-диагностика (коды EGT, защита двигателя) и дефектация клапанов/ГБЦ — обследование 3 единиц.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151 / 162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МЕТОДИКА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Методика исследования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4206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42062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Этапы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92224"/>
            <a:ext cx="10908792" cy="3694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1. Сбор первичных данных (Весовая, ECM, DML, масло, топливо, стенд форсунок, KAMSS, парк).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2. Перепроверка из первоисточников (пересчёт нагрузки от 180 т; парсинг ECM/масла/форсунок).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3. Сравнение NTE200 vs контрольной группы 730E (паритет условий).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4. Проверка гипотез «за/против»; исключение недифференцирующих факторов.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5. Формулировка коренной причины и плана действий.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Принцип: каждое число — из первичных данных; неподтверждённое помечается отдельно.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152 / 162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СЛОВАРЬ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Словарь и обозначения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4206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420624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Термины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92224"/>
            <a:ext cx="10908792" cy="3694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EGT — температура отработавших газов · TIB — компенсация теплового дисбаланса (Thermal Imbalance Balance) · MCRS — модульная система Common Rail · derate — снижение мощности/оборотов защитой · DO_Option — профиль опций ЭБУ · ISO 4406 — класс чистоты (частицы &gt;4/6/14 мкм) · TBN — щелочное число · CI-4/CES 20078 — класс моторного масла · A/B банк — ряды цилиндров (нечёт./чёт.) · P03/P04 — тест-планы стенда (малая нагрузка/пилот).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153 / 162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Выводы и действия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154 / 162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ДЕЙСТВИЯ · 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Неотложные действия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097280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8686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81328"/>
            <a:ext cx="105156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1.  Перекалибровать ЭБУ NTE200 под профиль 730E: TIB 100%, включить защиты перегрева, убрать задержки derate, обороты 1990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23160"/>
            <a:ext cx="1097280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23160"/>
            <a:ext cx="91440" cy="8686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532888"/>
            <a:ext cx="105156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2.  Контрольный DML после перекалибровки — подтвердить снижение EGT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474720"/>
            <a:ext cx="1097280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474720"/>
            <a:ext cx="91440" cy="8686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584448"/>
            <a:ext cx="105156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3.  Заменить датчики EGT с FC1531/1619 (#82, #67)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526279"/>
            <a:ext cx="1097280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526279"/>
            <a:ext cx="91440" cy="8686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36008"/>
            <a:ext cx="105156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4.  Стендовая проверка/замена бракованных форсунок (перелив P03/P04)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155 / 162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ДЕЙСТВИЯ · 🟠🟡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Средне- и долгосрочные действия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097280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713232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63040"/>
            <a:ext cx="10515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1.  Запрос NHL/Cummins: обоснование исключения Stellite и отключения защит; поставка клапанов с наплавкой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240280"/>
            <a:ext cx="1097280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240280"/>
            <a:ext cx="91440" cy="713232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331720"/>
            <a:ext cx="10515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2.  Привести чистоту топлива к ≤18/16/13 (доп. фильтрация), ориентир 12/9/6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108960"/>
            <a:ext cx="1097280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108960"/>
            <a:ext cx="91440" cy="713232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200400"/>
            <a:ext cx="10515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3.  Унифицировать прошивку ЭБУ (.07/.08) по парку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977639"/>
            <a:ext cx="1097280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977639"/>
            <a:ext cx="91440" cy="713232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069079"/>
            <a:ext cx="10515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4.  Мониторинг EGT и FC611 в реальном времени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46320"/>
            <a:ext cx="1097280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846320"/>
            <a:ext cx="91440" cy="713232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937760"/>
            <a:ext cx="10515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5.  Испытать форсунки 730E на стенде для сравнения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156 / 162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ЭФФЕКТ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Ожидаемый эффект и риски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↓ EGT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&lt; 520°C после калибровки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↓ отказы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клапанов/ГБЦ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↑ ресурс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ГБЦ и форсунок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194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Итог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6824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Перекалибровка ЭБУ устраняет коренную причину без замены узлов. Установка клапанов со Stellite и нормализация фильтрации топлива/дозирования форсунок закрывают отягчающие факторы. Риск бездействия — продолжение массовых отказов ГБЦ в гарантийный период.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157 / 162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РИСКИ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Матрица рисков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4509820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Риск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Продолжение отказов ГБЦ (без калибровки)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Выход из строя форсунок MCRS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Перегрев масла/ОЖ без защиты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9242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Гарантийные претензии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Простой парка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67020" y="1371600"/>
            <a:ext cx="2254910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1884" y="1380744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Вероятность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67020" y="1874519"/>
            <a:ext cx="225491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1884" y="1883663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Высокая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67020" y="2377439"/>
            <a:ext cx="225491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1884" y="2386583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Средняя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67020" y="2880359"/>
            <a:ext cx="225491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1884" y="2889503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Средняя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67020" y="3383279"/>
            <a:ext cx="225491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1884" y="3392423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Высокая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67020" y="3886199"/>
            <a:ext cx="225491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1884" y="3895343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Средняя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21931" y="1371600"/>
            <a:ext cx="2029419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76795" y="1380744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Тяжесть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21931" y="1874519"/>
            <a:ext cx="202941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76795" y="188366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Критич.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221931" y="2377439"/>
            <a:ext cx="202941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76795" y="238658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Высокая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21931" y="2880359"/>
            <a:ext cx="202941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76795" y="288950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Высокая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221931" y="3383279"/>
            <a:ext cx="202941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76795" y="339242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Средняя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21931" y="3886199"/>
            <a:ext cx="202941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276795" y="389534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Высокая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51350" y="1371600"/>
            <a:ext cx="2480401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06214" y="1380744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Действие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51350" y="1874519"/>
            <a:ext cx="248040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06214" y="188366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Перекалибровка ЭБУ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51350" y="2377439"/>
            <a:ext cx="248040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06214" y="238658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Фильтрация топлива + замена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251350" y="2880359"/>
            <a:ext cx="248040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306214" y="288950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Включить триггеры ЭБУ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251350" y="3383279"/>
            <a:ext cx="248040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306214" y="339242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Документирование, запрос NHL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251350" y="3886199"/>
            <a:ext cx="248040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306214" y="389534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Плановый график ремонта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158 / 162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ДОРОЖНАЯ КАРТА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Дорожная карта внедрения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63040"/>
            <a:ext cx="1097280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63040"/>
            <a:ext cx="91440" cy="8686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554480"/>
            <a:ext cx="20116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E05252"/>
                </a:solidFill>
                <a:latin typeface="Calibri"/>
              </a:rPr>
              <a:t>0–1 мес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1554480"/>
            <a:ext cx="84124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Перекалибровка ЭБУ пилотных машин + контрольный DML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514600"/>
            <a:ext cx="1097280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514600"/>
            <a:ext cx="91440" cy="86868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06039"/>
            <a:ext cx="20116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E08C2E"/>
                </a:solidFill>
                <a:latin typeface="Calibri"/>
              </a:rPr>
              <a:t>1–3 мес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2606039"/>
            <a:ext cx="84124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Перекалибровка всего парка, замена датчиков EGT/форсунок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566160"/>
            <a:ext cx="1097280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566160"/>
            <a:ext cx="91440" cy="86868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657600"/>
            <a:ext cx="20116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E08C2E"/>
                </a:solidFill>
                <a:latin typeface="Calibri"/>
              </a:rPr>
              <a:t>3–6 мес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3657600"/>
            <a:ext cx="84124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Нормализация фильтрации топлива, запрос Stellite у NHL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617720"/>
            <a:ext cx="1097280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617720"/>
            <a:ext cx="91440" cy="86868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709159"/>
            <a:ext cx="20116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2EA043"/>
                </a:solidFill>
                <a:latin typeface="Calibri"/>
              </a:rPr>
              <a:t>6–12 мес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0" y="4709159"/>
            <a:ext cx="84124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Мониторинг EGT/FC611, верификация снижения отказов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159 / 162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КОНТАКТЫ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Ответственные стороны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4509820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Роль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Оператор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Подрядчик ТО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Производитель двигателя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9242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Производитель техники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Лаборатория масла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39826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Лаборатория топлива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67020" y="1371600"/>
            <a:ext cx="6764731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1884" y="1380744"/>
            <a:ext cx="667329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Организация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67020" y="187451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1884" y="1883663"/>
            <a:ext cx="667329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Полюс Магадан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67020" y="2377439"/>
            <a:ext cx="676473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1884" y="2386583"/>
            <a:ext cx="667329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ООО «Горная Евразия»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67020" y="288035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1884" y="2889503"/>
            <a:ext cx="667329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Cummins / CCEC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67020" y="3383279"/>
            <a:ext cx="676473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1884" y="3392423"/>
            <a:ext cx="667329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NHL (North Hauler)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67020" y="388619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1884" y="3895343"/>
            <a:ext cx="667329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МИЦ ГСМ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67020" y="4389119"/>
            <a:ext cx="676473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1884" y="4398263"/>
            <a:ext cx="667329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Дорингтест / ООО «Авиатек»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160 / 162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ИСТОЧНИКИ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Источники и стандарты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402336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База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92224"/>
            <a:ext cx="10908792" cy="35112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Данные Весовая (131 файл, 365 069 рейсов) — нагрузка/производительность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Своды анализов масла 2025+2026 (ДВС, NTE200/730E)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ECM: 15 параметров (ECM_对比), Fault Codes (361 файл INSITE)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DML #82 (INSITE логи), стенд «Поток CR-2» (форсунки)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Паспорта топлива, Дорингтест ISO 4406, Cummins требования к ДТ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KAMSS — обследование 3 единиц; письма NHL/Cummins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Реестр парка ГЕ (апрель 2026)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Стандарты: ISO 4406, ТР ТС 013/2011, ГОСТ 32511-2013, Cummins CES 20078, Cummins SB 5407411 (378-005/010/011/013).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161 / 162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Отказ — многофакторная цепь: контаминация (пыль/впуск + топливо)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инициирует износ, калибровка ЭБУ усиливает перегрев до выгорания клапана.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3EF0AF"/>
                </a:solidFill>
                <a:latin typeface="Calibri"/>
              </a:rPr>
              <a:t>Перегрузка и сера топлива — исключены. Масляные маркеры пыли (Si) низкие — вклад пыли локальный.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АО «Развитие» · техническая служба + отдел надёжности ·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162 / 162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