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4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7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отказов головок блока цилиндров (ГБЦ)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двигателей Cummins QSK50 —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FD6DA"/>
                </a:solidFill>
                <a:latin typeface="Calibri"/>
              </a:rPr>
              <a:t>Глубокий технический анализ · Полюс Магадан · контрольная группа 730E-DC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только факты из первичных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 / 202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НАВИГАЦИЯ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Парк и реестр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Двигатель и режим отказа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Статистика отказов ГБЦ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Нагрузка и производительность (10/10/20)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5. Анализ масла (бренды, показатели, узлы)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6. Калибровка ECM (15 параметров)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7. Ошибки ECM (Fault Codes)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8. Телеметрия DML (EGT)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9. Форсунки и корреляция по цилиндрам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10. Топливо и чистота (ISO 4406)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11. Обследование KAMSS (3 ед.)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12. Контрольная группа 730E-DC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13. Опровержение версий NHL/CCEC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14. Коренная причина (RCA, FTA)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98017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98017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09904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15. Выводы, действия, дорожная карта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 / 202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Резюме для руководства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отличий ЭБУ vs 730E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(лимит 520)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отказов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31720"/>
            <a:ext cx="91440" cy="12801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2316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Главный вывод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5234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Коренная причина — системное снижение тепловой защиты в калибровке ЭБУ NTE200 (TIB 200% vs 100%, отключены триггеры перегрева масла/ОЖ/наддува/топлива, задержки derate 43–51 с, обороты 2100 vs 1990). Усугубляющий конструктивный фактор — отсутствие наплавки Stellite на выпускном клапане (исполнение NHL, признано NHL и Cummins).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03320"/>
            <a:ext cx="4509820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71246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87368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09651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71416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480559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55464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64607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Перегрузка (10/10/20)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39512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248655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Марка/класс масла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23559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63270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Чистота топлива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07607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01675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3703320"/>
            <a:ext cx="281863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371246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4087368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409651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КОРЕННАЯ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4471416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4480559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вторичный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67020" y="4855464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1884" y="4864607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значима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67020" y="5239512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1884" y="5248655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дифференц.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67020" y="5623559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884" y="563270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отягчающий (форсунки)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67020" y="6007607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1884" y="601675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85658" y="3703320"/>
            <a:ext cx="3946093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40522" y="371246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85658" y="4087368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40522" y="409651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85658" y="4471416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40522" y="4480559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письма NHL/Cummins 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85658" y="4855464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0522" y="4864607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99,7% средн., соблюдается 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85658" y="5239512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40522" y="5248655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= 730E, CI-4 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85658" y="5623559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40522" y="563270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хуже норм 18/16/13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85658" y="6007607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40522" y="601675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 / 202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Парк и реестр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 / 202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ПАРК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Состав парка NHL (Полюс)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Объект / модель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Магадан — NTE 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Красноярск — NTE240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Алдан/Вернинское/КР/МГ — TR100A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7020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1884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Кол-во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67020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1884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6440" y="1371600"/>
            <a:ext cx="270589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1304" y="1380744"/>
            <a:ext cx="26144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Двигатель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6440" y="1874519"/>
            <a:ext cx="27058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1304" y="1883663"/>
            <a:ext cx="26144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QSK50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6440" y="2377439"/>
            <a:ext cx="270589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1304" y="2386583"/>
            <a:ext cx="26144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QSK60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96440" y="2880359"/>
            <a:ext cx="27058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1304" y="2889503"/>
            <a:ext cx="26144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QST30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02332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57196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Привод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02332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7196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GE (AC)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02332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57196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GE (AC)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02332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7196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Allison (мех.)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84048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319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 анализа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61104"/>
            <a:ext cx="10908792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Объект расследования — 47 самосвалов NTE 200 (180 т, QSK50 MCRS, Tier 2, без DPF/EGR) на Полюс Магадан. Контрольная группа — 730E-DC (тот же двигатель QSK50). NTE240 (QSK60) и TR100A (QST30) — иные двигатели, в данном анализе как фон парка.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 / 202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(1–6 из 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428432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Зав.№ (PIN)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28216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37360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NHLT0ABAРPB100078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30552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39696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NHLT0ABAКPB100079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32888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42032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NHLT0ABATPB100080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2935224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2944368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NHLT0ABAСPB100084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337560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346703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NHLT0ABAVPB100085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739896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749039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NHLT0ABAAPB100086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68984" y="1325880"/>
            <a:ext cx="2480401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3848" y="1335024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8984" y="1728216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3848" y="1737360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68984" y="2130552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3848" y="2139696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8984" y="2532888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23848" y="2542032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33232759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68984" y="2935224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23848" y="2944368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33232853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68984" y="3337560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3848" y="3346703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33239899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68984" y="3739896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23848" y="3749039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33232926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49386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4250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49386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250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49386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4250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49386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4250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49386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04250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49386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04250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49386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4250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76841" y="1325880"/>
            <a:ext cx="2254910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1705" y="1335024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Гарантия до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76841" y="1728216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31705" y="1737360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2025-02-21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76841" y="2130552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31705" y="2139696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2025-02-26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76841" y="2532888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31705" y="2542032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2025-02-04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76841" y="2935224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31705" y="2944368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2025-02-22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76841" y="3337560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31705" y="3346703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2025-02-03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76841" y="3739896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531705" y="3749039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2025-02-06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 / 202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(7–12 из 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428432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Зав.№ (PIN)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28216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37360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NHLT0ABAAPB100081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30552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39696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NHLT0ABAAPB100082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32888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42032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NHLT0ABAJPB100083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2935224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2944368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NHLT0ABAAPB100087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337560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346703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NHLT0ABAHPB100088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739896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749039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NHLT0ABAEPB100089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68984" y="1325880"/>
            <a:ext cx="2480401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3848" y="1335024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8984" y="1728216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3848" y="1737360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33232946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68984" y="2130552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3848" y="2139696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33232852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8984" y="2532888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23848" y="2542032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33231742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68984" y="2935224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23848" y="2944368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33232851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68984" y="3337560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3848" y="3346703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33232925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68984" y="3739896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23848" y="3749039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33232947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49386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4250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49386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250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49386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4250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49386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4250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49386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04250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49386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04250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49386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4250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76841" y="1325880"/>
            <a:ext cx="2254910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1705" y="1335024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Гарантия до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76841" y="1728216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31705" y="1737360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2025-03-03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76841" y="2130552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31705" y="2139696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2025-03-06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76841" y="2532888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31705" y="2542032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2025-03-27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76841" y="2935224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31705" y="2944368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2025-03-11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76841" y="3337560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31705" y="3346703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2025-03-26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76841" y="3739896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531705" y="3749039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2025-04-08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 / 202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(13–18 из 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428432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Зав.№ (PIN)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28216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37360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NHLT0ABAKPB100096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30552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39696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NHLT0ABAHPB100091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32888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42032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NHLT0ABATPB100094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2935224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2944368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NHLT0ABAPPB100095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337560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346703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NHLT0ABACPB100098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739896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749039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NHLT0ABATPB100077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68984" y="1325880"/>
            <a:ext cx="2480401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3848" y="1335024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8984" y="1728216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3848" y="1737360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33230198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68984" y="2130552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3848" y="2139696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33229401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8984" y="2532888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23848" y="2542032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33230197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68984" y="2935224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23848" y="2944368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33229431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68984" y="3337560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3848" y="3346703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33230182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68984" y="3739896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23848" y="3749039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33230472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49386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4250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49386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250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49386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4250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49386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4250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49386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04250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49386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04250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49386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4250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76841" y="1325880"/>
            <a:ext cx="2254910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1705" y="1335024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Гарантия до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76841" y="1728216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31705" y="1737360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2025-04-11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76841" y="2130552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31705" y="2139696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2025-04-16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76841" y="2532888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31705" y="2542032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2025-04-22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76841" y="2935224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31705" y="2944368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2025-04-29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76841" y="3337560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31705" y="3346703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2025-05-03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76841" y="3739896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531705" y="3749039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2025-05-04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 / 202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(19–24 из 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428432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Зав.№ (PIN)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28216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37360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NHLT0ABAEPB100092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30552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39696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NHLT0ABACPB100093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32888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42032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NHLT0ABAPRB100102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2935224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2944368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NHLT0ABALRB100108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337560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346703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NHLT0ABAHRB100109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739896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749039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NHLT0ABAARB100107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68984" y="1325880"/>
            <a:ext cx="2480401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3848" y="1335024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8984" y="1728216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3848" y="1737360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33229400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68984" y="2130552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3848" y="2139696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33230183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8984" y="2532888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23848" y="2542032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33231740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68984" y="2935224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23848" y="2944368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33231760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68984" y="3337560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3848" y="3346703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33233617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68984" y="3739896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23848" y="3749039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33230459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49386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4250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49386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250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49386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4250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49386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4250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49386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04250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49386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04250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49386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4250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76841" y="1325880"/>
            <a:ext cx="2254910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1705" y="1335024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Гарантия до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76841" y="1728216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31705" y="1737360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2025-05-10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76841" y="2130552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31705" y="2139696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2025-06-20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76841" y="2532888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31705" y="2542032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2025-12-27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76841" y="2935224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31705" y="2944368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2026-01-01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76841" y="3337560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31705" y="3346703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2025-12-28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76841" y="3739896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531705" y="3749039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2026-01-07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 / 202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(25–30 из 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428432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Зав.№ (PIN)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28216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37360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NHLT0ABATRB100101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30552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39696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NHLT0ABACRB100100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32888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42032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NHLT0ABAPRB100097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2935224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2944368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NHLT0ABAARB100110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337560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346703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NHLT0ABAVRB100090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739896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749039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NHLT0ABAVRB100106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68984" y="1325880"/>
            <a:ext cx="2480401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3848" y="1335024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8984" y="1728216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3848" y="1737360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33230473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68984" y="2130552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3848" y="2139696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33231741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8984" y="2532888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23848" y="2542032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33230485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68984" y="2935224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23848" y="2944368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33230210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68984" y="3337560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3848" y="3346703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33232708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68984" y="3739896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23848" y="3749039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33232655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49386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4250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49386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250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49386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4250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49386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4250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49386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04250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49386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04250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49386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4250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76841" y="1325880"/>
            <a:ext cx="2254910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1705" y="1335024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Гарантия до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76841" y="1728216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31705" y="1737360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2026-01-07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76841" y="2130552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31705" y="2139696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2026-01-09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76841" y="2532888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31705" y="2542032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2026-01-08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76841" y="2935224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31705" y="2944368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2026-01-08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76841" y="3337560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31705" y="3346703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2026-02-04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76841" y="3739896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531705" y="3749039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2026-02-08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 / 202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(31–36 из 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428432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Зав.№ (PIN)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28216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37360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NHLT0ABAHRB100112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30552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39696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NHLT0ABALRB100111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32888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42032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NHLT0ABAJRB100099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2935224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2944368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NHLT0ABACRB100105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337560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346703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NHLT0ABAKRB100103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739896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749039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NHLT0ABAJRB100104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68984" y="1325880"/>
            <a:ext cx="2480401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3848" y="1335024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8984" y="1728216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3848" y="1737360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33233618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68984" y="2130552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3848" y="2139696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33230474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8984" y="2532888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23848" y="2542032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33232793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68984" y="2935224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23848" y="2944368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33232777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68984" y="3337560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3848" y="3346703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33232794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68984" y="3739896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23848" y="3749039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33232834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49386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4250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49386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250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49386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4250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49386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4250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49386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04250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49386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04250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49386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4250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76841" y="1325880"/>
            <a:ext cx="2254910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1705" y="1335024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Гарантия до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76841" y="1728216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31705" y="1737360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2026-02-11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76841" y="2130552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31705" y="2139696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2026-02-15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76841" y="2532888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31705" y="2542032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2026-02-21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76841" y="2935224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31705" y="2944368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2026-02-27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76841" y="3337560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31705" y="3346703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2026-03-02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76841" y="3739896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531705" y="3749039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2026-03-07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 / 202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(37–42 из 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428432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Зав.№ (PIN)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28216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37360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NHLT0ABAKSB100124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30552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39696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NHLT0ABAJSB100125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32888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42032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NHLT0ABAPSB100123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2935224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2944368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NHLT0ABACSB100126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337560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346703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NHLT0ABAVSB100127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739896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749039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NHLT0ABAASB100128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68984" y="1325880"/>
            <a:ext cx="2480401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3848" y="1335024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8984" y="1728216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3848" y="1737360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33236259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68984" y="2130552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3848" y="2139696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33236246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8984" y="2532888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23848" y="2542032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33236214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68984" y="2935224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23848" y="2944368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33238517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68984" y="3337560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3848" y="3346703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33238542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68984" y="3739896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23848" y="3749039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49386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4250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49386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250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49386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4250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49386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4250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49386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04250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49386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04250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49386" y="3739896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4250" y="3749039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76841" y="1325880"/>
            <a:ext cx="2254910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1705" y="1335024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Гарантия до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76841" y="1728216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31705" y="1737360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2027-11-02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76841" y="2130552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31705" y="2139696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2027-11-06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76841" y="2532888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31705" y="2542032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2027-10-26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76841" y="2935224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31705" y="2944368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2027-11-21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76841" y="3337560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31705" y="3346703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2027-11-24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76841" y="3739896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531705" y="3749039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2027-12-21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 / 202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(43–47 из 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1325880"/>
            <a:ext cx="428432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1335024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Зав.№ (PIN)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728216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737360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NHLT0ABALSB100129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2130552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2139696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NHLT0ABAVSB100130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532888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542032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NHLT0ABAASB100131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935224"/>
            <a:ext cx="428432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944368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NHLT0ABALSB100132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3337560"/>
            <a:ext cx="428432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3346703"/>
            <a:ext cx="419288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NHLT0ABAHSB100133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68984" y="1325880"/>
            <a:ext cx="2480401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23848" y="1335024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68984" y="1728216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23848" y="1737360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68984" y="2130552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3848" y="2139696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33238551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8984" y="2532888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23848" y="2542032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68984" y="2935224"/>
            <a:ext cx="2480401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3848" y="2944368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33238554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8984" y="3337560"/>
            <a:ext cx="2480401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23848" y="3346703"/>
            <a:ext cx="2388961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49386" y="1325880"/>
            <a:ext cx="1127455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250" y="1335024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49386" y="1728216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04250" y="1737360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49386" y="2130552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4250" y="2139696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49386" y="2532888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4250" y="2542032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49386" y="2935224"/>
            <a:ext cx="1127455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250" y="2944368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49386" y="3337560"/>
            <a:ext cx="112745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4250" y="3346703"/>
            <a:ext cx="1036015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6841" y="1325880"/>
            <a:ext cx="2254910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31705" y="1335024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Гарантия до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76841" y="1728216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1705" y="1737360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2027-12-01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76841" y="2130552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31705" y="2139696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2027-12-12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76841" y="2532888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31705" y="2542032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2027-12-08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76841" y="2935224"/>
            <a:ext cx="2254910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1705" y="2944368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2027-12-26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76841" y="3337560"/>
            <a:ext cx="225491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31705" y="3346703"/>
            <a:ext cx="216347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2027-12-17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 / 202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Двигатель и режим отказа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 / 202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ДВИГАТЕЛЬ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3891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Характеристики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V16, рабочий объём 50 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MCRS (Modular Common Rail), до 2100 бар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Tier 2 — без DPF/EGR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2 банка по 8 цилиндров (A — нечётные, B — чётные)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ЭБУ: каналы ECM0/ECM1/ECM144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Привод самосвала — электрический GE (AC)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3891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Режим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Режим отказа: выгорание/эрозия тарелок и сёдел ВЫПУСКНЫХ клапанов → потеря герметичности → разрушение ГБЦ. Сопутствует: зольно-сажевые отложения, просадка клапанов, износ направляющих втулок, повышенный расход масла.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 / 202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Функция ГБЦ и путь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Перегрев (высокая EGT) → термоудар тарелки выпускного клапана → микротрещины/эрозия рабочей фаски → прорыв горячих газов → локальный перегрев седла → потеря компрессии и герметичности → разрушение ГБЦ.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Стадия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Тепловой дисбаланс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Эрозия клапана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Отложения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39565" y="2926080"/>
            <a:ext cx="450982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4429" y="29352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Признак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39565" y="333756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4429" y="334670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(лимит 520)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39565" y="374904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429" y="375818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банк B +60°C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39565" y="416052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94429" y="416966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тарелок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39565" y="457200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4429" y="458114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нагар на клапанах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39565" y="498348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94429" y="49926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ГБЦ/клапанов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9386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4250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9386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4250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9386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04250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DML/ECM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9386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4250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KAMSS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49386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4250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9386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04250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реестр ремонтов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 / 202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Статистика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 / 202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Ключевые показатели отказов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затронутых машин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повторные (#48,#58)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ранний (2776 м/ч)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0972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08792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— на машинах разной наработки (от 2776 до 18245 м/ч), что исключает простой возрастной износ как причину. Ранний отказ #83 при 2776 м/ч — индикатор системной (калибровочной/конструктивной) проблемы.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 / 202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ХРОНОЛОГИЯ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Хронология ремонтов</a:t>
            </a:r>
          </a:p>
        </p:txBody>
      </p:sp>
      <p:pic>
        <p:nvPicPr>
          <p:cNvPr id="8" name="Picture 7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5209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 / 202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17.12.2025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4270248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427939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4690872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470001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31.03.2026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5111496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512064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13.05.2026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~12890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~14997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39565" y="4270248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94429" y="427939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2776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39565" y="4690872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94429" y="470001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~15126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39565" y="5111496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429" y="512064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(трещина→ОЖ в масло)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Толкатель/клапан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Клапаны+форсунки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 ГБЦ (повтор)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68984" y="4270248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23848" y="427939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68984" y="4690872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23848" y="470001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Повтор. ремонт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68984" y="5111496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23848" y="512064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 / 202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20.05.2026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25.05.2026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16.06.2026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18.06.2026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21 / 202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ВЕЙБУЛЛ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Накопление отказов по наработке</a:t>
            </a:r>
          </a:p>
        </p:txBody>
      </p:sp>
      <p:pic>
        <p:nvPicPr>
          <p:cNvPr id="8" name="Picture 7" descr="we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при разной наработке → не возрастной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22 / 202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ТЕПЛОВАЯ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/ EGT по цилиндрам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 и Ц6 = 567°C (+47 над лимитом).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23 / 202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БАНКИ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 A против Банка B</a:t>
            </a:r>
          </a:p>
        </p:txBody>
      </p:sp>
      <p:pic>
        <p:nvPicPr>
          <p:cNvPr id="8" name="Picture 7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B-банк горячее и с бо́льшим числом дефектных форсунок.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24 / 202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Нагрузка и производительность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25 / 202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0848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0848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712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0848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48672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48672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03536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48672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03536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26496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26496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0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26496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81360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743200"/>
            <a:ext cx="585216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2743200"/>
            <a:ext cx="91440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8" y="28346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3163824"/>
            <a:ext cx="5486400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Парк СООТВЕТСТВУЕТ 10/10/20 (среднее ≈100%, &gt;120% практически нет). Систематическая перегрузка как значимый фактор НЕ подтверждается. Прежний тезис «295 т» — ошибка (номинал 220 вместо 180). Корректно: макс 133% ≈ 239 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26 / 202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перевезено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рейсов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скорость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27 / 202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машин по доле перегруза</a:t>
            </a:r>
          </a:p>
        </p:txBody>
      </p:sp>
      <p:pic>
        <p:nvPicPr>
          <p:cNvPr id="8" name="Picture 7" descr="load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28 / 202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5529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2843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97.2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65.1%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25.9%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3162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98.5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124.1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74.7%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29 / 202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(9–16)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1483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7999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79.6%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49.9%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9011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106.0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58.6%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75.1%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67.1%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30 / 202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(17–24)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127.3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80.2%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5975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73.3%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31 / 202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(25–32)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71.5%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72.8%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8763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130.7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72.4%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64.8%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32 / 202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(33–40)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2494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7665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95.8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18.7%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76.7%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5581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6624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76.2%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33 / 202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(41–48)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5591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95.5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133.0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124.4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15.5%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2351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61.3%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34 / 202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(49–50)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3900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73.3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35 / 202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36 / 202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БРЕНДЫ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Масла ДВС: бренды и тип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Парк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6619" y="1371600"/>
            <a:ext cx="518629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1483" y="1380744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Бренд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86619" y="187451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1483" y="188366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Газпромнефть G-Profi MSI Plus 15W-40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6619" y="2377439"/>
            <a:ext cx="518629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1483" y="238658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TEBOIL Super HPD Plus 15W-40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6619" y="288035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41483" y="288950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+ Komatsu/Mobil/Лукойл 15W-40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2913" y="1371600"/>
            <a:ext cx="180392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7777" y="1380744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2913" y="187451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7777" y="188366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72913" y="2377439"/>
            <a:ext cx="180392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7777" y="238658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2913" y="288035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7777" y="288950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76841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1705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Период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6841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1705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76841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31705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6841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31705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84048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319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 по брендам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61104"/>
            <a:ext cx="10908792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Двигатели NTE200 и 730E работают на одинаковых маслах (преимущественно Газпромнефть G-Profi MSI Plus 15W-40, класс API CI-4). ⇒ Марка/тип масла НЕ дифференцирует парки.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37 / 202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ПОКАЗАТЕЛИ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Технические показатели масла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TBN (щёлочное)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Сажа (ST)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Окисление (OXI)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V100, cSt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Вода/топливо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Fe P95, ppm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62272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2272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07408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7408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62272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07408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62272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24144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9008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24144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79008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≥2,5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24144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79008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24144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79008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низкое 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24144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79008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12,5–16,3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24144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79008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24144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79008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60" y="1371600"/>
            <a:ext cx="448056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3760" y="1371600"/>
            <a:ext cx="91440" cy="3931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1463040"/>
            <a:ext cx="4160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Ключевой вывод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8" y="1792224"/>
            <a:ext cx="4114800" cy="3419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Масло в отличном состоянии: высокий TBN, низкая сажа (0,3), нет окисления/разбавления. НИЗКАЯ САЖА опровергает версию NHL про зольный/сажевый абразивный износ клапанов. Отказ — термический.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38 / 202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Износ Fe в масле ДВС: NTE200 vs 730E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Fe на NTE200 ниже, чем на 730E → отказ не абразивный.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39 / 202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— узел ДВС (двигатель)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129.0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37.0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ДВС (двигатель).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40 / 202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— узел ГС (гидросистема)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30.0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16.0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396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ГС (гидросистема).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41 / 202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— узел МКЛ (мотор-колесо лев.)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39.0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100.4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47.0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134.8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67.7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593.0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29.0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29.0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86.0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476.0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МКЛ (мотор-колесо лев.).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42 / 202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— узел МКП (мотор-колесо прав.)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45.0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59.4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787.0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217.0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28.0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145.0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276.0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МКП (мотор-колесо прав.).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43 / 202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ДВС (двигатель)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53.0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33.0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ДВС (двигатель).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44 / 202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ГС (гидросистема)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84.0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26.0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34.0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ГС (гидросистема).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45 / 202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ПСП (привод прав.)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45.9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24.0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74.3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32.1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425.0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26.0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34.0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44.0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82.0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ПСП (привод прав.).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46 / 202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ПСЛ (привод лев.)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38.0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28.0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54.0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297.0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26.0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93.0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ПСЛ (привод лев.).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47 / 202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МКЛ (мотор-колесо лев.)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100.2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43.0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62.6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676.0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28.0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34.0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102.0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599.0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МКЛ (мотор-колесо лев.).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48 / 202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МКП (мотор-колесо прав.)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34.0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114.7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156.6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66.1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871.0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33.0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107.0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502.0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МКП (мотор-колесо прав.).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49 / 202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50 / 202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(9–16)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51 / 202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(17–24)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52 / 202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(25–32)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53 / 202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(33–40)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54 / 202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(41–47)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55 / 202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Калибровка ECM (15 параметров)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56 / 202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ОБЗОР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Сравнение ЭБУ NTE200 vs 730E — обзор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 параметров калибровки отличаются. NTE200 ОТКЛЮЧАЕТ все триггеры перегрева и допускает более высокие обороты/нагрузку. Подтверждено письмом Cummins.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523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Группа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2095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Коррекция топлива (TIB)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667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1239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Обороты/регулятор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5811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Горячий стоп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3293" y="2743200"/>
            <a:ext cx="732845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8157" y="27523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 vs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3293" y="32004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8157" y="32095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 vs 100% — переобогащение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3293" y="36576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8157" y="36667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ОТКЛ vs Вкл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3293" y="41148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8157" y="41239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2100/20% vs 1990/0%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3293" y="45720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8157" y="45811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ниже пороги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57 / 202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1/15: TIB верхн. предел коррекции топлива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удвоение корр. дозы → переобогащение.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(100%); на NTE200 — 200%,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58 / 202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2/15: Снижение оборотов по T масла (derate)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(флаг)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(флаг)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защиты от перегрева масла.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(Вкл);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59 / 202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3/15: Триггер high T наддув. воздуха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54°C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тревоги перегрева наддува.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(54°C);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60 / 202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4/15: Триггер high T ОЖ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85°C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сигнала перегрева ОЖ.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(85°C);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61 / 202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5/15: Триггер high T топлива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68°C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тревоги перегрева топлива.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(68°C);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62 / 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6/15: Задержка derate (масло)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полная мощность 51 с в перегреве.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 с); на NTE200 — 51 с,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63 / 202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7/15: Задержка derate (ОЖ)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43 с без снижения нагрузки.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 с); на NTE200 — 43 с,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64 / 202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8/15: Макс. рабочие обороты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(об/мин)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EGT +25–35°C, удары клапанов.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(1990); на NTE200 — 2100,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65 / 202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9/15: Макс. обороты реф. 2/3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(об/мин)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раскрутка в отд. режимах.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(1990); на NTE200 — 2225,8,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66 / 202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10/15: Макс. наклон регулятора (droop)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±20% колебаний оборотов.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(0%); на NTE200 — 20%,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67 / 202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11/15: Горячий стоп — момент (верх.)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3650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(Н·м)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(Н·м)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срабатывает раньше.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(5509); на NTE200 — 3650,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68 / 202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12/15: Горячий стоп — момент (нижн.)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(Н·м)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(Н·м)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нестабильный гистерезис.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(4722); на NTE200 — 1850,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69 / 202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13/15: Топливный код (карта впрыска)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иная модель сгорания.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(FC0BU52); на NTE200 — FC0WH95,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70 / 202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14/15: Пуск вентилятора охл. наддува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46°C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50°C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фон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компенсация, не защита.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(50°C); на NTE200 — 46°C,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71 / 202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15/15: DO_Option (профиль)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61042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6765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иной калибровочный профиль.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(6765); на NTE200 — 61042,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72 / 202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двигателей по данным ECM</a:t>
            </a:r>
          </a:p>
        </p:txBody>
      </p:sp>
      <p:pic>
        <p:nvPicPr>
          <p:cNvPr id="8" name="Picture 7" descr="ecm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73350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21 из 38 машин (55%) — в отказном/EGT-статусе.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73 / 202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(1–12)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18859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17821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19050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17923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17583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17823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17582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17411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17117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16852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17069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17331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2060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2036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2063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74 / 202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15814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12065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11543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11797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11306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10543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11046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10793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10802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10308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10284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2088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2532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75 / 202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(25–36)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Катастроф.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10041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10075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9306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4516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4014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3767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3532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3266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3508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76 / 202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(37–38)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77 / 202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Ошибки ECM (Fault Codes)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78 / 202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ОШИБКИ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по числу машин</a:t>
            </a:r>
          </a:p>
        </p:txBody>
      </p:sp>
      <p:pic>
        <p:nvPicPr>
          <p:cNvPr id="8" name="Picture 7" descr="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79 / 202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2265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10146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010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146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5010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0146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65010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4270248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427939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4690872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470001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5111496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512064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1329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56193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1329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6193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01329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56193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01329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56193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01329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56193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01329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56193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01329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56193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1329" y="4270248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56193" y="427939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01329" y="4690872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56193" y="470001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01329" y="5111496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56193" y="512064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92511" y="1325880"/>
            <a:ext cx="653924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47375" y="133502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92511" y="1746504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47375" y="175564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92511" y="2167128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47375" y="217627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511" y="2587752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47375" y="259689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Пропадание питания при пуске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192511" y="3008376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47375" y="301752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Модули — неисправности средн. уровня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92511" y="3429000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47375" y="343814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ОЖ ниже нормы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92511" y="3849624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47375" y="385876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Цепь подкач. топл. насоса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192511" y="4270248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47375" y="427939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92511" y="4690872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47375" y="470001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Модули — неисправности низ. уровня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92511" y="5111496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47375" y="512064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 уровень ОЖ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80 / 202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2262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10146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65010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10146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65010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10146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65010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10146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010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146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5010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0146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65010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01329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6193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1329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56193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01329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56193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1329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56193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01329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56193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1329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56193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1329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56193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92511" y="1325880"/>
            <a:ext cx="653924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7375" y="133502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511" y="1746504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47375" y="175564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Напряжение АКБ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92511" y="2167128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47375" y="217627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92511" y="2587752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47375" y="259689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Давление топл. насоса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92511" y="3008376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47375" y="301752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Малое отклонение EGT (#61)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92511" y="3429000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47375" y="343814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Датчик EGT цилиндра (#67)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92511" y="3849624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47375" y="385876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Цепь форсунки (#51)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81 / 202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АКТИВНЫЕ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Активные ошибки и связь с отказом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Активные / ключевые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#61 → FC 628 «Малое отклонение EGT» (тепловой дисбаланс)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#67 → FC 1619 «датчик EGT цилиндра» (отказ датчика)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#51 → FC 1549/323/1557 «цепи форсунок»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FC 611 «остановка горячего двигателя» — на 46 машинах (массовые тепловые события).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47472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EGT-дисбаланса и «горячего стопа» по флоту — независимое подтверждение хронического перегрева, согласуются с DML (567°C) и KAMSS (коды 2137/2138 EGT цил.14/16).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82 / 202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Телеметрия DML (EGT)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83 / 202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DML — методика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Лог-файлы движения (INSITE): EGT по 16 цилиндрам (A=ECM144 нечёт., B=ECM1 чёт.), обороты, давления (рампа/масло/наддув), T масла/ОЖ. Машина #82 — с породой и без; есть лог после ремонта.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30266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4838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Без породы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9410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 породой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39826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Горячие цил.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583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070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583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70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583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070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583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070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074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561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Ср. EGT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074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561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287°C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074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561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474°C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074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561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85658" y="301752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40522" y="30266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Примечание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85658" y="34747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0522" y="34838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85658" y="393192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0522" y="39410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рост +187°C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85658" y="43891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40522" y="439826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Ц2, Ц6 (&gt;520)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84 / 202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EGT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EGT по цилиндрам (#82)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Ц2/Ц6 = 567°C; датчик Ц11 неисправен (~98°C, FC1531).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85 / 202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Банковая асимметрия и давления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+60°C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банк B горячее 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об/мин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T масла (с породой)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Асимметрия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Банк B (чётные цилиндры) систематически горячее банка A на ~60°C — признак дисбаланса корректирующей дозы (TIB). Совпадает с зоной самых дефектных форсунок (B-банк 6/8) и самых горячих цилиндров (Ц2, Ц6).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86 / 202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Форсунки и корреляция по цилиндрам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87 / 202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Стендовые тесты форсунок — обзор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9/16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дефектных (#82)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P03/P04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точки брака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перелив/недолив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Стенд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Стенд «Поток CR-2» (03.06.2026, Cummins CRI 2867147). #82 — 9 из 16 форсунок дефектны; брак на P04 (пилот) и P03 (малая нагрузка) — нарушено дозирование на частичных режимах. Часть переливает (1R, 3R), часть недоливает.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88 / 202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Брак форсунок по цилиндрам (#82)</a:t>
            </a:r>
          </a:p>
        </p:txBody>
      </p:sp>
      <p:pic>
        <p:nvPicPr>
          <p:cNvPr id="8" name="Picture 7" descr="in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89 / 202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ДЕТАЛИ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цилиндры 1–4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371600"/>
            <a:ext cx="2254910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38074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01168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02082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5176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66090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29184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30098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93192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94106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1371600"/>
            <a:ext cx="1803928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138074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67020" y="201168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1884" y="202082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265176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266090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перелив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329184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330098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393192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394106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1371600"/>
            <a:ext cx="4960802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138074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Бракованные точки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201168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202082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265176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266090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P03 30,1&gt;30; P04 51,4&gt;51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329184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330098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70949" y="393192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813" y="394106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P03 13,8&lt;16; P04 30,7&lt;41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EGT по DML #82: Ц2: 567°C (&gt;520)  Ц4: ~555°C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90 / 202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ДЕТАЛИ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цилиндры 5–8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371600"/>
            <a:ext cx="2254910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38074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01168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02082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5176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66090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29184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30098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93192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94106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1371600"/>
            <a:ext cx="1803928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138074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67020" y="201168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1884" y="202082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265176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266090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перелив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329184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330098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393192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394106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1371600"/>
            <a:ext cx="4960802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138074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Бракованные точки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201168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202082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40,8&lt;41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265176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266090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P03 31,3&gt;30; P04 60,7&gt;51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329184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330098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37,5&lt;41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70949" y="393192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813" y="394106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36,9&lt;41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EGT по DML #82: Ц6: 567°C (&gt;520)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91 / 202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ДЕТАЛИ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цилиндры 9–12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371600"/>
            <a:ext cx="2254910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38074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01168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02082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5176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66090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29184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30098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93192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94106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1371600"/>
            <a:ext cx="1803928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138074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67020" y="201168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1884" y="202082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265176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266090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329184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330098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393192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394106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1371600"/>
            <a:ext cx="4960802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138074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Бракованные точки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201168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202082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265176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266090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329184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330098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70949" y="393192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813" y="394106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EGT по DML #82: Ц11: ~98 (датчик FC1531)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92 / 202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ДЕТАЛИ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цилиндры 13–16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371600"/>
            <a:ext cx="2254910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38074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01168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02082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5176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66090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29184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30098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93192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94106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1371600"/>
            <a:ext cx="1803928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138074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67020" y="201168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1884" y="202082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265176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266090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329184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330098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393192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394106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1371600"/>
            <a:ext cx="4960802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138074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Бракованные точки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201168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202082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32,8&lt;41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265176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266090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39,2&lt;41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329184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330098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70949" y="393192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813" y="394106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P03 12,7&lt;16; P04 27,8&lt;41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93 / 202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 (1L)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94 / 202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Ц2 (1R)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перелив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P03 30,1&gt;30; P04 51,4&gt;51.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перелив на частичных режимах (P03 малая нагрузка / P04 пилот). Перелив → локальное переобогащение → повышение EGT в этом цилиндре.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663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⚠ Самый горячий цилиндр (567°C) + перелив форсунки — прямая корреляция с термоударом клапана.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95 / 202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Ц3 (2L)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96 / 202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Ц4 (2R)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~555°C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P03 13,8&lt;16; P04 30,7&lt;41.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97 / 202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Ц5 (3L)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40,8&lt;41.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98 / 202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Ц6 (3R)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перелив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P03 31,3&gt;30; P04 60,7&gt;51.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перелив на частичных режимах (P03 малая нагрузка / P04 пилот). Перелив → локальное переобогащение → повышение EGT в этом цилиндре.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663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⚠ Самый горячий цилиндр (567°C) + перелив форсунки — прямая корреляция с термоударом клапана.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99 / 202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Ц7 (4L)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37,5&lt;41.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100 / 202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Ц8 (4R)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36,9&lt;41.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101 / 202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Ц9 (5L)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102 / 202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Ц10 (5R)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103 / 202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Ц11 (6L)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104 / 202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Ц12 (6R)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105 / 202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Ц13 (7L)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32,8&lt;41.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106 / 202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Ц14 (7R)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39,2&lt;41.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107 / 202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Ц15 (8L)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108 / 202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Ц16 (8R)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P03 12,7&lt;16; P04 27,8&lt;41.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109 / 202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81863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Цил/Поз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81863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Ц6/3R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81863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Ц8/4R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81863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Ц11/6L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81863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Ц12/6R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5838" y="1371600"/>
            <a:ext cx="281863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0702" y="1380744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5838" y="1874519"/>
            <a:ext cx="281863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0702" y="188366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5838" y="2377439"/>
            <a:ext cx="281863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0702" y="238658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5838" y="2880359"/>
            <a:ext cx="281863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0702" y="288950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брак(3)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5838" y="3383279"/>
            <a:ext cx="281863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0702" y="339242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1371600"/>
            <a:ext cx="563727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9340" y="1380744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187451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9340" y="18836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перелив P02 261,7&gt;260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237743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23865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перелив P02; P04 53,7&gt;51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4476" y="288035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340" y="288950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перелив P02;P03;P04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338327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9340" y="339242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недолив P04 38,6&lt;41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84048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84048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93192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4 испытанные форсунки #78 — с отклонениями (3 переливают). Подтверждает массовость проблемы дозирования на частичных режимах по флоту.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110 / 202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Корреляция: форсунка ↔ цилиндр ↔ EGT (#82)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Ключевая корреляция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6766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Два самых горячих цилиндра Ц2 и Ц6 (567°C) — это форсунки 1R и 3R, обе «брак(2)» с ПЕРЕЛИВОМ на P03/P04 → локальное переобогащение → рост EGT → термоудар клапана.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307238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066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638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Дефектных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307238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210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Средняя EGT (DML)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690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0782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Горячие цилиндры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4448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A-банк (L)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9584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84448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3/8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9584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~465°C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9584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84448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33872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8736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B-банк (R)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2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6/8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33872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736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~525°C (+60)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33872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88736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Ц2=567, Ц6=567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69748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2697480"/>
            <a:ext cx="91440" cy="1920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278892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Объективность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3118104"/>
            <a:ext cx="3017520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Оговорки: часть форсунок недоливает; Ц11 датчик неисправен; 730E на стенде не испытаны. Карта цилиндров Ц(2k−1)=kL — требует подтверждения NHL.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111 / 202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Топливо и чистота (ISO 4406)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112 / 202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СЕРА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Качество топлива по сере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2–10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сера, мг/кг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среднее, мг/кг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≤10 (Е5)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класс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011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25+ паспортов: сера в 2,4× ниже порога Cummins (15 ppm). Топливо по сере ИСКЛЮЧЕНО как причина. Нарушение: паспорт №246 (декларация ЕАЭС истекла 24.10.2025).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113 / 202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топлива ISO 4406</a:t>
            </a:r>
          </a:p>
        </p:txBody>
      </p:sp>
      <p:pic>
        <p:nvPicPr>
          <p:cNvPr id="8" name="Picture 7" descr="fu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7024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7024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2592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7456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тонкой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2592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7456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22592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77456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22592" y="28346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77456" y="28437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21/18/17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22592" y="32918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33009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21/16/14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63456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18/16/13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63456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63456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63456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63456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0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33888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88752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12/9/6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33888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88752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33888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88752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33888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33888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8752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291840"/>
            <a:ext cx="585216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52160" y="3291840"/>
            <a:ext cx="91440" cy="21945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8" y="338328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53328" y="3712464"/>
            <a:ext cx="5486400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 Cummins (бак) 18/16/13; цель «вход в цилиндры» (Fleetguard/Горная Евразия) 12/9/6. Цель не достигается нигде; фильтр грубой очистки местами УХУДШАЕТ чистоту. Топливо одно для NTE200 и 730E → не дифференцирует, но угрожает форсункам MCRS (2–5 мкм).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114 / 202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Обследование KAMSS (3 единицы)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115 / 202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обследование 3 единиц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645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INSITE-коды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Фото-отчёт KAMSS (INSITE-диагностика + дефектация). По коды неисправностей двигателей: 2138/2137 «температура EGT цилиндров 16(B8)/14(B7) выше нормы», 622 «отклонение EGT цил.3», защита: низкий уровень ОЖ (235), давление картерных газов (556).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91440" cy="1645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918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Дефектация клапанов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210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Дефектация: фото эрозии рабочих фасок выпускных клапанов (тарелка/седло). Подтверждает термический характер повреждения и перегрев именно B-банка — согласуется с DML и кодами ECM.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116 / 202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визуальные свидетельства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1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2647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Слева — INSITE коды EGT по цилиндрам; справа — эрозия фаски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117 / 202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Контрольная группа 730E-DC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118 / 202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730E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730E-DC — паритет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Двигатель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565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4429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39565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4429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9565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429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6,7 мг/кг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9565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4429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 15W-40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9565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4429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39565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4429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39565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94429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730E-DC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3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3067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58203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13067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58203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13067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58203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067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58203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13067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76841" y="137160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31705" y="1380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Дифференц.?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76841" y="18288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1705" y="183794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6841" y="22860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31705" y="22951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6841" y="27432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31705" y="27523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76841" y="32004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1705" y="32095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76841" y="36576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31705" y="3666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76841" y="41148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31705" y="41239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93776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937760"/>
            <a:ext cx="91440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029200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Единственные дифференцирующие факторы — в калибровке ЭБУ. При прочих равных 730E с TIB=100% и включёнными защитами — 0 отказов ГБЦ.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119 / 202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Опровержение версий NHL / CCEC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120 / 202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Оценка аргументов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зольность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запылённость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3067" y="1380744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8836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опровергнут (низкая сажа 0,3)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238658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переоценка (Si низкий)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88950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NTE200 ≠ rated (567°C); факт признан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339242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корня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89534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ПОДТВЕРЖДАЕТ нашу находку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43982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ответственности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121 / 202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CCEC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Статистическое опровержение зольной версии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Низкий Fe и сажа → не абразивный/зольный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122 / 202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Коренная причина (RCA)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123 / 202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Механизм отказа — путь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315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93136"/>
                </a:solidFill>
                <a:latin typeface="Calibri"/>
              </a:rPr>
              <a:t>1.  ЭБУ: TIB 200% + отключённые защиты + обороты 2100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91440" cy="7315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93136"/>
                </a:solidFill>
                <a:latin typeface="Calibri"/>
              </a:rPr>
              <a:t>2.  Переобогащение/поздний впрыск + нет снижения мощности в перегреве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1097280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91440" cy="7315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1012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93136"/>
                </a:solidFill>
                <a:latin typeface="Calibri"/>
              </a:rPr>
              <a:t>3.  EGT до 567°C (лимит 520), банк B +60°C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91440" cy="7315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2452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93136"/>
                </a:solidFill>
                <a:latin typeface="Calibri"/>
              </a:rPr>
              <a:t>4.  Термоудар + эрозия фаски выпускного клапана (нет Stellite)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29200"/>
            <a:ext cx="1097280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" cy="7315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3892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93136"/>
                </a:solidFill>
                <a:latin typeface="Calibri"/>
              </a:rPr>
              <a:t>5.  Потеря герметичности → 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124 / 202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Дерево отказов (FTA)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FTA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ВЕРШИНА: разрушение ГБЦ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└ перегрев клапана (EGT&gt;520)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КАЛИБРОВКА ЭБУ (осн.)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├ TIB 200%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├ защиты ОТКЛ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обороты 2100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форсунки (перелив P03/P04)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└ конструкция (нет Stellite)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Исикава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Исикава (5M):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Machine: ЭБУ-калибровка, нет Stellite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Method: дозирование форсунок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Material: топливо (чистота), масло — OK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Measurement: датчики EGT (FC1531/1619)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Man/Env: перегруз — НЕ значим (10/10/20)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125 / 202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ДОКАЗАТЕЛЬСТВА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доказательств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63727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 200% vs 100% + защиты ОТКЛ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(Ц2/Ц6)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 — 0 отказов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 (KAMSS/ECM)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Форсунки перелив ↔ горячие цил.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 Stellite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011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Масло/топливо/перегруз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4476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9340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4476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9340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9340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9340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4476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340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438911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9340" y="43982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4476" y="489203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9340" y="49011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🟢 исключ.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1371600"/>
            <a:ext cx="3156874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1380744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187451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18836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ECM/письмо Cummins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237743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23865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DML #82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288035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288950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паритет условий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338327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339242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2137/2138/628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74877" y="388619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29741" y="389534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стенд+DML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74877" y="438911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29741" y="43982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NHL/Cummins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74877" y="489203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29741" y="49011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не дифференц.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126 / 202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коренной причины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1274552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91440" cy="29260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Коренная 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883664"/>
            <a:ext cx="10908792" cy="2414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93136"/>
                </a:solidFill>
                <a:latin typeface="Calibri"/>
              </a:rPr>
              <a:t>Коренная причина массовых отказов ГБЦ QSK50 на NTE200 — СИСТЕМНОЕ СНИЖЕНИЕ ТЕПЛОВОЙ ЗАЩИТЫ В КАЛИБРОВКЕ ЭБУ (TIB 200% vs 100%, отключённые триггеры перегрева масла/ОЖ/наддува/топлива, задержки derate 43–51 с, повышенные обороты 2100 vs 1990), приводящее к хроническому перегреву (EGT до 567°C) и термоудару выпускных клапанов.</a:t>
            </a:r>
          </a:p>
          <a:p>
            <a:pPr algn="l"/>
            <a:r>
              <a:rPr sz="15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293136"/>
                </a:solidFill>
                <a:latin typeface="Calibri"/>
              </a:rPr>
              <a:t>Усугубляющие факторы: отсутствие наплавки Stellite (конструкция NHL) и нарушенное дозирование форсунок (перелив на частичных режимах в горячих цилиндрах). Эксплуатационные версии (перегрузка, масло, сера топлива) данными ОПРОВЕРГНУТЫ.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127 / 202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Досье по машинам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128 / 202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NHLT0ABAРPB100078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33232776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2024-02-22 → 2025-02-21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EE22090283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18859 ч  ·  Макс. об/мин: 2049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1.94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21.01.2026: Клапаны+форсунки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129 / 202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NHLT0ABAКPB100079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33232758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2024-02-27 → 2025-02-26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EE22090758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17821 ч  ·  Макс. об/мин: 2060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130 / 202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NHLT0ABATPB100080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33232759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2024-02-05 → 2025-02-04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EE22090635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19050 ч  ·  Макс. об/мин: 2036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5529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131 / 202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NHLT0ABAСPB100084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33232853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2024-02-23 → 2025-02-22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EE22120769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2843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119.8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132 / 202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NHLT0ABAVPB100085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33239899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2024-02-04 → 2025-02-03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EE25032335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68.9%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2.24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11.08.2025: Замена ГБЦ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133 / 202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NHLT0ABAAPB100086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33232926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2024-02-07 → 2025-02-06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EE22120768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98.5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114.3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0.16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17.12.2025: Замена ГБЦ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31.03.2026: Повтор. ремонт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134 / 202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NHLT0ABAAPB100081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33232946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2024-03-04 → 2025-03-03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ЕЕ22100600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17923 ч  ·  Макс. об/мин: 2038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0.65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135 / 202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NHLT0ABAAPB100082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33232852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2024-03-07 → 2025-03-06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EE22090423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3162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124.1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74.7%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0.58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136 / 202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NHLT0ABAJPB100083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33231742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2024-03-28 → 2025-03-27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EE22100031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17583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5809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17.07.2025: Замена ГБЦ (трещина→ОЖ в масло)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137 / 202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NHLT0ABAAPB100087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33232851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2024-03-12 → 2025-03-11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EE22090030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17823 ч  ·  Макс. об/мин: 2043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79.6%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138 / 202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NHLT0ABAHPB100088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33232925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2024-03-27 → 2025-03-26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EE22090424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1483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114.1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0.27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139 / 202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NHLT0ABAEPB100089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33232947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2024-04-09 → 2025-04-08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EE22120153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17582 ч  ·  Макс. об/мин: 2045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7999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12.06.2026: Клапаны/втулки/седла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140 / 202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NHLT0ABAKPB100096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33230198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2024-04-12 → 2025-04-11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EE22100047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1.32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141 / 202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NHLT0ABAHPB100091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33229401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2024-04-17 → 2025-04-16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EE22100292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17411 ч  ·  Макс. об/мин: 2050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106.0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119.1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142 / 202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NHLT0ABATPB100094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33230197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2024-04-23 → 2025-04-22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EE22120544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17117 ч  ·  Макс. об/мин: 2052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9011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1.67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143 / 202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NHLT0ABAPPB100095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33229431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2024-04-30 → 2025-04-29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EE22120396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16852 ч  ·  Макс. об/мин: 2029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5915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67.1%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10.08.2025: Толкатель/клапан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16.03.2026: Клапан ГБЦ (повтор)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144 / 202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NHLT0ABACPB100098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33230182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2024-05-04 → 2025-05-03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EE22100800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17069 ч  ·  Макс. об/мин: 2043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5998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115.2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68.5%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145 / 202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NHLT0ABATPB100077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33230472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2024-05-05 → 2025-05-04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17331 ч  ·  Макс. об/мин: 2063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7945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65.7%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146 / 202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NHLT0ABAEPB100092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33229400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2024-05-11 → 2025-05-10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EE23020660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127.3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0.59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147 / 202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NHLT0ABACPB100093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33230183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2024-06-21 → 2025-06-20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EE22100601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15814 ч  ·  Макс. об/мин: 2058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119.0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80.2%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2.16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148 / 202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NHLT0ABAPRB100102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33231740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2024-12-28 → 2025-12-27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EE23060165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12065 ч  ·  Макс. об/мин: 2030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70.9%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149 / 202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NHLT0ABALRB100108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33231760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2025-01-02 → 2026-01-01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11543 ч  ·  Макс. об/мин: 2088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5975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150 / 202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NHLT0ABAHRB100109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33233617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2024-12-29 → 2025-12-28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EE23020280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11797 ч  ·  Макс. об/мин: 2031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72.5%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2.29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151 / 202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NHLT0ABAARB100107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33230459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2025-01-08 → 2026-01-07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11306 ч  ·  Макс. об/мин: 2053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8191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152 / 202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NHLT0ABATRB100101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33230473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2025-01-08 → 2026-01-07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11343 ч  ·  Макс. об/мин: 2030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64.4%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2.71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153 / 202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NHLT0ABACRB100100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33231741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2025-01-10 → 2026-01-09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EE23060166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5946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71.5%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154 / 202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NHLT0ABAPRB100097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33230485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2025-01-09 → 2026-01-08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10543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7561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155 / 202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NHLT0ABAARB100110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33230210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2025-01-09 → 2026-01-08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EE21110027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11046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72.8%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2.25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156 / 202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NHLT0ABAVRB100090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33232708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2025-02-05 → 2026-02-04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EE23020002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10793 ч  ·  Макс. об/мин: 2041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72.4%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2.3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157 / 202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NHLT0ABAVRB100106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33232655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2025-02-09 → 2026-02-08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10802 ч  ·  Макс. об/мин: 2031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1.57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158 / 202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NHLT0ABAHRB100112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33233618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2025-02-12 → 2026-02-11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EE23050166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10308 ч  ·  Макс. об/мин: 2030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130.7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64.8%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159 / 202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NHLT0ABALRB100111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33230474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2025-02-16 → 2026-02-15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EE23060163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104.7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160 / 202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NHLT0ABAJRB100099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33232793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2025-02-22 → 2026-02-21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EE23050552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10284 ч  ·  Макс. об/мин: 2532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8804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117.9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64.0%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1.61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161 / 202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NHLT0ABACRB100105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33232777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2025-02-28 → 2026-02-27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EE23060164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10041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2494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95.8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114.2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0.43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162 / 202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NHLT0ABAKRB100103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33232794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2025-03-03 → 2026-03-02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10075 ч  ·  Макс. об/мин: 2039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74.9%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16.06.2026: Втулка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163 / 202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NHLT0ABAJRB100104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33232834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2025-03-08 → 2026-03-07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9306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164 / 202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NHLT0ABAKSB100124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33236259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2025-11-03 → 2027-11-02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EE24040075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4516 ч  ·  Макс. об/мин: 2009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5581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165 / 202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NHLT0ABAJSB100125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33236246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2025-11-07 → 2027-11-06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EE24040915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6624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81.4%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1.24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166 / 202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NHLT0ABAPSB100123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33236214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2025-10-27 → 2027-10-26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EE24030707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5748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115.3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70.5%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167 / 202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NHLT0ABACSB100126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33238517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2025-11-22 → 2027-11-21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EE24070822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4014 ч  ·  Макс. об/мин: 2049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0.76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168 / 202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NHLT0ABAVSB100127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33238542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2025-11-25 → 2027-11-24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EE24040806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Катастроф.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3767 ч  ·  Макс. об/мин: 2012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4867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117.1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80.8%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0.91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~03.2026: Замена ГБЦ (ранний)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169 / 202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NHLT0ABAASB100128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33238516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2025-12-22 → 2027-12-21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3775 ч  ·  Макс. об/мин: 2054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1.69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170 / 202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NHLT0ABALSB100129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33238503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2025-12-02 → 2027-12-01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EE24040081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3774 ч  ·  Макс. об/мин: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124.4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171 / 202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NHLT0ABAVSB100130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33238551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2025-12-13 → 2027-12-12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EE24040914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3532 ч  ·  Макс. об/мин: 2028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5591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0.96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172 / 202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NHLT0ABAASB100131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33238553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2025-12-09 → 2027-12-08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EE24070646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3778 ч  ·  Макс. об/мин: 2058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61.3%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3.42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18.06.2026: Клапаны/втулки/седла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173 / 202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NHLT0ABALSB100132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33238554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2025-12-27 → 2027-12-26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EE24040919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3266 ч  ·  Макс. об/мин: 2041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1.14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174 / 202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NHLT0ABAHSB100133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33238552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2025-12-18 → 2027-12-17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EE24070237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3508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1.78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12.06.2026: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175 / 202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№90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—  ·  Год: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— →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None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None ч  ·  Макс. об/мин: None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2351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68.6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0.19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176 / 202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№91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—  ·  Год: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— →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None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None ч  ·  Макс. об/мин: None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5879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68.1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177 / 202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№92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—  ·  Год: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— →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178 / 202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Аналитические срезы и доп. данные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179 / 202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в топливной рампе (CR)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~1060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рабочее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2100 бар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система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стабильно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разброс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Рампа в норме — проблема не в давлении, а в дозировании форсунок.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180 / 202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МАСЛО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масла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~380 кПа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 нагрузкой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&gt;241 кПа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мин. норма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Давление масла в норме во всех режимах.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181 / 202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НАДДУВ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наддува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~200 кПа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 нагрузкой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~110 кПа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без нагрузки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Наддув в норме; перегрев — следствие калибровки, не турбонаддува.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182 / 202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ТОПЛИВО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Расход топлива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нагрузка с породой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без породы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ср. об/мин с нагрузкой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Высокая нагрузка повышает базовую EGT; TIB добавляет пульсации.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183 / 202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железу (Fe) в масле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Даже у лидеров Fe умеренный — износ низкий; отказ термический, не абразивный.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184 / 202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TBN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Минимальный TBN (старение масла)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 везде высоко выше предела 2,5 — масло не деградировало.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185 / 202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перевезённой массе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млн 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3.42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2.71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100.9%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101.5%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102.4%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102.5%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102.5%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101.8%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105.2%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101.6%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Лидеры по тоннажу при средней нагрузке ≈100% — режим в пределах 10/10/20.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186 / 202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доле рейсов &gt;100%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133.0%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120.8%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118.4%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121.7%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117.6%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124.4%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127.3%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Доля &gt;100% — не нарушение 10/10/20 (зона 100–110% допускается).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187 / 202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1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968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188 / 202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1979737"/>
          </a:xfrm>
          <a:prstGeom prst="rect">
            <a:avLst/>
          </a:prstGeom>
        </p:spPr>
      </p:pic>
      <p:pic>
        <p:nvPicPr>
          <p:cNvPr id="9" name="Picture 8" descr="image1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89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189 / 202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1264778"/>
          </a:xfrm>
          <a:prstGeom prst="rect">
            <a:avLst/>
          </a:prstGeom>
        </p:spPr>
      </p:pic>
      <p:pic>
        <p:nvPicPr>
          <p:cNvPr id="9" name="Picture 8" descr="image1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7167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190 / 202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963202"/>
          </a:xfrm>
          <a:prstGeom prst="rect">
            <a:avLst/>
          </a:prstGeom>
        </p:spPr>
      </p:pic>
      <p:pic>
        <p:nvPicPr>
          <p:cNvPr id="9" name="Picture 8" descr="image1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24367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191 / 202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Методика исследования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Этапы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 Сбор первичных данных (Весовая, ECM, DML, масло, топливо, стенд форсунок, KAMSS, парк).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 Перепроверка из первоисточников (пересчёт нагрузки от 180 т; парсинг ECM/масла/форсунок).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 Сравнение NTE200 vs контрольной группы 730E (паритет условий).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 Проверка гипотез «за/против»; исключение недифференцирующих факторов.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 Формулировка коренной причины и плана действий.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Принцип: каждое число — из первичных данных; неподтверждённое помечается отдельно.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192 / 202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СЛОВАРЬ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Словарь и обозначения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Термины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 — температура отработавших газов · TIB — компенсация теплового дисбаланса (Thermal Imbalance Balance) · MCRS — модульная система Common Rail · derate — снижение мощности/оборотов защитой · DO_Option — профиль опций ЭБУ · ISO 4406 — класс чистоты (частицы &gt;4/6/14 мкм) · TBN — щелочное число · CI-4/CES 20078 — класс моторного масла · A/B банк — ряды цилиндров (нечёт./чёт.) · P03/P04 — тест-планы стенда (малая нагрузка/пилот).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193 / 202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Выводы и действия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194 / 202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Неотложные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 Перекалибровать ЭБУ NTE200 под профиль 730E: TIB 100%, включить защиты перегрева, убрать задержки derate, обороты 1990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3288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 Контрольный DML после перекалибровки — подтвердить снижение EGT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8444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 Заменить датчики EGT с FC1531/1619 (#82, #67)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6279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26279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3600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 Стендовая проверка/замена бракованных форсунок (перелив P03/P04)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195 / 202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🟠🟡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Средне- и долгосрочные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Запрос NHL/Cummins: обоснование исключения Stellite и отключения защит; поставка клапанов с наплавкой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Привести чистоту топлива к ≤18/16/13 (доп. фильтрация), ориентир 12/9/6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040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Унифицировать прошивку ЭБУ (.07/.08) по парку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39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Мониторинг EGT и FC611 в реальном времени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4632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Испытать форсунки 730E на стенде для сравнения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196 / 202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ЭФФЕКТ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Ожидаемый эффект и риски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EGT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&lt; 520°C после калибровки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отказы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клапанов/ГБЦ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↑ ресурс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ГБЦ и форсунок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устраняет коренную причину без замены узлов. Установка клапанов со Stellite и нормализация фильтрации топлива/дозирования форсунок закрывают отягчающие факторы. Риск бездействия — продолжение массовых отказов ГБЦ в гарантийный период.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197 / 202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рисков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Продолжение отказов ГБЦ (без калибровки)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Выход из строя форсунок MCRS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 масла/ОЖ без защиты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Гарантийные претензии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Простой парка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Вероятность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338327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339242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88619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89534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Тяжесть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1931" y="338327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6795" y="339242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1931" y="388619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6795" y="389534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1350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06214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Действие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1350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06214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Перекалибровка ЭБУ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1350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06214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Фильтрация топлива + замена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51350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06214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Включить триггеры ЭБУ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51350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06214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Документирование, запрос NHL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51350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06214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Плановый график ремонта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198 / 202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ДОРОЖНАЯ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Дорожная карта внедрения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5252"/>
                </a:solidFill>
                <a:latin typeface="Calibri"/>
              </a:rPr>
              <a:t>0–1 мес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554480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пилотных машин + контрольный DML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91440" cy="868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06039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8C2E"/>
                </a:solidFill>
                <a:latin typeface="Calibri"/>
              </a:rPr>
              <a:t>1–3 мес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06039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всего парка, замена датчиков EGT/форсунок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91440" cy="868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8C2E"/>
                </a:solidFill>
                <a:latin typeface="Calibri"/>
              </a:rPr>
              <a:t>3–6 мес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657600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Нормализация фильтрации топлива, запрос Stellite у NHL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17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91440" cy="868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09159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2EA043"/>
                </a:solidFill>
                <a:latin typeface="Calibri"/>
              </a:rPr>
              <a:t>6–12 мес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709159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Мониторинг EGT/FC611, верификация снижения отказов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199 / 202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КОНТАКТЫ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Ответственные стороны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Оператор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Подрядчик ТО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Производитель двигателя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Производитель техники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Лаборатория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Лаборатория топлива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380744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Организация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88366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Полюс Магадан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38658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ООО «Горная Евразия»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88950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/ CCEC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39242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NHL (North Hauler)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89534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МИЦ ГСМ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39826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Дорингтест / ООО «Авиатек»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200 / 202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Источники и стандарты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02336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База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Данные Весовая (131 файл, 365 069 рейсов) — нагрузка/производительность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Своды анализов масла 2025+2026 (ДВС, NTE200/730E)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ECM: 15 параметров (ECM_对比), Fault Codes (361 файл INSITE)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DML #82 (INSITE логи), стенд «Поток CR-2» (форсунки)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Паспорта топлива, Дорингтест ISO 4406, Cummins требования к ДТ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KAMSS — обследование 3 единиц; письма NHL/Cummins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Реестр парка ГЕ (апрель 2026)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Стандарты: ISO 4406, ТР ТС 013/2011, ГОСТ 32511-2013, Cummins CES 20078, Cummins SB 5407411 (378-005/010/011/013).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201 / 202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Коренная причина — калибровка ЭБУ (TIB + отключённые защиты),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усугублённая отсутствием Stellite и переливом форсунок.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Перегрузка, масло и сера топлива — не дифференцирующие факторы (подтверждено данными).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202 / 202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