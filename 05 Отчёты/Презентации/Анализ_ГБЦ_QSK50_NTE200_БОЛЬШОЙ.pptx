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20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23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отказов головок блока цилиндров (ГБЦ)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двигателей Cummins QSK50 —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FD6DA"/>
                </a:solidFill>
                <a:latin typeface="Calibri"/>
              </a:rPr>
              <a:t>Глубокий технический анализ · Полюс Магадан · контрольная группа 730E-DC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только факты из первичных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 / 178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НАВИГАЦИЯ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Парк и реестр NTE200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7160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Двигатель и режим отказа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Статистика отказов ГБЦ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029967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029967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148839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Нагрузка и производительность (10/10/20)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5. Анализ масла (бренды, показатели, узлы)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68833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68833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8072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6. Калибровка ECM (15 параметров)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7. Ошибки ECM (Fault Codes)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3346704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60" y="3346704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4655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8. Телеметрия DML (EGT)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9. Форсунки и корреляция по цилиндрам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005072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4005072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12394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10. Топливо и чистота (ISO 4406)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11. Обследование KAMSS (3 ед.)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4663440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4663440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478231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12. Контрольная группа 730E-DC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13. Опровержение версий NHL/CCEC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321808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9360" y="5321808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2240" y="54406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14. Коренная причина (RCA, FTA)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80176"/>
            <a:ext cx="55778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980176"/>
            <a:ext cx="73152" cy="5486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09904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15. Выводы, действия, дорожная карта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 / 178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отличий ЭБУ vs 730E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(лимит 520)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отказов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31720"/>
            <a:ext cx="91440" cy="128016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2316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Главный вывод (многофакторный)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752344"/>
            <a:ext cx="10908792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 — МНОГОФАКТОРНЫЕ. ИНИЦИИРУЮТ: пыль/негерметичность впуска (засорённые фильтры, коррозия ОНВ) + загрязнённое топливо → износ направляющих/стержней клапанов и разброс форсунок. УСИЛИВАЕТ: калибровка ЭБУ (TIB 200%, отключённые тепловые защиты) → перегрев EGT 567°C → выгорание клапана. СОПУТСТВУЕТ: нет Stellite.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03320"/>
            <a:ext cx="4509820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371246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87368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09651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Пыль / негерметичность впуска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71416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4480559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Загрязнение топлива → форсунки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55464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64607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239512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5248655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623559"/>
            <a:ext cx="45098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5632703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Перегрузка (10/10/20)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6007607"/>
            <a:ext cx="4509820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6016751"/>
            <a:ext cx="44183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3703320"/>
            <a:ext cx="2818638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371246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4087368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409651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4471416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4480559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67020" y="4855464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1884" y="4864607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УСИЛИВАЮЩИЙ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67020" y="5239512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1884" y="5248655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67020" y="5623559"/>
            <a:ext cx="2818638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1884" y="5632703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значима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67020" y="6007607"/>
            <a:ext cx="2818638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1884" y="6016751"/>
            <a:ext cx="272719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85658" y="3703320"/>
            <a:ext cx="3946093" cy="38404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40522" y="371246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85658" y="4087368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40522" y="409651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фильтры #69, ОНВ/ОЖ ✓ (Si низкий ⚠)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85658" y="4471416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40522" y="4480559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ISO плохой, разброс P04 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85658" y="4855464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40522" y="4864607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параметров, EGT 567 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85658" y="5239512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40522" y="5248655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NHL/Cummins 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85658" y="5623559"/>
            <a:ext cx="3946093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40522" y="5632703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распред. левосмещ., соблюд. 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85658" y="6007607"/>
            <a:ext cx="3946093" cy="38404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40522" y="6016751"/>
            <a:ext cx="3854653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 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 / 178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Парк и реестр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 / 178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ПАРК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Состав парка NHL (Полюс)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Объект / модель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Магадан — NTE 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Красноярск — NTE240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Алдан/Вернинское/КР/МГ — TR100A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702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188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Кол-во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6702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188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~90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6440" y="1371600"/>
            <a:ext cx="270589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1304" y="1380744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Двигатель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96440" y="1874519"/>
            <a:ext cx="27058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1304" y="1883663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QSK50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6440" y="2377439"/>
            <a:ext cx="270589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1304" y="2386583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QSK60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96440" y="2880359"/>
            <a:ext cx="27058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1304" y="2889503"/>
            <a:ext cx="261445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QST30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02332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57196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Привод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02332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7196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GE (AC)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02332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57196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GE (AC)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02332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7196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Allison (мех.)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 анализа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Объект расследования — 47 самосвалов NTE 200 (180 т, QSK50 MCRS, Tier 2, без DPF/EGR) на Полюс Магадан. Контрольная группа — 730E-DC (тот же двигатель QSK50). NTE240 (QSK60) и TR100A (QST30) — иные двигатели, в данном анализе как фон парка.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 / 178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компактно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938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938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33232776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938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33232759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938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2938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33239899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938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2938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33232946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2938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938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2938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74519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938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33232925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92938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33232947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091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640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091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640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091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640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091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640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091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640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091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640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091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640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091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640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091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640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091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640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7091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640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091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640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7091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640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642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093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642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642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093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42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642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642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642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642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093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642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642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093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642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093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642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3093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642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26680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8154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26680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8154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33230198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26680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8154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33229401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26680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8154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33230197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680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8154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680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8154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33230182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26680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8154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726680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8154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33229400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26680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8154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33230183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726680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8154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26680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78154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33231760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726680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78154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33233617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726680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78154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33230459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6132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1618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56132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61618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56132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61618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56132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1618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6132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61618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56132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1618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56132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61618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56132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618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56132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61618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2023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56132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61618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56132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61618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56132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61618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056132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61618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47 машин NTE 200 (гар. №43–89), 2023 г.в., Cummins QSK50, привод GE. Полный реестр (PIN, гарантия) — в Obsidian.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 / 178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РЕЕСТР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NTE200 — компактно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2938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2938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2938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33231741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2938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33230210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938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2938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33232655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938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33233618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2938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33230474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2938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33232793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938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2938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33232794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640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091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640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091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640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091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640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091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7640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7091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7640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091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7640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091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640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091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640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091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640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7091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640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091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640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0936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6422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Гар.№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936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6422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6422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0936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6422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0936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36422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6422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0936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422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0936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6422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0936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6422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0936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36422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0936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36422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0936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36422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6422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26680" y="1325880"/>
            <a:ext cx="283464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81544" y="133502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ДВС №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726680" y="165506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781544" y="166420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33232834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726680" y="198424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781544" y="199339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33236259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26680" y="2313432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781544" y="232257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33236246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26680" y="2642615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781544" y="265175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33236214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26680" y="2971799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781544" y="2980943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33238517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26680" y="3300983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781544" y="3310127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33238542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680" y="3630167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81544" y="3639311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33238516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26680" y="3959351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781544" y="3968495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33238503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26680" y="4288536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81544" y="4297679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726680" y="4617720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781544" y="4626864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26680" y="4946904"/>
            <a:ext cx="28346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781544" y="4956048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33238554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726680" y="5276088"/>
            <a:ext cx="283464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81544" y="5285232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33238552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561320" y="1325880"/>
            <a:ext cx="1417320" cy="32918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616184" y="133502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561320" y="165506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616184" y="166420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2024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561320" y="198424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616184" y="199339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61320" y="2313432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16184" y="232257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561320" y="2642615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616184" y="265175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561320" y="2971799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616184" y="2980943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561320" y="3300983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16184" y="3310127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61320" y="3630167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616184" y="3639311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561320" y="3959351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16184" y="3968495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0561320" y="4288536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616184" y="4297679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561320" y="4617720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6184" y="4626864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0561320" y="4946904"/>
            <a:ext cx="14173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0616184" y="4956048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561320" y="5276088"/>
            <a:ext cx="1417320" cy="32918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616184" y="5285232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 / 178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Двигатель и режим отказа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 / 178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ДВИГАТЕЛЬ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Cummins QSK50 MCRS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3891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Характеристики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V16, рабочий объём 50 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MCRS (Modular Common Rail), до 2100 бар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Tier 2 — без DPF/EGR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2 банка по 8 цилиндров (A — нечётные, B — чётные)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ЭБУ: каналы ECM0/ECM1/ECM144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Привод самосвала — электрический GE (AC)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3891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Режим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877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Режим отказа: выгорание/эрозия тарелок и сёдел ВЫПУСКНЫХ клапанов → потеря герметичности → разрушение ГБЦ. Сопутствует: зольно-сажевые отложения, просадка клапанов, износ направляющих втулок, повышенный расход масла.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 / 178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Функция ГБЦ и путь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Перегрев (высокая EGT) → термоудар тарелки выпускного клапана → микротрещины/эрозия рабочей фаски → прорыв горячих газов → локальный перегрев седла → потеря компрессии и герметичности → разрушение ГБЦ.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Стадия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Тепловой дисбаланс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Эрозия клапана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Отложения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39565" y="2926080"/>
            <a:ext cx="450982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4429" y="29352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Признак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39565" y="333756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4429" y="334670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(лимит 520)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39565" y="374904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429" y="375818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банк B +60°C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9565" y="416052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94429" y="416966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тарелок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39565" y="4572000"/>
            <a:ext cx="450982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94429" y="458114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нагар на клапанах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9565" y="4983480"/>
            <a:ext cx="45098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94429" y="4992624"/>
            <a:ext cx="44183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ГБЦ/клапанов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49386" y="2926080"/>
            <a:ext cx="3382365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250" y="29352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49386" y="333756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4250" y="334670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49386" y="374904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04250" y="375818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DML/ECM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49386" y="416052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4250" y="416966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KAMSS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49386" y="4572000"/>
            <a:ext cx="3382365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4250" y="458114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9386" y="4983480"/>
            <a:ext cx="3382365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04250" y="4992624"/>
            <a:ext cx="3290925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реестр ремонтов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 / 178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Статистика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 / 178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Ключевые показатели отказов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ремонтных событий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затронутых машин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23444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23444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3258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80136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повторные (#48,#58)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23444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32588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80136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ранний (2776 м/ч)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77440"/>
            <a:ext cx="11274552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77440"/>
            <a:ext cx="91440" cy="10972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468880"/>
            <a:ext cx="10908792" cy="914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— на машинах разной наработки (от 2776 до 18245 м/ч), что исключает простой возрастной износ как причину. Ранний отказ #83 при 2776 м/ч — индикатор системной (калибровочной/конструктивной) проблемы.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 / 178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ХРОНОЛОГИЯ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Хронология ремонтов</a:t>
            </a:r>
          </a:p>
        </p:txBody>
      </p:sp>
      <p:pic>
        <p:nvPicPr>
          <p:cNvPr id="8" name="Picture 7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5209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 / 178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17.12.2025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584655" y="4270248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39519" y="427939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84655" y="4690872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9519" y="470001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31.03.2026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84655" y="5111496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39519" y="512064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13.05.2026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~10702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~12890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~14997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39565" y="4270248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4429" y="427939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2776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39565" y="4690872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894429" y="470001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~15126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39565" y="5111496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429" y="512064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(трещина→ОЖ в масло)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Толкатель/клапан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Клапаны+форсунки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 ГБЦ (повтор)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868984" y="4270248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23848" y="427939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68984" y="4690872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23848" y="470001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Повтор. ремонт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68984" y="5111496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23848" y="512064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 / 178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Реестр ремонтов ГБЦ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127455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127455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036015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1325880"/>
            <a:ext cx="225491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133502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1746504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175564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20.05.2026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2167128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2176272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25.05.2026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4655" y="2587752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39519" y="2596896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84655" y="3008376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39519" y="3017520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12.06.2026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84655" y="3429000"/>
            <a:ext cx="225491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39519" y="3438144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16.06.2026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84655" y="3849624"/>
            <a:ext cx="225491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39519" y="3858768"/>
            <a:ext cx="216347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18.06.2026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9565" y="1325880"/>
            <a:ext cx="2029419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94429" y="133502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39565" y="1746504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4429" y="175564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9565" y="2167128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94429" y="2176272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39565" y="2587752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94429" y="2596896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18245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39565" y="3008376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94429" y="3017520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39565" y="3429000"/>
            <a:ext cx="2029419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94429" y="3438144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39565" y="3849624"/>
            <a:ext cx="2029419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94429" y="3858768"/>
            <a:ext cx="19379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68984" y="1325880"/>
            <a:ext cx="5862767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23848" y="133502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68984" y="1746504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23848" y="175564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68984" y="2167128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23848" y="2176272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68984" y="2587752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23848" y="2596896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68984" y="3008376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23848" y="3017520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68984" y="3429000"/>
            <a:ext cx="5862767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23848" y="3438144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Втулка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68984" y="3849624"/>
            <a:ext cx="5862767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23848" y="3858768"/>
            <a:ext cx="5771327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Клапаны/втулки/седла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 / 178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ВЕЙБУЛЛ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Накопление отказов по наработке</a:t>
            </a:r>
          </a:p>
        </p:txBody>
      </p:sp>
      <p:pic>
        <p:nvPicPr>
          <p:cNvPr id="8" name="Picture 7" descr="we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Отказы при разной наработке → не возрастной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 / 178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ТЕПЛОВАЯ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Тепловая карта / EGT по цилиндрам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 и Ц6 = 567°C (+47 над лимитом).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 / 178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БАНКИ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 A против Банка B</a:t>
            </a:r>
          </a:p>
        </p:txBody>
      </p:sp>
      <p:pic>
        <p:nvPicPr>
          <p:cNvPr id="8" name="Picture 7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B-банк горячее и с бо́льшим числом дефектных форсунок.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18 / 178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Нагрузка и производительность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19 / 178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4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93024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70848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0848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2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0848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25712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48672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48672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03536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48672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03536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26496" y="1463040"/>
            <a:ext cx="87782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14721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26496" y="1920240"/>
            <a:ext cx="87782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0" y="19293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26496" y="2377440"/>
            <a:ext cx="87782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81360" y="2386584"/>
            <a:ext cx="78638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743200"/>
            <a:ext cx="585216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2743200"/>
            <a:ext cx="91440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53328" y="28346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3163824"/>
            <a:ext cx="5486400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Парк СООТВЕТСТВУЕТ 10/10/20 (среднее ≈100%, &gt;120% практически нет). Систематическая перегрузка как значимый фактор НЕ подтверждается. Прежний тезис «295 т» — ошибка (номинал 220 вместо 180). Корректно: макс 133% ≈ 239 т.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20 / 178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СТАТИСТИКА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Нагрузка: анализ по нормальному распределению</a:t>
            </a:r>
          </a:p>
        </p:txBody>
      </p:sp>
      <p:pic>
        <p:nvPicPr>
          <p:cNvPr id="8" name="Picture 7" descr="load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026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Распределение левосмещённое (skew=−3,6), островершинное; пик ~102%, короткий правый хвост → экстремальных перегрузов почти нет.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21 / 178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Статистика нагрузки — интерпретация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99,75%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 (μ)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13,7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ст. откл. (σ)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371600"/>
            <a:ext cx="27432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146304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−3,6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1938528"/>
            <a:ext cx="25146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асимметрия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371600"/>
            <a:ext cx="24688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463040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1938528"/>
            <a:ext cx="22402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P99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6888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46888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2560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Что это значит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88950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Распределение НЕ нормальное: сильная левая асимметрия (длинный хвост лёгких/частичных загрузок) при остром пике у целевого ~100–102%. Правый хвост короткий: P95=110%, P99=113%, доля &gt;120% ≈ 0,01%. ⇒ Загрузка дисциплинирована у номинала; систематическая перегрузка как первичный фактор статистически НЕ подтверждается. Перегрузка не является инициатором отказов.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22 / 178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перевезено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9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скорость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27432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27432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94192" y="28346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101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23 / 178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машин по доле перегруза</a:t>
            </a:r>
          </a:p>
        </p:txBody>
      </p:sp>
      <p:pic>
        <p:nvPicPr>
          <p:cNvPr id="8" name="Picture 7" descr="load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24 / 178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2843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97.2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65.1%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25.9%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74.7%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25 / 178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79.6%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47.9%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9011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106.0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75.1%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26 / 178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80.2%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5975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70.9%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27 / 178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5946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71.5%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72.8%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130.7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72.4%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64.8%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28 / 178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2494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101.3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114.2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64.0%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5581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6624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5748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102.2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116.7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119.4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76.2%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70.5%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29 / 178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(41–48)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62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10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62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10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862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410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5591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602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151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602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151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602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151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95.5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940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489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940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489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940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489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145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94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45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694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145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694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15.5%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29830" y="205740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84694" y="206654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29830" y="242316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84694" y="243230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29830" y="2788920"/>
            <a:ext cx="1474012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84694" y="2798063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2351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803843" y="205740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58707" y="206654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03843" y="242316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58707" y="243230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03843" y="2788920"/>
            <a:ext cx="113385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858707" y="2798063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3769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9256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93769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9256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3769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9256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958169" y="205740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013033" y="206654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958169" y="242316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13033" y="243230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958169" y="2788920"/>
            <a:ext cx="1020470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1013033" y="2798063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30 / 178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Нагрузка по машинам (49–50)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62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10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62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10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5879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602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51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02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51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46.3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940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89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940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89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68.1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145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694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145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694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92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29830" y="1325880"/>
            <a:ext cx="1474012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84694" y="133502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29830" y="1691640"/>
            <a:ext cx="1474012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84694" y="1700784"/>
            <a:ext cx="138257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3900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03843" y="1325880"/>
            <a:ext cx="113385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58707" y="133502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Средн%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03843" y="1691640"/>
            <a:ext cx="113385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58707" y="1700784"/>
            <a:ext cx="104241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43.6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3769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9256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3769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9256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73.3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58169" y="1325880"/>
            <a:ext cx="1020470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013033" y="133502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58169" y="1691640"/>
            <a:ext cx="102047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013033" y="1700784"/>
            <a:ext cx="92903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93136"/>
                </a:solidFill>
                <a:latin typeface="Calibri"/>
              </a:rPr>
              <a:t>0.0%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31 / 178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32 / 178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БРЕНДЫ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Масла ДВС: бренды и тип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NTE200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86619" y="1371600"/>
            <a:ext cx="518629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1483" y="1380744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Бренд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86619" y="187451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1483" y="188366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Газпромнефть G-Profi MSI Plus 15W-40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86619" y="2377439"/>
            <a:ext cx="518629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1483" y="238658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TEBOIL Super HPD Plus 15W-40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86619" y="2880359"/>
            <a:ext cx="518629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41483" y="2889503"/>
            <a:ext cx="509485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+ Komatsu/Mobil/Лукойл 15W-40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2913" y="1371600"/>
            <a:ext cx="180392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7777" y="1380744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72913" y="187451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7777" y="188366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72913" y="2377439"/>
            <a:ext cx="180392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7777" y="238658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72913" y="2880359"/>
            <a:ext cx="180392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7777" y="2889503"/>
            <a:ext cx="171248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76841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31705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Период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76841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1705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76841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31705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76841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31705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2024–2026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84048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9319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 по брендам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261104"/>
            <a:ext cx="10908792" cy="9509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Двигатели NTE200 и 730E работают на одинаковых маслах (преимущественно Газпромнефть G-Profi MSI Plus 15W-40, класс API CI-4). ⇒ Марка/тип масла НЕ дифференцирует парки.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33 / 178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ПОКАЗАТЕЛИ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Технические показатели масла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TBN (щёлочное)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Сажа (ST)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Окисление (OXI)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V100, cSt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63347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Вода/топливо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263347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2542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Fe P95, ppm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7408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9,5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62272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07408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2272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0,1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07408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15,4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7408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62272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07408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62272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24144" y="1371600"/>
            <a:ext cx="131673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79008" y="1380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24144" y="18288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79008" y="1837943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≥2,5 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24144" y="22860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79008" y="22951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24144" y="27432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79008" y="27523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низкое 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4144" y="32004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79008" y="32095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12,5–16,3 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24144" y="3657600"/>
            <a:ext cx="131673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79008" y="36667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24144" y="4114800"/>
            <a:ext cx="131673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79008" y="4123944"/>
            <a:ext cx="122529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23760" y="1371600"/>
            <a:ext cx="448056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223760" y="1371600"/>
            <a:ext cx="91440" cy="3931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1463040"/>
            <a:ext cx="4160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Ключевой вывод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24928" y="1792224"/>
            <a:ext cx="4114800" cy="3419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Масло в отличном состоянии: высокий TBN, низкая сажа (0,3), нет окисления/разбавления. НИЗКАЯ САЖА опровергает версию NHL про зольный/сажевый абразивный износ клапанов. Отказ — термический.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34 / 178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Износ Fe в масле ДВС: NTE200 vs 730E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Fe на NTE200 ниже, чем на 730E → отказ не абразивный.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35 / 178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ДВС (двигатель)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37.0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ДВС (двигатель).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36 / 178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ГС (гидросистема)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30.0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396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ГС (гидросистема).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37 / 178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МКЛ (мотор-колесо лев.)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39.0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100.4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47.0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134.8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67.7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593.0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29.0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29.0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86.0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476.0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МКЛ (мотор-колесо лев.).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38 / 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NTE200: масло — узел МКП (мотор-колесо прав.)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45.0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59.4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787.0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28.0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145.0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276.0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МКП (мотор-колесо прав.).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39 / 178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ДВС (двигатель)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16.0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53.0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27.0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715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ДВС (двигатель).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40 / 178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ГС (гидросистема)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84.0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26.0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ГС (гидросистема).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41 / 178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ПСП (привод прав.)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45.9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74.3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32.1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425.0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26.0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44.0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82.0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ПСП (привод прав.).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42 / 178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ПСЛ (привод лев.)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38.0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28.0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54.0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297.0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26.0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38.0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93.0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ПСЛ (привод лев.).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43 / 178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МКЛ (мотор-колесо лев.)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36.0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9.0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100.2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43.0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62.6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676.0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28.0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24.0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102.0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599.0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389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МКЛ (мотор-колесо лев.).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44 / 178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УЗЛЫ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730E: масло — узел МКП (мотор-колесо прав.)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3347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Параметр (ppm)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26334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263347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254203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90672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5536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90672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34.0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90672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90672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45536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90672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45536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90672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90672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45536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61104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15968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114.7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61104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61104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61104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61104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15968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61104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15968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31536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0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P95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31536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0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156.6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31536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0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31536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0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31536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0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31536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0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31536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0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66.1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01968" y="1371600"/>
            <a:ext cx="1170432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56832" y="1380744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Max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01968" y="187451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56832" y="18836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871.0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01968" y="237743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56832" y="238658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31.0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01968" y="288035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56832" y="288950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12.0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01968" y="338327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56832" y="339242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33.0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01968" y="3886199"/>
            <a:ext cx="117043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389534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107.0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01968" y="4389119"/>
            <a:ext cx="1170432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56832" y="4398263"/>
            <a:ext cx="1078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502.0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1131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1131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проб масла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2468880"/>
            <a:ext cx="365760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46720" y="2468880"/>
            <a:ext cx="91440" cy="30175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47888" y="2560320"/>
            <a:ext cx="3337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Норматив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47888" y="2889504"/>
            <a:ext cx="3291840" cy="2505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Перцентильные нормы по узлу МКП (мотор-колесо прав.). P90 — порог внимания, P95 — критично. Используются в дашборде масла для выявления аномалий по машинам.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45 / 178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(1–8)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46 / 178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(9–16)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55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47 / 178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(17–24)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0.5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48 / 178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(25–32)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49 / 178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(33–40)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132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19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0219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1508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5150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0637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5526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4929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415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G-Profi MSI Plus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50 / 178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МАШИНЫ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Масло ДВС по машинам (41–47)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132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19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132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19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32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19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132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619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0219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1508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0219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1508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0219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508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0219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508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5150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0637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150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0637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150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0637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5150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0637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5526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5526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5526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5526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4929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0415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4929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0415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4929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0415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4929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0415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994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994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994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994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994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4636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0123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636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0123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04636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10123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4636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0123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4636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10123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95260" y="1325880"/>
            <a:ext cx="69128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850124" y="133502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95260" y="169164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50124" y="1700784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95260" y="205740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50124" y="206654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95260" y="2423160"/>
            <a:ext cx="69128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50124" y="243230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95260" y="2788920"/>
            <a:ext cx="69128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850124" y="2798063"/>
            <a:ext cx="59984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486546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541410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86546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41410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86546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41410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86546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41410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86546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541410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235440" y="1325880"/>
            <a:ext cx="748893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290304" y="133502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235440" y="169164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290304" y="1700784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235440" y="205740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290304" y="206654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235440" y="2423160"/>
            <a:ext cx="748893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290304" y="243230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235440" y="2788920"/>
            <a:ext cx="748893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290304" y="2798063"/>
            <a:ext cx="657453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984333" y="1325880"/>
            <a:ext cx="2131466" cy="36576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039197" y="133502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Масло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984333" y="169164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39197" y="1700784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84333" y="205740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039197" y="206654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84333" y="2423160"/>
            <a:ext cx="2131466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039197" y="243230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84333" y="2788920"/>
            <a:ext cx="2131466" cy="36576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39197" y="2798063"/>
            <a:ext cx="204002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293136"/>
                </a:solidFill>
                <a:latin typeface="Calibri"/>
              </a:rPr>
              <a:t>SUPER HPD PLUS 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51 / 178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Калибровка ECM (15 параметров)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52 / 178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ОБЗОР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Сравнение ЭБУ NTE200 vs 730E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Главное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15 параметров калибровки отличаются. NTE200 ОТКЛЮЧАЕТ все триггеры перегрева и допускает более высокие обороты/нагрузку. Подтверждено письмом Cummins.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523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2095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Коррекция топлива (TIB)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667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1239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Обороты/регулятор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58114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Горячий стоп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3293" y="2743200"/>
            <a:ext cx="732845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8157" y="27523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 vs 730E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3293" y="32004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8157" y="32095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 vs 100% — переобогащение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3293" y="36576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8157" y="36667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ОТКЛ vs Вкл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03293" y="4114800"/>
            <a:ext cx="732845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8157" y="41239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2100/20% vs 1990/0%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03293" y="4572000"/>
            <a:ext cx="732845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8157" y="4581144"/>
            <a:ext cx="723701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ниже пороги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53 / 178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1/15: TIB верхн. предел коррекции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удвоение корр. дозы → переобогащение.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(100%); на NTE200 — 200%,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54 / 178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2/15: Снижение оборотов по T масла (derate)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(флаг)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(флаг)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защиты от перегрева масла.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(Вкл);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55 / 178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3/15: Триггер high T наддув. воздуха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54°C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наддува.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(54°C);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56 / 178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4/15: Триггер high T ОЖ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85°C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сигнала перегрева ОЖ.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(85°C);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57 / 178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5/15: Триггер high T топлива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68°C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нет тревоги перегрева топлива.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(68°C); на NTE200 — ВЫКЛ,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58 / 178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6/15: Задержка derate (масло)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полная мощность 51 с в перегреве.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51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59 / 178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7/15: Задержка derate (ОЖ)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(с)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КРИТИЧНО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43 с без снижения нагрузки.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 с); на NTE200 — 43 с,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60 / 178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8/15: Макс. рабочие обороты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EGT +25–35°C, удары клапанов.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2100,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61 / 178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9/15: Макс. обороты реф. 2/3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(об/мин)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(об/мин)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раскрутка в отд. режимах.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(1990); на NTE200 — 2225,8,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62 / 178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10/15: Макс. наклон регулятора (droop)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±20% колебаний оборотов.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(0%); на NTE200 — 20%,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63 / 178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11/15: Горячий стоп — момент (верх.)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3650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срабатывает раньше.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(5509); на NTE200 — 3650,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64 / 178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12/15: Горячий стоп — момент (нижн.)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(Н·м)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(Н·м)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нестабильный гистерезис.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(4722); на NTE200 — 1850,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65 / 178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13/15: Топливный код (карта впрыска)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иная модель сгорания.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(FC0BU52); на NTE200 — FC0WH95,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66 / 178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14/15: Пуск вентилятора охл.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46°C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(°C)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50°C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(°C)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фон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компенсация, не защита.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(50°C); на NTE200 — 46°C,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67 / 178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ПАРАМЕТР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Параметр 15/15: DO_Option (профиль)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61042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NTE200 (—)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6765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730E-DC (—)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важно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уровень риска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 влияния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Влияние на отказ: иной калибровочный профиль.</a:t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400" b="0" i="0">
                <a:solidFill>
                  <a:srgbClr val="293136"/>
                </a:solidFill>
                <a:latin typeface="Calibri"/>
              </a:rPr>
              <a:t>На 730E параметр в безопасном значении (6765); на NTE200 — 61042, что снижает тепловую защиту/повышает тепловую нагрузку на клапаны.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68 / 178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двигателей по данным ECM</a:t>
            </a:r>
          </a:p>
        </p:txBody>
      </p:sp>
      <p:pic>
        <p:nvPicPr>
          <p:cNvPr id="8" name="Picture 7" descr="ecmst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73350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21 из 38 машин (55%) — в отказном/EGT-статусе.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69 / 178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(1–12)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18859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19050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17923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17823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17582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17411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17117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16852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17069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17331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2045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2050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2063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70 / 178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15814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12065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11543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11797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11306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11343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10543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11046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10793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10802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10308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10284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2088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2053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2532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71 / 178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(25–36)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32888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4203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35224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294436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346703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9896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749039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42232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15137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544568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553712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46904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56048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35838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75157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576072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15391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" y="616305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2532888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254203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2935224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294436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3337560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3346703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3739896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3749039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10146" y="4142232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65010" y="415137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10146" y="4544568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65010" y="4553712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10146" y="4946904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5010" y="4956048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10146" y="5349240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865010" y="535838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10146" y="575157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65010" y="576072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10146" y="615391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65010" y="616305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AQ60809.08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67020" y="2532888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1884" y="254203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967020" y="2935224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1884" y="294436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67020" y="3337560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1884" y="3346703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967020" y="3739896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1884" y="3749039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Катастроф.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67020" y="4142232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1884" y="415137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67020" y="4544568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1884" y="4553712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67020" y="4946904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1884" y="4956048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967020" y="5349240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1884" y="535838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967020" y="575157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1884" y="576072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EGT/связан.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67020" y="615391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1884" y="616305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10041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10075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898404" y="2532888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953268" y="254203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9306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98404" y="2935224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3268" y="294436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4516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898404" y="3337560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53268" y="3346703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4014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898404" y="3739896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53268" y="3749039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3767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898404" y="4142232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53268" y="415137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898404" y="4544568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953268" y="4553712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898404" y="4946904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953268" y="4956048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3532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898404" y="5349240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953268" y="535838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3778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898404" y="575157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953268" y="576072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3266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898404" y="615391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3268" y="616305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3508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2039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27823" y="2532888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982687" y="254203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27823" y="2935224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982687" y="294436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9927823" y="3337560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982687" y="3346703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927823" y="3739896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982687" y="3749039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927823" y="4142232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82687" y="415137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27823" y="4544568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82687" y="4553712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27823" y="4946904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982687" y="4956048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2028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27823" y="5349240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982687" y="535838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2058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27823" y="575157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982687" y="576072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27823" y="615391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82687" y="616305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2022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72 / 178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СТАТУС МАШИН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Статус ЭБУ по машинам (37–38)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28216"/>
            <a:ext cx="1352946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37360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30552"/>
            <a:ext cx="1352946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39696"/>
            <a:ext cx="126150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91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0146" y="1325880"/>
            <a:ext cx="3156874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65010" y="1335024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Прошивка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10146" y="1728216"/>
            <a:ext cx="3156874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65010" y="1737360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10146" y="2130552"/>
            <a:ext cx="3156874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65010" y="2139696"/>
            <a:ext cx="3065434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25880"/>
            <a:ext cx="2931383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35024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728216"/>
            <a:ext cx="2931383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737360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130552"/>
            <a:ext cx="2931383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139696"/>
            <a:ext cx="2839943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98404" y="1325880"/>
            <a:ext cx="2029419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3268" y="1335024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Наработка 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8404" y="1728216"/>
            <a:ext cx="2029419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3268" y="1737360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98404" y="2130552"/>
            <a:ext cx="2029419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3268" y="2139696"/>
            <a:ext cx="1937979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27823" y="1325880"/>
            <a:ext cx="1803928" cy="40233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82687" y="1335024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Макс об/мин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7823" y="1728216"/>
            <a:ext cx="1803928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82687" y="1737360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7823" y="2130552"/>
            <a:ext cx="1803928" cy="402336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82687" y="2139696"/>
            <a:ext cx="1712488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None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73 / 178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Ошибки ECM (Fault Codes)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74 / 178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ОШИБКИ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по числу машин</a:t>
            </a:r>
          </a:p>
        </p:txBody>
      </p:sp>
      <p:pic>
        <p:nvPicPr>
          <p:cNvPr id="8" name="Picture 7" descr="fa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75 / 178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(1–9)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70248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7939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90872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70001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1519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11496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12064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10146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65010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10146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65010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10146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65010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01329" y="4270248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56193" y="427939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501329" y="4690872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56193" y="470001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01329" y="5111496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56193" y="512064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Red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Пропадание питания при пуске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средн. уровня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ОЖ ниже нормы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подкач. топл. насоса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192511" y="4270248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47375" y="427939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92511" y="4690872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47375" y="470001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Модули — неисправности низ. уровня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92511" y="5111496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47375" y="512064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Низкий уровень ОЖ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76 / 178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КОДЫ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Коды ECM (10–15)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352946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46504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5564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67128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176272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596896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2262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17520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1352946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1619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1352946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58768"/>
            <a:ext cx="126150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1549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10146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65010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10146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65010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10146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65010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10146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010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146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5010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10146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65010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10146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65010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01329" y="1325880"/>
            <a:ext cx="1691182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56193" y="133502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Lamp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1329" y="1746504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56193" y="175564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01329" y="2167128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56193" y="2176272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Amber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1329" y="2587752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56193" y="2596896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Maint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01329" y="3008376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56193" y="3017520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1329" y="3429000"/>
            <a:ext cx="1691182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56193" y="3438144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01329" y="3849624"/>
            <a:ext cx="1691182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56193" y="3858768"/>
            <a:ext cx="159974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Active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92511" y="1325880"/>
            <a:ext cx="6539240" cy="420624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47375" y="133502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511" y="1746504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47375" y="175564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Напряжение АКБ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92511" y="2167128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47375" y="2176272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92511" y="2587752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47375" y="2596896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Давление топл. насоса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92511" y="3008376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47375" y="3017520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Малое отклонение EGT (#61)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92511" y="3429000"/>
            <a:ext cx="65392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47375" y="3438144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Датчик EGT цилиндра (#67)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92511" y="3849624"/>
            <a:ext cx="6539240" cy="420624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47375" y="3858768"/>
            <a:ext cx="6447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Цепь форсунки (#51)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77 / 178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ECM · АКТИВНЫЕ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Активные ошибки и связь с отказом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Активные / ключевые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#61 → FC 628 «Малое отклонение EGT» (тепловой дисбаланс)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#67 → FC 1619 «датчик EGT цилиндра» (отказ датчика)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#51 → FC 1549/323/1557 «цепи форсунок»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FC 611 «остановка горячего двигателя» — на 46 машинах (массовые тепловые события).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91440" cy="13716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474720"/>
            <a:ext cx="10908792" cy="118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EGT-дисбаланса и «горячего стопа» по флоту — независимое подтверждение хронического перегрева, согласуются с DML (567°C) и KAMSS (коды 2137/2138 EGT цил.14/16).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78 / 178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Телеметрия DML (EGT)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79 / 178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DML — методика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4630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Лог-файлы движения (INSITE): EGT по 16 цилиндрам (A=ECM144 нечёт., B=ECM1 чёт.), обороты, давления (рампа/масло/наддув), T масла/ОЖ. Машина #82 — с породой и без; есть лог после ремонта.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30266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4838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Без породы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94106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 породой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39826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Горячие цил.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583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070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583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70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583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070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583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070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0748" y="301752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85612" y="30266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Ср. EGT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30748" y="34747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85612" y="34838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287°C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30748" y="393192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85612" y="394106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474°C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0748" y="438912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5612" y="439826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85658" y="3017520"/>
            <a:ext cx="394609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40522" y="30266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Примечание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85658" y="34747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40522" y="34838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5658" y="3931920"/>
            <a:ext cx="394609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0522" y="3941063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рост +187°C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85658" y="4389120"/>
            <a:ext cx="394609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40522" y="4398264"/>
            <a:ext cx="38546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Ц2, Ц6 (&gt;520)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80 / 178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EGT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EGT по цилиндрам (#82)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Ц2/Ц6 = 567°C; датчик Ц11 неисправен (~98°C, FC1531).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81 / 178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ПАРАМЕТРЫ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Банковая асимметрия и давления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+60°C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банк B горячее 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1929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об/мин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110°C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T масла (с породой)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Асимметрия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Банк B (чётные цилиндры) систематически горячее банка A на ~60°C — признак дисбаланса корректирующей дозы (TIB). Совпадает с зоной самых дефектных форсунок (B-банк 6/8) и самых горячих цилиндров (Ц2, Ц6).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82 / 178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Форсунки и корреляция по цилиндрам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83 / 178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Стендовые тесты форсунок — обзор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9/16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дефектных (#82)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P03/P04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точки брака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перелив/недолив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Стенд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Стенд «Поток CR-2» (03.06.2026, Cummins CRI 2867147). #82 — 9 из 16 форсунок дефектны; брак на P04 (пилот) и P03 (малая нагрузка) — нарушено дозирование на частичных режимах. Часть переливает (1R, 3R), часть недоливает.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84 / 178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Брак форсунок по цилиндрам (#82)</a:t>
            </a:r>
          </a:p>
        </p:txBody>
      </p:sp>
      <p:pic>
        <p:nvPicPr>
          <p:cNvPr id="8" name="Picture 7" descr="in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85 / 178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1–4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30,1&gt;30; P04 51,4&gt;51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13,8&lt;16; P04 30,7&lt;41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EGT по DML #82: Ц2: 567°C (&gt;520)  Ц4: ~555°C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86 / 178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5–8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40,8&lt;41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31,3&gt;30; P04 60,7&gt;51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37,5&lt;41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36,9&lt;41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EGT по DML #82: Ц6: 567°C (&gt;520)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87 / 178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9–12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EGT по DML #82: Ц11: ~98 (датчик FC1531)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88 / 178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ДЕТАЛИ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#82 — цилиндры 13–16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84655" y="1371600"/>
            <a:ext cx="1127455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39519" y="138074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84655" y="201168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39519" y="202082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84655" y="265176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39519" y="266090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7R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584655" y="3291840"/>
            <a:ext cx="112745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39519" y="330098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84655" y="3931920"/>
            <a:ext cx="1127455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39519" y="3941064"/>
            <a:ext cx="103601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8R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12110" y="1371600"/>
            <a:ext cx="2254910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66974" y="138074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12110" y="201168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6974" y="202082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12110" y="265176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6974" y="266090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12110" y="3291840"/>
            <a:ext cx="225491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66974" y="330098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12110" y="3931920"/>
            <a:ext cx="2254910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6974" y="3941064"/>
            <a:ext cx="216347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1371600"/>
            <a:ext cx="1803928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138074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67020" y="201168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1884" y="202082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67020" y="265176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1884" y="266090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67020" y="3291840"/>
            <a:ext cx="1803928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1884" y="330098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67020" y="3931920"/>
            <a:ext cx="1803928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1884" y="3941064"/>
            <a:ext cx="171248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1371600"/>
            <a:ext cx="4960802" cy="6400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138074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Бракованные точки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201168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202082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32,8&lt;41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265176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266090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P04 39,2&lt;41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3291840"/>
            <a:ext cx="496080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330098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770949" y="3931920"/>
            <a:ext cx="4960802" cy="6400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25813" y="3941064"/>
            <a:ext cx="486936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P03 12,7&lt;16; P04 27,8&lt;41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89 / 178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 (1L)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90 / 178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Ц2 (1R)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30,1&gt;30; P04 51,4&gt;51.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перелив на частичных режимах (P03 малая нагрузка / P04 пилот). Перелив → локальное переобогащение → повышение EGT в этом цилиндре.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663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⚠ Самый горячий цилиндр (567°C) + перелив форсунки — прямая корреляция с термоударом клапана.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91 / 178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Ц3 (2L)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92 / 178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Ц4 (2R)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~555°C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13,8&lt;16; P04 30,7&lt;41.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93 / 178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Ц5 (3L)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40,8&lt;41.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94 / 178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Ц6 (3R)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перелив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567°C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31,3&gt;30; P04 60,7&gt;51.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перелив на частичных режимах (P03 малая нагрузка / P04 пилот). Перелив → локальное переобогащение → повышение EGT в этом цилиндре.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663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⚠ Самый горячий цилиндр (567°C) + перелив форсунки — прямая корреляция с термоударом клапана.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95 / 178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Ц7 (4L)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37,5&lt;41.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96 / 178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Ц8 (4R)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36,9&lt;41.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97 / 178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Ц9 (5L)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98 / 178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Ц10 (5R)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99 / 178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Ц11 (6L)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100 / 178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Ц12 (6R)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101 / 178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Ц13 (7L)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32,8&lt;41.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102 / 178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Ц14 (7R)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P04 39,2&lt;41.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103 / 178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Ц15 (8L)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Все тест-планы (Leak 200/1600, P01 полная подача, P02, P03 малая нагрузка, P04 пилот) — в допуске. Форсунка исправна.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104 / 178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ФОРСУНКА · ДЕТАЛЬ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Форсунка Ц16 (8R) — #82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вердикт стенда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недолив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характер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EGT (DML #82)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Результат стенда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Бракованные точки: P03 12,7&lt;16; P04 27,8&lt;41.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Характер — недолив на частичных режимах (P03 малая нагрузка / P04 пилот). Недолив → неравномерность сгорания/мощности по цилиндру.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105 / 178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#78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Форсунки #78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81863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Цил/Поз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Ц6/3R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Ц8/4R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Ц11/6L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Ц12/6R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5838" y="1371600"/>
            <a:ext cx="281863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0702" y="1380744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5838" y="187451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0702" y="188366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75838" y="237743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0702" y="238658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5838" y="2880359"/>
            <a:ext cx="281863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0702" y="288950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5838" y="3383279"/>
            <a:ext cx="281863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0702" y="3392423"/>
            <a:ext cx="272719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брак(1)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Характер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перелив P02 261,7&gt;260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перелив P02; P04 53,7&gt;51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перелив P02;P03;P04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недолив P04 38,6&lt;41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840480"/>
            <a:ext cx="11274552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840480"/>
            <a:ext cx="91440" cy="12801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93192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Все 4 испытанные форсунки #78 — с отклонениями (3 переливают). Подтверждает массовость проблемы дозирования на частичных режимах по флоту.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106 / 178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Корреляция: форсунка ↔ цилиндр ↔ EGT (#82)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1887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Ключевая корреляция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6766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Два самых горячих цилиндра Ц2 и Ц6 (567°C) — это форсунки 1R и 3R, обе «брак(2)» с ПЕРЕЛИВОМ на P03/P04 → локальное переобогащение → рост EGT → термоудар клапана.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307238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7066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546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1638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Дефектных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11880"/>
            <a:ext cx="307238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210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Средняя EGT (DML)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69080"/>
            <a:ext cx="307238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078224"/>
            <a:ext cx="298094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Горячие цилиндры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4448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A-банк (L)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9584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84448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3/8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9584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~465°C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9584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84448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33872" y="2697480"/>
            <a:ext cx="230428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27066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B-банк (R)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2" y="31546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8736" y="31638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6/8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33872" y="3611880"/>
            <a:ext cx="230428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88736" y="36210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~525°C (+60)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33872" y="4069080"/>
            <a:ext cx="230428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88736" y="4078224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Ц2=567, Ц6=567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69748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2697480"/>
            <a:ext cx="91440" cy="1920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278892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3118104"/>
            <a:ext cx="3017520" cy="1408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Оговорки: часть форсунок недоливает; Ц11 датчик неисправен; 730E на стенде не испытаны. Карта цилиндров Ц(2k−1)=kL — требует подтверждения NHL.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107 / 178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Топливо и чистота (ISO 4406)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108 / 178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СЕРА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Качество топлива по сере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2–10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сера, мг/кг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6,7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среднее, мг/кг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≤10 (Е5)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класс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011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Сера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25+ паспортов: сера в 2,4× ниже порога Cummins (15 ppm). Топливо по сере ИСКЛЮЧЕНО как причина. Нарушение: паспорт №246 (декларация ЕАЭС истекла 24.10.2025).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109 / 178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Чистота топлива ISO 4406</a:t>
            </a:r>
          </a:p>
        </p:txBody>
      </p:sp>
      <p:pic>
        <p:nvPicPr>
          <p:cNvPr id="8" name="Picture 7" descr="fu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07024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07024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07024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7024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2592" y="1463040"/>
            <a:ext cx="234086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7456" y="14721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тонкой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2592" y="19202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77456" y="19293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22592" y="23774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77456" y="23865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22592" y="2834640"/>
            <a:ext cx="234086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77456" y="28437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21/18/17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22592" y="3291840"/>
            <a:ext cx="234086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3300984"/>
            <a:ext cx="22494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21/16/14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63456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18/16/13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63456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63456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63456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63456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0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33888" y="1463040"/>
            <a:ext cx="117043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88752" y="14721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12/9/6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33888" y="19202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88752" y="19293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33888" y="23774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88752" y="23865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33888" y="2834640"/>
            <a:ext cx="117043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28437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533888" y="3291840"/>
            <a:ext cx="117043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8752" y="3300984"/>
            <a:ext cx="107899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291840"/>
            <a:ext cx="585216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52160" y="3291840"/>
            <a:ext cx="91440" cy="219456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53328" y="338328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Анализ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53328" y="3712464"/>
            <a:ext cx="5486400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Норма Cummins (бак) 18/16/13; цель «вход в цилиндры» (Fleetguard/Горная Евразия) 12/9/6. Цель не достигается нигде; фильтр грубой очистки местами УХУДШАЕТ чистоту. Топливо одно для NTE200 и 730E → не дифференцирует, но угрожает форсункам MCRS (2–5 мкм).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110 / 178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Обследование KAMSS (3 единицы)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111 / 178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обследование 3 единиц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164592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INSITE-коды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Фото-отчёт KAMSS (INSITE-диагностика + дефектация). По коды неисправностей двигателей: 2138/2137 «температура EGT цилиндров 16(B8)/14(B7) выше нормы», 622 «отклонение EGT цил.3», защита: низкий уровень ОЖ (235), давление картерных газов (556).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11274552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91440" cy="1645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2918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Дефектация клапанов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621024"/>
            <a:ext cx="10908792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Дефектация: фото эрозии рабочих фасок выпускных клапанов (тарелка/седло). Подтверждает термический характер повреждения и перегрев именно B-банка — согласуется с DML и кодами ECM.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112 / 178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визуальные свидетельства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264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Слева — INSITE коды EGT по цилиндрам; справа — эрозия фаски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113 / 178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Контрольная группа 730E-DC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114 / 178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730E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730E-DC — паритет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Двигатель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951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523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095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667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Защиты перегрева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12394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Отказы ГБЦ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9565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4429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39565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94429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39565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429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6,7 мг/кг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9565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94429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CI-4 15W-40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39565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4429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39565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4429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ОТКЛ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9565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94429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1371600"/>
            <a:ext cx="28186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1380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730E-DC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18288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1837943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QSK50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8203" y="22860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13067" y="22951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58203" y="27432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13067" y="27523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 же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8203" y="32004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13067" y="32095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58203" y="3657600"/>
            <a:ext cx="28186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067" y="36667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58203" y="4114800"/>
            <a:ext cx="28186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13067" y="4123944"/>
            <a:ext cx="272719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476841" y="1371600"/>
            <a:ext cx="225491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31705" y="1380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Дифференц.?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76841" y="18288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31705" y="1837943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76841" y="22860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31705" y="22951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76841" y="27432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31705" y="27523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76841" y="32004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31705" y="32095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76841" y="3657600"/>
            <a:ext cx="225491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31705" y="36667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76841" y="4114800"/>
            <a:ext cx="225491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31705" y="4123944"/>
            <a:ext cx="216347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93776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937760"/>
            <a:ext cx="91440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029200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Единственные дифференцирующие факторы — в калибровке ЭБУ. При прочих равных 730E с TIB=100% и включёнными защитами — 0 отказов ГБЦ.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115 / 178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Опровержение версий NHL /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116 / 178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Оценка аргументов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зольность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запылённость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6109563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3067" y="1380744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8836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опровергнут (низкая сажа 0,3)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238658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переоценка (Si низкий)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88950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NTE200 ≠ rated (567°C); факт признан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339242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корня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89534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ПОДТВЕРЖДАЕТ нашу находку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4398263"/>
            <a:ext cx="498210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✗ уход от ответственности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117 / 178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CCEC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Статистическое опровержение зольной версии</a:t>
            </a:r>
          </a:p>
        </p:txBody>
      </p:sp>
      <p:pic>
        <p:nvPicPr>
          <p:cNvPr id="8" name="Picture 7" descr="oil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6025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Низкий Fe и сажа → не абразивный/зольный износ.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118 / 178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13.5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Проверка гипотез (best practice)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119 / 178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ГИПОТЕЗЫ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конкурирующих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91440" cy="155448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173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Две гипотезы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46504"/>
            <a:ext cx="10908792" cy="10424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H1 (термическая): первична калибровка ЭБУ (TIB, отключённые защиты) → перегрев → выгорание клапанов.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H2 (контаминационная): первичны пыль (негерметичность впуска) + загрязнение топлива → абразивно-механический износ (втулки/стержни клапанов, форсунки); ЭБУ — усугубляющий усилитель.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6324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91440" cy="13716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1546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Принцип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48386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Метод проверки: сопоставление сигнатур отказа. Термическая → выгорание/эрозия ФАСКИ клапана, высокая EGT. Абразивная → износ НАПРАВЛЯЮЩИХ ВТУЛОК и СТЕРЖНЕЙ, повышенный Si в масле. Реальные отчёты содержат ОБА признака → проверяем вклад каждого по данным.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120 / 178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за H2: пыль и впуск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473531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Критическое засорение возд. фильтров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494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«Высокая запылённость карьера»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066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+ ОЖ на впуске 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546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1638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направляющих втулок (вне допуска)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11880"/>
            <a:ext cx="473531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210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Деформация/выработка стержня клапана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473531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078224"/>
            <a:ext cx="464387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Осадок/вода в топл. сепараторе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511" y="132588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7375" y="13350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92511" y="17830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47375" y="17922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2511" y="22402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47375" y="22494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 #69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92511" y="26974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7375" y="27066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Эндоскопия впуска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511" y="31546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47375" y="31638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 #54/#78/#87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92511" y="361188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47375" y="36210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Техотчёты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92511" y="406908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7375" y="4078224"/>
            <a:ext cx="329092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Фото отстойников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74877" y="1325880"/>
            <a:ext cx="315687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9741" y="13350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Сигнатура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74877" y="17830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29741" y="17922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пылевая среда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22402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22494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26974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27066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впуска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31546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31638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3611880"/>
            <a:ext cx="315687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36210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абразив/механика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4069080"/>
            <a:ext cx="315687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4078224"/>
            <a:ext cx="306543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121 / 178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Доказательства H2 — визуально</a:t>
            </a:r>
          </a:p>
        </p:txBody>
      </p:sp>
      <p:pic>
        <p:nvPicPr>
          <p:cNvPr id="8" name="Picture 7" descr="IMG_20260616_140405_3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154680" cy="4206240"/>
          </a:xfrm>
          <a:prstGeom prst="rect">
            <a:avLst/>
          </a:prstGeom>
        </p:spPr>
      </p:pic>
      <p:pic>
        <p:nvPicPr>
          <p:cNvPr id="9" name="Picture 8" descr="IMG_20260616_140420_6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154680" cy="42062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86800" y="1371600"/>
            <a:ext cx="301752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1371600"/>
            <a:ext cx="91440" cy="42062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87968" y="1463040"/>
            <a:ext cx="269747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Отстойник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1792224"/>
            <a:ext cx="265176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Топливный отстойник: осадок/вода на дне колбы; вокруг — густая пыль. Подтверждает загрязнение топлива и запылённость среды (H2).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122 / 178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ПРОТИВ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Контрдоказательства против H2 (масло)</a:t>
            </a:r>
          </a:p>
        </p:txBody>
      </p:sp>
      <p:pic>
        <p:nvPicPr>
          <p:cNvPr id="8" name="Picture 7" descr="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212080" cy="279218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852160" y="1371600"/>
            <a:ext cx="58521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1371600"/>
            <a:ext cx="91440" cy="4114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1463040"/>
            <a:ext cx="55321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Объективная оговорка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1792224"/>
            <a:ext cx="5486400" cy="3602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Если бы пыль массово попадала в цилиндры через впуск, в масле ДВС вырос бы кремний (Si) и железо (Fe). Факт: Si P95=4 ppm (порог ~15), лишь 0,3% проб &gt;15; Fe P95=6 ppm — НИЗКИЕ. ⇒ Массовый абразивный пылевой износ масло НЕ подтверждает. Всплески Si единичны (#88=50, #53=31) — эпизодические/локальные события, не системные.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123 / 178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H2 · ТОПЛИВО→ФОРСУНКИ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Цепь: загрязнение топлива → форсунки</a:t>
            </a:r>
          </a:p>
        </p:txBody>
      </p:sp>
      <p:pic>
        <p:nvPicPr>
          <p:cNvPr id="8" name="Picture 7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29087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8C2E"/>
                </a:solidFill>
                <a:latin typeface="Calibri"/>
              </a:rPr>
              <a:t>Грязное топливо (ISO хуже 18/16/13) → износ плунжерных пар → разброс дозирования P04 (перелив/недолив) → дисбаланс сгорания и EGT.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124 / 178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ВЕРДИКТ ПО ГИПОТЕЗАМ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проверки гипотез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04412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Пыль/впуск (H2)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432303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Топливо/форсунки (H2)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304412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98094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Калибровка ЭБУ (H1)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304412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529584"/>
            <a:ext cx="295268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Конструкция (нет Stellite)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1329" y="1325880"/>
            <a:ext cx="3382365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56193" y="133502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ЗА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01329" y="1874519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6193" y="188366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фильтры, ОНВ, втулки/стержни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1329" y="242316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56193" y="2432303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ISO плохой, осадок, разброс P04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1329" y="2971800"/>
            <a:ext cx="3382365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6193" y="298094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15 параметров, EGT 567, коды EGT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1329" y="3520440"/>
            <a:ext cx="3382365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56193" y="3529584"/>
            <a:ext cx="329092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признано NHL/Cummins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83694" y="1325880"/>
            <a:ext cx="2818638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38558" y="133502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Доказ. ПРОТИВ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694" y="1874519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38558" y="188366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Si/Fe низкие в масле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83694" y="242316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38558" y="2432303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сера в норме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83694" y="2971800"/>
            <a:ext cx="281863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38558" y="298094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83694" y="3520440"/>
            <a:ext cx="2818638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558" y="3529584"/>
            <a:ext cx="272719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730E без Stellite не ломается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02332" y="1325880"/>
            <a:ext cx="2029419" cy="54864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7196" y="133502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02332" y="1874519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57196" y="188366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 (локально)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02332" y="242316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57196" y="2432303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инициирующий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02332" y="2971800"/>
            <a:ext cx="2029419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7196" y="298094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усиливающий амплификатор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02332" y="3520440"/>
            <a:ext cx="2029419" cy="54864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757196" y="3529584"/>
            <a:ext cx="19379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сопутствующий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06908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069080"/>
            <a:ext cx="91440" cy="13716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6052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Синтез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89704"/>
            <a:ext cx="10908792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Вывод: ни один фактор не объясняет отказ в одиночку. Это МНОГОФАКТОРНАЯ ЦЕПЬ: контаминация (пыль+топливо) инициирует износ направляющих/стержней/форсунок, а калибровка ЭБУ (отключённые защиты + TIB) усиливает тепловую нагрузку и доводит клапан до выгорания.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125 / 178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FMEA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FMEA — режимы и причины отказа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3833347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35024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Режим отказа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3794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Выгорание фаски вып. клапана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Износ направл. втулки/стержня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4378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Разброс дозирования 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59"/>
            <a:ext cx="3833347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4670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Просадка/негерметичн. седла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79"/>
            <a:ext cx="3833347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49623"/>
            <a:ext cx="374190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Коррозия ОНВ / ОЖ на впуске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0547" y="1325880"/>
            <a:ext cx="3382365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5411" y="1335024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Причина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0547" y="1828800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5411" y="183794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EGT&gt;520 (ЭБУ/форсунки)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0547" y="2331720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5411" y="234086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Абразив (пыль/впуск)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0547" y="283463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5411" y="284378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Загрязн. топлива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0547" y="3337559"/>
            <a:ext cx="3382365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5411" y="334670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Термоудар + износ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0547" y="3840479"/>
            <a:ext cx="3382365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45411" y="3849623"/>
            <a:ext cx="329092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Негерметичн. тракта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72913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7777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72913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7777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72913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7777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72913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7777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2913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7777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72913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27777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762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4248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8762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248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762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4248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762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4248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762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248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762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4248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0233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719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0233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719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0233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5719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0233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719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0233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5719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70233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5719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17042" y="1325880"/>
            <a:ext cx="101470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71906" y="1335024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RPN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17042" y="1828800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771906" y="183794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717042" y="2331720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771906" y="234086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288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717042" y="283463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771906" y="284378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17042" y="3337559"/>
            <a:ext cx="101470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771906" y="334670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270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17042" y="3840479"/>
            <a:ext cx="101470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71906" y="3849623"/>
            <a:ext cx="92326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707880"/>
                </a:solidFill>
                <a:latin typeface="Calibri"/>
              </a:rPr>
              <a:t>S — тяжесть, O — частота, D — обнаруживаемость, RPN = S×O×D (приоритет риска).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126 / 178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5-WHY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5 Почему (5-Why)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разрушилась ГБЦ? — Выгорела/просела фаска выпускного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91440" cy="804672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2316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выгорел клапан? — Хронически высокая EGT (до 567°C) + сниженная стойкость.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высокая EGT? — Отключены тепловые защиты ЭБУ (TIB 200%, derate/триггеры) + разброс форсунок.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196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196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разброс форсунок и износ направляющих? — Загрязнённое топливо и пыль (негерметичность впуска, засорённые фильтры).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10972800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12080"/>
            <a:ext cx="91440" cy="80467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0352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Почему загрязнение? — Запылённость карьера + недостаточная фильтрация/герметичность + калибровка, не снижающая нагрузку.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127 / 178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КОРРЕЛЯЦИИ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связей факторов</a:t>
            </a:r>
          </a:p>
        </p:txBody>
      </p:sp>
      <p:pic>
        <p:nvPicPr>
          <p:cNvPr id="8" name="Picture 7" descr="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100047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0" y="1371600"/>
            <a:ext cx="5120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463040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Чтение матрицы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1792224"/>
            <a:ext cx="4754879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Качественная матрица связей: сильнее всего связаны EGT↔TIB↔перелив форсунок (термокластер). Si (пыль) слабо связан с EGT, но связан с чистотой топлива. Подтверждает: термический кластер (ЭБУ/форсунки) — главный усилитель; пыль — отдельный, более слабый по маслу канал.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128 / 178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Коренная причина (RCA)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129 / 178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МЕХАНИЗМ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Механизм отказа — многофакторная цепь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СРЕДА: запылённость карьера + засорённые возд. фильтры + негерметичность впуска (коррозия ОНВ, ОЖ) + грязное топливо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04288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04288"/>
            <a:ext cx="91440" cy="749808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95728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ИНИЦИАЦИЯ: износ направляющих втулок/стержней клапанов + разброс дозирования форсунок (перелив/недолив)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36976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28416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УСИЛЕНИЕ (ЭБУ): TIB 200% + отключённые защиты перегрева → нагрузка не снижается → ↑ EGT, дисбаланс банков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169664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61104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ПЕРЕГРЕВ: EGT до 567°C (лимит 520); термоудар фаски клапана (стойкость снижена — нет Stellite)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02352"/>
            <a:ext cx="109728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102352"/>
            <a:ext cx="91440" cy="749808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193792"/>
            <a:ext cx="10515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ОТКАЗ: выгорание/просадка клапана и седла → потеря герметичности → разрушение ГБЦ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130 / 178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Дерево отказов (FTA)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FTA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5120640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ВЕРШИНА: разрушение ГБЦ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└ выгорание/просадка клапана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перегрев (EGT&gt;520)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├ УСИЛЕНИЕ ЭБУ: TIB 200%, защиты ОТКЛ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разброс форсунок (топливо)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├ износ втулок/стержней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│  └ пыль / негерметичн. впуска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   └ стойкость фаски (нет Stellite)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560527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46304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Исикава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92224"/>
            <a:ext cx="523951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Исикава (5M):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Man/Env: запылённость, фильтры (#69)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Material: топливо (чистота), пыль; масло — OK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Machine: негерметичн. впуска (ОНВ/ОЖ), нет Stellite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Method: калибровка ЭБУ (защиты ОТКЛ), дозирование форсунок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• Measurement: датчики EGT (FC1531/1619)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131 / 178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ДОКАЗАТЕЛЬСТВА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доказательств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63727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TIB 200% vs 100% + защиты ОТКЛ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567°C (Ц2/Ц6)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730E — 0 отказов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Коды EGT (KAMSS/ECM)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Форсунки перелив ↔ горячие цил.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563727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Нет Stellite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563727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01183"/>
            <a:ext cx="5545836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Масло/топливо/перегруз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4476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9340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4476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9340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4476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9340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4476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9340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🔴 ключевое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4476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9340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4476" y="438911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49340" y="43982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🟠 важное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4476" y="489203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9340" y="49011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🟢 исключ.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74877" y="1371600"/>
            <a:ext cx="3156874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29741" y="1380744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74877" y="187451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29741" y="18836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ECM/письмо Cummins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74877" y="237743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29741" y="23865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DML #82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74877" y="288035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29741" y="288950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паритет условий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74877" y="338327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9741" y="339242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2137/2138/628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74877" y="388619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29741" y="389534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стенд+DML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74877" y="4389119"/>
            <a:ext cx="3156874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29741" y="439826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NHL/Cummins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74877" y="4892039"/>
            <a:ext cx="3156874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29741" y="4901183"/>
            <a:ext cx="306543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✓ не дифференц.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132 / 178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RCA · ВЫВОД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Формулировка коренной причины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32918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Коренная причина (многофакторная)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2779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Отказы ГБЦ QSK50 на NTE200 имеют МНОГОФАКТОРНУЮ природу (цепь причин), а не единственную причину.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ИНИЦИИРУЮЩИЕ факторы (эксплуатация/контаминация): запылённость и засорение воздушных фильтров, негерметичность впускного тракта (коррозия ОНВ, следы ОЖ), загрязнённое топливо — вызывают абразивно-механический износ направляющих втулок/стержней клапанов и разброс дозирования форсунок.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УСИЛИВАЮЩИЙ (амплифицирующий) фактор: калибровка ЭБУ — TIB 200% и ОТКЛЮЧЁННЫЕ тепловые защиты (триггеры перегрева, derate) не снижают нагрузку при перегреве, доводя EGT до 567°C и термоудар клапана.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СОПУТСТВУЮЩИЙ: отсутствие наплавки Stellite снижает стойкость фаски.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00600"/>
            <a:ext cx="11274552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91440" cy="96012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892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Достоверность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21224"/>
            <a:ext cx="10908792" cy="4480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Оговорка по данным: масляные маркеры пыли (Si) и износа (Fe) НИЗКИЕ — массовый абразивный пылевой износ через масло не подтверждён; вклад пыли локальный/эпизодический. Сера топлива и систематическая перегрузка (10/10/20) — исключены.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133 / 178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Досье по машинам NTE200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134 / 178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NHLT0ABAРPB100078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33232776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2024-02-22 → 2025-02-21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EE22090283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18859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1.94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21.01.2026: Клапаны+форсунки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135 / 178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NHLT0ABAVPB100085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33239899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2024-02-04 → 2025-02-03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EE25032335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68.9%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2.24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11.08.2025: Замена ГБЦ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136 / 178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NHLT0ABAAPB100086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33232926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2024-02-07 → 2025-02-06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EE22120768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98.5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114.3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0.16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17.12.2025: Замена ГБЦ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31.03.2026: Повтор. ремонт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137 / 178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NHLT0ABAJPB100083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33231742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2024-03-28 → 2025-03-27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17583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5809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63.4%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17.07.2025: Замена ГБЦ (трещина→ОЖ в масло)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138 / 178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NHLT0ABAEPB100089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33232947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2024-04-09 → 2025-04-08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EE22120153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17582 ч  ·  Макс. об/мин: 2045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7999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49.9%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139 / 178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NHLT0ABAKPB100096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33230198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2024-04-12 → 2025-04-11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EE22100047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7314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1.32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140 / 178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№58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NHLT0ABAPPB100095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33229431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2024-04-30 → 2025-04-29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EE22120396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16852 ч  ·  Макс. об/мин: 2029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5915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115.4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67.1%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10.08.2025: Толкатель/клапан</a:t>
            </a:r>
          </a:p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16.03.2026: Клапан ГБЦ (повтор)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141 / 178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NHLT0ABAEPB100092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33229400  ·  Год: 2023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2024-05-11 → 2025-05-10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EE23020660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—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— ч  ·  Макс. об/мин: 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127.3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0.59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142 / 178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NHLT0ABATRB100101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33230473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2025-01-08 → 2026-01-07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11343 ч  ·  Макс. об/мин: 2030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101.5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64.4%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2.71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143 / 178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№69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NHLT0ABAPRB100097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33230485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2025-01-09 → 2026-01-08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10543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7561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25.05.2026: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144 / 178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NHLT0ABAVRB100106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33232655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2025-02-09 → 2026-02-08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10802 ч  ·  Макс. об/мин: 2031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46.0%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1.57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145 / 178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NHLT0ABAKRB100103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33232794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2025-03-03 → 2026-03-02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10075 ч  ·  Макс. об/мин: 2039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116.1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74.9%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16.06.2026: Втулка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146 / 178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№78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NHLT0ABAJRB100104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33232834  ·  Год: 2024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2025-03-08 → 2026-03-07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EE23050158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Отказ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9306 ч  ·  Макс. об/мин: 2047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7822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123.7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76.7%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1.45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G-Profi MSI Pl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20.05.2026: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147 / 178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NHLT0ABACSB100126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33238517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2025-11-22 → 2027-11-21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EE24070822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4014 ч  ·  Макс. об/мин: 2049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121.7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0.76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148 / 178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NHLT0ABAVSB100127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33238542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2025-11-25 → 2027-11-24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EE24040806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Катастроф.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3767 ч  ·  Макс. об/мин: 2012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4867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103.9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117.1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80.8%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0.91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~03.2026: Замена ГБЦ (ранний)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149 / 178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NHLT0ABAASB100128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33238516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2025-12-22 → 2027-12-21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3775 ч  ·  Макс. об/мин: 2054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107.2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1.69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150 / 178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NHLT0ABALSB100129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33238503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2025-12-02 → 2027-12-01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EE24040081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3774 ч  ·  Макс. об/мин: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104.5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124.4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1.55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151 / 178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NHLT0ABAASB100131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33238553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2025-12-09 → 2027-12-08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EE24070646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3778 ч  ·  Макс. об/мин: 2058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122.1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61.3%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3.42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18.06.2026: Клапаны/втулки/седла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152 / 178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NHLT0ABALSB100132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33238554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2025-12-27 → 2027-12-26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EE24040919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EGT/связан.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3266 ч  ·  Макс. об/мин: 2041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120.8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1.14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Ремонтов ГБЦ/клапанов не зафиксировано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153 / 178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ДОСЬЕ NTE200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Машина №89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91440" cy="18288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5166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Паспорт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00784"/>
            <a:ext cx="512064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PIN: NHLT0ABAHSB100133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ДВС №: 33238552  ·  Год: 2025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Гарантия: 2025-12-18 → 2027-12-17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Генератор: EE24070237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560527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91440" cy="1828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371600"/>
            <a:ext cx="528523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1700784"/>
            <a:ext cx="5239512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Статус ЭБУ: Норма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Прошивка: AQ60809.08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Наработка: 3508 ч  ·  Макс. об/мин: 2022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2139696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0098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Нагрузка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30168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39312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Рейсов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68496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977639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Средн.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06824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315968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45152"/>
            <a:ext cx="2139696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54296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&gt;100%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983480"/>
            <a:ext cx="2139696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992624"/>
            <a:ext cx="2048255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Перевезено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96896" y="3291840"/>
            <a:ext cx="1426464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0" y="330098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96896" y="3630168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639312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96896" y="3968496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0" y="3977639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105.5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96896" y="4306824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4315968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118.4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96896" y="4645152"/>
            <a:ext cx="1426464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0" y="4654296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96896" y="4983480"/>
            <a:ext cx="1426464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51760" y="4992624"/>
            <a:ext cx="1335024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1.78 млн 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06240" y="3291840"/>
            <a:ext cx="1687068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1103" y="330098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Масло ДВС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630168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61103" y="3639312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Проб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6240" y="3968496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3" y="3977639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Fe (мед.)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6240" y="4306824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61103" y="4315968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4645152"/>
            <a:ext cx="1687068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4654296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06240" y="4983480"/>
            <a:ext cx="1687068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61103" y="4992624"/>
            <a:ext cx="1595628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Марка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93307" y="3291840"/>
            <a:ext cx="2061972" cy="3383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8171" y="330098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знач.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93307" y="3630168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8171" y="3639312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3307" y="3968496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8171" y="3977639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93307" y="4306824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8171" y="4315968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3307" y="4645152"/>
            <a:ext cx="2061972" cy="3383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8171" y="4654296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3307" y="4983480"/>
            <a:ext cx="2061972" cy="338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8171" y="4992624"/>
            <a:ext cx="1970531" cy="338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SUPER HPD PLUS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38160" y="3291840"/>
            <a:ext cx="359359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138160" y="3291840"/>
            <a:ext cx="91440" cy="23774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383280"/>
            <a:ext cx="32735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Ремонты ГБЦ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39328" y="3712464"/>
            <a:ext cx="3227832" cy="1865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12.06.2026: Клапаны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154 / 178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ПРИЛОЖЕНИЕ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Аналитические срезы и доп.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155 / 178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в топливной рампе (CR)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~1060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рабочее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2100 бар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макс. система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стабильно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разброс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Рампа в норме — проблема не в давлении, а в дозировании форсунок.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156 / 178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МАСЛО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масла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~380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&gt;241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мин. норма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Давление масла в норме во всех режимах.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157 / 178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НАДДУВ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Давление наддува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~200 кПа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 нагрузкой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~110 кПа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нагрузки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статус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Наддув в норме; перегрев — следствие калибровки, не турбонаддува.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158 / 178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DML · ТОПЛИВО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Расход топлива и режимы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нагрузка с породой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21%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без породы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91440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1822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ср. об/мин с нагрузкой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5176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5176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4320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Вывод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7238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Высокая нагрузка повышает базовую EGT; TIB добавляет пульсации.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159 / 178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ИЗНОС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железу (Fe) в масле ДВС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Даже у лидеров Fe умеренный — износ низкий; отказ термический, не абразивный.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160 / 178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МАСЛО · TBN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Минимальный TBN (старение масла)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TBN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Сажа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0.4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41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везде высоко выше предела 2,5 — масло не деградировало.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161 / 178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перевезённой массе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млн 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3.42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2.71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2.24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2.02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18829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14840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12500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12393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12206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12232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11563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11052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10955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100.9%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101.5%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102.4%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102.5%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101.8%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105.2%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101.6%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102.3%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Лидеры по тоннажу при средней нагрузке ≈100% — режим в пределах 10/10/20.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162 / 178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Топ по доле рейсов &gt;100%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94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&gt;100%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94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92.1%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146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694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89.3%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146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694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88.6%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46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694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88.1%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94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94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46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694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85.5%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146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94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84.6%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694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84.5%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46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94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82.4%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6268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Макс%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268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133.0%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268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268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120.8%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268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6268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118.4%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268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121.7%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268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117.6%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268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119.7%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6268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124.4%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268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127.3%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137160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84264" y="13807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Рейсов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17830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84264" y="17922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8742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21945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84264" y="2203703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6308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26060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84264" y="26151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6016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29400" y="30175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684264" y="30266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10818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34290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684264" y="34381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9355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29400" y="38404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84264" y="384962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4012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42519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684264" y="426110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3468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46634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684264" y="467258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5627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629400" y="50749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684264" y="508406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8263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54864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84264" y="5495544"/>
            <a:ext cx="19659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3148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69680" y="1371600"/>
            <a:ext cx="283464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69680" y="1371600"/>
            <a:ext cx="91440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070848" y="1463040"/>
            <a:ext cx="2468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Доля &gt;100% — не нарушение 10/10/20 (зона 100–110% допускается).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163 / 178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476764"/>
          </a:xfrm>
          <a:prstGeom prst="rect">
            <a:avLst/>
          </a:prstGeom>
        </p:spPr>
      </p:pic>
      <p:pic>
        <p:nvPicPr>
          <p:cNvPr id="9" name="Picture 8" descr="image1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968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164 / 178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979737"/>
          </a:xfrm>
          <a:prstGeom prst="rect">
            <a:avLst/>
          </a:prstGeom>
        </p:spPr>
      </p:pic>
      <p:pic>
        <p:nvPicPr>
          <p:cNvPr id="9" name="Picture 8" descr="image1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189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165 / 178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1264778"/>
          </a:xfrm>
          <a:prstGeom prst="rect">
            <a:avLst/>
          </a:prstGeom>
        </p:spPr>
      </p:pic>
      <p:pic>
        <p:nvPicPr>
          <p:cNvPr id="9" name="Picture 8" descr="image14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71678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166 / 178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KAMSS · ФОТО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KAMSS — материалы обследования</a:t>
            </a:r>
          </a:p>
        </p:txBody>
      </p:sp>
      <p:pic>
        <p:nvPicPr>
          <p:cNvPr id="8" name="Picture 7" descr="image1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486400" cy="3963202"/>
          </a:xfrm>
          <a:prstGeom prst="rect">
            <a:avLst/>
          </a:prstGeom>
        </p:spPr>
      </p:pic>
      <p:pic>
        <p:nvPicPr>
          <p:cNvPr id="9" name="Picture 8" descr="image1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486400" cy="24367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93136"/>
                </a:solidFill>
                <a:latin typeface="Calibri"/>
              </a:rPr>
              <a:t>INSITE-диагностика (коды EGT, защита двигателя) и дефектация клапанов/ГБЦ — обследование 3 единиц.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167 / 178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МЕТОДИКА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Методика исследования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Этапы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1. Сбор первичных данных (Весовая, ECM, DML, масло, топливо, стенд форсунок, KAMSS, парк).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2. Перепроверка из первоисточников (пересчёт нагрузки от 180 т; парсинг ECM/масла/форсунок).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3. Сравнение NTE200 vs контрольной группы 730E (паритет условий).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4. Проверка гипотез «за/против»; исключение недифференцирующих факторов.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5. Формулировка коренной причины и плана действий.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Принцип: каждое число — из первичных данных; неподтверждённое помечается отдельно.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168 / 178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СЛОВАРЬ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Словарь и обозначения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20624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Термины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6941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 — температура отработавших газов · TIB — компенсация теплового дисбаланса (Thermal Imbalance Balance) · MCRS — модульная система Common Rail · derate — снижение мощности/оборотов защитой · DO_Option — профиль опций ЭБУ · ISO 4406 — класс чистоты (частицы &gt;4/6/14 мкм) · TBN — щелочное число · CI-4/CES 20078 — класс моторного масла · A/B банк — ряды цилиндров (нечёт./чёт.) · P03/P04 — тест-планы стенда (малая нагрузка/пилот).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169 / 178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3EF0AF"/>
                </a:solidFill>
                <a:latin typeface="Calibri"/>
              </a:rPr>
              <a:t>ЧАСТЬ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Выводы и действия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170 / 178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Неотложные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1.  Перекалибровать ЭБУ NTE200 под профиль 730E: TIB 100%, включить защиты перегрева, убрать задержки derate, обороты 1990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3288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2.  Контрольный DML после перекалибровки — подтвердить снижение EGT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8444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3.  Заменить датчики EGT с FC1531/1619 (#82, #67)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36008"/>
            <a:ext cx="10515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4.  Стендовая проверка/замена бракованных форсунок (перелив P03/P04)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171 / 178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 · 🟠🟡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Средне- и долгосрочные действия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1.  Запрос NHL/Cummins: обоснование исключения Stellite и отключения защит; поставка клапанов с наплавкой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2.  Привести чистоту топлива к ≤18/16/13 (доп. фильтрация), ориентир 12/9/6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0040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3.  Унифицировать прошивку ЭБУ (.07/.08) по парку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4.  Мониторинг EGT и FC611 в реальном времени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109728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46320"/>
            <a:ext cx="91440" cy="713232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93136"/>
                </a:solidFill>
                <a:latin typeface="Calibri"/>
              </a:rPr>
              <a:t>5.  Испытать форсунки 730E на стенде для сравнения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172 / 178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ЭФФЕКТ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Ожидаемый эффект и риски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EGT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&lt; 520°C после калибровки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36576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463040"/>
            <a:ext cx="3429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↓ отказы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1938528"/>
            <a:ext cx="34290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клапанов/ГБЦ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1371600"/>
            <a:ext cx="320040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03920" y="1371600"/>
            <a:ext cx="73152" cy="9144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2" y="1463040"/>
            <a:ext cx="2971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293136"/>
                </a:solidFill>
                <a:latin typeface="Calibri"/>
              </a:rPr>
              <a:t>↑ ресурс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193852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707880"/>
                </a:solidFill>
                <a:latin typeface="Calibri"/>
              </a:rPr>
              <a:t>ГБЦ и форсунок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06040"/>
            <a:ext cx="11274552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606040"/>
            <a:ext cx="91440" cy="2194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69748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Итог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026664"/>
            <a:ext cx="10908792" cy="16824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устраняет коренную причину без замены узлов. Установка клапанов со Stellite и нормализация фильтрации топлива/дозирования форсунок закрывают отягчающие факторы. Риск бездействия — продолжение массовых отказов ГБЦ в гарантийный период.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173 / 178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Матрица рисков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Продолжение отказов ГБЦ (без калибровки)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Выход из строя форсунок MCRS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Перегрев масла/ОЖ без защиты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Гарантийные претензии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67020" y="1371600"/>
            <a:ext cx="225491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1884" y="1380744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Вероятность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87451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88366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237743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238658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88035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88950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3383279"/>
            <a:ext cx="225491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339242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886199"/>
            <a:ext cx="225491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895343"/>
            <a:ext cx="216347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1371600"/>
            <a:ext cx="2029419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1380744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Тяжесть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187451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188366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Критич.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237743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238658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288035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288950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1931" y="3383279"/>
            <a:ext cx="2029419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6795" y="339242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Средняя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1931" y="3886199"/>
            <a:ext cx="2029419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6795" y="3895343"/>
            <a:ext cx="19379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51350" y="1371600"/>
            <a:ext cx="248040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06214" y="1380744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1350" y="187451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06214" y="188366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Перекалибровка ЭБУ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1350" y="237743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06214" y="238658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Фильтрация топлива + замена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1350" y="288035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06214" y="288950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Включить триггеры ЭБУ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51350" y="3383279"/>
            <a:ext cx="248040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06214" y="339242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Документирование, запрос NHL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51350" y="3886199"/>
            <a:ext cx="248040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06214" y="3895343"/>
            <a:ext cx="238896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Плановый график ремонта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174 / 178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ДОРОЖНАЯ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Дорожная карта внедрения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91440" cy="86868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5448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5252"/>
                </a:solidFill>
                <a:latin typeface="Calibri"/>
              </a:rPr>
              <a:t>0–1 мес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5448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ЭБУ пилотных машин + контрольный DML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0603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1–3 мес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0603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Перекалибровка всего парка, замена датчиков EGT/форсунок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91440" cy="868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E08C2E"/>
                </a:solidFill>
                <a:latin typeface="Calibri"/>
              </a:rPr>
              <a:t>3–6 мес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657600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Нормализация фильтрации топлива, запрос Stellite у NHL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17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617720"/>
            <a:ext cx="91440" cy="86868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09159"/>
            <a:ext cx="20116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2EA043"/>
                </a:solidFill>
                <a:latin typeface="Calibri"/>
              </a:rPr>
              <a:t>6–12 мес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709159"/>
            <a:ext cx="84124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Мониторинг EGT/FC611, верификация снижения отказов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175 / 178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КОНТАКТЫ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Ответственные стороны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0744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836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Оператор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8658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Подрядчик ТО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8950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двигателя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39242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Производитель техники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89534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398263"/>
            <a:ext cx="44183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Лаборатория топлива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6702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1884" y="1380744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Организация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8836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Полюс Магадан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238658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ООО «Горная Евразия»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88950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Cummins / CCEC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39242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NHL (North Hauler)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89534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МИЦ ГСМ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398263"/>
            <a:ext cx="6673291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Дорингтест / ООО «Авиатек»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176 / 178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1024128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1338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ИСТОЧНИКИ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5760"/>
            <a:ext cx="113385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>
                <a:solidFill>
                  <a:srgbClr val="293136"/>
                </a:solidFill>
                <a:latin typeface="Calibri"/>
              </a:rPr>
              <a:t>Источники и стандарты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91440" cy="4023360"/>
          </a:xfrm>
          <a:prstGeom prst="rect">
            <a:avLst/>
          </a:prstGeom>
          <a:solidFill>
            <a:srgbClr val="707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63040"/>
            <a:ext cx="1095451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93136"/>
                </a:solidFill>
                <a:latin typeface="Calibri"/>
              </a:rPr>
              <a:t>База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92224"/>
            <a:ext cx="10908792" cy="35112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Данные Весовая (131 файл, 365 069 рейсов) — нагрузка/производительность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Своды анализов масла 2025+2026 (ДВС, NTE200/730E)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ECM: 15 параметров (ECM_对比), Fault Codes (361 файл INSITE)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DML #82 (INSITE логи), стенд «Поток CR-2» (форсунки)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Паспорта топлива, Дорингтест ISO 4406, Cummins требования к ДТ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KAMSS — обследование 3 единиц; письма NHL/Cummins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Реестр парка ГЕ (апрель 2026)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Стандарты: ISO 4406, ТР ТС 013/2011, ГОСТ 32511-2013, Cummins CES 20078, Cummins SB 5407411 (378-005/010/011/013).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177 / 178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Отказ — многофакторная цепь: контаминация (пыль/впуск + топливо)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инициирует износ, калибровка ЭБУ усиливает перегрев до выгорания клапана.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сера топлива — исключены. Масляные маркеры пыли (Si) низкие — вклад пыли локальный.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778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•  Анализ отказов ГБЦ  •  Cummins QSK50 · NTE200 · Полюс Магадан  •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574536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CFD6DA"/>
                </a:solidFill>
                <a:latin typeface="Calibri"/>
              </a:rPr>
              <a:t>178 / 178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