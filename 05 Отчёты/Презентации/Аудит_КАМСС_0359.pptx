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EF0AF"/>
                </a:solidFill>
                <a:latin typeface="Calibri"/>
              </a:rPr>
              <a:t>АО «РАЗВИТИЕ» · ОТДЕЛ НАДЁЖНОСТИ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Аудит отчёта КАМСС № 0359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Оценка корректности выводов и выполненных работ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Диагностика Cummins QSK-50: шасси №82, №46, №69 (+№88, ЕСМ №33232926)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Исх. № 0359 от 24.06.2026 (ООО «КАМСС-сервис»)  •  рецензия 24.06.2026  •  Конфиденциально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НАВИГАЦИЯ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Структура аудита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1. Что и как проверял КАМСС (объём работ)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2. Итоговый вердикт рецензии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4884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3. Первичные данные КАМСС (факты)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4884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4884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4884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4. Критика выводов — по пунктам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2608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92608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5. Главное упущение: калибровка ЭБУ (TIB)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92608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92608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6. Сверка с RCA песочницы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033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0332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0332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7. Что сделано правильно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033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70332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70332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8. Замечания и запросы к КАМСС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8056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480560"/>
            <a:ext cx="73152" cy="64008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48056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9. Заключение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ОБЪЕКТЫ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Что проверял КАМСС — объекты диагностики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382365" cy="54864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ДВС / шасси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38236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2938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№33238517 / №82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3382365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47802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№33232853 / №46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38236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02666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№33230485 / №69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3382365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57530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№33238554 / №88 (доп.)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338236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123944"/>
            <a:ext cx="329092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ЕСМ с №33232926 (снят)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39565" y="1371600"/>
            <a:ext cx="2029419" cy="54864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4429" y="138074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Ввод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9565" y="1920240"/>
            <a:ext cx="202941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94429" y="192938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22.11.2025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39565" y="2468880"/>
            <a:ext cx="2029419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4429" y="247802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23.02.2024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9565" y="3017520"/>
            <a:ext cx="202941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4429" y="302666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09.01.2025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39565" y="3566160"/>
            <a:ext cx="2029419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94429" y="357530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27.12.2025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39565" y="4114800"/>
            <a:ext cx="202941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4429" y="412394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8984" y="1371600"/>
            <a:ext cx="2029419" cy="54864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23848" y="138074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Наработка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68984" y="1920240"/>
            <a:ext cx="202941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3848" y="192938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4 509 м/ч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68984" y="2468880"/>
            <a:ext cx="2029419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23848" y="247802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18 754 м/ч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68984" y="3017520"/>
            <a:ext cx="202941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23848" y="302666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11 007 м/ч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68984" y="3566160"/>
            <a:ext cx="2029419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23848" y="357530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3 852 м/ч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68984" y="4114800"/>
            <a:ext cx="202941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23848" y="4123944"/>
            <a:ext cx="19379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17 856 м/ч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98404" y="1371600"/>
            <a:ext cx="3833347" cy="54864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3268" y="1380744"/>
            <a:ext cx="374190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Отказы клапанов ГБЦ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98404" y="1920240"/>
            <a:ext cx="3833347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3268" y="1929384"/>
            <a:ext cx="374190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нет до диагностики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98404" y="2468880"/>
            <a:ext cx="3833347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3268" y="2478024"/>
            <a:ext cx="374190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нет (по данным заказчика)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98404" y="3017520"/>
            <a:ext cx="3833347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3268" y="3026664"/>
            <a:ext cx="374190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ДА — 16.04 и 23.05.2026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98404" y="3566160"/>
            <a:ext cx="3833347" cy="54864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3268" y="3575304"/>
            <a:ext cx="374190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нет до диагностики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98404" y="4114800"/>
            <a:ext cx="3833347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3268" y="4123944"/>
            <a:ext cx="374190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коды перегрева ОЖ/масла/наддува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937760"/>
            <a:ext cx="1127455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937760"/>
            <a:ext cx="91440" cy="914400"/>
          </a:xfrm>
          <a:prstGeom prst="rect">
            <a:avLst/>
          </a:prstGeom>
          <a:solidFill>
            <a:srgbClr val="707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5029200"/>
            <a:ext cx="109087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Заявки «Диагностика ДВС» от 02/03/06.06.2026. Сервисные механики ООО «КАМСС-сервис». Из 3 основных ДВС только №69 имел подтверждённые отказы клапанов до работ.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РАБОТЫ · 🟢 КОМПЕТЕНТНО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Объём выполненных работ — оценка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680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1.  Визуальный осмотр ДВС + впускной/выпускной тракты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29967"/>
            <a:ext cx="7680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29967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29967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2.  Подключение к ЕСМ и анализ данных (Insite)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336"/>
            <a:ext cx="7680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88336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88336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3.  Проверка параметров под нагрузкой (тестовый рейс)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46704"/>
            <a:ext cx="7680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46704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46704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4.  Проверка и регулировка тепловых зазоров клапанов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05072"/>
            <a:ext cx="7680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05072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05072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5.  Видеоэндоскопия ЦПГ (гильзы, поршни, тарелки)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7680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6344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6.  Опрессовка цилиндров (пневмотестер, % утечки)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21808"/>
            <a:ext cx="7680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21808"/>
            <a:ext cx="73152" cy="54864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21808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7.  Повторный нагрузочный тест после ТО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1371600"/>
            <a:ext cx="91440" cy="457200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146304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Оценка работ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1792224"/>
            <a:ext cx="2926080" cy="4059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Набор процедур КОРРЕКТЕН и полон для полевой дефектовки ГБЦ.</a:t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Особо ценно: числовые таблицы зазоров/высоты клапанов и поцилиндровая герметичность.</a:t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Честная оговорка КАМСС: метод замера «высота тарелки» НЕ предусмотрен мануалом Cummins, допусков нет → данные могут быть неточны.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ВЕРДИКТ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Итоговый вердикт рецензии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7455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13716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Главное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10908792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Полевые работы выполнены КОМПЕТЕНТНО и добросовестно; первичные данные ценны. НО аналитические выводы НЕПОЛНЫ: КАМСС возлагает причины на операторов (FC611), сборочный завод (зазоры) и обслуживание (фильтры/масло), полностью ИГНОРИРУЯ калибровку ЭБУ (TIB 200%, отключённые защиты) — главный отличитель NTE200 от безотказного 730E.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8117677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843784"/>
            <a:ext cx="802623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Аспект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55264"/>
            <a:ext cx="811767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64408"/>
            <a:ext cx="802623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Объём и методика полевых работ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75888"/>
            <a:ext cx="811767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685032"/>
            <a:ext cx="802623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Честность с данными (само-оговорки)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96512"/>
            <a:ext cx="811767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105656"/>
            <a:ext cx="802623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Первичные числовые данные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17136"/>
            <a:ext cx="811767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526280"/>
            <a:ext cx="802623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Глубина анализа ЕСМ/калибровки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8117677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946904"/>
            <a:ext cx="802623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Логическая связность выводов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58384"/>
            <a:ext cx="8117677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367528"/>
            <a:ext cx="802623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Атрибуция причин (FC611/зазор)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74877" y="2834640"/>
            <a:ext cx="3156874" cy="420624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9741" y="2843784"/>
            <a:ext cx="306543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Оценка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4877" y="3255264"/>
            <a:ext cx="315687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9741" y="3264408"/>
            <a:ext cx="306543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🟢 хорошо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4877" y="3675888"/>
            <a:ext cx="3156874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9741" y="3685032"/>
            <a:ext cx="306543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🟢 хорошо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4877" y="4096512"/>
            <a:ext cx="315687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9741" y="4105656"/>
            <a:ext cx="306543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🟢 ценно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74877" y="4517136"/>
            <a:ext cx="3156874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9741" y="4526280"/>
            <a:ext cx="306543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🔴 слабо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74877" y="4937760"/>
            <a:ext cx="315687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9741" y="4946904"/>
            <a:ext cx="306543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🟠 спорно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4877" y="5358384"/>
            <a:ext cx="3156874" cy="420624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9741" y="5367528"/>
            <a:ext cx="306543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🟠 не обоснована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РАЗДЕЛ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Первичные данные КАМСС (факты)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ДАННЫЕ · ЕСМ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Коды ЕСМ по трём ДВС (как зафиксировано КАМСС)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ДВС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202082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№82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127455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66090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№46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745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300984"/>
            <a:ext cx="103601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№69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84655" y="1371600"/>
            <a:ext cx="4058838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39519" y="1380744"/>
            <a:ext cx="396739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Критич. коды защиты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84655" y="2011680"/>
            <a:ext cx="405883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9519" y="2020824"/>
            <a:ext cx="396739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НЕ срабатывали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84655" y="2651760"/>
            <a:ext cx="405883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9519" y="2660904"/>
            <a:ext cx="396739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ДА: высокая T ОЖ, T наддува, Δp масл. фильтра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4655" y="3291840"/>
            <a:ext cx="405883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39519" y="3300984"/>
            <a:ext cx="396739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высокая EGT цил.14 и 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43493" y="1371600"/>
            <a:ext cx="4058838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8357" y="1380744"/>
            <a:ext cx="396739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Прочие коды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3493" y="2011680"/>
            <a:ext cx="405883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98357" y="2020824"/>
            <a:ext cx="396739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горячий стоп, модуль ЕСМ, датчик EGT ц.11, давл. впуск.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43493" y="2651760"/>
            <a:ext cx="4058838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8357" y="2660904"/>
            <a:ext cx="396739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горячий стоп, хаотичн. данные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43493" y="3291840"/>
            <a:ext cx="4058838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98357" y="3300984"/>
            <a:ext cx="396739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некорр. отключение, горячий стоп, модуль ЕСМ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02332" y="1371600"/>
            <a:ext cx="2029419" cy="64008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57196" y="1380744"/>
            <a:ext cx="19379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% полн. нагр.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02332" y="2011680"/>
            <a:ext cx="2029419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7196" y="2020824"/>
            <a:ext cx="19379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30,7%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2332" y="2651760"/>
            <a:ext cx="2029419" cy="64008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7196" y="2660904"/>
            <a:ext cx="19379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31,7%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02332" y="3291840"/>
            <a:ext cx="2029419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57196" y="3300984"/>
            <a:ext cx="19379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38%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206240"/>
            <a:ext cx="11274552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206240"/>
            <a:ext cx="91440" cy="155448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297679"/>
            <a:ext cx="10954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Наблюдение рецензии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626864"/>
            <a:ext cx="10908792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Все 3 ДВС: многократный FC 611 «Остановка горячего двигателя». №46 и снятый модуль №33232926 несут «горячие» коды (перегрев ОЖ/наддува/масла, давление картерных газов). КАМСС привёл коды, но НЕ исследовал, почему защита допускала работу в перегреве (см. раздел 2).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ДАННЫЕ · НАГРУЗКА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Доля полной нагрузки: NTE200 против 730E</a:t>
            </a:r>
          </a:p>
        </p:txBody>
      </p:sp>
      <p:pic>
        <p:nvPicPr>
          <p:cNvPr id="8" name="Picture 7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583680" cy="3398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23760" y="1371600"/>
            <a:ext cx="44805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371600"/>
            <a:ext cx="91440" cy="420624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8" y="1463040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Чтение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8" y="1792224"/>
            <a:ext cx="4114800" cy="3694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Факт КАМСС ✅: NTE200 (30,7/31,7/38%) нагружены выше 730E (24,4/26,1/24,6%).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НО интерпретация неполна: КАМСС относит к «настройкам шасси либо условиям». По весовой (180 т) парк СОБЛЮДАЕТ 10/10/20 — перегруза по массе нет.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⇒ Выше не «перегруз грузом», а ДЮТИ-ЦИКЛ/калибровка (двигатель дольше держит полную мощность). КАМСС смешал «нагружен» и «перегружен».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ДАННЫЕ · ЗАЗОРЫ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Зазоры и высота выпускных клапанов (КАМСС)</a:t>
            </a:r>
          </a:p>
        </p:txBody>
      </p:sp>
      <p:pic>
        <p:nvPicPr>
          <p:cNvPr id="8" name="Picture 7" descr="exh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400800" cy="2880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0880" y="1463040"/>
            <a:ext cx="1399031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95744" y="1472184"/>
            <a:ext cx="13075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ДВС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965960"/>
            <a:ext cx="13990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95744" y="1975104"/>
            <a:ext cx="13075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№82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468880"/>
            <a:ext cx="13990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2478024"/>
            <a:ext cx="13075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№46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971800"/>
            <a:ext cx="1399031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5744" y="2980944"/>
            <a:ext cx="13075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№69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3474720"/>
            <a:ext cx="1399031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4" y="3483863"/>
            <a:ext cx="1307591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№88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9912" y="1463040"/>
            <a:ext cx="1632203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4776" y="1472184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Впуск вне допуска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9912" y="1965960"/>
            <a:ext cx="16322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4776" y="1975104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 ГБЦ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9912" y="2468880"/>
            <a:ext cx="16322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94776" y="2478024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нет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9912" y="2971800"/>
            <a:ext cx="16322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94776" y="2980944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 ГБЦ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9912" y="3474720"/>
            <a:ext cx="16322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4776" y="3483863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нет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72116" y="1463040"/>
            <a:ext cx="1632203" cy="50292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6980" y="1472184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Выпуск вне допуска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72116" y="1965960"/>
            <a:ext cx="16322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26980" y="1975104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12 ГБЦ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72116" y="2468880"/>
            <a:ext cx="16322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478024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8 ГБЦ (зазор 0,000)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72116" y="2971800"/>
            <a:ext cx="1632203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6980" y="2980944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 ГБЦ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72116" y="3474720"/>
            <a:ext cx="1632203" cy="50292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26980" y="3483863"/>
            <a:ext cx="1540763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4 ГБЦ (зажаты)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4297680"/>
            <a:ext cx="46634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0880" y="4297680"/>
            <a:ext cx="91440" cy="14630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2048" y="4389120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Эталон и нули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2048" y="4718304"/>
            <a:ext cx="4297679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Допуски: впуск 0,014″, выпуск 0,027″; эталон высоты новой ГБЦ — 67 мм. На №46 (18 754 м/ч) зазор выпускных = 0,000 на 8 цил. = клапан НЕ садится (рецессия седла).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ДАННЫЕ · УТЕЧКИ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Герметичность цилиндров №82 (опрессовка)</a:t>
            </a:r>
          </a:p>
        </p:txBody>
      </p:sp>
      <p:pic>
        <p:nvPicPr>
          <p:cNvPr id="8" name="Picture 7" descr="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498079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6720" y="137160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91440" cy="438912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63040"/>
            <a:ext cx="3337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Интерпретация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792224"/>
            <a:ext cx="3291840" cy="3877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Утечки до 80% (6R) на №82; высокие на 1R/2R/2L/6L-банке.</a:t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Равномерность по ВМТ/середина/НМТ (напр., 1R=70/70/70) = негерметичность КЛАПАНА (не колец).</a:t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Прямое подтверждение потери герметичности клапана (рецессия/прогар). КАМСС привёл числа, но не разнёс «клапан vs кольца».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ДАННЫЕ · ФОРСУНКИ/ИЗНОС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Форсунки и изношенные детали (КАМСС)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9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56816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07880"/>
                </a:solidFill>
                <a:latin typeface="Calibri"/>
              </a:rPr>
              <a:t>форсунки с отклонениями №82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73152" cy="914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6304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13 /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956816"/>
            <a:ext cx="34290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07880"/>
                </a:solidFill>
                <a:latin typeface="Calibri"/>
              </a:rPr>
              <a:t>форсунки с отклонениями №46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73152" cy="914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63040"/>
            <a:ext cx="3337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93136"/>
                </a:solidFill>
                <a:latin typeface="Calibri"/>
              </a:rPr>
              <a:t>до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56816"/>
            <a:ext cx="3337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07880"/>
                </a:solidFill>
                <a:latin typeface="Calibri"/>
              </a:rPr>
              <a:t>утечка в цилиндрах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55778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320040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651760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Дефектовка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80944"/>
            <a:ext cx="5212079" cy="2688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Изношенные детали (от заказчика):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Клапаны — выработка на фаске в зоне седла; маркировки ОТЛИЧАЮТСЯ по методу и производителю.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Сёдла — повреждения, соответствующие клапанам.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Втулки направляющие — в норме.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Пружины — в норме.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56032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560320"/>
            <a:ext cx="91440" cy="320040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265176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Брошенные нити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980944"/>
            <a:ext cx="5120640" cy="2688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Разные маркировки клапанов ➕ — намёк на неоригинальные/смешанные клапаны (возможно БЕЗ наплавки Stellite). КАМСС поднял тему и БРОСИЛ — не исследовал материал фаски.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Форсунки: КАМСС не связал брак с наблюдаемым «ограничением момента по составу смеси».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РАЗДЕЛ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Критика корректности выводов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КРИТИКА · 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«FC611 = вина операторов» — не обосновано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448056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Тезис КАМСС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Вывод КАМСС: операторы глушат двигатель без выхолаживания (мануал 101-009: 3–5 мин х/х) → FC611.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448056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Рецензия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Контраргументы: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FC611 на ВСЕХ 3 + на 46 машинах парка → МАССОВОСТЬ опровергает индивидуальную ошибку оператора (системно).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Код срабатывает при нагрузке выше ПОРОГА — а порог это КАЛИБРОВКА. На NTE200 пороги горячего стопа ЗАНИЖЕНЫ (5509→3650, 4722→1850 Н·м).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«Горячий при останове» = след хронического перегрева, не поведения водителя.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⇒ Моно-атрибуция удобна, но не доказана.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КРИТИКА · 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«Зазор = ошибка завода Cummins» — переобобщено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448056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Тезис КАМСС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Логика КАМСС: №82/№88 не имели отказов и регулировок → значит, завод собрал с нарушением (оба 03.2025, один завод → «системная ошибка сборки»).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448056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Рецензия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Для низконаработанных №82 (4509)/№88 (3852) — ПРАВДОПОДОБНО ✅.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НО для №46 (18 754 м/ч) зазор выпускных = 0,000 на 8 цил. Нулевой зазор = РЕЦЕССИЯ седла (следствие тепла), а не «завод установил в ноль».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Высота в красной зоне (67,5–69 мм vs 67) = ПРОГРЕССИРУЮЩАЯ просадка.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Противоречие КАМСС: «завод» И «нарушение в эксплуатации» одновременно, без разделения по наработке.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КРИТИКА · 🔴 КЛЮЧЕВОЕ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ГЛАВНОЕ УПУЩЕНИЕ: калибровка ЭБУ (TIB / защиты)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86860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80744"/>
            <a:ext cx="35954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Параметр ЭБУ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36868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56231"/>
            <a:ext cx="35954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TIB — верхн. предел коррекции топлива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3686860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31720"/>
            <a:ext cx="35954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Снижение оборотов по T масла (derate)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98064"/>
            <a:ext cx="36868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07208"/>
            <a:ext cx="35954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Триггеры high T наддув/ОЖ/топливо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73552"/>
            <a:ext cx="3686860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82696"/>
            <a:ext cx="35954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Задержка derate (масло/ОЖ)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6868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758183"/>
            <a:ext cx="35954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Горячий стоп — момент (верх/нижн)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4060" y="1371600"/>
            <a:ext cx="1448409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8924" y="1380744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730E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4060" y="1847088"/>
            <a:ext cx="144840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8924" y="1856231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4060" y="2322576"/>
            <a:ext cx="1448409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8924" y="2331720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Вкл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4060" y="2798064"/>
            <a:ext cx="144840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98924" y="2807208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Вкл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44060" y="3273552"/>
            <a:ext cx="1448409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98924" y="3282696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0 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44060" y="3749039"/>
            <a:ext cx="144840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98924" y="3758183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5509/4722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92470" y="1371600"/>
            <a:ext cx="1448409" cy="475488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47334" y="1380744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NTE200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92470" y="1847088"/>
            <a:ext cx="144840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47334" y="1856231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200%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92470" y="2322576"/>
            <a:ext cx="1448409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47334" y="2331720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92470" y="2798064"/>
            <a:ext cx="144840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47334" y="2807208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ВЫКЛ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92470" y="3273552"/>
            <a:ext cx="1448409" cy="47548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47334" y="3282696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51 / 43 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92470" y="3749039"/>
            <a:ext cx="1448409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47334" y="3758183"/>
            <a:ext cx="135696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3650/1850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1371600"/>
            <a:ext cx="44805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23760" y="1371600"/>
            <a:ext cx="91440" cy="438912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4928" y="1463040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Почему это критично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4928" y="1792224"/>
            <a:ext cx="4114800" cy="3877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КАМСС НЕ сравнил калибровку NTE200 vs 730E (только %-нагрузки) и не спросил, почему защита допускала работу в перегреве.</a:t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15 отличий ЭБУ (песочница) — это УСИЛИТЕЛЬ перегрева и главный дифференциатор от безотказного 730E. Cummins письменно подтвердил отключённую защиту по T масла.</a:t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293136"/>
                </a:solidFill>
                <a:latin typeface="Calibri"/>
              </a:rPr>
              <a:t>Без этого вывод КАМСС не объясняет, почему тот же ДВС на 730E не отказывает.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КРИТИКА · 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«Критически высокой EGT не выявлено» — неполно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448056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Тезис КАМСС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93136"/>
                </a:solidFill>
                <a:latin typeface="Calibri"/>
              </a:rPr>
              <a:t>Вывод КАМСС: в тестовом рейсе EGT не превышает ~500°C → перегрева нет.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448056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Рецензия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Тест КОНТРОЛИРУЕМЫЙ; КАМСС сам отметил «ограничение момента по составу смеси» — ЭБУ маскирует пиковую EGT.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DML #82 под реальной нагрузкой: 567°C на Ц2/Ц6 (лимит 520).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• ПРОТИВОРЕЧИЕ: КАМСС фиксирует неисправные датчики EGT (ц.11; ц.14/16) и тут же заключает «высокой EGT нет». Нельзя подтвердить низкую EGT неисправными датчиками.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КРИТИКА · 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Масло «не в списке» и пыль «№1» — слабые доводы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91440" cy="448056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Масло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00784"/>
            <a:ext cx="5120640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Масло: КАМСС признаёт Teboil 15W40 = CI-4 = CES20078 (верный класс), но относит к факторам из-за «отсутствия в перечне Cummins».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⇒ Довод административный. 730E на ТОМ ЖЕ масле — без отказов. КАМСС не применил контроль 730E к маслу (только к нагрузке) — непоследовательно.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60527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91440" cy="448056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371600"/>
            <a:ext cx="5285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93136"/>
                </a:solidFill>
                <a:latin typeface="Calibri"/>
              </a:rPr>
              <a:t>Пыль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00784"/>
            <a:ext cx="5239512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Пыль: поставлена фактором №1, но КАМСС САМ приводит опровержение — Si ≤ 9 ppm, следов абразивного износа в ГБЦ/ЦПГ нет.</a:t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293136"/>
                </a:solidFill>
                <a:latin typeface="Calibri"/>
              </a:rPr>
              <a:t>⇒ Противоречие названо честно, но пыль всё равно оставлена №1 без разрешения. Корректнее: пыль — локальный/эпизодический инициатор, не массовый абразив.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EF0AF"/>
                </a:solidFill>
                <a:latin typeface="Calibri"/>
              </a:rPr>
              <a:t>РАЗДЕЛ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Синтез и заключение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СВЕРКА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Сверка выводов: КАМСС № 0359 vs RCA песочницы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2931383" cy="49377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35024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Фактор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2931383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828800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Калибровка ЭБУ (TIB/защиты)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13432"/>
            <a:ext cx="2931383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2322576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Пыль/впуск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2931383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816352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Форсунки/топливо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00984"/>
            <a:ext cx="2931383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310128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Нагрузка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2931383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03904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Регулировка клапанов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88536"/>
            <a:ext cx="2931383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297680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Нет Stellite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82312"/>
            <a:ext cx="2931383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791456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FC611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76088"/>
            <a:ext cx="2931383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285232"/>
            <a:ext cx="2839943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Масло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8583" y="1325880"/>
            <a:ext cx="3833347" cy="49377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3447" y="1335024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Вывод КАМСС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8583" y="1819656"/>
            <a:ext cx="3833347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3447" y="1828800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НЕ рассмотрена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8583" y="2313432"/>
            <a:ext cx="3833347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43447" y="2322576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фактор №1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8583" y="2807208"/>
            <a:ext cx="3833347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3447" y="2816352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отдельная нить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8583" y="3300984"/>
            <a:ext cx="3833347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3447" y="3310128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«перегружены» (шасси)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8583" y="3794760"/>
            <a:ext cx="3833347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3447" y="3803904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ошибка завода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8583" y="4288536"/>
            <a:ext cx="3833347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43447" y="4297680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намёк (маркировки), брошен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8583" y="4782312"/>
            <a:ext cx="3833347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3447" y="4791456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вина оператора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8583" y="5276088"/>
            <a:ext cx="3833347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43447" y="5285232"/>
            <a:ext cx="3741907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«не в списке»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1931" y="1325880"/>
            <a:ext cx="4509820" cy="49377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76795" y="1335024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Вывод песочницы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1931" y="1819656"/>
            <a:ext cx="450982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6795" y="1828800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усиливающий (амплификатор)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1931" y="2313432"/>
            <a:ext cx="4509820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6795" y="2322576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инициирующий, локальный (Si низкий)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1931" y="2807208"/>
            <a:ext cx="450982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6795" y="2816352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инициирующий по топл. системе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1931" y="3300984"/>
            <a:ext cx="4509820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6795" y="3310128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10/10/20 соблюдается; дюти-цикл/калибровка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1931" y="3794760"/>
            <a:ext cx="450982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6795" y="3803904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рецессия седла на высокой наработке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1931" y="4288536"/>
            <a:ext cx="4509820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76795" y="4297680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сопутствующий конструктивный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1931" y="4782312"/>
            <a:ext cx="450982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6795" y="4791456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след перегрева + калибровка порога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21931" y="5276088"/>
            <a:ext cx="4509820" cy="49377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76795" y="5285232"/>
            <a:ext cx="44183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93136"/>
                </a:solidFill>
                <a:latin typeface="Calibri"/>
              </a:rPr>
              <a:t>не дифференцирует (= 730E)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СИЛЬНЫЕ СТОРОНЫ · 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Что КАМСС сделал ПРАВИЛЬНО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621792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Компетентная полевая дефектовка и полный набор проверок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21408"/>
            <a:ext cx="73152" cy="621792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21408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Честные оговорки (метод высоты вне мануала; нет допусков)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71215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71215"/>
            <a:ext cx="73152" cy="621792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71215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Объективные отрицательные находки (втулки/пружины/ЦПГ в норме; Si низкий)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21024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73152" cy="621792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21024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Ценные первичные данные (зазоры, высота, герметичность, форсунки, нагрузка)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70831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70831"/>
            <a:ext cx="73152" cy="621792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70831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Многофакторная установка (отказ от единственной причины)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73152" cy="621792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20640"/>
            <a:ext cx="10515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93136"/>
                </a:solidFill>
                <a:latin typeface="Calibri"/>
              </a:rPr>
              <a:t>Наблюдение «ограничение момента по составу смеси» — косвенный след ЭБУ/форсунок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ДЕЙСТВИЯ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93136"/>
                </a:solidFill>
                <a:latin typeface="Calibri"/>
              </a:rPr>
              <a:t>Замечания и запросы к КАМСС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93136"/>
                </a:solidFill>
                <a:latin typeface="Calibri"/>
              </a:rPr>
              <a:t>1.  Включить в анализ калибровку ЭБУ NTE200 vs 730E (TIB, триггеры, derate, пороги стопа)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29967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29967"/>
            <a:ext cx="73152" cy="5486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29967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93136"/>
                </a:solidFill>
                <a:latin typeface="Calibri"/>
              </a:rPr>
              <a:t>2.  Разделить атрибуцию зазоров по наработке: завод (низкая) vs рецессия (высокая)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336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88336"/>
            <a:ext cx="73152" cy="5486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88336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93136"/>
                </a:solidFill>
                <a:latin typeface="Calibri"/>
              </a:rPr>
              <a:t>3.  Снять пиковую EGT под РЕАЛЬНОЙ нагрузкой; учесть неисправность датчиков EGT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46704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46704"/>
            <a:ext cx="73152" cy="548640"/>
          </a:xfrm>
          <a:prstGeom prst="rect">
            <a:avLst/>
          </a:prstGeom>
          <a:solidFill>
            <a:srgbClr val="E0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467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93136"/>
                </a:solidFill>
                <a:latin typeface="Calibri"/>
              </a:rPr>
              <a:t>4.  Исследовать материал/маркировку клапанов (наплавка Stellite, оригинальность)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05072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05072"/>
            <a:ext cx="73152" cy="5486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05072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93136"/>
                </a:solidFill>
                <a:latin typeface="Calibri"/>
              </a:rPr>
              <a:t>5.  Связать брак форсунок (9/16, 13/16) с ограничением момента и локальным перегревом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73152" cy="5486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634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93136"/>
                </a:solidFill>
                <a:latin typeface="Calibri"/>
              </a:rPr>
              <a:t>6.  Не позиционировать масло как фактор без контроля 730E (то же масло — без отказов)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21808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21808"/>
            <a:ext cx="73152" cy="548640"/>
          </a:xfrm>
          <a:prstGeom prst="rect">
            <a:avLst/>
          </a:prstGeom>
          <a:solidFill>
            <a:srgbClr val="E08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21808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293136"/>
                </a:solidFill>
                <a:latin typeface="Calibri"/>
              </a:rPr>
              <a:t>7.  Переформулировать FC611 как индикатор перегрева + калибровки, а не поведения оператора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3EF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Заключение рецензии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Отчёт КАМСС № 0359 — добросовестная и технически грамотная полевая работа с ценными данными,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но аналитически НЕПОЛНАЯ: пропущен усилитель — калибровка ЭБУ (TIB 200%, отключённые защиты),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и две недоказанные моно-атрибуции (FC611→оператор; зазор→завод).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EF0AF"/>
                </a:solidFill>
                <a:latin typeface="Calibri"/>
              </a:rPr>
              <a:t>С дополнением калибровочным анализом и разнесением атрибуций по наработке вывод КАМСС</a:t>
            </a:r>
          </a:p>
          <a:p>
            <a:pPr algn="l"/>
            <a:r>
              <a:rPr sz="1300" b="1" i="0">
                <a:solidFill>
                  <a:srgbClr val="3EF0AF"/>
                </a:solidFill>
                <a:latin typeface="Calibri"/>
              </a:rPr>
              <a:t>СХОДИТСЯ с RCA песочницы: контаминация инициирует → калибровка усиливает → термоудар клапана.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707880"/>
                </a:solidFill>
                <a:latin typeface="Calibri"/>
              </a:rPr>
              <a:t>АО «Развитие» · отдел надёжности · 2026 · Конфиденциально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93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D6DA"/>
                </a:solidFill>
                <a:latin typeface="Calibri"/>
              </a:rPr>
              <a:t>АО Развитие  •  Аудит отчёта КАМСС № 0359  •  QSK50 · NTE200 · Полюс Магадан  •  Конфиденциально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7453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CFD6DA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