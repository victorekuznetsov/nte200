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drawings/vmlDrawing1.vml" ContentType="application/vnd.openxmlformats-officedocument.vmlDrawing"/>
  <Override PartName="/ppt/drawings/vmlDrawing10.vml" ContentType="application/vnd.openxmlformats-officedocument.vmlDrawing"/>
  <Override PartName="/ppt/drawings/vmlDrawing11.vml" ContentType="application/vnd.openxmlformats-officedocument.vmlDrawing"/>
  <Override PartName="/ppt/drawings/vmlDrawing12.vml" ContentType="application/vnd.openxmlformats-officedocument.vmlDrawing"/>
  <Override PartName="/ppt/drawings/vmlDrawing13.vml" ContentType="application/vnd.openxmlformats-officedocument.vmlDrawing"/>
  <Override PartName="/ppt/drawings/vmlDrawing14.vml" ContentType="application/vnd.openxmlformats-officedocument.vmlDrawing"/>
  <Override PartName="/ppt/drawings/vmlDrawing15.vml" ContentType="application/vnd.openxmlformats-officedocument.vmlDrawing"/>
  <Override PartName="/ppt/drawings/vmlDrawing16.vml" ContentType="application/vnd.openxmlformats-officedocument.vmlDrawing"/>
  <Override PartName="/ppt/drawings/vmlDrawing17.vml" ContentType="application/vnd.openxmlformats-officedocument.vmlDrawing"/>
  <Override PartName="/ppt/drawings/vmlDrawing18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drawings/vmlDrawing9.vml" ContentType="application/vnd.openxmlformats-officedocument.vmlDrawing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22.svg" ContentType="image/svg+xml"/>
  <Override PartName="/ppt/media/image4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7"/>
    <p:sldId id="268" r:id="rId6"/>
    <p:sldId id="269" r:id="rId5"/>
    <p:sldId id="270" r:id="rId4"/>
    <p:sldId id="271" r:id="rId3"/>
    <p:sldId id="272" r:id="rId2"/>
  </p:sldIdLst>
  <p:sldSz cx="12192000" cy="6858000"/>
  <p:notesSz cx="6858000" cy="9144000"/>
  <p:custDataLst>
    <p:tags r:id="rId20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BDDA"/>
    <a:srgbClr val="7E83FA"/>
    <a:srgbClr val="3EF0AF"/>
    <a:srgbClr val="293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06" d="100"/>
          <a:sy n="106" d="100"/>
        </p:scale>
        <p:origin x="118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7.xml"/><Relationship Id="rId3" Type="http://schemas.openxmlformats.org/officeDocument/2006/relationships/slide" Target="slides/slide16.xml"/><Relationship Id="rId4" Type="http://schemas.openxmlformats.org/officeDocument/2006/relationships/slide" Target="slides/slide15.xml"/><Relationship Id="rId5" Type="http://schemas.openxmlformats.org/officeDocument/2006/relationships/slide" Target="slides/slide14.xml"/><Relationship Id="rId6" Type="http://schemas.openxmlformats.org/officeDocument/2006/relationships/slide" Target="slides/slide13.xml"/><Relationship Id="rId7" Type="http://schemas.openxmlformats.org/officeDocument/2006/relationships/slide" Target="slides/slide12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notesMaster" Target="notesMasters/notesMaster1.xml"/><Relationship Id="rId20" Type="http://schemas.openxmlformats.org/officeDocument/2006/relationships/tags" Target="tags/tag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Инциденты</c:v>
                </c:pt>
              </c:strCache>
            </c:strRef>
          </c:tx>
          <c:spPr>
            <a:solidFill>
              <a:srgbClr val="3B82F6"/>
            </a:solidFill>
          </c:spPr>
          <c:cat>
            <c:strRef>
              <c:f>Sheet1!$A$2:$A$3</c:f>
              <c:strCache>
                <c:ptCount val="2"/>
                <c:pt idx="0">
                  <c:v>ПК (Красноярский)</c:v>
                </c:pt>
                <c:pt idx="1">
                  <c:v>ПСЛ (Иркутский)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167</c:v>
                </c:pt>
                <c:pt idx="1">
                  <c:v>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Простой, ч (×10)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Sheet1!$A$2:$A$3</c:f>
              <c:strCache>
                <c:ptCount val="2"/>
                <c:pt idx="0">
                  <c:v>ПК (Красноярский)</c:v>
                </c:pt>
                <c:pt idx="1">
                  <c:v>ПСЛ (Иркутский)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349</c:v>
                </c:pt>
                <c:pt idx="1">
                  <c:v>267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ПК</c:v>
                </c:pt>
              </c:strCache>
            </c:strRef>
          </c:tx>
          <c:spPr>
            <a:ln w="31750">
              <a:solidFill>
                <a:srgbClr val="EF4444"/>
              </a:solidFill>
            </a:ln>
          </c:spPr>
          <c:cat>
            <c:strRef>
              <c:f>Sheet1!$A$2:$A$9</c:f>
              <c:strCache>
                <c:ptCount val="8"/>
                <c:pt idx="0">
                  <c:v>Апр</c:v>
                </c:pt>
                <c:pt idx="1">
                  <c:v>Май</c:v>
                </c:pt>
                <c:pt idx="2">
                  <c:v>Июн</c:v>
                </c:pt>
                <c:pt idx="3">
                  <c:v>Июл</c:v>
                </c:pt>
                <c:pt idx="4">
                  <c:v>Авг</c:v>
                </c:pt>
                <c:pt idx="5">
                  <c:v>Сен</c:v>
                </c:pt>
                <c:pt idx="6">
                  <c:v>Окт</c:v>
                </c:pt>
                <c:pt idx="7">
                  <c:v>Ноя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0.91</c:v>
                </c:pt>
                <c:pt idx="1">
                  <c:v>0.93</c:v>
                </c:pt>
                <c:pt idx="2">
                  <c:v>0.92</c:v>
                </c:pt>
                <c:pt idx="3">
                  <c:v>0.9</c:v>
                </c:pt>
                <c:pt idx="4">
                  <c:v>0.89</c:v>
                </c:pt>
                <c:pt idx="5">
                  <c:v>0.92</c:v>
                </c:pt>
                <c:pt idx="6">
                  <c:v>0.93</c:v>
                </c:pt>
                <c:pt idx="7">
                  <c:v>0.92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ПСЛ</c:v>
                </c:pt>
              </c:strCache>
            </c:strRef>
          </c:tx>
          <c:spPr>
            <a:ln w="31750">
              <a:solidFill>
                <a:srgbClr val="3B82F6"/>
              </a:solidFill>
            </a:ln>
          </c:spPr>
          <c:cat>
            <c:strRef>
              <c:f>Sheet1!$A$2:$A$9</c:f>
              <c:strCache>
                <c:ptCount val="8"/>
                <c:pt idx="0">
                  <c:v>Апр</c:v>
                </c:pt>
                <c:pt idx="1">
                  <c:v>Май</c:v>
                </c:pt>
                <c:pt idx="2">
                  <c:v>Июн</c:v>
                </c:pt>
                <c:pt idx="3">
                  <c:v>Июл</c:v>
                </c:pt>
                <c:pt idx="4">
                  <c:v>Авг</c:v>
                </c:pt>
                <c:pt idx="5">
                  <c:v>Сен</c:v>
                </c:pt>
                <c:pt idx="6">
                  <c:v>Окт</c:v>
                </c:pt>
                <c:pt idx="7">
                  <c:v>Ноя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0.88</c:v>
                </c:pt>
                <c:pt idx="1">
                  <c:v>0.9</c:v>
                </c:pt>
                <c:pt idx="2">
                  <c:v>0.85</c:v>
                </c:pt>
                <c:pt idx="3">
                  <c:v>0.91</c:v>
                </c:pt>
                <c:pt idx="4">
                  <c:v>0.93</c:v>
                </c:pt>
                <c:pt idx="5">
                  <c:v>0.94</c:v>
                </c:pt>
                <c:pt idx="6">
                  <c:v>0.92</c:v>
                </c:pt>
                <c:pt idx="7">
                  <c:v>0.93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8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Простой, ч</c:v>
                </c:pt>
              </c:strCache>
            </c:strRef>
          </c:tx>
          <c:dPt>
            <c:idx val="0"/>
            <c:spPr>
              <a:solidFill>
                <a:srgbClr val="EF4444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3B82F6"/>
              </a:solidFill>
            </c:spPr>
          </c:dPt>
          <c:dPt>
            <c:idx val="5"/>
            <c:spPr>
              <a:solidFill>
                <a:srgbClr val="3B82F6"/>
              </a:solidFill>
            </c:spPr>
          </c:dPt>
          <c:dPt>
            <c:idx val="6"/>
            <c:spPr>
              <a:solidFill>
                <a:srgbClr val="3B82F6"/>
              </a:solidFill>
            </c:spPr>
          </c:dPt>
          <c:dPt>
            <c:idx val="7"/>
            <c:spPr>
              <a:solidFill>
                <a:srgbClr val="34D399"/>
              </a:solidFill>
            </c:spPr>
          </c:dPt>
          <c:dPt>
            <c:idx val="8"/>
            <c:spPr>
              <a:solidFill>
                <a:srgbClr val="34D399"/>
              </a:solidFill>
            </c:spPr>
          </c:dPt>
          <c:dPt>
            <c:idx val="9"/>
            <c:spPr>
              <a:solidFill>
                <a:srgbClr val="34D399"/>
              </a:solidFill>
            </c:spPr>
          </c:dPt>
          <c:cat>
            <c:strRef>
              <c:f>Sheet1!$A$2:$A$11</c:f>
              <c:strCache>
                <c:ptCount val="10"/>
                <c:pt idx="0">
                  <c:v>Электро-
оборуд.</c:v>
                </c:pt>
                <c:pt idx="1">
                  <c:v>ДВС</c:v>
                </c:pt>
                <c:pt idx="2">
                  <c:v>Металло-
конструкция</c:v>
                </c:pt>
                <c:pt idx="3">
                  <c:v>Кузов</c:v>
                </c:pt>
                <c:pt idx="4">
                  <c:v>Тормозная
система</c:v>
                </c:pt>
                <c:pt idx="5">
                  <c:v>Подвеска</c:v>
                </c:pt>
                <c:pt idx="6">
                  <c:v>Колесо</c:v>
                </c:pt>
                <c:pt idx="7">
                  <c:v>Динам.
тормоз</c:v>
                </c:pt>
                <c:pt idx="8">
                  <c:v>Сист. пожаро-
туш.</c:v>
                </c:pt>
                <c:pt idx="9">
                  <c:v>АЦСС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3213</c:v>
                </c:pt>
                <c:pt idx="1">
                  <c:v>920</c:v>
                </c:pt>
                <c:pt idx="2">
                  <c:v>578</c:v>
                </c:pt>
                <c:pt idx="3">
                  <c:v>349</c:v>
                </c:pt>
                <c:pt idx="4">
                  <c:v>232</c:v>
                </c:pt>
                <c:pt idx="5">
                  <c:v>222</c:v>
                </c:pt>
                <c:pt idx="6">
                  <c:v>189</c:v>
                </c:pt>
                <c:pt idx="7">
                  <c:v>159</c:v>
                </c:pt>
                <c:pt idx="8">
                  <c:v>93</c:v>
                </c:pt>
                <c:pt idx="9">
                  <c:v>38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B09B7-6E16-42E9-860B-AFC172AC95B4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D6C38-6262-47DC-8176-B884F3859E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909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8.png"/><Relationship Id="rId9" Type="http://schemas.openxmlformats.org/officeDocument/2006/relationships/image" Target="../media/image9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1.jpg"/><Relationship Id="rId5" Type="http://schemas.openxmlformats.org/officeDocument/2006/relationships/oleObject" Target="../embeddings/oleObject6.bin"/><Relationship Id="rId6" Type="http://schemas.openxmlformats.org/officeDocument/2006/relationships/image" Target="../media/image1.emf"/><Relationship Id="rId7" Type="http://schemas.openxmlformats.org/officeDocument/2006/relationships/image" Target="../media/image12.png"/><Relationship Id="rId8" Type="http://schemas.openxmlformats.org/officeDocument/2006/relationships/image" Target="../media/image3.png"/><Relationship Id="rId9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3.jpeg"/><Relationship Id="rId5" Type="http://schemas.openxmlformats.org/officeDocument/2006/relationships/oleObject" Target="../embeddings/oleObject7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5.jpeg"/><Relationship Id="rId5" Type="http://schemas.openxmlformats.org/officeDocument/2006/relationships/oleObject" Target="../embeddings/oleObject8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9.v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6.jpeg"/><Relationship Id="rId5" Type="http://schemas.openxmlformats.org/officeDocument/2006/relationships/oleObject" Target="../embeddings/oleObject9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0.v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7.jpeg"/><Relationship Id="rId5" Type="http://schemas.openxmlformats.org/officeDocument/2006/relationships/oleObject" Target="../embeddings/oleObject10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1.vml"/><Relationship Id="rId2" Type="http://schemas.openxmlformats.org/officeDocument/2006/relationships/tags" Target="../tags/tag12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8.png"/><Relationship Id="rId5" Type="http://schemas.openxmlformats.org/officeDocument/2006/relationships/oleObject" Target="../embeddings/oleObject11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2.v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9.png"/><Relationship Id="rId5" Type="http://schemas.openxmlformats.org/officeDocument/2006/relationships/oleObject" Target="../embeddings/oleObject12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3.vml"/><Relationship Id="rId2" Type="http://schemas.openxmlformats.org/officeDocument/2006/relationships/tags" Target="../tags/tag14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20.png"/><Relationship Id="rId5" Type="http://schemas.openxmlformats.org/officeDocument/2006/relationships/oleObject" Target="../embeddings/oleObject13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4.v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4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5.vml"/><Relationship Id="rId2" Type="http://schemas.openxmlformats.org/officeDocument/2006/relationships/tags" Target="../tags/tag1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6.v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1.emf"/><Relationship Id="rId6" Type="http://schemas.openxmlformats.org/officeDocument/2006/relationships/image" Target="../media/image2.png"/><Relationship Id="rId7" Type="http://schemas.openxmlformats.org/officeDocument/2006/relationships/image" Target="../media/image21.png"/><Relationship Id="rId8" Type="http://schemas.openxmlformats.org/officeDocument/2006/relationships/image" Target="../media/image22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7.vml"/><Relationship Id="rId2" Type="http://schemas.openxmlformats.org/officeDocument/2006/relationships/tags" Target="../tags/tag1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7.bin"/><Relationship Id="rId5" Type="http://schemas.openxmlformats.org/officeDocument/2006/relationships/image" Target="../media/image1.emf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3.png"/><Relationship Id="rId9" Type="http://schemas.openxmlformats.org/officeDocument/2006/relationships/image" Target="../media/image4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8.v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3.png"/><Relationship Id="rId9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25A6CE9-2642-486D-A166-47D8B312C14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65918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17E1EA8-D672-451F-841B-75E852C3E79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3608777-01C9-42F3-B597-72716079C7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8DA627-6455-420D-AE3A-0B69F748D93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6" name="Текст 3">
            <a:extLst>
              <a:ext uri="{FF2B5EF4-FFF2-40B4-BE49-F238E27FC236}">
                <a16:creationId xmlns:a16="http://schemas.microsoft.com/office/drawing/2014/main" id="{DCCE8E5C-3BE7-495F-80A8-8717D99DF1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4148947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2 (зеленый фон)">
    <p:bg>
      <p:bgPr>
        <a:solidFill>
          <a:srgbClr val="3EF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8CF0ACF-A2EA-454A-B17F-84ECC23B3B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226035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8CF0ACF-A2EA-454A-B17F-84ECC23B3B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72DCBFE-BB85-C645-74EF-CA3318C479D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0E66AE3-27F3-7AFB-18F8-52F53CB8E8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73150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ru-RU" sz="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lnSpc>
                <a:spcPct val="80000"/>
              </a:lnSpc>
            </a:pPr>
            <a:r>
              <a:rPr lang="ru-RU" dirty="0"/>
              <a:t>Название презентации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CB750C-4279-9189-A6DF-4E72FECDF3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700" y="5753100"/>
            <a:ext cx="10731500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10B002-1184-5A11-4026-D5240358FE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700" y="430315"/>
            <a:ext cx="2464270" cy="102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6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0745FA4-B560-40AE-98EE-4E5317FF65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614485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745FA4-B560-40AE-98EE-4E5317FF65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0107753-9097-232B-7A76-A2A6407D0F6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86201" y="0"/>
            <a:ext cx="5248798" cy="7082716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5D360B4-4895-4A17-B046-9B85D2D9C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2B0ACCEB-A904-45A3-BBD5-6CB8D19DAF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2832331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4 (Зеленый фон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DB6F5B8-2533-42E6-A268-1BE2F64C62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398436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B6F5B8-2533-42E6-A268-1BE2F64C62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F84386E-836C-12E8-6C0E-94854F3FBD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alphaModFix amt="70000"/>
          </a:blip>
          <a:srcRect t="12128" b="11026"/>
          <a:stretch/>
        </p:blipFill>
        <p:spPr>
          <a:xfrm>
            <a:off x="4016837" y="-1"/>
            <a:ext cx="6611179" cy="685800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10B002-1184-5A11-4026-D5240358FE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700" y="430315"/>
            <a:ext cx="2464270" cy="1024163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E5E1E30-FADD-4E58-80FA-7554C20E0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73150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ru-RU" sz="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lnSpc>
                <a:spcPct val="80000"/>
              </a:lnSpc>
            </a:pPr>
            <a:r>
              <a:rPr lang="ru-RU" dirty="0"/>
              <a:t>Название презентации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FD6CAC8F-7CD1-46F9-9402-CB2EEDDBBE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700" y="5753100"/>
            <a:ext cx="10731500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4189305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5 (Фотофон)"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DC9A468-9338-4DAF-9034-FC5B4032A6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324630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C9A468-9338-4DAF-9034-FC5B4032A6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472B05-73D8-DF94-126F-CD3C16C5208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0DFF97D0-0CE9-4D7C-BE16-3A9E42ED6B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525B2515-CDCC-4650-B2A3-1F62ABF93A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4101361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655699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E0002C3-78CA-4088-AE48-E3BCFDB75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451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050819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314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520806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10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382391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22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243240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32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644215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7FE4038-8DFA-490A-8270-5657C882B6C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8996011-2F7F-4B41-AE0C-E64B8B978E0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15C69CA-B169-46E3-B38E-4098D3FB16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AB26F02E-71AB-44F2-B895-03D5F92D3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11FCF6EB-E008-4D91-9A37-BAFFFE389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66F7B37-8F2D-4D1A-B287-D72D344953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814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48179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7FE4038-8DFA-490A-8270-5657C882B6C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8996011-2F7F-4B41-AE0C-E64B8B978E0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15C69CA-B169-46E3-B38E-4098D3FB16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AB26F02E-71AB-44F2-B895-03D5F92D3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11FCF6EB-E008-4D91-9A37-BAFFFE389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66F7B37-8F2D-4D1A-B287-D72D344953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274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Внутренний слайд №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6A53C67-CA11-427F-B20E-716016198E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798945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6A53C67-CA11-427F-B20E-716016198E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36D747-6178-C275-57DD-47BC7A800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-10269"/>
            <a:ext cx="11522075" cy="544168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14B413-8558-4E93-B00C-1EB3C7E53C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963" y="1003091"/>
            <a:ext cx="11522074" cy="563844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 dirty="0"/>
              <a:t>Текст или вставка объекта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6FCF7C93-3BC0-A608-C384-13DA9076AD4F}"/>
              </a:ext>
            </a:extLst>
          </p:cNvPr>
          <p:cNvCxnSpPr/>
          <p:nvPr userDrawn="1"/>
        </p:nvCxnSpPr>
        <p:spPr>
          <a:xfrm>
            <a:off x="540350" y="928251"/>
            <a:ext cx="11111300" cy="0"/>
          </a:xfrm>
          <a:prstGeom prst="line">
            <a:avLst/>
          </a:prstGeom>
          <a:ln w="2540">
            <a:solidFill>
              <a:srgbClr val="2931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2D963E44-E4F5-4B60-AEB8-9FB14D2D26E2}"/>
              </a:ext>
            </a:extLst>
          </p:cNvPr>
          <p:cNvGrpSpPr/>
          <p:nvPr userDrawn="1"/>
        </p:nvGrpSpPr>
        <p:grpSpPr>
          <a:xfrm>
            <a:off x="11056093" y="6687315"/>
            <a:ext cx="123877" cy="123877"/>
            <a:chOff x="8664606" y="6121154"/>
            <a:chExt cx="736846" cy="736846"/>
          </a:xfrm>
        </p:grpSpPr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758C6BCD-6966-41FE-BAEE-34266B0E9747}"/>
                </a:ext>
              </a:extLst>
            </p:cNvPr>
            <p:cNvSpPr/>
            <p:nvPr/>
          </p:nvSpPr>
          <p:spPr>
            <a:xfrm>
              <a:off x="8664606" y="6121154"/>
              <a:ext cx="736846" cy="736846"/>
            </a:xfrm>
            <a:prstGeom prst="ellipse">
              <a:avLst/>
            </a:prstGeom>
            <a:solidFill>
              <a:srgbClr val="3CF2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60C6F9B3-2727-4376-ADE1-3792E4BB3E9C}"/>
                </a:ext>
              </a:extLst>
            </p:cNvPr>
            <p:cNvSpPr/>
            <p:nvPr/>
          </p:nvSpPr>
          <p:spPr>
            <a:xfrm>
              <a:off x="8775922" y="6277783"/>
              <a:ext cx="514214" cy="423589"/>
            </a:xfrm>
            <a:custGeom>
              <a:avLst/>
              <a:gdLst>
                <a:gd name="connsiteX0" fmla="*/ 1746250 w 4201160"/>
                <a:gd name="connsiteY0" fmla="*/ 6351 h 3460751"/>
                <a:gd name="connsiteX1" fmla="*/ 2156460 w 4201160"/>
                <a:gd name="connsiteY1" fmla="*/ 6351 h 3460751"/>
                <a:gd name="connsiteX2" fmla="*/ 2550160 w 4201160"/>
                <a:gd name="connsiteY2" fmla="*/ 876301 h 3460751"/>
                <a:gd name="connsiteX3" fmla="*/ 1210310 w 4201160"/>
                <a:gd name="connsiteY3" fmla="*/ 3460751 h 3460751"/>
                <a:gd name="connsiteX4" fmla="*/ 0 w 4201160"/>
                <a:gd name="connsiteY4" fmla="*/ 3454401 h 3460751"/>
                <a:gd name="connsiteX5" fmla="*/ 3820160 w 4201160"/>
                <a:gd name="connsiteY5" fmla="*/ 0 h 3460751"/>
                <a:gd name="connsiteX6" fmla="*/ 4201160 w 4201160"/>
                <a:gd name="connsiteY6" fmla="*/ 874059 h 3460751"/>
                <a:gd name="connsiteX7" fmla="*/ 3496310 w 4201160"/>
                <a:gd name="connsiteY7" fmla="*/ 2235199 h 3460751"/>
                <a:gd name="connsiteX8" fmla="*/ 2343150 w 4201160"/>
                <a:gd name="connsiteY8" fmla="*/ 2250141 h 3460751"/>
                <a:gd name="connsiteX9" fmla="*/ 3039110 w 4201160"/>
                <a:gd name="connsiteY9" fmla="*/ 863601 h 3460751"/>
                <a:gd name="connsiteX10" fmla="*/ 2654300 w 4201160"/>
                <a:gd name="connsiteY10" fmla="*/ 6350 h 3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01160" h="3460751">
                  <a:moveTo>
                    <a:pt x="1746250" y="6351"/>
                  </a:moveTo>
                  <a:lnTo>
                    <a:pt x="2156460" y="6351"/>
                  </a:lnTo>
                  <a:lnTo>
                    <a:pt x="2550160" y="876301"/>
                  </a:lnTo>
                  <a:lnTo>
                    <a:pt x="1210310" y="3460751"/>
                  </a:lnTo>
                  <a:lnTo>
                    <a:pt x="0" y="3454401"/>
                  </a:lnTo>
                  <a:close/>
                  <a:moveTo>
                    <a:pt x="3820160" y="0"/>
                  </a:moveTo>
                  <a:lnTo>
                    <a:pt x="4201160" y="874059"/>
                  </a:lnTo>
                  <a:lnTo>
                    <a:pt x="3496310" y="2235199"/>
                  </a:lnTo>
                  <a:lnTo>
                    <a:pt x="2343150" y="2250141"/>
                  </a:lnTo>
                  <a:lnTo>
                    <a:pt x="3039110" y="863601"/>
                  </a:lnTo>
                  <a:lnTo>
                    <a:pt x="2654300" y="6350"/>
                  </a:lnTo>
                  <a:close/>
                </a:path>
              </a:pathLst>
            </a:custGeom>
            <a:solidFill>
              <a:srgbClr val="00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71256E4-C037-4053-818A-D3CB6EF321B0}"/>
              </a:ext>
            </a:extLst>
          </p:cNvPr>
          <p:cNvSpPr txBox="1"/>
          <p:nvPr userDrawn="1"/>
        </p:nvSpPr>
        <p:spPr>
          <a:xfrm>
            <a:off x="11118032" y="6641531"/>
            <a:ext cx="810443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800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РАЗВИТИЕ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A8D426-65F3-4089-A286-D05F2517B3FC}"/>
              </a:ext>
            </a:extLst>
          </p:cNvPr>
          <p:cNvSpPr txBox="1">
            <a:spLocks/>
          </p:cNvSpPr>
          <p:nvPr userDrawn="1"/>
        </p:nvSpPr>
        <p:spPr>
          <a:xfrm>
            <a:off x="11512697" y="6566691"/>
            <a:ext cx="6793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F8B3EF-6FCB-5342-834B-72C623FC3BE6}" type="slidenum">
              <a:rPr lang="en-RU" sz="800" smtClean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‹#›</a:t>
            </a:fld>
            <a:endParaRPr lang="en-RU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428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595">
          <p15:clr>
            <a:srgbClr val="FBAE40"/>
          </p15:clr>
        </p15:guide>
        <p15:guide id="6" orient="horz" pos="417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 №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8C6DD5B-9D91-4B05-8AC1-7AEB464BB4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28195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8C6DD5B-9D91-4B05-8AC1-7AEB464BB4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Объект 2">
            <a:extLst>
              <a:ext uri="{FF2B5EF4-FFF2-40B4-BE49-F238E27FC236}">
                <a16:creationId xmlns:a16="http://schemas.microsoft.com/office/drawing/2014/main" id="{F10816A5-441D-93F6-A1FA-0C88FB85D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2" y="533898"/>
            <a:ext cx="11522075" cy="606184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A9F03720-40A5-447A-9090-5D7139CE5719}"/>
              </a:ext>
            </a:extLst>
          </p:cNvPr>
          <p:cNvGrpSpPr/>
          <p:nvPr userDrawn="1"/>
        </p:nvGrpSpPr>
        <p:grpSpPr>
          <a:xfrm>
            <a:off x="11056093" y="6687315"/>
            <a:ext cx="123877" cy="123877"/>
            <a:chOff x="8664606" y="6121154"/>
            <a:chExt cx="736846" cy="736846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754FE2E1-F87E-4986-AAD3-B01F61C72B41}"/>
                </a:ext>
              </a:extLst>
            </p:cNvPr>
            <p:cNvSpPr/>
            <p:nvPr/>
          </p:nvSpPr>
          <p:spPr>
            <a:xfrm>
              <a:off x="8664606" y="6121154"/>
              <a:ext cx="736846" cy="736846"/>
            </a:xfrm>
            <a:prstGeom prst="ellipse">
              <a:avLst/>
            </a:prstGeom>
            <a:solidFill>
              <a:srgbClr val="3CF2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4C1B39BE-8EA7-40DD-8745-4C9FC549025D}"/>
                </a:ext>
              </a:extLst>
            </p:cNvPr>
            <p:cNvSpPr/>
            <p:nvPr/>
          </p:nvSpPr>
          <p:spPr>
            <a:xfrm>
              <a:off x="8775922" y="6277783"/>
              <a:ext cx="514214" cy="423589"/>
            </a:xfrm>
            <a:custGeom>
              <a:avLst/>
              <a:gdLst>
                <a:gd name="connsiteX0" fmla="*/ 1746250 w 4201160"/>
                <a:gd name="connsiteY0" fmla="*/ 6351 h 3460751"/>
                <a:gd name="connsiteX1" fmla="*/ 2156460 w 4201160"/>
                <a:gd name="connsiteY1" fmla="*/ 6351 h 3460751"/>
                <a:gd name="connsiteX2" fmla="*/ 2550160 w 4201160"/>
                <a:gd name="connsiteY2" fmla="*/ 876301 h 3460751"/>
                <a:gd name="connsiteX3" fmla="*/ 1210310 w 4201160"/>
                <a:gd name="connsiteY3" fmla="*/ 3460751 h 3460751"/>
                <a:gd name="connsiteX4" fmla="*/ 0 w 4201160"/>
                <a:gd name="connsiteY4" fmla="*/ 3454401 h 3460751"/>
                <a:gd name="connsiteX5" fmla="*/ 3820160 w 4201160"/>
                <a:gd name="connsiteY5" fmla="*/ 0 h 3460751"/>
                <a:gd name="connsiteX6" fmla="*/ 4201160 w 4201160"/>
                <a:gd name="connsiteY6" fmla="*/ 874059 h 3460751"/>
                <a:gd name="connsiteX7" fmla="*/ 3496310 w 4201160"/>
                <a:gd name="connsiteY7" fmla="*/ 2235199 h 3460751"/>
                <a:gd name="connsiteX8" fmla="*/ 2343150 w 4201160"/>
                <a:gd name="connsiteY8" fmla="*/ 2250141 h 3460751"/>
                <a:gd name="connsiteX9" fmla="*/ 3039110 w 4201160"/>
                <a:gd name="connsiteY9" fmla="*/ 863601 h 3460751"/>
                <a:gd name="connsiteX10" fmla="*/ 2654300 w 4201160"/>
                <a:gd name="connsiteY10" fmla="*/ 6350 h 3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01160" h="3460751">
                  <a:moveTo>
                    <a:pt x="1746250" y="6351"/>
                  </a:moveTo>
                  <a:lnTo>
                    <a:pt x="2156460" y="6351"/>
                  </a:lnTo>
                  <a:lnTo>
                    <a:pt x="2550160" y="876301"/>
                  </a:lnTo>
                  <a:lnTo>
                    <a:pt x="1210310" y="3460751"/>
                  </a:lnTo>
                  <a:lnTo>
                    <a:pt x="0" y="3454401"/>
                  </a:lnTo>
                  <a:close/>
                  <a:moveTo>
                    <a:pt x="3820160" y="0"/>
                  </a:moveTo>
                  <a:lnTo>
                    <a:pt x="4201160" y="874059"/>
                  </a:lnTo>
                  <a:lnTo>
                    <a:pt x="3496310" y="2235199"/>
                  </a:lnTo>
                  <a:lnTo>
                    <a:pt x="2343150" y="2250141"/>
                  </a:lnTo>
                  <a:lnTo>
                    <a:pt x="3039110" y="863601"/>
                  </a:lnTo>
                  <a:lnTo>
                    <a:pt x="2654300" y="6350"/>
                  </a:lnTo>
                  <a:close/>
                </a:path>
              </a:pathLst>
            </a:custGeom>
            <a:solidFill>
              <a:srgbClr val="00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BB6117C-7CF8-4E67-9FCF-9051F4CF8AAD}"/>
              </a:ext>
            </a:extLst>
          </p:cNvPr>
          <p:cNvSpPr txBox="1"/>
          <p:nvPr userDrawn="1"/>
        </p:nvSpPr>
        <p:spPr>
          <a:xfrm>
            <a:off x="11118032" y="6641531"/>
            <a:ext cx="810443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800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РАЗВИТИЕ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ED43A8-C0BF-4053-98E4-977C6AD7D55D}"/>
              </a:ext>
            </a:extLst>
          </p:cNvPr>
          <p:cNvSpPr txBox="1">
            <a:spLocks/>
          </p:cNvSpPr>
          <p:nvPr userDrawn="1"/>
        </p:nvSpPr>
        <p:spPr>
          <a:xfrm>
            <a:off x="11512697" y="6566691"/>
            <a:ext cx="6793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F8B3EF-6FCB-5342-834B-72C623FC3BE6}" type="slidenum">
              <a:rPr lang="en-RU" sz="800" smtClean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‹#›</a:t>
            </a:fld>
            <a:endParaRPr lang="en-RU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45D370C2-EE74-4E02-BECD-714A3B994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-10269"/>
            <a:ext cx="11522075" cy="544168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810096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азделитель"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8E577BB-A2F4-4685-95FC-C6378065F1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590920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E577BB-A2F4-4685-95FC-C6378065F1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5F7FA1-2F5D-03ED-F04A-E9F6B60D8FF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22ADBB-BC54-5D04-A3BB-76BE67567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90375" y="3917092"/>
            <a:ext cx="3816178" cy="2940908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r">
              <a:defRPr sz="20000">
                <a:solidFill>
                  <a:srgbClr val="B3BDDA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01.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CE2A75F-C987-C85D-2664-9EC11F26D9A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4113" y="5778097"/>
            <a:ext cx="595699" cy="595699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EAD114CF-9245-35E9-4C0F-A1DAA61E28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4113" y="617538"/>
            <a:ext cx="10832439" cy="67644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70000"/>
              </a:lnSpc>
              <a:buNone/>
              <a:defRPr sz="36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8391D41E-AFF0-6BB7-1DA7-89FB467F73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4113" y="1377828"/>
            <a:ext cx="5521887" cy="3078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5pPr>
          </a:lstStyle>
          <a:p>
            <a:pPr lvl="0"/>
            <a:r>
              <a:rPr lang="ru-RU" dirty="0"/>
              <a:t>Описание раздела (при наличии), например, его содержание или подпись </a:t>
            </a:r>
          </a:p>
        </p:txBody>
      </p:sp>
    </p:spTree>
    <p:extLst>
      <p:ext uri="{BB962C8B-B14F-4D97-AF65-F5344CB8AC3E}">
        <p14:creationId xmlns:p14="http://schemas.microsoft.com/office/powerpoint/2010/main" val="1930616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6146577-AE95-4234-A829-50A15A7608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837348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6146577-AE95-4234-A829-50A15A7608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C4F3716-7ABD-CFBE-8B4B-32F823FC3C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59" b="11559"/>
          <a:stretch/>
        </p:blipFill>
        <p:spPr>
          <a:xfrm>
            <a:off x="4036715" y="-1"/>
            <a:ext cx="6610447" cy="6858001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82A42826-FC98-95C6-EF85-491190F24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074289"/>
            <a:ext cx="6291805" cy="2272372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marL="0" indent="0" algn="l">
              <a:lnSpc>
                <a:spcPct val="80000"/>
              </a:lnSpc>
              <a:buNone/>
              <a:defRPr sz="6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 </a:t>
            </a:r>
          </a:p>
          <a:p>
            <a:pPr lvl="0"/>
            <a:r>
              <a:rPr lang="ru-RU" dirty="0"/>
              <a:t>за внимание!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E3BD787A-FE5B-9333-1134-452F81E9AB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27312" y="5935761"/>
            <a:ext cx="3707334" cy="359156"/>
          </a:xfrm>
          <a:prstGeom prst="rect">
            <a:avLst/>
          </a:prstGeom>
        </p:spPr>
        <p:txBody>
          <a:bodyPr anchor="b"/>
          <a:lstStyle>
            <a:lvl1pPr algn="r">
              <a:defRPr sz="1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Москва, 2024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8B74350-96C2-5C61-0E3E-43B2BD656D4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545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 (контакты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3F0C41D-57CC-4A04-85ED-2BCB1FCBE3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510517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3F0C41D-57CC-4A04-85ED-2BCB1FCBE3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8B18E58-6FF1-94FE-D60C-7B098B2B20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59" b="11559"/>
          <a:stretch/>
        </p:blipFill>
        <p:spPr>
          <a:xfrm>
            <a:off x="4036715" y="-1"/>
            <a:ext cx="6610447" cy="6858001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82A42826-FC98-95C6-EF85-491190F24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5138" y="4021015"/>
            <a:ext cx="3276600" cy="2272372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marL="0" indent="0" algn="l">
              <a:lnSpc>
                <a:spcPct val="80000"/>
              </a:lnSpc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Блок с контактами 1</a:t>
            </a:r>
          </a:p>
          <a:p>
            <a:pPr lvl="0"/>
            <a:r>
              <a:rPr lang="ru-RU" dirty="0"/>
              <a:t>+7 999 234-56-78</a:t>
            </a:r>
          </a:p>
          <a:p>
            <a:pPr lvl="0"/>
            <a:r>
              <a:rPr lang="ru-RU" dirty="0" err="1"/>
              <a:t>i</a:t>
            </a:r>
            <a:r>
              <a:rPr lang="en-GB" dirty="0" err="1"/>
              <a:t>nfo@mail.ru</a:t>
            </a:r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8B74350-96C2-5C61-0E3E-43B2BD656D4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E59C88-1BF8-B356-19C5-AF2F39CEB86C}"/>
              </a:ext>
            </a:extLst>
          </p:cNvPr>
          <p:cNvSpPr txBox="1"/>
          <p:nvPr userDrawn="1"/>
        </p:nvSpPr>
        <p:spPr>
          <a:xfrm>
            <a:off x="8774703" y="5962692"/>
            <a:ext cx="2648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en-GB" sz="1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WWW.RAZVITIYE.RU</a:t>
            </a:r>
            <a:endParaRPr lang="ru-RU" sz="18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Текст 9">
            <a:extLst>
              <a:ext uri="{FF2B5EF4-FFF2-40B4-BE49-F238E27FC236}">
                <a16:creationId xmlns:a16="http://schemas.microsoft.com/office/drawing/2014/main" id="{62328D92-94C2-7A57-5B44-EE7105BB60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36349" y="4022545"/>
            <a:ext cx="3276600" cy="2272372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marL="0" indent="0" algn="l">
              <a:lnSpc>
                <a:spcPct val="80000"/>
              </a:lnSpc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Блок с контактами </a:t>
            </a:r>
            <a:r>
              <a:rPr lang="en-GB" dirty="0"/>
              <a:t>2 </a:t>
            </a:r>
          </a:p>
          <a:p>
            <a:pPr lvl="0"/>
            <a:r>
              <a:rPr lang="ru-RU" dirty="0"/>
              <a:t>+7 999 234-56-78</a:t>
            </a:r>
          </a:p>
          <a:p>
            <a:pPr lvl="0"/>
            <a:r>
              <a:rPr lang="ru-RU" dirty="0" err="1"/>
              <a:t>i</a:t>
            </a:r>
            <a:r>
              <a:rPr lang="en-GB" dirty="0" err="1"/>
              <a:t>nfo@mail.ru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2043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vmlDrawing" Target="../drawings/vmlDrawing1.vml"/><Relationship Id="rId20" Type="http://schemas.openxmlformats.org/officeDocument/2006/relationships/tags" Target="../tags/tag2.xml"/><Relationship Id="rId21" Type="http://schemas.openxmlformats.org/officeDocument/2006/relationships/oleObject" Target="../embeddings/oleObject1.bin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BE4D52E-C9E9-427F-A401-79B11E674D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30670209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Слайд think-cell" r:id="rId21" imgW="359" imgH="360" progId="TCLayout.ActiveDocument.1">
                  <p:embed/>
                </p:oleObj>
              </mc:Choice>
              <mc:Fallback>
                <p:oleObj name="Слайд think-cell" r:id="rId21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D787A43-ACEA-4E8D-96C1-D23CF3BE4AE6}"/>
              </a:ext>
            </a:extLst>
          </p:cNvPr>
          <p:cNvSpPr/>
          <p:nvPr userDrawn="1"/>
        </p:nvSpPr>
        <p:spPr>
          <a:xfrm>
            <a:off x="-1343690" y="3164208"/>
            <a:ext cx="1201480" cy="540000"/>
          </a:xfrm>
          <a:prstGeom prst="rect">
            <a:avLst/>
          </a:prstGeom>
          <a:solidFill>
            <a:srgbClr val="214C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#214C3B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3C59518-5F6C-47B6-85A3-FE4CF327001C}"/>
              </a:ext>
            </a:extLst>
          </p:cNvPr>
          <p:cNvSpPr/>
          <p:nvPr userDrawn="1"/>
        </p:nvSpPr>
        <p:spPr>
          <a:xfrm>
            <a:off x="-1343690" y="2533450"/>
            <a:ext cx="1201480" cy="5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#F5F5F5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A011856-2F03-4B82-BE5A-B2E9CE894347}"/>
              </a:ext>
            </a:extLst>
          </p:cNvPr>
          <p:cNvSpPr/>
          <p:nvPr userDrawn="1"/>
        </p:nvSpPr>
        <p:spPr>
          <a:xfrm>
            <a:off x="-1343690" y="10418"/>
            <a:ext cx="1201480" cy="540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#3EF0AF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029B896-79A5-4B6C-AFEA-0B783B15C6D7}"/>
              </a:ext>
            </a:extLst>
          </p:cNvPr>
          <p:cNvSpPr/>
          <p:nvPr userDrawn="1"/>
        </p:nvSpPr>
        <p:spPr>
          <a:xfrm>
            <a:off x="-1343690" y="1271934"/>
            <a:ext cx="1201480" cy="540000"/>
          </a:xfrm>
          <a:prstGeom prst="rect">
            <a:avLst/>
          </a:prstGeom>
          <a:solidFill>
            <a:srgbClr val="2A31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#2A3138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16FA57B-58CF-432C-B479-8C2B3503E772}"/>
              </a:ext>
            </a:extLst>
          </p:cNvPr>
          <p:cNvSpPr/>
          <p:nvPr userDrawn="1"/>
        </p:nvSpPr>
        <p:spPr>
          <a:xfrm>
            <a:off x="-1343690" y="4425724"/>
            <a:ext cx="1201480" cy="540000"/>
          </a:xfrm>
          <a:prstGeom prst="rect">
            <a:avLst/>
          </a:prstGeom>
          <a:solidFill>
            <a:srgbClr val="7E83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#7E83FA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AE792A6-FD87-44EA-873B-8E40FAC5C9ED}"/>
              </a:ext>
            </a:extLst>
          </p:cNvPr>
          <p:cNvSpPr/>
          <p:nvPr userDrawn="1"/>
        </p:nvSpPr>
        <p:spPr>
          <a:xfrm>
            <a:off x="-1343690" y="5687240"/>
            <a:ext cx="1201480" cy="540000"/>
          </a:xfrm>
          <a:prstGeom prst="rect">
            <a:avLst/>
          </a:prstGeom>
          <a:solidFill>
            <a:srgbClr val="83DC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#83DCDF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70CFC79-495C-46DA-A7B2-96D497CE5DF5}"/>
              </a:ext>
            </a:extLst>
          </p:cNvPr>
          <p:cNvSpPr/>
          <p:nvPr userDrawn="1"/>
        </p:nvSpPr>
        <p:spPr>
          <a:xfrm>
            <a:off x="-1343690" y="6318000"/>
            <a:ext cx="1201480" cy="540000"/>
          </a:xfrm>
          <a:prstGeom prst="rect">
            <a:avLst/>
          </a:prstGeom>
          <a:solidFill>
            <a:srgbClr val="B3BD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#B3BDDC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3C38A6F-5170-4F97-A74A-C522981794CB}"/>
              </a:ext>
            </a:extLst>
          </p:cNvPr>
          <p:cNvSpPr/>
          <p:nvPr userDrawn="1"/>
        </p:nvSpPr>
        <p:spPr>
          <a:xfrm>
            <a:off x="-1343690" y="5056482"/>
            <a:ext cx="1201480" cy="540000"/>
          </a:xfrm>
          <a:prstGeom prst="rect">
            <a:avLst/>
          </a:prstGeom>
          <a:solidFill>
            <a:srgbClr val="5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#53F3F3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48AFC98-3137-4786-8C58-9E67E6465872}"/>
              </a:ext>
            </a:extLst>
          </p:cNvPr>
          <p:cNvSpPr/>
          <p:nvPr userDrawn="1"/>
        </p:nvSpPr>
        <p:spPr>
          <a:xfrm>
            <a:off x="-1343690" y="3794966"/>
            <a:ext cx="1201480" cy="540000"/>
          </a:xfrm>
          <a:prstGeom prst="rect">
            <a:avLst/>
          </a:prstGeom>
          <a:solidFill>
            <a:srgbClr val="B668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#B668E4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A6C4903-18D9-47AD-860F-596D47DC28B5}"/>
              </a:ext>
            </a:extLst>
          </p:cNvPr>
          <p:cNvSpPr/>
          <p:nvPr userDrawn="1"/>
        </p:nvSpPr>
        <p:spPr>
          <a:xfrm>
            <a:off x="-1343690" y="641176"/>
            <a:ext cx="1201480" cy="540000"/>
          </a:xfrm>
          <a:prstGeom prst="rect">
            <a:avLst/>
          </a:prstGeom>
          <a:solidFill>
            <a:srgbClr val="0508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#05080E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1151D00-56B0-4154-9D17-C5E1DD3F3807}"/>
              </a:ext>
            </a:extLst>
          </p:cNvPr>
          <p:cNvSpPr/>
          <p:nvPr userDrawn="1"/>
        </p:nvSpPr>
        <p:spPr>
          <a:xfrm>
            <a:off x="-1343690" y="1902692"/>
            <a:ext cx="1201480" cy="540000"/>
          </a:xfrm>
          <a:prstGeom prst="rect">
            <a:avLst/>
          </a:prstGeom>
          <a:solidFill>
            <a:srgbClr val="8086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#80868B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C1CA98-945C-4501-9BDB-CFBE3B297AA8}"/>
              </a:ext>
            </a:extLst>
          </p:cNvPr>
          <p:cNvSpPr txBox="1"/>
          <p:nvPr userDrawn="1"/>
        </p:nvSpPr>
        <p:spPr>
          <a:xfrm rot="16200000">
            <a:off x="-3213032" y="1559283"/>
            <a:ext cx="34055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Ключевые цвета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024FEE-F3B8-49B4-983F-DC4887C9F12C}"/>
              </a:ext>
            </a:extLst>
          </p:cNvPr>
          <p:cNvSpPr txBox="1"/>
          <p:nvPr userDrawn="1"/>
        </p:nvSpPr>
        <p:spPr>
          <a:xfrm rot="16200000">
            <a:off x="-3213033" y="5001359"/>
            <a:ext cx="3405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Вспомогательные цвета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FA4E508-6528-478F-8E07-FC454F171EE2}"/>
              </a:ext>
            </a:extLst>
          </p:cNvPr>
          <p:cNvSpPr/>
          <p:nvPr userDrawn="1"/>
        </p:nvSpPr>
        <p:spPr>
          <a:xfrm>
            <a:off x="-1664167" y="-38101"/>
            <a:ext cx="1575932" cy="31313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E98BEE3-0784-4A43-A63C-AD8515D468B7}"/>
              </a:ext>
            </a:extLst>
          </p:cNvPr>
          <p:cNvSpPr/>
          <p:nvPr userDrawn="1"/>
        </p:nvSpPr>
        <p:spPr>
          <a:xfrm>
            <a:off x="-1664167" y="3141764"/>
            <a:ext cx="1575932" cy="375433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28A5332-96F7-439A-BC2B-C998714A2F91}"/>
              </a:ext>
            </a:extLst>
          </p:cNvPr>
          <p:cNvSpPr/>
          <p:nvPr userDrawn="1"/>
        </p:nvSpPr>
        <p:spPr>
          <a:xfrm rot="16200000">
            <a:off x="6236893" y="-456789"/>
            <a:ext cx="333373" cy="504000"/>
          </a:xfrm>
          <a:prstGeom prst="rect">
            <a:avLst/>
          </a:prstGeom>
          <a:solidFill>
            <a:srgbClr val="05080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18E93F0-4AC8-4DEC-8E9F-3F74536215CF}"/>
              </a:ext>
            </a:extLst>
          </p:cNvPr>
          <p:cNvSpPr/>
          <p:nvPr userDrawn="1"/>
        </p:nvSpPr>
        <p:spPr>
          <a:xfrm rot="16200000">
            <a:off x="6852051" y="-456789"/>
            <a:ext cx="333373" cy="504000"/>
          </a:xfrm>
          <a:prstGeom prst="rect">
            <a:avLst/>
          </a:prstGeom>
          <a:solidFill>
            <a:srgbClr val="05080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1093867-12CB-4B4F-83D8-E5D767982016}"/>
              </a:ext>
            </a:extLst>
          </p:cNvPr>
          <p:cNvSpPr/>
          <p:nvPr userDrawn="1"/>
        </p:nvSpPr>
        <p:spPr>
          <a:xfrm rot="16200000">
            <a:off x="7467209" y="-456789"/>
            <a:ext cx="333373" cy="504000"/>
          </a:xfrm>
          <a:prstGeom prst="rect">
            <a:avLst/>
          </a:prstGeom>
          <a:solidFill>
            <a:srgbClr val="05080E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8AE2343-019C-4192-9D2B-A43117BBF96C}"/>
              </a:ext>
            </a:extLst>
          </p:cNvPr>
          <p:cNvSpPr/>
          <p:nvPr userDrawn="1"/>
        </p:nvSpPr>
        <p:spPr>
          <a:xfrm rot="16200000">
            <a:off x="8082367" y="-456789"/>
            <a:ext cx="333373" cy="504000"/>
          </a:xfrm>
          <a:prstGeom prst="rect">
            <a:avLst/>
          </a:prstGeom>
          <a:solidFill>
            <a:srgbClr val="05080E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3192A3F-1803-422F-8609-643FB76C4B70}"/>
              </a:ext>
            </a:extLst>
          </p:cNvPr>
          <p:cNvSpPr/>
          <p:nvPr userDrawn="1"/>
        </p:nvSpPr>
        <p:spPr>
          <a:xfrm rot="16200000">
            <a:off x="8697525" y="-456789"/>
            <a:ext cx="333373" cy="504000"/>
          </a:xfrm>
          <a:prstGeom prst="rect">
            <a:avLst/>
          </a:prstGeom>
          <a:solidFill>
            <a:srgbClr val="05080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F97BDA31-60D9-4792-96AE-BFC4C140D285}"/>
              </a:ext>
            </a:extLst>
          </p:cNvPr>
          <p:cNvSpPr/>
          <p:nvPr userDrawn="1"/>
        </p:nvSpPr>
        <p:spPr>
          <a:xfrm rot="16200000">
            <a:off x="9312683" y="-456789"/>
            <a:ext cx="333373" cy="504000"/>
          </a:xfrm>
          <a:prstGeom prst="rect">
            <a:avLst/>
          </a:prstGeom>
          <a:solidFill>
            <a:srgbClr val="05080E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5FBBFFE-4FDF-478E-B0BB-BA7E899C78C7}"/>
              </a:ext>
            </a:extLst>
          </p:cNvPr>
          <p:cNvSpPr/>
          <p:nvPr userDrawn="1"/>
        </p:nvSpPr>
        <p:spPr>
          <a:xfrm rot="16200000">
            <a:off x="9927841" y="-456789"/>
            <a:ext cx="333373" cy="504000"/>
          </a:xfrm>
          <a:prstGeom prst="rect">
            <a:avLst/>
          </a:prstGeom>
          <a:solidFill>
            <a:srgbClr val="05080E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9E071C1-2CB4-4D5A-8CC6-C75B1CD72525}"/>
              </a:ext>
            </a:extLst>
          </p:cNvPr>
          <p:cNvSpPr/>
          <p:nvPr userDrawn="1"/>
        </p:nvSpPr>
        <p:spPr>
          <a:xfrm rot="16200000">
            <a:off x="10542999" y="-456789"/>
            <a:ext cx="333373" cy="504000"/>
          </a:xfrm>
          <a:prstGeom prst="rect">
            <a:avLst/>
          </a:prstGeom>
          <a:solidFill>
            <a:srgbClr val="05080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0C1DA9D7-2BFF-4882-BFB4-19DB95ED9B0C}"/>
              </a:ext>
            </a:extLst>
          </p:cNvPr>
          <p:cNvSpPr/>
          <p:nvPr userDrawn="1"/>
        </p:nvSpPr>
        <p:spPr>
          <a:xfrm rot="16200000">
            <a:off x="11158157" y="-456789"/>
            <a:ext cx="333373" cy="504000"/>
          </a:xfrm>
          <a:prstGeom prst="rect">
            <a:avLst/>
          </a:prstGeom>
          <a:solidFill>
            <a:srgbClr val="05080E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529A71B2-7155-4700-B9AD-63391A6CAE48}"/>
              </a:ext>
            </a:extLst>
          </p:cNvPr>
          <p:cNvSpPr/>
          <p:nvPr userDrawn="1"/>
        </p:nvSpPr>
        <p:spPr>
          <a:xfrm rot="16200000">
            <a:off x="11773313" y="-456789"/>
            <a:ext cx="333373" cy="504000"/>
          </a:xfrm>
          <a:prstGeom prst="rect">
            <a:avLst/>
          </a:prstGeom>
          <a:solidFill>
            <a:srgbClr val="0508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C96C393-737B-41F0-B346-B2ABC0D83F42}"/>
              </a:ext>
            </a:extLst>
          </p:cNvPr>
          <p:cNvSpPr/>
          <p:nvPr userDrawn="1"/>
        </p:nvSpPr>
        <p:spPr>
          <a:xfrm rot="5400000">
            <a:off x="5621735" y="-456789"/>
            <a:ext cx="333373" cy="504000"/>
          </a:xfrm>
          <a:prstGeom prst="rect">
            <a:avLst/>
          </a:prstGeom>
          <a:solidFill>
            <a:srgbClr val="3EF0A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6B1318B0-BB02-4019-89A3-75095BB01F00}"/>
              </a:ext>
            </a:extLst>
          </p:cNvPr>
          <p:cNvSpPr/>
          <p:nvPr userDrawn="1"/>
        </p:nvSpPr>
        <p:spPr>
          <a:xfrm rot="5400000">
            <a:off x="5006577" y="-456789"/>
            <a:ext cx="333373" cy="504000"/>
          </a:xfrm>
          <a:prstGeom prst="rect">
            <a:avLst/>
          </a:prstGeom>
          <a:solidFill>
            <a:srgbClr val="3EF0A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5B9935E-3645-48CE-9881-73D6E9E6CDC8}"/>
              </a:ext>
            </a:extLst>
          </p:cNvPr>
          <p:cNvSpPr/>
          <p:nvPr userDrawn="1"/>
        </p:nvSpPr>
        <p:spPr>
          <a:xfrm rot="5400000">
            <a:off x="4391419" y="-456789"/>
            <a:ext cx="333373" cy="504000"/>
          </a:xfrm>
          <a:prstGeom prst="rect">
            <a:avLst/>
          </a:prstGeom>
          <a:solidFill>
            <a:srgbClr val="3EF0A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DD01A44-DC87-4D56-95E1-ADB7A247626C}"/>
              </a:ext>
            </a:extLst>
          </p:cNvPr>
          <p:cNvSpPr/>
          <p:nvPr userDrawn="1"/>
        </p:nvSpPr>
        <p:spPr>
          <a:xfrm rot="5400000">
            <a:off x="3776261" y="-456789"/>
            <a:ext cx="333373" cy="504000"/>
          </a:xfrm>
          <a:prstGeom prst="rect">
            <a:avLst/>
          </a:prstGeom>
          <a:solidFill>
            <a:srgbClr val="3EF0A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90F351D3-5190-4645-A3BF-A0B8585A7446}"/>
              </a:ext>
            </a:extLst>
          </p:cNvPr>
          <p:cNvSpPr/>
          <p:nvPr userDrawn="1"/>
        </p:nvSpPr>
        <p:spPr>
          <a:xfrm rot="5400000">
            <a:off x="3161103" y="-456789"/>
            <a:ext cx="333373" cy="504000"/>
          </a:xfrm>
          <a:prstGeom prst="rect">
            <a:avLst/>
          </a:prstGeom>
          <a:solidFill>
            <a:srgbClr val="3EF0A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5E038461-4DFC-4935-A9E2-E2E4E40DD2F8}"/>
              </a:ext>
            </a:extLst>
          </p:cNvPr>
          <p:cNvSpPr/>
          <p:nvPr userDrawn="1"/>
        </p:nvSpPr>
        <p:spPr>
          <a:xfrm rot="5400000">
            <a:off x="2545945" y="-456789"/>
            <a:ext cx="333373" cy="504000"/>
          </a:xfrm>
          <a:prstGeom prst="rect">
            <a:avLst/>
          </a:prstGeom>
          <a:solidFill>
            <a:srgbClr val="3EF0A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2EE85FFB-78B7-43A2-87AC-8664BFCBF67C}"/>
              </a:ext>
            </a:extLst>
          </p:cNvPr>
          <p:cNvSpPr/>
          <p:nvPr userDrawn="1"/>
        </p:nvSpPr>
        <p:spPr>
          <a:xfrm rot="5400000">
            <a:off x="1930787" y="-456789"/>
            <a:ext cx="333373" cy="504000"/>
          </a:xfrm>
          <a:prstGeom prst="rect">
            <a:avLst/>
          </a:prstGeom>
          <a:solidFill>
            <a:srgbClr val="3EF0A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FA6C2CB7-43F9-4A90-B615-C0CBB5342376}"/>
              </a:ext>
            </a:extLst>
          </p:cNvPr>
          <p:cNvSpPr/>
          <p:nvPr userDrawn="1"/>
        </p:nvSpPr>
        <p:spPr>
          <a:xfrm rot="5400000">
            <a:off x="1315629" y="-456789"/>
            <a:ext cx="333373" cy="504000"/>
          </a:xfrm>
          <a:prstGeom prst="rect">
            <a:avLst/>
          </a:prstGeom>
          <a:solidFill>
            <a:srgbClr val="3EF0A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47655E81-F847-4C11-8031-44AE7D4F3294}"/>
              </a:ext>
            </a:extLst>
          </p:cNvPr>
          <p:cNvSpPr/>
          <p:nvPr userDrawn="1"/>
        </p:nvSpPr>
        <p:spPr>
          <a:xfrm rot="5400000">
            <a:off x="700471" y="-456789"/>
            <a:ext cx="333373" cy="504000"/>
          </a:xfrm>
          <a:prstGeom prst="rect">
            <a:avLst/>
          </a:prstGeom>
          <a:solidFill>
            <a:srgbClr val="3EF0A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145AECB8-3745-42ED-A62B-5BC08BC58197}"/>
              </a:ext>
            </a:extLst>
          </p:cNvPr>
          <p:cNvSpPr/>
          <p:nvPr userDrawn="1"/>
        </p:nvSpPr>
        <p:spPr>
          <a:xfrm rot="5400000">
            <a:off x="85313" y="-456789"/>
            <a:ext cx="333373" cy="504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756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76200" rIns="76200" tIns="50800" bIns="50800" anchor="ctr"/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АНАЛИЗ КТГ</a:t>
            </a:r>
          </a:p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ПАРКА БЕЛАЗ-7513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 lIns="76200" rIns="76200" tIns="50800" bIns="50800" anchor="t"/>
          <a:lstStyle/>
          <a:p>
            <a:pPr algn="l"/>
            <a:r>
              <a:rPr sz="1200" b="0">
                <a:solidFill>
                  <a:srgbClr val="34D399"/>
                </a:solidFill>
                <a:latin typeface="Calibri"/>
              </a:rPr>
              <a:t>Карьерные самосвалы грузоподъёмностью 130-136 т</a:t>
            </a:r>
          </a:p>
          <a:p>
            <a:pPr algn="l"/>
            <a:r>
              <a:rPr sz="1200" b="0">
                <a:solidFill>
                  <a:srgbClr val="34D399"/>
                </a:solidFill>
                <a:latin typeface="Calibri"/>
              </a:rPr>
              <a:t>24 ед. техники • 240 инцидентов • 2024–2026 гг.</a:t>
            </a:r>
          </a:p>
          <a:p>
            <a:pPr algn="l"/>
            <a:r>
              <a:rPr sz="1200" b="0">
                <a:solidFill>
                  <a:srgbClr val="34D399"/>
                </a:solidFill>
                <a:latin typeface="Calibri"/>
              </a:rPr>
              <a:t>Отчёт для технических служб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76200" rIns="76200" tIns="50800" bIns="50800" anchor="ctr"/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01</a:t>
            </a:r>
          </a:p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Обзор парка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 lIns="76200" rIns="76200" tIns="50800" bIns="50800" anchor="t"/>
          <a:lstStyle/>
          <a:p>
            <a:pPr algn="l"/>
            <a:r>
              <a:rPr sz="1300" b="0">
                <a:solidFill>
                  <a:srgbClr val="34D399"/>
                </a:solidFill>
                <a:latin typeface="Calibri"/>
              </a:rPr>
              <a:t>Состав, бизнес-единицы, профиль отказов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lIns="76200" rIns="76200" tIns="50800" bIns="50800" anchor="ctr"/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Управленческое резюме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0972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Ключевые показатели парка БЕЛАЗ-7513 за период наблюдения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2697480" cy="1417320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73152" cy="14173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242316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3200" b="1" i="0">
                <a:solidFill>
                  <a:srgbClr val="34D399"/>
                </a:solidFill>
                <a:latin typeface="Calibri"/>
              </a:rPr>
              <a:t>240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42316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инцидентов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зафиксировано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27832" y="1280160"/>
            <a:ext cx="2697480" cy="1417320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27832" y="1280160"/>
            <a:ext cx="7315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1371600"/>
            <a:ext cx="242316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3200" b="1" i="0">
                <a:solidFill>
                  <a:srgbClr val="F59E0B"/>
                </a:solidFill>
                <a:latin typeface="Calibri"/>
              </a:rPr>
              <a:t>6 162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2057400"/>
            <a:ext cx="242316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часов общий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простой парка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44184" y="1280160"/>
            <a:ext cx="2697480" cy="1417320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44184" y="1280160"/>
            <a:ext cx="73152" cy="1417320"/>
          </a:xfrm>
          <a:prstGeom prst="rect">
            <a:avLst/>
          </a:prstGeom>
          <a:solidFill>
            <a:srgbClr val="3A4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371600"/>
            <a:ext cx="242316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3200" b="1" i="0">
                <a:solidFill>
                  <a:srgbClr val="3A4452"/>
                </a:solidFill>
                <a:latin typeface="Calibri"/>
              </a:rPr>
              <a:t>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2057400"/>
            <a:ext cx="242316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единицы техники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с отказами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0536" y="1280160"/>
            <a:ext cx="2697480" cy="1417320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0536" y="1280160"/>
            <a:ext cx="7315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3416" y="1371600"/>
            <a:ext cx="242316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3200" b="1" i="0">
                <a:solidFill>
                  <a:srgbClr val="10B981"/>
                </a:solidFill>
                <a:latin typeface="Calibri"/>
              </a:rPr>
              <a:t>25,7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6" y="2057400"/>
            <a:ext cx="242316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часа средний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простой / отказ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2926080"/>
            <a:ext cx="6949440" cy="3520440"/>
          </a:xfrm>
          <a:prstGeom prst="roundRect">
            <a:avLst>
              <a:gd name="adj" fmla="val 10000"/>
            </a:avLst>
          </a:prstGeom>
          <a:solidFill>
            <a:srgbClr val="2D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108960"/>
            <a:ext cx="6400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КЛЮЧЕВЫЕ ВЫВОДЫ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566160"/>
            <a:ext cx="6400800" cy="2743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 Электрооборудование — критический узел: 52,1% всех простоев (3 213 ч на 90 инцидентов). Доминируют отказы датчиков ЭБУ, резисторов динамического тормоза и силовых генераторов.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 Парк работает в плановом режиме (КТГ ≈ 0,92), но имеет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высокую частоту мелких электрических отказов — это съедает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производительность и снижает доверие операторов к технике.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 Систематический обрыв болтов крепления палубы — 15 инцидентов на новой технике указывает на монтажный дефект или некорректный момент затяжки при сборке.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 6 длительных инцидентов &gt;200 ч формируют 54% downtime — катастрофические отказы генераторов и ЭБУ.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 Топ-3 единицы (№1655, №1659, №1658) — 2 253 ч простоя или 37% всех потерь. Все три — машины первой партии поставки.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2926080"/>
            <a:ext cx="4206240" cy="3520440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3108960"/>
            <a:ext cx="37490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ТОП-5 УЗЛОВ ПО ПОТЕРЯМ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566160"/>
            <a:ext cx="374904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Электрооборудование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3840480"/>
            <a:ext cx="3749040" cy="16459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0" y="3840480"/>
            <a:ext cx="3441618" cy="1645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566160"/>
            <a:ext cx="178308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3 213 ч (52.1%)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133088"/>
            <a:ext cx="374904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ДВС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4407408"/>
            <a:ext cx="3749040" cy="16459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0" y="4407408"/>
            <a:ext cx="985461" cy="1645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8360" y="4133088"/>
            <a:ext cx="178308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920 ч (14.9%)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700016"/>
            <a:ext cx="374904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Металлоконструкция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4974336"/>
            <a:ext cx="3749040" cy="16459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4974336"/>
            <a:ext cx="619127" cy="1645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4700016"/>
            <a:ext cx="178308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578 ч (9.4%)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5266944"/>
            <a:ext cx="374904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Кузов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5541264"/>
            <a:ext cx="3749040" cy="16459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0" y="5541264"/>
            <a:ext cx="373832" cy="1645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266944"/>
            <a:ext cx="178308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349 ч (5.7%)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5833872"/>
            <a:ext cx="374904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Тормозная система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6108192"/>
            <a:ext cx="3749040" cy="16459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0" y="6108192"/>
            <a:ext cx="248507" cy="1645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38360" y="5833872"/>
            <a:ext cx="178308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232 ч (3.8%)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lIns="76200" rIns="76200" tIns="50800" bIns="50800" anchor="ctr"/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Состав парка БЕЛАЗ-7513: модели и территории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0972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Распределение единиц по модификациям и бизнес-единицам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98448"/>
            <a:ext cx="11430000" cy="640080"/>
          </a:xfrm>
          <a:prstGeom prst="roundRect">
            <a:avLst>
              <a:gd name="adj" fmla="val 10000"/>
            </a:avLst>
          </a:prstGeom>
          <a:solidFill>
            <a:srgbClr val="2D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554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Calibri"/>
              </a:rPr>
              <a:t>БЕЛАЗ-7513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371600"/>
            <a:ext cx="210312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1 модель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371600"/>
            <a:ext cx="1554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371600"/>
            <a:ext cx="210312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ед. техники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371600"/>
            <a:ext cx="1554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240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371600"/>
            <a:ext cx="210312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инцидентов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1371600"/>
            <a:ext cx="1554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6 162 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371600"/>
            <a:ext cx="210312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простой суммарно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1371600"/>
            <a:ext cx="1554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256 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1371600"/>
            <a:ext cx="210312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простой в среднем</a:t>
            </a:r>
          </a:p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на единицу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148840"/>
            <a:ext cx="5486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Распределение по бизнес-единицам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468880"/>
            <a:ext cx="557784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468880"/>
            <a:ext cx="5577840" cy="4114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468880"/>
            <a:ext cx="13716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ПК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2468880"/>
            <a:ext cx="4160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Красноярский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971800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10 ед.  •  167 инц.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24612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 i="0">
                <a:solidFill>
                  <a:srgbClr val="EF4444"/>
                </a:solidFill>
                <a:latin typeface="Calibri"/>
              </a:rPr>
              <a:t>3 493 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246120"/>
            <a:ext cx="246888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70% инцидентов; концентрация электрических отказов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2468880"/>
            <a:ext cx="557784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2468880"/>
            <a:ext cx="5577840" cy="4114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2468880"/>
            <a:ext cx="13716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ПСЛ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468880"/>
            <a:ext cx="4160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Иркутский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971800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8 ед.  •  73 инц.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24612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 i="0">
                <a:solidFill>
                  <a:srgbClr val="3B82F6"/>
                </a:solidFill>
                <a:latin typeface="Calibri"/>
              </a:rPr>
              <a:t>2 669 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246120"/>
            <a:ext cx="246888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Длительные простои катастрофич. характера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526280"/>
            <a:ext cx="10972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Сравнение БЕ: инциденты vs часы простоя</a:t>
            </a:r>
          </a:p>
        </p:txBody>
      </p:sp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411480" y="4846320"/>
          <a:ext cx="713232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4" name="Rounded Rectangle 33"/>
          <p:cNvSpPr/>
          <p:nvPr/>
        </p:nvSpPr>
        <p:spPr>
          <a:xfrm>
            <a:off x="7726679" y="4846320"/>
            <a:ext cx="4114800" cy="1828800"/>
          </a:xfrm>
          <a:prstGeom prst="roundRect">
            <a:avLst>
              <a:gd name="adj" fmla="val 10000"/>
            </a:avLst>
          </a:prstGeom>
          <a:solidFill>
            <a:srgbClr val="2D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493776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alibri"/>
              </a:rPr>
              <a:t>ВЫВОД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5303520"/>
            <a:ext cx="3703320" cy="12801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ПК даёт 70% инцидентов, но 57% часов простоя — мелкие частые отказы.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ПСЛ — фокус на катастрофические поломки: меньше инцидентов, больше длительность одного.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lIns="76200" rIns="76200" tIns="50800" bIns="50800" anchor="ctr"/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Динамика КТГ парка БЕЛАЗ-7513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0972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Помесячное изменение коэффициента технической готовности по бизнес-единицам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325880"/>
          <a:ext cx="7772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66760" y="1325880"/>
            <a:ext cx="3474720" cy="5029200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463040"/>
            <a:ext cx="31089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СТАТУС ПАРКА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828800"/>
            <a:ext cx="3108960" cy="109728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874519"/>
            <a:ext cx="2834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СРЕДНЕЕ КТГ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194560"/>
            <a:ext cx="283464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0,919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063240"/>
            <a:ext cx="3200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ОЦЕНКА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383280"/>
            <a:ext cx="3200400" cy="3017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1">
                <a:solidFill>
                  <a:srgbClr val="1F2937"/>
                </a:solidFill>
                <a:latin typeface="Calibri"/>
              </a:rPr>
              <a:t>Парк работает в плановом режиме —</a:t>
            </a:r>
          </a:p>
          <a:p>
            <a:pPr algn="l"/>
            <a:r>
              <a:rPr sz="900" b="0" i="1">
                <a:solidFill>
                  <a:srgbClr val="1F2937"/>
                </a:solidFill>
                <a:latin typeface="Calibri"/>
              </a:rPr>
              <a:t>КТГ выше целевого 0,90.</a:t>
            </a:r>
          </a:p>
          <a:p>
            <a:pPr algn="l"/>
            <a:r>
              <a:rPr sz="900" b="0" i="1">
                <a:solidFill>
                  <a:srgbClr val="1F2937"/>
                </a:solidFill>
                <a:latin typeface="Calibri"/>
              </a:rPr>
              <a:t/>
            </a:r>
          </a:p>
          <a:p>
            <a:pPr algn="l"/>
            <a:r>
              <a:rPr sz="900" b="0" i="1">
                <a:solidFill>
                  <a:srgbClr val="1F2937"/>
                </a:solidFill>
                <a:latin typeface="Calibri"/>
              </a:rPr>
              <a:t>Однако частота мелких электрических</a:t>
            </a:r>
          </a:p>
          <a:p>
            <a:pPr algn="l"/>
            <a:r>
              <a:rPr sz="900" b="0" i="1">
                <a:solidFill>
                  <a:srgbClr val="1F2937"/>
                </a:solidFill>
                <a:latin typeface="Calibri"/>
              </a:rPr>
              <a:t>отказов остаётся высокой.</a:t>
            </a:r>
          </a:p>
          <a:p>
            <a:pPr algn="l"/>
            <a:r>
              <a:rPr sz="900" b="0" i="1">
                <a:solidFill>
                  <a:srgbClr val="1F2937"/>
                </a:solidFill>
                <a:latin typeface="Calibri"/>
              </a:rPr>
              <a:t/>
            </a:r>
          </a:p>
          <a:p>
            <a:pPr algn="l"/>
            <a:r>
              <a:rPr sz="900" b="0" i="1">
                <a:solidFill>
                  <a:srgbClr val="1F2937"/>
                </a:solidFill>
                <a:latin typeface="Calibri"/>
              </a:rPr>
              <a:t>Просадка КТГ в июне ПСЛ связана</a:t>
            </a:r>
          </a:p>
          <a:p>
            <a:pPr algn="l"/>
            <a:r>
              <a:rPr sz="900" b="0" i="1">
                <a:solidFill>
                  <a:srgbClr val="1F2937"/>
                </a:solidFill>
                <a:latin typeface="Calibri"/>
              </a:rPr>
              <a:t>с длительным простоем №1655 (1017 ч)</a:t>
            </a:r>
          </a:p>
          <a:p>
            <a:pPr algn="l"/>
            <a:r>
              <a:rPr sz="900" b="0" i="1">
                <a:solidFill>
                  <a:srgbClr val="1F2937"/>
                </a:solidFill>
                <a:latin typeface="Calibri"/>
              </a:rPr>
              <a:t>из-за неисправности ЭБУ.</a:t>
            </a:r>
          </a:p>
          <a:p>
            <a:pPr algn="l"/>
            <a:r>
              <a:rPr sz="900" b="0" i="1">
                <a:solidFill>
                  <a:srgbClr val="1F2937"/>
                </a:solidFill>
                <a:latin typeface="Calibri"/>
              </a:rPr>
              <a:t/>
            </a:r>
          </a:p>
          <a:p>
            <a:pPr algn="l"/>
            <a:r>
              <a:rPr sz="900" b="0" i="1">
                <a:solidFill>
                  <a:srgbClr val="1F2937"/>
                </a:solidFill>
                <a:latin typeface="Calibri"/>
              </a:rPr>
              <a:t>Необходимо стабилизировать</a:t>
            </a:r>
          </a:p>
          <a:p>
            <a:pPr algn="l"/>
            <a:r>
              <a:rPr sz="900" b="0" i="1">
                <a:solidFill>
                  <a:srgbClr val="1F2937"/>
                </a:solidFill>
                <a:latin typeface="Calibri"/>
              </a:rPr>
              <a:t>электрическую часть для</a:t>
            </a:r>
          </a:p>
          <a:p>
            <a:pPr algn="l"/>
            <a:r>
              <a:rPr sz="900" b="0" i="1">
                <a:solidFill>
                  <a:srgbClr val="1F2937"/>
                </a:solidFill>
                <a:latin typeface="Calibri"/>
              </a:rPr>
              <a:t>предотвращения откатов.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76200" rIns="76200" tIns="50800" bIns="50800" anchor="ctr"/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02</a:t>
            </a:r>
          </a:p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Анализ отказов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 lIns="76200" rIns="76200" tIns="50800" bIns="50800" anchor="t"/>
          <a:lstStyle/>
          <a:p>
            <a:pPr algn="l"/>
            <a:r>
              <a:rPr sz="1300" b="0">
                <a:solidFill>
                  <a:srgbClr val="34D399"/>
                </a:solidFill>
                <a:latin typeface="Calibri"/>
              </a:rPr>
              <a:t>Структура простоев и детализация по узлам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lIns="76200" rIns="76200" tIns="50800" bIns="50800" anchor="ctr"/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Парето по узлам: топ-10 источников простоев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0972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Электрооборудование доминирует — 52% всех потерь времени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325880"/>
          <a:ext cx="7955279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95360" y="1325880"/>
            <a:ext cx="3246120" cy="5029200"/>
          </a:xfrm>
          <a:prstGeom prst="roundRect">
            <a:avLst>
              <a:gd name="adj" fmla="val 10000"/>
            </a:avLst>
          </a:prstGeom>
          <a:solidFill>
            <a:srgbClr val="2D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417320"/>
            <a:ext cx="28803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alibri"/>
              </a:rPr>
              <a:t>ПРОФИЛЬ ОТКАЗОВ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1828800"/>
            <a:ext cx="164592" cy="12801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1828800"/>
            <a:ext cx="26060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Электрооборудование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121408"/>
            <a:ext cx="260604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  <a:latin typeface="Calibri"/>
              </a:rPr>
              <a:t>52% простоев. Датчики ЭБУ, резисторы динам. тормоза, генераторы — слабое место.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3291840"/>
            <a:ext cx="164592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3291840"/>
            <a:ext cx="26060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Зона внимания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584448"/>
            <a:ext cx="260604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  <a:latin typeface="Calibri"/>
              </a:rPr>
              <a:t>30% — ДВС, металлоконструкция, кузов. Износ и монтажные дефекты.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4754880"/>
            <a:ext cx="164592" cy="12801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4754880"/>
            <a:ext cx="26060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Контролируемые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5047488"/>
            <a:ext cx="260604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  <a:latin typeface="Calibri"/>
              </a:rPr>
              <a:t>18% — мелкие узлы. Управляются регулярным ТО.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lIns="76200" rIns="76200" tIns="50800" bIns="50800" anchor="ctr"/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Деталь: электрооборудование — главный источник потерь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0972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52,1% всего простоя парка БЕЛАЗ-7513 • 90 инцидентов • 3 213 ч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2697480" cy="1280160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73152" cy="12801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242316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3200" b="1" i="0">
                <a:solidFill>
                  <a:srgbClr val="34D399"/>
                </a:solidFill>
                <a:latin typeface="Calibri"/>
              </a:rPr>
              <a:t>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42316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инцидентов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27832" y="1280160"/>
            <a:ext cx="2697480" cy="1280160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27832" y="1280160"/>
            <a:ext cx="73152" cy="12801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1371600"/>
            <a:ext cx="242316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3200" b="1" i="0">
                <a:solidFill>
                  <a:srgbClr val="EF4444"/>
                </a:solidFill>
                <a:latin typeface="Calibri"/>
              </a:rPr>
              <a:t>3 213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2057400"/>
            <a:ext cx="242316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часов простоя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44184" y="1280160"/>
            <a:ext cx="2697480" cy="1280160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44184" y="1280160"/>
            <a:ext cx="73152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371600"/>
            <a:ext cx="242316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3200" b="1" i="0">
                <a:solidFill>
                  <a:srgbClr val="F59E0B"/>
                </a:solidFill>
                <a:latin typeface="Calibri"/>
              </a:rPr>
              <a:t>35,7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2057400"/>
            <a:ext cx="242316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ч в среднем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на инцидент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0536" y="1280160"/>
            <a:ext cx="2697480" cy="1280160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0536" y="1280160"/>
            <a:ext cx="73152" cy="1280160"/>
          </a:xfrm>
          <a:prstGeom prst="rect">
            <a:avLst/>
          </a:prstGeom>
          <a:solidFill>
            <a:srgbClr val="3A4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3416" y="1371600"/>
            <a:ext cx="242316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3200" b="1" i="0">
                <a:solidFill>
                  <a:srgbClr val="3A4452"/>
                </a:solidFill>
                <a:latin typeface="Calibri"/>
              </a:rPr>
              <a:t>52,1%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6" y="2057400"/>
            <a:ext cx="242316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доля в общем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доунтайме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269748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Структура отказов электросистем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017520"/>
            <a:ext cx="6126480" cy="384048"/>
          </a:xfrm>
          <a:prstGeom prst="rect">
            <a:avLst/>
          </a:prstGeom>
          <a:solidFill>
            <a:srgbClr val="2D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017520"/>
            <a:ext cx="310896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Узел / элемент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017520"/>
            <a:ext cx="91440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Кол-во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017520"/>
            <a:ext cx="128016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Простой, 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3017520"/>
            <a:ext cx="82296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Доля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401568"/>
            <a:ext cx="61264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401568"/>
            <a:ext cx="31089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Датчики ЭБУ (давление, температура)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3401568"/>
            <a:ext cx="9144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3401568"/>
            <a:ext cx="12801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1F2937"/>
                </a:solidFill>
                <a:latin typeface="Calibri"/>
              </a:rPr>
              <a:t>985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0" y="3401568"/>
            <a:ext cx="8229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30,7%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712464"/>
            <a:ext cx="6126480" cy="310896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712464"/>
            <a:ext cx="31089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Резисторы динамического тормоза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3712464"/>
            <a:ext cx="9144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3712464"/>
            <a:ext cx="12801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1F2937"/>
                </a:solidFill>
                <a:latin typeface="Calibri"/>
              </a:rPr>
              <a:t>720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3712464"/>
            <a:ext cx="8229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22,4%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4023360"/>
            <a:ext cx="61264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4023360"/>
            <a:ext cx="31089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Силовой генератор (подшипник)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4023360"/>
            <a:ext cx="9144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4023360"/>
            <a:ext cx="12801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1F2937"/>
                </a:solidFill>
                <a:latin typeface="Calibri"/>
              </a:rPr>
              <a:t>618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0" y="4023360"/>
            <a:ext cx="8229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19,2%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334256"/>
            <a:ext cx="6126480" cy="310896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4334256"/>
            <a:ext cx="31089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Модули инвертора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0440" y="4334256"/>
            <a:ext cx="9144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4334256"/>
            <a:ext cx="12801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1F2937"/>
                </a:solidFill>
                <a:latin typeface="Calibri"/>
              </a:rPr>
              <a:t>450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15000" y="4334256"/>
            <a:ext cx="8229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14,0%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4645152"/>
            <a:ext cx="61264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4645152"/>
            <a:ext cx="31089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Электропроводка (контакты, разъёмы)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20440" y="4645152"/>
            <a:ext cx="9144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34840" y="4645152"/>
            <a:ext cx="12801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1F2937"/>
                </a:solidFill>
                <a:latin typeface="Calibri"/>
              </a:rPr>
              <a:t>290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15000" y="4645152"/>
            <a:ext cx="8229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9,0%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4956048"/>
            <a:ext cx="6126480" cy="310896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4956048"/>
            <a:ext cx="31089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Аккумулятор / стартер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20440" y="4956048"/>
            <a:ext cx="9144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34840" y="4956048"/>
            <a:ext cx="12801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1F2937"/>
                </a:solidFill>
                <a:latin typeface="Calibri"/>
              </a:rPr>
              <a:t>95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15000" y="4956048"/>
            <a:ext cx="8229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3,0%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5266944"/>
            <a:ext cx="61264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5266944"/>
            <a:ext cx="31089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Прочие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20440" y="5266944"/>
            <a:ext cx="9144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4840" y="5266944"/>
            <a:ext cx="12801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1F2937"/>
                </a:solidFill>
                <a:latin typeface="Calibri"/>
              </a:rPr>
              <a:t>55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15000" y="5266944"/>
            <a:ext cx="8229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1,7%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58000" y="2697480"/>
            <a:ext cx="4983480" cy="3703320"/>
          </a:xfrm>
          <a:prstGeom prst="roundRect">
            <a:avLst>
              <a:gd name="adj" fmla="val 10000"/>
            </a:avLst>
          </a:prstGeom>
          <a:solidFill>
            <a:srgbClr val="2D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32320" y="2788920"/>
            <a:ext cx="44348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alibri"/>
              </a:rPr>
              <a:t>ТИПОВЫЕ ДЕФЕКТЫ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32320" y="3200400"/>
            <a:ext cx="4434840" cy="3108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 Неисправность датчиков ЭБУ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 → ложные срабатывания, остановка машины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 Перегрев резисторов динамического тормоза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 → недостаточная теплоотдача, пробой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 Разрушение подшипника силового генератора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 → №1659: 828 ч простоя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 Окисление контактных групп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 → влажность, абразив, низкие температуры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 Программные ошибки ЭБУ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 → требуют перепрошивки сервисом производителя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lIns="76200" rIns="76200" tIns="50800" bIns="50800" anchor="ctr"/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Деталь: ДВС и механика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0972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32% простоев — основные системы карьерного самосвала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77840" cy="5120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5577840" cy="457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51206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ДВС  •  920 ч  •  22 инцидента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1" i="0">
                <a:solidFill>
                  <a:srgbClr val="EF4444"/>
                </a:solidFill>
                <a:latin typeface="Calibri"/>
              </a:rPr>
              <a:t>42 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874519"/>
            <a:ext cx="3200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средний простой</a:t>
            </a:r>
          </a:p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на инцидент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Доминирующие причины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5120640" cy="1828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•  Топливная аппаратура — форсунки, ТНВД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•  Засорение топливного фильтра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•  Неисправности системы охлаждения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•  Износ колец, утечки в системе смазки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•  Замена ремней, роликов привода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•  Утечки масла через сальники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Действия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5120640" cy="12801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•  Лабораторный анализ масла на металл-стружку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•  Контроль давления и температуры по ЭБУ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•  Регламентная замена топливных фильтров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280160"/>
            <a:ext cx="5577840" cy="5120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280160"/>
            <a:ext cx="55778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280160"/>
            <a:ext cx="51206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МЕТАЛЛОКОНСТРУКЦИЯ + КУЗОВ  •  927 ч  •  24 инц.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874519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38,6 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874519"/>
            <a:ext cx="3200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средний простой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468880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Доминирующие причины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788920"/>
            <a:ext cx="5120640" cy="1828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•  ОБРЫВ БОЛТОВ КРЕПЛЕНИЯ ПАЛУБЫ — 15 случаев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   (системный монтажный дефект на новой технике)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•  Трещины несущей рамы — концентрация напряжений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•  Деформация платформы кузова при разгрузке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•  Износ грязевых щитков и обвеса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•  Повреждение кабины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754880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Действия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074920"/>
            <a:ext cx="5120640" cy="12801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•  Контроль момента затяжки крепежа палубы (динамометр)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•  Дефектоскопия рамы на каждом ТО-2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•  Обучение операторов корректной разгрузке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76200" rIns="76200" tIns="50800" bIns="50800" anchor="ctr"/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03</a:t>
            </a:r>
          </a:p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Проблемные единицы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 lIns="76200" rIns="76200" tIns="50800" bIns="50800" anchor="t"/>
          <a:lstStyle/>
          <a:p>
            <a:pPr algn="l"/>
            <a:r>
              <a:rPr sz="1300" b="0">
                <a:solidFill>
                  <a:srgbClr val="34D399"/>
                </a:solidFill>
                <a:latin typeface="Calibri"/>
              </a:rPr>
              <a:t>Топ машин по простоям и затяжные инциденты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lIns="76200" rIns="76200" tIns="50800" bIns="50800" anchor="ctr"/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Топ-15 проблемных машин парка БЕЛАЗ-7513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0972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Самосвалы с наибольшими потерями времени за период наблюдения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11430000" cy="384048"/>
          </a:xfrm>
          <a:prstGeom prst="rect">
            <a:avLst/>
          </a:prstGeom>
          <a:solidFill>
            <a:srgbClr val="2D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45720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325880"/>
            <a:ext cx="91440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Гар.№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325880"/>
            <a:ext cx="64008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БЕ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325880"/>
            <a:ext cx="64008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Инц.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325880"/>
            <a:ext cx="118872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Простой, 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325880"/>
            <a:ext cx="758952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Доминирующие узлы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709928"/>
            <a:ext cx="1143000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709928"/>
            <a:ext cx="4572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709928"/>
            <a:ext cx="9144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1655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1709928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ПСЛ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1709928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1709928"/>
            <a:ext cx="11887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F2937"/>
                </a:solidFill>
                <a:latin typeface="Calibri"/>
              </a:rPr>
              <a:t>1 017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1709928"/>
            <a:ext cx="75895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Электрооборудование (датчики ЭБУ)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002536"/>
            <a:ext cx="11430000" cy="29260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002536"/>
            <a:ext cx="4572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002536"/>
            <a:ext cx="9144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1659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2002536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ПСЛ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002536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2002536"/>
            <a:ext cx="11887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F2937"/>
                </a:solidFill>
                <a:latin typeface="Calibri"/>
              </a:rPr>
              <a:t>828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2002536"/>
            <a:ext cx="75895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Электрооборудование (подшипник генератора)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295144"/>
            <a:ext cx="1143000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2295144"/>
            <a:ext cx="4572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2295144"/>
            <a:ext cx="9144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1658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2295144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ПК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2295144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2295144"/>
            <a:ext cx="11887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F2937"/>
                </a:solidFill>
                <a:latin typeface="Calibri"/>
              </a:rPr>
              <a:t>408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2295144"/>
            <a:ext cx="75895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Монтаж (обрыв болтов палубы)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2587752"/>
            <a:ext cx="11430000" cy="29260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2587752"/>
            <a:ext cx="4572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2587752"/>
            <a:ext cx="9144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1660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83080" y="2587752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ПК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2587752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3240" y="2587752"/>
            <a:ext cx="11887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F2937"/>
                </a:solidFill>
                <a:latin typeface="Calibri"/>
              </a:rPr>
              <a:t>385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60" y="2587752"/>
            <a:ext cx="75895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Электрооборуд., тормозная система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2880360"/>
            <a:ext cx="1143000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880360"/>
            <a:ext cx="4572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2880360"/>
            <a:ext cx="9144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1653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83080" y="2880360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ПСЛ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2880360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63240" y="2880360"/>
            <a:ext cx="11887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F2937"/>
                </a:solidFill>
                <a:latin typeface="Calibri"/>
              </a:rPr>
              <a:t>342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51960" y="2880360"/>
            <a:ext cx="75895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Гидрооборуд. (РУ), электрика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172968"/>
            <a:ext cx="11430000" cy="29260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3172968"/>
            <a:ext cx="4572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Calibr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3172968"/>
            <a:ext cx="9144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1654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83080" y="3172968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ПСЛ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23160" y="3172968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63240" y="3172968"/>
            <a:ext cx="11887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F2937"/>
                </a:solidFill>
                <a:latin typeface="Calibri"/>
              </a:rPr>
              <a:t>298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51960" y="3172968"/>
            <a:ext cx="75895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Электрооборудование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3465576"/>
            <a:ext cx="1143000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3465576"/>
            <a:ext cx="4572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Calibri"/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" y="3465576"/>
            <a:ext cx="9144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1661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83080" y="3465576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ПК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23160" y="3465576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16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63240" y="3465576"/>
            <a:ext cx="11887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F2937"/>
                </a:solidFill>
                <a:latin typeface="Calibri"/>
              </a:rPr>
              <a:t>264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51960" y="3465576"/>
            <a:ext cx="75895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Электрооборуд., кузов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" y="3758184"/>
            <a:ext cx="11430000" cy="29260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3758184"/>
            <a:ext cx="4572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Calibri"/>
              </a:rP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" y="3758184"/>
            <a:ext cx="9144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1656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83080" y="3758184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ПСЛ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23160" y="3758184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63240" y="3758184"/>
            <a:ext cx="11887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F2937"/>
                </a:solidFill>
                <a:latin typeface="Calibri"/>
              </a:rPr>
              <a:t>242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51960" y="3758184"/>
            <a:ext cx="75895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ДВС, электрика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4050792"/>
            <a:ext cx="1143000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4050792"/>
            <a:ext cx="4572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" y="4050792"/>
            <a:ext cx="9144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1662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783080" y="4050792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ПК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423160" y="4050792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22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063240" y="4050792"/>
            <a:ext cx="11887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F2937"/>
                </a:solidFill>
                <a:latin typeface="Calibri"/>
              </a:rPr>
              <a:t>218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51960" y="4050792"/>
            <a:ext cx="75895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Электрооборуд. (мелкие частые)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4343400"/>
            <a:ext cx="11430000" cy="29260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4343400"/>
            <a:ext cx="4572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10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8680" y="4343400"/>
            <a:ext cx="9144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1657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783080" y="4343400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ПСЛ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23160" y="4343400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063240" y="4343400"/>
            <a:ext cx="11887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F2937"/>
                </a:solidFill>
                <a:latin typeface="Calibri"/>
              </a:rPr>
              <a:t>195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51960" y="4343400"/>
            <a:ext cx="75895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Металлоконструкция, электрика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1480" y="4636008"/>
            <a:ext cx="1143000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1480" y="4636008"/>
            <a:ext cx="4572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68680" y="4636008"/>
            <a:ext cx="9144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1663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783080" y="4636008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ПК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423160" y="4636008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19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63240" y="4636008"/>
            <a:ext cx="11887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F2937"/>
                </a:solidFill>
                <a:latin typeface="Calibri"/>
              </a:rPr>
              <a:t>187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51960" y="4636008"/>
            <a:ext cx="75895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Электрооборудование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1480" y="4928616"/>
            <a:ext cx="11430000" cy="29260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1480" y="4928616"/>
            <a:ext cx="4572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12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68680" y="4928616"/>
            <a:ext cx="9144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1664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783080" y="4928616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ПК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423160" y="4928616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15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063240" y="4928616"/>
            <a:ext cx="11887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F2937"/>
                </a:solidFill>
                <a:latin typeface="Calibri"/>
              </a:rPr>
              <a:t>162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251960" y="4928616"/>
            <a:ext cx="75895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Электрика, подвеска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11480" y="5221224"/>
            <a:ext cx="1143000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11480" y="5221224"/>
            <a:ext cx="4572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13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68680" y="5221224"/>
            <a:ext cx="9144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1665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783080" y="5221224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ПК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423160" y="5221224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13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063240" y="5221224"/>
            <a:ext cx="11887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F2937"/>
                </a:solidFill>
                <a:latin typeface="Calibri"/>
              </a:rPr>
              <a:t>148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251960" y="5221224"/>
            <a:ext cx="75895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ДВС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11480" y="5513832"/>
            <a:ext cx="11430000" cy="29260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11480" y="5513832"/>
            <a:ext cx="4572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14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8680" y="5513832"/>
            <a:ext cx="9144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1666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783080" y="5513832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ПК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423160" y="5513832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11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063240" y="5513832"/>
            <a:ext cx="11887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F2937"/>
                </a:solidFill>
                <a:latin typeface="Calibri"/>
              </a:rPr>
              <a:t>135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51960" y="5513832"/>
            <a:ext cx="75895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Кузов, электрика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11480" y="5806440"/>
            <a:ext cx="1143000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11480" y="5806440"/>
            <a:ext cx="4572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15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68680" y="5806440"/>
            <a:ext cx="9144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1667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783080" y="5806440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ПК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423160" y="5806440"/>
            <a:ext cx="6400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14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063240" y="5806440"/>
            <a:ext cx="11887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F2937"/>
                </a:solidFill>
                <a:latin typeface="Calibri"/>
              </a:rPr>
              <a:t>128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251960" y="5806440"/>
            <a:ext cx="758952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Электрооборудование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11480" y="5989320"/>
            <a:ext cx="11430000" cy="777240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11480" y="5989320"/>
            <a:ext cx="73152" cy="7772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ВНИМАНИЕ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№1655 (1 017 ч), №1659 (828 ч) и №1658 (408 ч) — три машины первой партии поставки. Совокупно 2 253 ч простоя или 37% всех потерь парка. Отдельная программа диагностики и эскалация по гарантии.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lIns="76200" rIns="76200" tIns="50800" bIns="50800" anchor="ctr"/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Критические инциденты: простои длительностью &gt;200 часов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0972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6 случаев формируют 54% всего downtime парка БЕЛАЗ-7513 (3 306 ч)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3657600" cy="2194560"/>
          </a:xfrm>
          <a:prstGeom prst="roundRect">
            <a:avLst>
              <a:gd name="adj" fmla="val 10000"/>
            </a:avLst>
          </a:prstGeom>
          <a:solidFill>
            <a:srgbClr val="2D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32918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alibri"/>
              </a:rPr>
              <a:t>ДЛИТЕЛЬНЫЕ ПРОСТОИ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32918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32918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инцидентов &gt;200 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alibri"/>
              </a:rPr>
              <a:t>3 306 ч • 54% потерь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657600"/>
            <a:ext cx="3657600" cy="2788920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49039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ПРИРОДА ОТКАЗОВ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14800"/>
            <a:ext cx="210312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Электрооборуд. (ЭБУ)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4151376"/>
            <a:ext cx="914400" cy="16459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4151376"/>
            <a:ext cx="685800" cy="16459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4114800"/>
            <a:ext cx="27432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1" i="0">
                <a:solidFill>
                  <a:srgbClr val="1F2937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17720"/>
            <a:ext cx="210312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Электрооборуд. (генератор)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4654296"/>
            <a:ext cx="914400" cy="16459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4654296"/>
            <a:ext cx="228600" cy="16459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4617720"/>
            <a:ext cx="27432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1" i="0">
                <a:solidFill>
                  <a:srgbClr val="1F2937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120640"/>
            <a:ext cx="210312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Монтаж/палуба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5157216"/>
            <a:ext cx="914400" cy="16459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0" y="5157216"/>
            <a:ext cx="228600" cy="164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5120640"/>
            <a:ext cx="27432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1" i="0">
                <a:solidFill>
                  <a:srgbClr val="1F2937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623560"/>
            <a:ext cx="210312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Гидрооборудование РУ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5660136"/>
            <a:ext cx="914400" cy="16459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0" y="5660136"/>
            <a:ext cx="228600" cy="1645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5623560"/>
            <a:ext cx="27432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1" i="0">
                <a:solidFill>
                  <a:srgbClr val="1F2937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1325880"/>
            <a:ext cx="76809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СПИСОК ИНЦИДЕНТОВ &gt;200 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1645920"/>
            <a:ext cx="7772400" cy="384048"/>
          </a:xfrm>
          <a:prstGeom prst="rect">
            <a:avLst/>
          </a:prstGeom>
          <a:solidFill>
            <a:srgbClr val="2D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1645920"/>
            <a:ext cx="219456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Машина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645920"/>
            <a:ext cx="219456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Узел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1645920"/>
            <a:ext cx="91440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Простой, 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1645920"/>
            <a:ext cx="246888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Описание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2029968"/>
            <a:ext cx="77724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0" y="2029968"/>
            <a:ext cx="219456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БЕЛАЗ-7513Т №1655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029968"/>
            <a:ext cx="219456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Электрооборуд.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029968"/>
            <a:ext cx="91440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1F2937"/>
                </a:solidFill>
                <a:latin typeface="Calibri"/>
              </a:rPr>
              <a:t>1 017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2029968"/>
            <a:ext cx="246888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Неисправность датчика ЭБУ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2450592"/>
            <a:ext cx="7772400" cy="420624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0" y="2450592"/>
            <a:ext cx="219456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БЕЛАЗ-7513Т №1659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450592"/>
            <a:ext cx="219456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Электрооборуд.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2450592"/>
            <a:ext cx="91440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1F2937"/>
                </a:solidFill>
                <a:latin typeface="Calibri"/>
              </a:rPr>
              <a:t>828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2450592"/>
            <a:ext cx="246888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Разрушение подшипника генератора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2871216"/>
            <a:ext cx="77724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40" y="2871216"/>
            <a:ext cx="219456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БЕЛАЗ-7513Т №1658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2871216"/>
            <a:ext cx="219456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Металлоконструкция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2871216"/>
            <a:ext cx="91440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1F2937"/>
                </a:solidFill>
                <a:latin typeface="Calibri"/>
              </a:rPr>
              <a:t>408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0" y="2871216"/>
            <a:ext cx="246888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Обрыв болтов крепления палубы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3291840"/>
            <a:ext cx="7772400" cy="420624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0" y="3291840"/>
            <a:ext cx="219456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БЕЛАЗ-7513Т №1660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3291840"/>
            <a:ext cx="219456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Электрооборуд.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291840"/>
            <a:ext cx="91440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1F2937"/>
                </a:solidFill>
                <a:latin typeface="Calibri"/>
              </a:rPr>
              <a:t>385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3291840"/>
            <a:ext cx="246888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Резистор динам. тормоза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0" y="3712464"/>
            <a:ext cx="77724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06240" y="3712464"/>
            <a:ext cx="219456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БЕЛАЗ-7513Т №1653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3712464"/>
            <a:ext cx="219456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Гидрооборуд.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95360" y="3712464"/>
            <a:ext cx="91440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1F2937"/>
                </a:solidFill>
                <a:latin typeface="Calibri"/>
              </a:rPr>
              <a:t>342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3712464"/>
            <a:ext cx="246888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Неисправность ГС РУ (сальник)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06240" y="4133088"/>
            <a:ext cx="7772400" cy="420624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06240" y="4133088"/>
            <a:ext cx="219456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БЕЛАЗ-7513Т №1654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4133088"/>
            <a:ext cx="219456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Электрооборуд.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95360" y="4133088"/>
            <a:ext cx="91440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1F2937"/>
                </a:solidFill>
                <a:latin typeface="Calibri"/>
              </a:rPr>
              <a:t>326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09760" y="4133088"/>
            <a:ext cx="246888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Перепрошивка ЭБУ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76200" rIns="76200" tIns="50800" bIns="50800" anchor="ctr"/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04</a:t>
            </a:r>
          </a:p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Причины и решения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 lIns="76200" rIns="76200" tIns="50800" bIns="50800" anchor="t"/>
          <a:lstStyle/>
          <a:p>
            <a:pPr algn="l"/>
            <a:r>
              <a:rPr sz="1300" b="0">
                <a:solidFill>
                  <a:srgbClr val="34D399"/>
                </a:solidFill>
                <a:latin typeface="Calibri"/>
              </a:rPr>
              <a:t>Коренные причины и план мероприятий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lIns="76200" rIns="76200" tIns="50800" bIns="50800" anchor="ctr"/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Коренные причины отказов: классификация по факторам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0972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Анализ первопричин по методу 6М применительно к парку БЕЛАЗ-7513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3776472" cy="2542032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3776472" cy="3657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3502152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МАШИНА (конструкция / износ)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3410712" cy="199339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 Слабое место — резисторы динамического тормоза: недостаточная теплоотдача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 Подшипники силовых генераторов выходят из строя раньше ресурса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 Болты крепления палубы — слабый узел, требующий усиления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325880"/>
            <a:ext cx="3776472" cy="2542032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9392" y="1325880"/>
            <a:ext cx="3776472" cy="365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325880"/>
            <a:ext cx="3502152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МАТЕРИАЛЫ / ТМЦ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1783080"/>
            <a:ext cx="3410712" cy="199339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 Запас тепловых резисторов и модулей инвертора недостаточен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 Длительная поставка датчиков ЭБУ из-за импортной зависимости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 Загрязнённое топливо/масло — частые ревизии топливной системы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325880"/>
            <a:ext cx="3776472" cy="2542032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47304" y="1325880"/>
            <a:ext cx="3776472" cy="3657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325880"/>
            <a:ext cx="3502152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МЕТОДЫ / ТО и РЕМОНТ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1783080"/>
            <a:ext cx="3410712" cy="199339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 Перепрошивка ЭБУ требует выезда сервиса производителя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 Отсутствие контроля момента затяжки палубы при сборке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 Регламент ТО не учитывает условия эксплуатации (пыль, влажность)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977640"/>
            <a:ext cx="3776472" cy="2542032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977640"/>
            <a:ext cx="3776472" cy="3657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977640"/>
            <a:ext cx="3502152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СРЕДА / УСЛОВИЯ ЭКСПЛУАТАЦИИ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434840"/>
            <a:ext cx="3410712" cy="199339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 Низкие температуры → проблемы с пуском электрооборудования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 Высокая запылённость → окисление и засорение контактных групп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 Перегруз кузова → ускоренный износ металлоконструкции и подвески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3977640"/>
            <a:ext cx="3776472" cy="2542032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9392" y="3977640"/>
            <a:ext cx="3776472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6552" y="3977640"/>
            <a:ext cx="3502152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ЛЮДИ / ПЕРСОНАЛ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4434840"/>
            <a:ext cx="3410712" cy="199339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 Монтажные дефекты на новой технике (БЕЛАЗ №1658: 408 ч)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 Систематический обрыв болтов палубы — нарушение технологии затяжки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 Ошибки операторов — повреждение кузова при разгрузке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7304" y="3977640"/>
            <a:ext cx="3776472" cy="2542032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47304" y="3977640"/>
            <a:ext cx="3776472" cy="365760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4464" y="3977640"/>
            <a:ext cx="3502152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ИЗМЕРЕНИЯ / КОНТРОЛЬ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4" y="4434840"/>
            <a:ext cx="3410712" cy="199339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 Сами датчики являются источником отказов — каскадная проблема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 Отсутствие дистанционной телеметрии — задержка реагирования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 Слабый учёт повторяемости отказов по бортовым номерам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lIns="76200" rIns="76200" tIns="50800" bIns="50800" anchor="ctr"/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Рекомендации технических служб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0972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Адресные мероприятия по стабилизации электрической части и удержанию КТГ ≥ 0,92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669280" cy="2606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777240" cy="4114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7772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325880"/>
            <a:ext cx="466344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Немедленные действия (1–2 нед.)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5303520" cy="20116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1. Углублённая диагностика машин №1655, №1659, №1658 — программа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    проверки ЭБУ, генераторов и крепежа.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2. Сплошная проверка момента затяжки болтов крепления палубы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    на всём парке БЕЛАЗ-7513 (динамометрический ключ).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3. Аварийный запас тепловых резисторов и модулей инвертора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    (минимум 30% номенклатуры на единицу).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4. Эскалация по гарантии в адрес БЕЛАЗ — массовые отказы ЭБУ.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280160"/>
            <a:ext cx="5669280" cy="2606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280160"/>
            <a:ext cx="777240" cy="4114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1280160"/>
            <a:ext cx="7772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9752" y="1325880"/>
            <a:ext cx="466344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Краткосрочные меры (1 мес.)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783080"/>
            <a:ext cx="5303520" cy="20116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1. Увеличение запаса датчиков ЭБУ (давления, температуры) — обеспечить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    оперативную замену без ожидания поставок.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2. Внедрение чек-листа предсменного осмотра электрооборудования: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    контактные группы, состояние резисторов, разъёмы.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3. Обучение электриков диагностике частых отказов БЕЛАЗ-7513.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4. Регулярная очистка и антикоррозионная обработка контактов.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023360"/>
            <a:ext cx="5669280" cy="2606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23360"/>
            <a:ext cx="777240" cy="4114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023360"/>
            <a:ext cx="7772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069080"/>
            <a:ext cx="466344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Среднесрочные меры (1–3 мес.)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26280"/>
            <a:ext cx="5303520" cy="20116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1. Программа защиты электрооборудования от влаги и пыли: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    герметизация разъёмов, обогрев генераторов в холодный период.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2. Дополнительные тепловые экраны для резисторов динам. тормоза.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3. Регламент ТО с учётом условий эксплуатации (пыль, мороз).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4. Обучение операторов корректной разгрузке кузова.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4023360"/>
            <a:ext cx="5669280" cy="2606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5352" y="4023360"/>
            <a:ext cx="77724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2" y="4023360"/>
            <a:ext cx="7772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9752" y="4069080"/>
            <a:ext cx="466344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Долгосрочные меры (3–6 мес.)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4526280"/>
            <a:ext cx="5303520" cy="20116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1. Внедрение телеметрии БЕЛАЗ-7513 — удалённый мониторинг ЭБУ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    и предиктивная аналитика по датчикам.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2. Пересмотр SLA с поставщиком по гарантийным случаям массовых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    отказов ЭБУ и резисторов.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3. Стандартизация дефектных ведомостей для накопления статистики.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4. Удержание КТГ ≥ 0,92 при росте парка с ежемесячным мониторингом.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lIns="76200" rIns="76200" tIns="50800" bIns="50800" anchor="ctr"/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Дорожная карта мероприятий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0972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Календарный план действий с распределением по приоритетам и ответственным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4114800" cy="411480"/>
          </a:xfrm>
          <a:prstGeom prst="rect">
            <a:avLst/>
          </a:prstGeom>
          <a:solidFill>
            <a:srgbClr val="2D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384048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Мероприятие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1325880"/>
            <a:ext cx="7315200" cy="411480"/>
          </a:xfrm>
          <a:prstGeom prst="rect">
            <a:avLst/>
          </a:prstGeom>
          <a:solidFill>
            <a:srgbClr val="3A4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325880"/>
            <a:ext cx="12192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Май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45480" y="1325880"/>
            <a:ext cx="12192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Июнь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4680" y="1325880"/>
            <a:ext cx="12192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Июль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1325880"/>
            <a:ext cx="12192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Август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3080" y="1325880"/>
            <a:ext cx="12192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Сентябрь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22280" y="1325880"/>
            <a:ext cx="12192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Октябрь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737360"/>
            <a:ext cx="114300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737360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  <a:latin typeface="Calibri"/>
              </a:rPr>
              <a:t>Диагностика топ-3 машин (№1655, №1659, №1658)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173736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Calibri"/>
              </a:rPr>
              <a:t>Гл. механик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1792224"/>
            <a:ext cx="1127760" cy="16459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011680"/>
            <a:ext cx="11430000" cy="27432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011680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  <a:latin typeface="Calibri"/>
              </a:rPr>
              <a:t>Сплошная проверка затяжки палубы (24 ед.)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201168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Calibri"/>
              </a:rPr>
              <a:t>Бригадиры ТО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2066544"/>
            <a:ext cx="1127760" cy="16459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2286000"/>
            <a:ext cx="114300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286000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  <a:latin typeface="Calibri"/>
              </a:rPr>
              <a:t>Аварийный запас резисторов и модулей инвертора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228600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Calibri"/>
              </a:rPr>
              <a:t>Снабжение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2340864"/>
            <a:ext cx="1127760" cy="16459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2560320"/>
            <a:ext cx="11430000" cy="27432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560320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  <a:latin typeface="Calibri"/>
              </a:rPr>
              <a:t>Эскалация по гарантии (БЕЛАЗ)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256032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Calibri"/>
              </a:rPr>
              <a:t>СГИ / Юр. служба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2615184"/>
            <a:ext cx="2346960" cy="16459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2834640"/>
            <a:ext cx="114300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834640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  <a:latin typeface="Calibri"/>
              </a:rPr>
              <a:t>Расширение запаса датчиков ЭБУ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283464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Calibri"/>
              </a:rPr>
              <a:t>Снабжение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2889504"/>
            <a:ext cx="2346960" cy="16459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3108960"/>
            <a:ext cx="11430000" cy="27432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108960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  <a:latin typeface="Calibri"/>
              </a:rPr>
              <a:t>Чек-лист осмотра электрооборудования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360" y="310896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Calibri"/>
              </a:rPr>
              <a:t>Гл. электрик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91200" y="3163824"/>
            <a:ext cx="1127760" cy="16459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" y="3383280"/>
            <a:ext cx="114300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383280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  <a:latin typeface="Calibri"/>
              </a:rPr>
              <a:t>Обучение электриков диагностике БЕЛАЗ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338328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Calibri"/>
              </a:rPr>
              <a:t>HR / Сервис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91200" y="3438144"/>
            <a:ext cx="2346960" cy="16459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1480" y="3657600"/>
            <a:ext cx="11430000" cy="27432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657600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  <a:latin typeface="Calibri"/>
              </a:rPr>
              <a:t>Очистка/обработка контактных групп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365760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Calibri"/>
              </a:rPr>
              <a:t>Электрики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0" y="3712464"/>
            <a:ext cx="7223760" cy="16459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1480" y="3931920"/>
            <a:ext cx="114300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  <a:latin typeface="Calibri"/>
              </a:rPr>
              <a:t>Защита электрооборуд. от влаги/пыли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80360" y="393192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Calibri"/>
              </a:rPr>
              <a:t>Электрики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010400" y="3986784"/>
            <a:ext cx="3566160" cy="16459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4206240"/>
            <a:ext cx="11430000" cy="27432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4206240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  <a:latin typeface="Calibri"/>
              </a:rPr>
              <a:t>Тепловые экраны для резисторов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80360" y="420624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Calibri"/>
              </a:rPr>
              <a:t>Гл. механик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010400" y="4261104"/>
            <a:ext cx="2346960" cy="16459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1480" y="4480560"/>
            <a:ext cx="114300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4480560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  <a:latin typeface="Calibri"/>
              </a:rPr>
              <a:t>Регламент ТО под условия эксплуатации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80360" y="448056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Calibri"/>
              </a:rPr>
              <a:t>СГИ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010400" y="4535424"/>
            <a:ext cx="2346960" cy="16459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11480" y="4754880"/>
            <a:ext cx="11430000" cy="27432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4754880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  <a:latin typeface="Calibri"/>
              </a:rPr>
              <a:t>Обучение операторов разгрузке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80360" y="475488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Calibri"/>
              </a:rPr>
              <a:t>HR / Производство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010400" y="4809744"/>
            <a:ext cx="2346960" cy="16459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11480" y="5029200"/>
            <a:ext cx="114300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5029200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  <a:latin typeface="Calibri"/>
              </a:rPr>
              <a:t>Внедрение телеметрии БЕЛАЗ-7513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80360" y="502920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Calibri"/>
              </a:rPr>
              <a:t>IT + Сервис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29600" y="5084064"/>
            <a:ext cx="4785360" cy="16459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11480" y="5303520"/>
            <a:ext cx="11430000" cy="27432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5303520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  <a:latin typeface="Calibri"/>
              </a:rPr>
              <a:t>Пересмотр SLA с поставщиком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80360" y="530352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Calibri"/>
              </a:rPr>
              <a:t>Юр. служба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448800" y="5358384"/>
            <a:ext cx="2346960" cy="16459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11480" y="5577840"/>
            <a:ext cx="114300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5577840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  <a:latin typeface="Calibri"/>
              </a:rPr>
              <a:t>Контроль КТГ-мониторинга (целевой ≥0,92)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80360" y="557784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Calibri"/>
              </a:rPr>
              <a:t>СГИ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0" y="5632704"/>
            <a:ext cx="7223760" cy="16459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411480" y="6089904"/>
            <a:ext cx="365760" cy="16459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8680" y="6035040"/>
            <a:ext cx="21945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P1 — Немедленные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697480" y="6089904"/>
            <a:ext cx="365760" cy="16459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154680" y="6035040"/>
            <a:ext cx="21945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P2 — Краткосрочные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983480" y="6089904"/>
            <a:ext cx="365760" cy="16459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440680" y="6035040"/>
            <a:ext cx="21945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P3 — Среднесрочные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269480" y="6089904"/>
            <a:ext cx="365760" cy="16459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726680" y="6035040"/>
            <a:ext cx="21945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P4 — Долгосрочные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555480" y="6089904"/>
            <a:ext cx="365760" cy="16459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012680" y="6035040"/>
            <a:ext cx="21945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Контроль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 lIns="76200" rIns="76200" tIns="50800" bIns="50800" anchor="ctr"/>
          <a:lstStyle/>
          <a:p>
            <a:pPr algn="r"/>
            <a:r>
              <a:rPr sz="1100" b="0">
                <a:solidFill>
                  <a:srgbClr val="34D399"/>
                </a:solidFill>
                <a:latin typeface="Calibri"/>
              </a:rPr>
              <a:t>WWW.RAZVITIYE.RU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 lIns="76200" rIns="76200" tIns="50800" bIns="50800" anchor="ctr"/>
          <a:lstStyle/>
          <a:p>
            <a:pPr algn="r"/>
            <a:r>
              <a:rPr sz="1100" b="0">
                <a:solidFill>
                  <a:srgbClr val="34D399"/>
                </a:solidFill>
                <a:latin typeface="Calibri"/>
              </a:rPr>
              <a:t>WWW.RAZVITIYE.RU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7315200" cy="1828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Спасибо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за внимание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Тема Office">
  <a:themeElements>
    <a:clrScheme name="Другая 1">
      <a:dk1>
        <a:srgbClr val="2A3138"/>
      </a:dk1>
      <a:lt1>
        <a:srgbClr val="FFFFFF"/>
      </a:lt1>
      <a:dk2>
        <a:srgbClr val="2A3138"/>
      </a:dk2>
      <a:lt2>
        <a:srgbClr val="E7E6E6"/>
      </a:lt2>
      <a:accent1>
        <a:srgbClr val="3EF0AF"/>
      </a:accent1>
      <a:accent2>
        <a:srgbClr val="80868B"/>
      </a:accent2>
      <a:accent3>
        <a:srgbClr val="D8D8D8"/>
      </a:accent3>
      <a:accent4>
        <a:srgbClr val="F5F5F5"/>
      </a:accent4>
      <a:accent5>
        <a:srgbClr val="2A3138"/>
      </a:accent5>
      <a:accent6>
        <a:srgbClr val="B3BDDC"/>
      </a:accent6>
      <a:hlink>
        <a:srgbClr val="B668E4"/>
      </a:hlink>
      <a:folHlink>
        <a:srgbClr val="7E83FA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482</Words>
  <Application>Microsoft Office PowerPoint</Application>
  <PresentationFormat>Широкоэкранный</PresentationFormat>
  <Paragraphs>68</Paragraphs>
  <Slides>17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Aeonik Pro TRIAL</vt:lpstr>
      <vt:lpstr>Arial</vt:lpstr>
      <vt:lpstr>Calibri</vt:lpstr>
      <vt:lpstr>Wingdings</vt:lpstr>
      <vt:lpstr>Тема Office</vt:lpstr>
      <vt:lpstr>Слайд think-cell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Пример оформления текста</vt:lpstr>
      <vt:lpstr>Пример оформления таблиц и диаграмм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Зайцев Павел Юрьевич</dc:creator>
  <cp:lastModifiedBy>Кузнецов Виктор Евгеньевич</cp:lastModifiedBy>
  <cp:revision>7</cp:revision>
  <dcterms:created xsi:type="dcterms:W3CDTF">2024-06-03T08:05:05Z</dcterms:created>
  <dcterms:modified xsi:type="dcterms:W3CDTF">2026-04-28T12:37:11Z</dcterms:modified>
</cp:coreProperties>
</file>